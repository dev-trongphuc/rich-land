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Hạn mức nhận tối đa</c:v>
                </c:pt>
              </c:strCache>
            </c:strRef>
          </c:tx>
          <c:spPr>
            <a:solidFill>
              <a:srgbClr val="BD1D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Mức Giờ</c:v>
                  </c:pt>
                  <c:pt idx="1">
                    <c:v>Mức Ngày</c:v>
                  </c:pt>
                  <c:pt idx="2">
                    <c:v>Mức Tháng</c:v>
                  </c:pt>
                </c:lvl>
              </c:multiLvlStrCache>
            </c:multiLvlStrRef>
          </c:cat>
          <c:val>
            <c:numRef>
              <c:f>Sheet1!$B$2:$B$4</c:f>
              <c:numCache>
                <c:formatCode>General</c:formatCode>
                <c:ptCount val="3"/>
                <c:pt idx="0">
                  <c:v>3</c:v>
                </c:pt>
                <c:pt idx="1">
                  <c:v>20</c:v>
                </c:pt>
                <c:pt idx="2">
                  <c:v>300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Phiếu cọc tạo</c:v>
                </c:pt>
              </c:strCache>
            </c:strRef>
          </c:tx>
          <c:spPr>
            <a:solidFill>
              <a:srgbClr val="BD1D2D"/>
            </a:solidFill>
            <a:ln w="25400" cap="flat">
              <a:solidFill>
                <a:srgbClr val="BD1D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D1D2D"/>
              </a:solidFill>
              <a:ln w="9525" cap="flat">
                <a:solidFill>
                  <a:srgbClr val="BD1D2D"/>
                </a:solidFill>
                <a:prstDash val="solid"/>
                <a:round/>
              </a:ln>
              <a:effectLst/>
            </c:spPr>
          </c:marker>
          <c:cat>
            <c:multiLvlStrRef>
              <c:f>Sheet1!$A$2:$A$7</c:f>
              <c:multiLvlStrCache>
                <c:ptCount val="6"/>
                <c:lvl>
                  <c:pt idx="0">
                    <c:v>T1</c:v>
                  </c:pt>
                  <c:pt idx="1">
                    <c:v>T2</c:v>
                  </c:pt>
                  <c:pt idx="2">
                    <c:v>T3</c:v>
                  </c:pt>
                  <c:pt idx="3">
                    <c:v>T4</c:v>
                  </c:pt>
                  <c:pt idx="4">
                    <c:v>T5</c:v>
                  </c:pt>
                  <c:pt idx="5">
                    <c:v>T6</c:v>
                  </c:pt>
                </c:lvl>
              </c:multiLvlStrCache>
            </c:multiLvlStrRef>
          </c:cat>
          <c:val>
            <c:numRef>
              <c:f>Sheet1!$B$2:$B$7</c:f>
              <c:numCache>
                <c:formatCode>General</c:formatCode>
                <c:ptCount val="6"/>
                <c:pt idx="0">
                  <c:v>20</c:v>
                </c:pt>
                <c:pt idx="1">
                  <c:v>30</c:v>
                </c:pt>
                <c:pt idx="2">
                  <c:v>25</c:v>
                </c:pt>
                <c:pt idx="3">
                  <c:v>45</c:v>
                </c:pt>
                <c:pt idx="4">
                  <c:v>50</c:v>
                </c:pt>
                <c:pt idx="5">
                  <c:v>40</c:v>
                </c:pt>
              </c:numCache>
            </c:numRef>
          </c:val>
          <c:smooth val="0"/>
        </c:ser>
        <c:ser>
          <c:idx val="1"/>
          <c:order val="1"/>
          <c:tx>
            <c:strRef>
              <c:f>Sheet1!$C$1</c:f>
              <c:strCache>
                <c:ptCount val="1"/>
                <c:pt idx="0">
                  <c:v>Phiếu cọc duyệt</c:v>
                </c:pt>
              </c:strCache>
            </c:strRef>
          </c:tx>
          <c:spPr>
            <a:solidFill>
              <a:srgbClr val="065F46"/>
            </a:solidFill>
            <a:ln w="25400" cap="flat">
              <a:solidFill>
                <a:srgbClr val="065F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65F46"/>
              </a:solidFill>
              <a:ln w="9525" cap="flat">
                <a:solidFill>
                  <a:srgbClr val="065F46"/>
                </a:solidFill>
                <a:prstDash val="solid"/>
                <a:round/>
              </a:ln>
              <a:effectLst/>
            </c:spPr>
          </c:marker>
          <c:cat>
            <c:multiLvlStrRef>
              <c:f>Sheet1!$A$2:$A$7</c:f>
              <c:multiLvlStrCache>
                <c:ptCount val="6"/>
                <c:lvl>
                  <c:pt idx="0">
                    <c:v>T1</c:v>
                  </c:pt>
                  <c:pt idx="1">
                    <c:v>T2</c:v>
                  </c:pt>
                  <c:pt idx="2">
                    <c:v>T3</c:v>
                  </c:pt>
                  <c:pt idx="3">
                    <c:v>T4</c:v>
                  </c:pt>
                  <c:pt idx="4">
                    <c:v>T5</c:v>
                  </c:pt>
                  <c:pt idx="5">
                    <c:v>T6</c:v>
                  </c:pt>
                </c:lvl>
              </c:multiLvlStrCache>
            </c:multiLvlStrRef>
          </c:cat>
          <c:val>
            <c:numRef>
              <c:f>Sheet1!$C$2:$C$7</c:f>
              <c:numCache>
                <c:formatCode>General</c:formatCode>
                <c:ptCount val="6"/>
                <c:pt idx="0">
                  <c:v>15</c:v>
                </c:pt>
                <c:pt idx="1">
                  <c:v>25</c:v>
                </c:pt>
                <c:pt idx="2">
                  <c:v>20</c:v>
                </c:pt>
                <c:pt idx="3">
                  <c:v>40</c:v>
                </c:pt>
                <c:pt idx="4">
                  <c:v>48</c:v>
                </c:pt>
                <c:pt idx="5">
                  <c:v>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82880" cy="5143500"/>
          </a:xfrm>
          <a:prstGeom prst="rect">
            <a:avLst/>
          </a:prstGeom>
          <a:solidFill>
            <a:srgbClr val="BD1D2D"/>
          </a:solidFill>
          <a:ln/>
        </p:spPr>
      </p:sp>
      <p:sp>
        <p:nvSpPr>
          <p:cNvPr id="3" name="Text 1"/>
          <p:cNvSpPr/>
          <p:nvPr/>
        </p:nvSpPr>
        <p:spPr>
          <a:xfrm>
            <a:off x="731520" y="1463040"/>
            <a:ext cx="7772400" cy="36576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RICH LAND CRM SYSTEM ARCHITECTURE</a:t>
            </a:r>
            <a:endParaRPr lang="en-US" sz="1300" dirty="0"/>
          </a:p>
        </p:txBody>
      </p:sp>
      <p:sp>
        <p:nvSpPr>
          <p:cNvPr id="4" name="Text 2"/>
          <p:cNvSpPr/>
          <p:nvPr/>
        </p:nvSpPr>
        <p:spPr>
          <a:xfrm>
            <a:off x="731520" y="1920240"/>
            <a:ext cx="7772400" cy="109728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KIẾN TRÚC HỆ THỐNG &amp; LUỒNG HOẠT ĐỘNG LÕI</a:t>
            </a:r>
            <a:endParaRPr lang="en-US" sz="3200" dirty="0"/>
          </a:p>
        </p:txBody>
      </p:sp>
      <p:sp>
        <p:nvSpPr>
          <p:cNvPr id="5" name="Text 3"/>
          <p:cNvSpPr/>
          <p:nvPr/>
        </p:nvSpPr>
        <p:spPr>
          <a:xfrm>
            <a:off x="731520" y="3108960"/>
            <a:ext cx="7315200" cy="548640"/>
          </a:xfrm>
          <a:prstGeom prst="rect">
            <a:avLst/>
          </a:prstGeom>
          <a:noFill/>
          <a:ln/>
        </p:spPr>
        <p:txBody>
          <a:bodyPr wrap="square" rtlCol="0" anchor="ctr"/>
          <a:lstStyle/>
          <a:p>
            <a:pPr indent="0" marL="0">
              <a:buNone/>
            </a:pPr>
            <a:r>
              <a:rPr lang="en-US" sz="1100" dirty="0">
                <a:solidFill>
                  <a:srgbClr val="000000"/>
                </a:solidFill>
                <a:latin typeface="Segoe UI" pitchFamily="34" charset="0"/>
                <a:ea typeface="Segoe UI" pitchFamily="34" charset="-122"/>
                <a:cs typeface="Segoe UI" pitchFamily="34" charset="-120"/>
              </a:rPr>
              <a:t>Báo cáo phân tích chuyên sâu về hạ tầng lead, 5 cổng duyệt, quy tắc giao dịch và hàng đợi bất đồng bộ.</a:t>
            </a:r>
            <a:endParaRPr lang="en-US" sz="1100" dirty="0"/>
          </a:p>
        </p:txBody>
      </p:sp>
      <p:sp>
        <p:nvSpPr>
          <p:cNvPr id="6" name="Text 4"/>
          <p:cNvSpPr/>
          <p:nvPr/>
        </p:nvSpPr>
        <p:spPr>
          <a:xfrm>
            <a:off x="731520" y="4114800"/>
            <a:ext cx="7315200" cy="274320"/>
          </a:xfrm>
          <a:prstGeom prst="rect">
            <a:avLst/>
          </a:prstGeom>
          <a:noFill/>
          <a:ln/>
        </p:spPr>
        <p:txBody>
          <a:bodyPr wrap="square" rtlCol="0" anchor="ctr"/>
          <a:lstStyle/>
          <a:p>
            <a:pPr indent="0" marL="0">
              <a:buNone/>
            </a:pPr>
            <a:r>
              <a:rPr lang="en-US" sz="900" b="1" dirty="0">
                <a:solidFill>
                  <a:srgbClr val="000000"/>
                </a:solidFill>
                <a:latin typeface="Segoe UI" pitchFamily="34" charset="0"/>
                <a:ea typeface="Segoe UI" pitchFamily="34" charset="-122"/>
                <a:cs typeface="Segoe UI" pitchFamily="34" charset="-120"/>
              </a:rPr>
              <a:t>PHIÊN BẢN HỆ THỐNG V1.9.0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MỤC LỤC</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MỤC LỤC &amp; ĐỊNH HƯỚNG BÁO CÁO</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Sơ đồ chi tiết thiết kế 6 chương phân tích toàn bộ cấu trúc định tuyến API, thuật toán Protection Gates, quy trình thanh toán đặt cọc và DevOps.</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CẤU TRÚC 1 &amp; 2</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Hạ tầng định tuyến API, requireAuth, normal roles và cơ chế Protection Gates chia lead.</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CẤU TRÚC 3 &amp; 4</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Quy tắc đặt cọc, đổi căn giao dịch, Meta CAPI và tri thức AI Vector RAG.</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CẤU TRÚC 5 &amp; 6</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Đồng bộ Sheets 2 chiều, chatbot webhooks console và hàng đợi DevOps.</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TỔNG QUAN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Tóm Tắt Tổng Quan Chỉ Số Hệ Thống</a:t>
            </a:r>
            <a:endParaRPr lang="en-US" sz="1900" dirty="0"/>
          </a:p>
        </p:txBody>
      </p:sp>
      <p:sp>
        <p:nvSpPr>
          <p:cNvPr id="15" name="Shape 13"/>
          <p:cNvSpPr/>
          <p:nvPr/>
        </p:nvSpPr>
        <p:spPr>
          <a:xfrm>
            <a:off x="731520" y="1280160"/>
            <a:ext cx="2468880" cy="3291840"/>
          </a:xfrm>
          <a:prstGeom prst="roundRect">
            <a:avLst>
              <a:gd name="adj" fmla="val 2222"/>
            </a:avLst>
          </a:prstGeom>
          <a:solidFill>
            <a:srgbClr val="FFFFFF"/>
          </a:solidFill>
          <a:ln w="12700">
            <a:solidFill>
              <a:srgbClr val="E2E8F0"/>
            </a:solidFill>
            <a:prstDash val="solid"/>
          </a:ln>
        </p:spPr>
      </p:sp>
      <p:sp>
        <p:nvSpPr>
          <p:cNvPr id="16" name="Text 14"/>
          <p:cNvSpPr/>
          <p:nvPr/>
        </p:nvSpPr>
        <p:spPr>
          <a:xfrm>
            <a:off x="91440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&lt; 50ms</a:t>
            </a:r>
            <a:endParaRPr lang="en-US" sz="2600" dirty="0"/>
          </a:p>
        </p:txBody>
      </p:sp>
      <p:sp>
        <p:nvSpPr>
          <p:cNvPr id="17" name="Text 15"/>
          <p:cNvSpPr/>
          <p:nvPr/>
        </p:nvSpPr>
        <p:spPr>
          <a:xfrm>
            <a:off x="91440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THỜI GIAN CHIA LEAD</a:t>
            </a:r>
            <a:endParaRPr lang="en-US" sz="900" dirty="0"/>
          </a:p>
        </p:txBody>
      </p:sp>
      <p:sp>
        <p:nvSpPr>
          <p:cNvPr id="18" name="Text 16"/>
          <p:cNvSpPr/>
          <p:nvPr/>
        </p:nvSpPr>
        <p:spPr>
          <a:xfrm>
            <a:off x="91440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Lead mới được phân bổ tức thời xuống máy của Sale qua 5 Gate bảo mật trong nháy mắt.</a:t>
            </a:r>
            <a:endParaRPr lang="en-US" sz="800" dirty="0"/>
          </a:p>
        </p:txBody>
      </p:sp>
      <p:sp>
        <p:nvSpPr>
          <p:cNvPr id="19" name="Shape 17"/>
          <p:cNvSpPr/>
          <p:nvPr/>
        </p:nvSpPr>
        <p:spPr>
          <a:xfrm>
            <a:off x="3520440" y="1280160"/>
            <a:ext cx="2468880" cy="3291840"/>
          </a:xfrm>
          <a:prstGeom prst="roundRect">
            <a:avLst>
              <a:gd name="adj" fmla="val 2222"/>
            </a:avLst>
          </a:prstGeom>
          <a:solidFill>
            <a:srgbClr val="FFFFFF"/>
          </a:solidFill>
          <a:ln w="12700">
            <a:solidFill>
              <a:srgbClr val="E2E8F0"/>
            </a:solidFill>
            <a:prstDash val="solid"/>
          </a:ln>
        </p:spPr>
      </p:sp>
      <p:sp>
        <p:nvSpPr>
          <p:cNvPr id="20" name="Text 18"/>
          <p:cNvSpPr/>
          <p:nvPr/>
        </p:nvSpPr>
        <p:spPr>
          <a:xfrm>
            <a:off x="370332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99.9 %</a:t>
            </a:r>
            <a:endParaRPr lang="en-US" sz="2600" dirty="0"/>
          </a:p>
        </p:txBody>
      </p:sp>
      <p:sp>
        <p:nvSpPr>
          <p:cNvPr id="21" name="Text 19"/>
          <p:cNvSpPr/>
          <p:nvPr/>
        </p:nvSpPr>
        <p:spPr>
          <a:xfrm>
            <a:off x="370332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ĐỘ TIN CẬY HÀNG ĐỢI</a:t>
            </a:r>
            <a:endParaRPr lang="en-US" sz="900" dirty="0"/>
          </a:p>
        </p:txBody>
      </p:sp>
      <p:sp>
        <p:nvSpPr>
          <p:cNvPr id="22" name="Text 20"/>
          <p:cNvSpPr/>
          <p:nvPr/>
        </p:nvSpPr>
        <p:spPr>
          <a:xfrm>
            <a:off x="370332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Các yêu cầu gửi cURL bên thứ ba (Zalo OA, Telegram) được bất đồng bộ hóa 100% tránh nghẽn.</a:t>
            </a:r>
            <a:endParaRPr lang="en-US" sz="800" dirty="0"/>
          </a:p>
        </p:txBody>
      </p:sp>
      <p:sp>
        <p:nvSpPr>
          <p:cNvPr id="23" name="Shape 21"/>
          <p:cNvSpPr/>
          <p:nvPr/>
        </p:nvSpPr>
        <p:spPr>
          <a:xfrm>
            <a:off x="6309360" y="1280160"/>
            <a:ext cx="2468880" cy="3291840"/>
          </a:xfrm>
          <a:prstGeom prst="roundRect">
            <a:avLst>
              <a:gd name="adj" fmla="val 2222"/>
            </a:avLst>
          </a:prstGeom>
          <a:solidFill>
            <a:srgbClr val="FFFFFF"/>
          </a:solidFill>
          <a:ln w="12700">
            <a:solidFill>
              <a:srgbClr val="E2E8F0"/>
            </a:solidFill>
            <a:prstDash val="solid"/>
          </a:ln>
        </p:spPr>
      </p:sp>
      <p:sp>
        <p:nvSpPr>
          <p:cNvPr id="24" name="Text 22"/>
          <p:cNvSpPr/>
          <p:nvPr/>
        </p:nvSpPr>
        <p:spPr>
          <a:xfrm>
            <a:off x="649224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100 %</a:t>
            </a:r>
            <a:endParaRPr lang="en-US" sz="2600" dirty="0"/>
          </a:p>
        </p:txBody>
      </p:sp>
      <p:sp>
        <p:nvSpPr>
          <p:cNvPr id="25" name="Text 23"/>
          <p:cNvSpPr/>
          <p:nvPr/>
        </p:nvSpPr>
        <p:spPr>
          <a:xfrm>
            <a:off x="649224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VẾT KIỂM TOÁN</a:t>
            </a:r>
            <a:endParaRPr lang="en-US" sz="900" dirty="0"/>
          </a:p>
        </p:txBody>
      </p:sp>
      <p:sp>
        <p:nvSpPr>
          <p:cNvPr id="26" name="Text 24"/>
          <p:cNvSpPr/>
          <p:nvPr/>
        </p:nvSpPr>
        <p:spPr>
          <a:xfrm>
            <a:off x="649224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Toàn bộ dòng tiền đặt cọc, đợt thu milestones, thay đổi chủ lead đều được ký số ghi log bảo mật.</a:t>
            </a:r>
            <a:endParaRPr lang="en-US" sz="800" dirty="0"/>
          </a:p>
        </p:txBody>
      </p:sp>
      <p:sp>
        <p:nvSpPr>
          <p:cNvPr id="27" name="Text 25"/>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 / 60</a:t>
            </a:r>
            <a:endParaRPr lang="en-US" sz="850" dirty="0"/>
          </a:p>
        </p:txBody>
      </p:sp>
      <p:sp>
        <p:nvSpPr>
          <p:cNvPr id="28" name="Text 26"/>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KIẾN TRÚC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Kết Nối Kiến Trúc Client - Server</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Vite Frontend React</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Ứng dụng SPA gửi yêu cầu API thông qua Axios Client, tự động nạp JWT token bảo mật.</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index.php API Router</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Cổng định tuyến hành động Backend duy nhất, xử lý CORS, bắt lỗi và phân loại action.</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MariaDB CSDL</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Quản lý truy vấn quan hệ, khóa ngoại bảng ghi, và view ảo (consultants/accounts) tương thích.</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KIẾN TRÚC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Cấu Trúc Định Tuyến &amp; Giữ DOM AppTabs</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REACT-ROUTER-DOM ĐỊNH TUYẾN</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Quản lý tập trung các đường dẫn tại tệp App.tsx.</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tách các trang theo phân quyền người dùng cụ thể.</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Tích hợp lazy loading để tăng tốc độ tải trang lần đầu.</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GIẢI PHÁP APPTABS</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Thay vì Unmount các component khi đổi trang, AppTabs giữ nguyên DOM.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Duy trì state của các bộ lọc và trang dữ liệu khi Sale chuyển tab.</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Giảm tải số lần gọi API tải lại trang không cần thiết.</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BACKEND</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API Đi Qua Cổng Backend Duy Nhất</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HTTP Request</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Yêu cầu từ SPA hoặc webhook đối tác gửi đến index.php kèm query action.</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requireAuth check</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Xác thực JWT token, phân cấp người dùng và chuẩn hóa vai trò an toàn.</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Controller Dispatch</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Gửi yêu cầu đến Controller tương ứng, trả kết quả JSON dạng chuẩn.</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XÁC THỰC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Xác Thực Người Dùng JWT</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REQUIREAUTH MIDDLEWARE</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Trích xuất Bearer Token từ tiêu đề Authorization.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lấy token từ query string cho các tiến trình kiểm thử nhanh.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Giải mã cấu trúc token để lấy định danh user và thời gian hết hạn.</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QUẢN LÝ TOKEN</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Thời gian sống của token được giới hạn bảo mật.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Chữ ký JWT mã hóa bằng khóa bí mật riêng cấu hình trên Staging.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Từ chối truy cập ngay lập tức nếu token bị chỉnh sửa hoặc hết hạn.</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7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XÁC THỰC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Ánh Xạ Chuẩn Hóa Quyền Hạn requireAuth</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75438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DỮ LIỆU FRONTEND TRUYỀN</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CSDL BACKEND YÊU CẦU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HÀNH ĐỘNG CHUẨN HÓA</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LÝ DO KỸ THUẬT</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role = 'sale'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role = 'sales'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Thay đổi ký tự cuối thêm 's'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Đồng bộ phân quyền trong các Controller 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 = 1004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user_id = 1004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Sao chép giá trị khóa chính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Tương thích các logic lọc quan hệ bảng ghi cũ</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name = 'Thanh'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full_name = 'Thanh'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Ánh xạ key name nếu thiếu</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Ngăn chặn cảnh báo Undefined Index làm gãy JSON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8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BẢO MẬT</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Cô Lập Dữ Liệu Đa Khách Thuê</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PHẠM VI TENANT_ID</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Mỗi bản ghi liên quan đến khách hàng, user đều chứa khóa tenant_id.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Mọi câu lệnh SQL truy vấn đều được tự động thêm điều kiện lọc tenant.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các doanh nghiệp dùng chung CSDL không nhìn thấy dữ liệu của nhau.</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NGĂN NGỪA TRUY CẬP CHÉO</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Kiểm duyệt dữ liệu đầu vào chặn đứng việc truyền ID giả mạo.</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Cơ chế ghi nhật ký tự động báo động khi có dấu hiệu truy cập chéo tenant.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an toàn tuyệt đối cho dữ liệu khách hàng tiềm năng.</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9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KIẾN TRÚC LÕI</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1: KIẾN TRÚC &amp; ĐỊNH TUYẾN</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Dựng nền tảng API PHP Router an toàn tuyệt đối với cơ chế bảo mật ba lớp và tăng tốc độ SPA bằng AppTabs giữ nguyên DOM.</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BẢO MẬT 3 LỚP</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Kết hợp CORS whitelist -&gt; requireAuth xác thực JWT -&gt; tenant_id cô lập CSDL tuyệt đối.</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APPTABS CACHE</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Không unmount component, bảo vệ bộ lọc và trạng thái client, tối ưu 80% tài nguyên CPU.</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CHUẨN HÓA VAI</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Tự động dịch role, user_id và full_name để triệt tiêu lỗi Notice PHP làm gãy luồng API.</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10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CHIA LEAD</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Tiến Trình Xử Lý Lead Đầu Vào</a:t>
            </a:r>
            <a:endParaRPr lang="en-US" sz="1900" dirty="0"/>
          </a:p>
        </p:txBody>
      </p:sp>
      <p:sp>
        <p:nvSpPr>
          <p:cNvPr id="15" name="Shape 13"/>
          <p:cNvSpPr/>
          <p:nvPr/>
        </p:nvSpPr>
        <p:spPr>
          <a:xfrm>
            <a:off x="731520" y="1645920"/>
            <a:ext cx="1828800" cy="2286000"/>
          </a:xfrm>
          <a:prstGeom prst="roundRect">
            <a:avLst>
              <a:gd name="adj" fmla="val 25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1430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Webhook nhận</a:t>
            </a:r>
            <a:endParaRPr lang="en-US" sz="1000" dirty="0"/>
          </a:p>
        </p:txBody>
      </p:sp>
      <p:sp>
        <p:nvSpPr>
          <p:cNvPr id="19" name="Text 17"/>
          <p:cNvSpPr/>
          <p:nvPr/>
        </p:nvSpPr>
        <p:spPr>
          <a:xfrm>
            <a:off x="868680" y="2057400"/>
            <a:ext cx="15544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Lead thô từ LP/Meta đổ về dạng POST, normalize SĐT.</a:t>
            </a:r>
            <a:endParaRPr lang="en-US" sz="820" dirty="0"/>
          </a:p>
        </p:txBody>
      </p:sp>
      <p:sp>
        <p:nvSpPr>
          <p:cNvPr id="20" name="Shape 18"/>
          <p:cNvSpPr/>
          <p:nvPr/>
        </p:nvSpPr>
        <p:spPr>
          <a:xfrm>
            <a:off x="25968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2743200" y="1645920"/>
            <a:ext cx="1828800" cy="2286000"/>
          </a:xfrm>
          <a:prstGeom prst="roundRect">
            <a:avLst>
              <a:gd name="adj" fmla="val 2500"/>
            </a:avLst>
          </a:prstGeom>
          <a:solidFill>
            <a:srgbClr val="FFFFFF"/>
          </a:solidFill>
          <a:ln w="12700">
            <a:solidFill>
              <a:srgbClr val="E2E8F0"/>
            </a:solidFill>
            <a:prstDash val="solid"/>
          </a:ln>
        </p:spPr>
      </p:sp>
      <p:sp>
        <p:nvSpPr>
          <p:cNvPr id="22" name="Shape 20"/>
          <p:cNvSpPr/>
          <p:nvPr/>
        </p:nvSpPr>
        <p:spPr>
          <a:xfrm>
            <a:off x="2880360" y="1783080"/>
            <a:ext cx="320040" cy="228600"/>
          </a:xfrm>
          <a:prstGeom prst="roundRect">
            <a:avLst>
              <a:gd name="adj" fmla="val 200000"/>
            </a:avLst>
          </a:prstGeom>
          <a:solidFill>
            <a:srgbClr val="FEE2E2"/>
          </a:solidFill>
          <a:ln/>
        </p:spPr>
      </p:sp>
      <p:sp>
        <p:nvSpPr>
          <p:cNvPr id="23" name="Text 21"/>
          <p:cNvSpPr/>
          <p:nvPr/>
        </p:nvSpPr>
        <p:spPr>
          <a:xfrm>
            <a:off x="28803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291840" y="1783080"/>
            <a:ext cx="11430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Persons Check</a:t>
            </a:r>
            <a:endParaRPr lang="en-US" sz="1000" dirty="0"/>
          </a:p>
        </p:txBody>
      </p:sp>
      <p:sp>
        <p:nvSpPr>
          <p:cNvPr id="25" name="Text 23"/>
          <p:cNvSpPr/>
          <p:nvPr/>
        </p:nvSpPr>
        <p:spPr>
          <a:xfrm>
            <a:off x="2880360" y="2057400"/>
            <a:ext cx="15544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Đối soát SĐT cũ trong CSDL, giữ nguyên chủ cũ nếu có.</a:t>
            </a:r>
            <a:endParaRPr lang="en-US" sz="820" dirty="0"/>
          </a:p>
        </p:txBody>
      </p:sp>
      <p:sp>
        <p:nvSpPr>
          <p:cNvPr id="26" name="Shape 24"/>
          <p:cNvSpPr/>
          <p:nvPr/>
        </p:nvSpPr>
        <p:spPr>
          <a:xfrm>
            <a:off x="460857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4754880" y="1645920"/>
            <a:ext cx="1828800" cy="2286000"/>
          </a:xfrm>
          <a:prstGeom prst="roundRect">
            <a:avLst>
              <a:gd name="adj" fmla="val 2500"/>
            </a:avLst>
          </a:prstGeom>
          <a:solidFill>
            <a:srgbClr val="FFFFFF"/>
          </a:solidFill>
          <a:ln w="12700">
            <a:solidFill>
              <a:srgbClr val="E2E8F0"/>
            </a:solidFill>
            <a:prstDash val="solid"/>
          </a:ln>
        </p:spPr>
      </p:sp>
      <p:sp>
        <p:nvSpPr>
          <p:cNvPr id="28" name="Shape 26"/>
          <p:cNvSpPr/>
          <p:nvPr/>
        </p:nvSpPr>
        <p:spPr>
          <a:xfrm>
            <a:off x="4892040" y="1783080"/>
            <a:ext cx="320040" cy="228600"/>
          </a:xfrm>
          <a:prstGeom prst="roundRect">
            <a:avLst>
              <a:gd name="adj" fmla="val 200000"/>
            </a:avLst>
          </a:prstGeom>
          <a:solidFill>
            <a:srgbClr val="FEE2E2"/>
          </a:solidFill>
          <a:ln/>
        </p:spPr>
      </p:sp>
      <p:sp>
        <p:nvSpPr>
          <p:cNvPr id="29" name="Text 27"/>
          <p:cNvSpPr/>
          <p:nvPr/>
        </p:nvSpPr>
        <p:spPr>
          <a:xfrm>
            <a:off x="489204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5303520" y="1783080"/>
            <a:ext cx="11430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getNext Sale</a:t>
            </a:r>
            <a:endParaRPr lang="en-US" sz="1000" dirty="0"/>
          </a:p>
        </p:txBody>
      </p:sp>
      <p:sp>
        <p:nvSpPr>
          <p:cNvPr id="31" name="Text 29"/>
          <p:cNvSpPr/>
          <p:nvPr/>
        </p:nvSpPr>
        <p:spPr>
          <a:xfrm>
            <a:off x="4892040" y="2057400"/>
            <a:ext cx="15544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Tìm Sale hợp lệ kế tiếp trong danh sách phân bổ của Round.</a:t>
            </a:r>
            <a:endParaRPr lang="en-US" sz="820" dirty="0"/>
          </a:p>
        </p:txBody>
      </p:sp>
      <p:sp>
        <p:nvSpPr>
          <p:cNvPr id="32" name="Shape 30"/>
          <p:cNvSpPr/>
          <p:nvPr/>
        </p:nvSpPr>
        <p:spPr>
          <a:xfrm>
            <a:off x="6620256" y="2697480"/>
            <a:ext cx="109728" cy="182880"/>
          </a:xfrm>
          <a:prstGeom prst="rightArrow">
            <a:avLst/>
          </a:prstGeom>
          <a:solidFill>
            <a:srgbClr val="94A3B8"/>
          </a:solidFill>
          <a:ln w="6350">
            <a:solidFill>
              <a:srgbClr val="E2E8F0"/>
            </a:solidFill>
            <a:prstDash val="solid"/>
          </a:ln>
        </p:spPr>
      </p:sp>
      <p:sp>
        <p:nvSpPr>
          <p:cNvPr id="33" name="Shape 31"/>
          <p:cNvSpPr/>
          <p:nvPr/>
        </p:nvSpPr>
        <p:spPr>
          <a:xfrm>
            <a:off x="6766560" y="1645920"/>
            <a:ext cx="1828800" cy="2286000"/>
          </a:xfrm>
          <a:prstGeom prst="roundRect">
            <a:avLst>
              <a:gd name="adj" fmla="val 2500"/>
            </a:avLst>
          </a:prstGeom>
          <a:solidFill>
            <a:srgbClr val="FFFFFF"/>
          </a:solidFill>
          <a:ln w="12700">
            <a:solidFill>
              <a:srgbClr val="E2E8F0"/>
            </a:solidFill>
            <a:prstDash val="solid"/>
          </a:ln>
        </p:spPr>
      </p:sp>
      <p:sp>
        <p:nvSpPr>
          <p:cNvPr id="34" name="Shape 32"/>
          <p:cNvSpPr/>
          <p:nvPr/>
        </p:nvSpPr>
        <p:spPr>
          <a:xfrm>
            <a:off x="6903720" y="1783080"/>
            <a:ext cx="320040" cy="228600"/>
          </a:xfrm>
          <a:prstGeom prst="roundRect">
            <a:avLst>
              <a:gd name="adj" fmla="val 200000"/>
            </a:avLst>
          </a:prstGeom>
          <a:solidFill>
            <a:srgbClr val="FEE2E2"/>
          </a:solidFill>
          <a:ln/>
        </p:spPr>
      </p:sp>
      <p:sp>
        <p:nvSpPr>
          <p:cNvPr id="35" name="Text 33"/>
          <p:cNvSpPr/>
          <p:nvPr/>
        </p:nvSpPr>
        <p:spPr>
          <a:xfrm>
            <a:off x="6903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4</a:t>
            </a:r>
            <a:endParaRPr lang="en-US" sz="900" dirty="0"/>
          </a:p>
        </p:txBody>
      </p:sp>
      <p:sp>
        <p:nvSpPr>
          <p:cNvPr id="36" name="Text 34"/>
          <p:cNvSpPr/>
          <p:nvPr/>
        </p:nvSpPr>
        <p:spPr>
          <a:xfrm>
            <a:off x="7315200" y="1783080"/>
            <a:ext cx="11430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Được gán</a:t>
            </a:r>
            <a:endParaRPr lang="en-US" sz="1000" dirty="0"/>
          </a:p>
        </p:txBody>
      </p:sp>
      <p:sp>
        <p:nvSpPr>
          <p:cNvPr id="37" name="Text 35"/>
          <p:cNvSpPr/>
          <p:nvPr/>
        </p:nvSpPr>
        <p:spPr>
          <a:xfrm>
            <a:off x="6903720" y="2057400"/>
            <a:ext cx="15544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Lead chính thức chuyển trạng thái assigned và bắt đầu đếm 2p.</a:t>
            </a:r>
            <a:endParaRPr lang="en-US" sz="820" dirty="0"/>
          </a:p>
        </p:txBody>
      </p:sp>
      <p:sp>
        <p:nvSpPr>
          <p:cNvPr id="38" name="Text 3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11 / 60</a:t>
            </a:r>
            <a:endParaRPr lang="en-US" sz="850" dirty="0"/>
          </a:p>
        </p:txBody>
      </p:sp>
      <p:sp>
        <p:nvSpPr>
          <p:cNvPr id="39" name="Text 3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CHIA LEAD</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Vòng Lặp Phân Phối Tròn getNextConsultant</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Lấy Sale cuối</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Đọc id Sale nhận lead gần nhất từ distribution_rounds.</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Tăng vị trí +1</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Xoay chỉ mục sang người tiếp theo, tìm trong CSDL.</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Cập nhật khóa</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Ghi nhận Sale ID mới vào rounds làm mốc cho lần sau.</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12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5 GATES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1: Dự Án &amp; Roster Chiến Dịch</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PHÂN LOẠI THEO DỰ ÁN</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Quét từ khóa chiến dịch hoặc ghi chú lead để nhận diện dự án phù hợp.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Dự án được quản lý trong bảng projects trạng thái đang hoạt động.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nhận diện được dự án: Bắt buộc đi qua cổng Roster.</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PROJECT ROSTER CHECK</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Tra cứu bảng project_roster để tìm danh sách Sale được cấp quyền.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Chỉ chia lead dự án cho Sale nằm trong roster đăng ký của dự án đó.</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chia lead nhầm cho Sale chưa được đào tạo dự án tương ứng.</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13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5 GATES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2: Điểm Danh &amp; Check-in Đầu Ngày</a:t>
            </a:r>
            <a:endParaRPr lang="en-US" sz="1900" dirty="0"/>
          </a:p>
        </p:txBody>
      </p:sp>
      <p:sp>
        <p:nvSpPr>
          <p:cNvPr id="15" name="Shape 13"/>
          <p:cNvSpPr/>
          <p:nvPr/>
        </p:nvSpPr>
        <p:spPr>
          <a:xfrm>
            <a:off x="731520" y="1280160"/>
            <a:ext cx="3657600" cy="3291840"/>
          </a:xfrm>
          <a:prstGeom prst="roundRect">
            <a:avLst>
              <a:gd name="adj" fmla="val 1667"/>
            </a:avLst>
          </a:prstGeom>
          <a:solidFill>
            <a:srgbClr val="FFFFFF"/>
          </a:solidFill>
          <a:ln w="12700">
            <a:solidFill>
              <a:srgbClr val="E2E8F0"/>
            </a:solidFill>
            <a:prstDash val="solid"/>
          </a:ln>
        </p:spPr>
      </p:sp>
      <p:sp>
        <p:nvSpPr>
          <p:cNvPr id="16" name="Text 14"/>
          <p:cNvSpPr/>
          <p:nvPr/>
        </p:nvSpPr>
        <p:spPr>
          <a:xfrm>
            <a:off x="914400" y="1417320"/>
            <a:ext cx="329184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Selfie check</a:t>
            </a:r>
            <a:endParaRPr lang="en-US" sz="2600" dirty="0"/>
          </a:p>
        </p:txBody>
      </p:sp>
      <p:sp>
        <p:nvSpPr>
          <p:cNvPr id="17" name="Text 15"/>
          <p:cNvSpPr/>
          <p:nvPr/>
        </p:nvSpPr>
        <p:spPr>
          <a:xfrm>
            <a:off x="914400" y="1874520"/>
            <a:ext cx="329184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KỶ LUẬT CHECK-IN NGÀY</a:t>
            </a:r>
            <a:endParaRPr lang="en-US" sz="900" dirty="0"/>
          </a:p>
        </p:txBody>
      </p:sp>
      <p:sp>
        <p:nvSpPr>
          <p:cNvPr id="18" name="Text 16"/>
          <p:cNvSpPr/>
          <p:nvPr/>
        </p:nvSpPr>
        <p:spPr>
          <a:xfrm>
            <a:off x="914400" y="2103120"/>
            <a:ext cx="329184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Sale bắt buộc chụp ảnh selfie trước ca trực để được duyệt approved. Không check-in đồng nghĩa với không sẵn sàng trực -&gt; Bị Gate loại trừ.</a:t>
            </a:r>
            <a:endParaRPr lang="en-US" sz="800" dirty="0"/>
          </a:p>
        </p:txBody>
      </p:sp>
      <p:sp>
        <p:nvSpPr>
          <p:cNvPr id="19" name="Shape 17"/>
          <p:cNvSpPr/>
          <p:nvPr/>
        </p:nvSpPr>
        <p:spPr>
          <a:xfrm>
            <a:off x="4846320" y="1280160"/>
            <a:ext cx="3931920" cy="3291840"/>
          </a:xfrm>
          <a:prstGeom prst="roundRect">
            <a:avLst>
              <a:gd name="adj" fmla="val 1389"/>
            </a:avLst>
          </a:prstGeom>
          <a:solidFill>
            <a:srgbClr val="FFFFFF"/>
          </a:solidFill>
          <a:ln w="12700">
            <a:solidFill>
              <a:srgbClr val="E2E8F0"/>
            </a:solidFill>
            <a:prstDash val="solid"/>
          </a:ln>
        </p:spPr>
      </p:sp>
      <p:sp>
        <p:nvSpPr>
          <p:cNvPr id="20" name="Text 18"/>
          <p:cNvSpPr/>
          <p:nvPr/>
        </p:nvSpPr>
        <p:spPr>
          <a:xfrm>
            <a:off x="5029200" y="1417320"/>
            <a:ext cx="35661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NGOẠI LỆ ĐƯỢC DUYỆT</a:t>
            </a:r>
            <a:endParaRPr lang="en-US" sz="950" dirty="0"/>
          </a:p>
        </p:txBody>
      </p:sp>
      <p:sp>
        <p:nvSpPr>
          <p:cNvPr id="21" name="Text 19"/>
          <p:cNvSpPr/>
          <p:nvPr/>
        </p:nvSpPr>
        <p:spPr>
          <a:xfrm>
            <a:off x="5029200" y="1709928"/>
            <a:ext cx="356616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đã đăng ký ca trực cuối tuần (weekend_shift) được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đăng ký trực ca ngày lễ (holiday_shift) được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trực ca đêm (night_shift) được duyệt sẽ tự động bỏ qua check-in.</a:t>
            </a:r>
            <a:endParaRPr lang="en-US" sz="920" dirty="0"/>
          </a:p>
        </p:txBody>
      </p:sp>
      <p:sp>
        <p:nvSpPr>
          <p:cNvPr id="22"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14 / 60</a:t>
            </a:r>
            <a:endParaRPr lang="en-US" sz="850" dirty="0"/>
          </a:p>
        </p:txBody>
      </p:sp>
      <p:sp>
        <p:nvSpPr>
          <p:cNvPr id="23"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5 GATES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3: Trạng Thế Sale &amp; Nghỉ Phép</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VACATION MODE</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đi gặp khách hoặc có việc cá nhân bật chế độ tạm vắng trên App.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Cột vacation_mode = 1 trong bảng consultants và users.</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loại trừ ngay lập tức khi quét phân bổ lead.</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LỊCH TRÌNH NGHỈ PHÉP</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Tra cứu mốc thời gian leave_start và leave_end đã đăng ký.</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ngày hiện tại nằm trong lịch nghỉ phép -&gt; Loại trừ.</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lead không bị giao cho người đang vắng mặt dẫn đến trôi lead.</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15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5 GATES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4: Van Chống Ôm Lead (Backpressure)</a:t>
            </a:r>
            <a:endParaRPr lang="en-US" sz="1900" dirty="0"/>
          </a:p>
        </p:txBody>
      </p:sp>
      <p:sp>
        <p:nvSpPr>
          <p:cNvPr id="15" name="Shape 13"/>
          <p:cNvSpPr/>
          <p:nvPr/>
        </p:nvSpPr>
        <p:spPr>
          <a:xfrm>
            <a:off x="731520" y="1280160"/>
            <a:ext cx="3657600" cy="3291840"/>
          </a:xfrm>
          <a:prstGeom prst="roundRect">
            <a:avLst>
              <a:gd name="adj" fmla="val 1667"/>
            </a:avLst>
          </a:prstGeom>
          <a:solidFill>
            <a:srgbClr val="FFFFFF"/>
          </a:solidFill>
          <a:ln w="12700">
            <a:solidFill>
              <a:srgbClr val="E2E8F0"/>
            </a:solidFill>
            <a:prstDash val="solid"/>
          </a:ln>
        </p:spPr>
      </p:sp>
      <p:sp>
        <p:nvSpPr>
          <p:cNvPr id="16" name="Text 14"/>
          <p:cNvSpPr/>
          <p:nvPr/>
        </p:nvSpPr>
        <p:spPr>
          <a:xfrm>
            <a:off x="914400" y="1417320"/>
            <a:ext cx="329184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Max 5</a:t>
            </a:r>
            <a:endParaRPr lang="en-US" sz="2600" dirty="0"/>
          </a:p>
        </p:txBody>
      </p:sp>
      <p:sp>
        <p:nvSpPr>
          <p:cNvPr id="17" name="Text 15"/>
          <p:cNvSpPr/>
          <p:nvPr/>
        </p:nvSpPr>
        <p:spPr>
          <a:xfrm>
            <a:off x="914400" y="1874520"/>
            <a:ext cx="329184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NGƯỠNG ÔM LEAD</a:t>
            </a:r>
            <a:endParaRPr lang="en-US" sz="900" dirty="0"/>
          </a:p>
        </p:txBody>
      </p:sp>
      <p:sp>
        <p:nvSpPr>
          <p:cNvPr id="18" name="Text 16"/>
          <p:cNvSpPr/>
          <p:nvPr/>
        </p:nvSpPr>
        <p:spPr>
          <a:xfrm>
            <a:off x="914400" y="2103120"/>
            <a:ext cx="329184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Giới hạn số lead thô chưa xử lý tối đa Sale được găm giữ. Nếu vượt ngưỡng -&gt; Chặn chia lead mới.</a:t>
            </a:r>
            <a:endParaRPr lang="en-US" sz="800" dirty="0"/>
          </a:p>
        </p:txBody>
      </p:sp>
      <p:sp>
        <p:nvSpPr>
          <p:cNvPr id="19" name="Shape 17"/>
          <p:cNvSpPr/>
          <p:nvPr/>
        </p:nvSpPr>
        <p:spPr>
          <a:xfrm>
            <a:off x="4846320" y="1280160"/>
            <a:ext cx="3931920" cy="3291840"/>
          </a:xfrm>
          <a:prstGeom prst="roundRect">
            <a:avLst>
              <a:gd name="adj" fmla="val 1389"/>
            </a:avLst>
          </a:prstGeom>
          <a:solidFill>
            <a:srgbClr val="FFFFFF"/>
          </a:solidFill>
          <a:ln w="12700">
            <a:solidFill>
              <a:srgbClr val="E2E8F0"/>
            </a:solidFill>
            <a:prstDash val="solid"/>
          </a:ln>
        </p:spPr>
      </p:sp>
      <p:sp>
        <p:nvSpPr>
          <p:cNvPr id="20" name="Text 18"/>
          <p:cNvSpPr/>
          <p:nvPr/>
        </p:nvSpPr>
        <p:spPr>
          <a:xfrm>
            <a:off x="5029200" y="1417320"/>
            <a:ext cx="35661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ĐIỀU KIỆN TÍNH LEAD CHƯA TƯƠNG TÁC</a:t>
            </a:r>
            <a:endParaRPr lang="en-US" sz="950" dirty="0"/>
          </a:p>
        </p:txBody>
      </p:sp>
      <p:sp>
        <p:nvSpPr>
          <p:cNvPr id="21" name="Text 19"/>
          <p:cNvSpPr/>
          <p:nvPr/>
        </p:nvSpPr>
        <p:spPr>
          <a:xfrm>
            <a:off x="5029200" y="1709928"/>
            <a:ext cx="356616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Trạng thái pipeline của KHTN là chưa_xac_dinh.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HOẶC trạng thái pipeline là quan_tam nhưng chưa hề có bất kỳ ghi chú (notes) hoặc hoạt động nào được ghi nhận từ Sale.</a:t>
            </a:r>
            <a:endParaRPr lang="en-US" sz="920" dirty="0"/>
          </a:p>
        </p:txBody>
      </p:sp>
      <p:sp>
        <p:nvSpPr>
          <p:cNvPr id="22"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16 / 60</a:t>
            </a:r>
            <a:endParaRPr lang="en-US" sz="850" dirty="0"/>
          </a:p>
        </p:txBody>
      </p:sp>
      <p:sp>
        <p:nvSpPr>
          <p:cNvPr id="23"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5 GATES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Gate 5: Hạn Mức Lead Theo Cấu Hình</a:t>
            </a:r>
            <a:endParaRPr lang="en-US" sz="1900" dirty="0"/>
          </a:p>
        </p:txBody>
      </p:sp>
      <p:sp>
        <p:nvSpPr>
          <p:cNvPr id="15" name="Shape 13"/>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CÀI ĐẶT HẠN MỨC (QUOTA)</a:t>
            </a:r>
            <a:endParaRPr lang="en-US" sz="950" dirty="0"/>
          </a:p>
        </p:txBody>
      </p:sp>
      <p:sp>
        <p:nvSpPr>
          <p:cNvPr id="17" name="Text 15"/>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chặn chia lead nếu vượt giới hạn nhận trong ngày/tháng.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Hạn mức giờ: tối đa 3 lead nhận mỗi giờ.</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Hạn mức ngày: cấu hình động tùy chiến dịch (mặc định 20 lead).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Hạn mức tháng: mặc định tối đa 300 lead nhận.</a:t>
            </a:r>
            <a:endParaRPr lang="en-US" sz="920" dirty="0"/>
          </a:p>
        </p:txBody>
      </p:sp>
      <p:graphicFrame>
        <p:nvGraphicFramePr>
          <p:cNvPr id="18" name="Chart 0" descr=""/>
          <p:cNvGraphicFramePr/>
          <p:nvPr/>
        </p:nvGraphicFramePr>
        <p:xfrm>
          <a:off x="4754880" y="12801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17 / 60</a:t>
            </a:r>
            <a:endParaRPr lang="en-US" sz="850" dirty="0"/>
          </a:p>
        </p:txBody>
      </p:sp>
      <p:sp>
        <p:nvSpPr>
          <p:cNvPr id="20"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CHIA LEAD</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Trình Định Tuyến Dự Phòng (Fallback)</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Gãy luồng phân bổ</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Khi toàn bộ Sale trong vòng xoay đều bị Gate chặn, lead không thể chia.</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Email dự phòng</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Kích hoạt gửi thông tin lead đến hòm thư liên hệ khẩn cấp của campaign.</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Duyệt thủ công</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Lead được chuyển trực tiếp cho Admin duyệt và chia tay.</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18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CHIA LEAD</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Chống Đói Lead Cho Sale Vắng Mặt</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TÍCH LŨY ĐIỂM BỎ QUA</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Khi Sale vắng mặt hoặc đi gặp khách hàng (bị Gate chặn).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tự động cộng dồn điểm cộng bù (skipped_credit) cho họ.</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nhận chính xác số lượt phân bổ bị bỏ lỡ.</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ƯU TIÊN BÙ LƯỢT</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Khi Sale quay lại hoạt động và điểm danh thành công.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Hệ thống kiểm tra và ưu tiên phân phối lead cho người có skipped_credit cao nhất.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sự công bằng về doanh số lead nhận được giữa các thành viên.</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19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PHÂN PHỐI THÔNG MINH</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2: 5 CỔNG KIỂM DUYỆT LEAD</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Thiết lập màng lọc thông minh, giám sát tự động độ sẵn sàng và hiệu năng tương tác của Sale để tối ưu hóa tỷ lệ chuyển đổi lead đầu vào.</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SELFIE CHECK-IN</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Ca ngày bắt buộc điểm danh selfie approved đầu ca để nhận lead; ca đêm/lễ duyệt đặc quyền.</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BACKPRESSURE</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Chốt chặn găm giữ quá 5 lead chưa xử lý, thúc đẩy tương tác phản hồi đầu tiên &lt;15 phút.</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ĐIỂM BÙ CREDIT</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Tích lũy skipped_credit khi Sale đi gặp khách để bù lại lượng lead công bằng khi quay lại.</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20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ĐẶT CỌC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Trình Đặt Cọc &amp; Phê Duyệt Doanh Thu</a:t>
            </a:r>
            <a:endParaRPr lang="en-US" sz="1900" dirty="0"/>
          </a:p>
        </p:txBody>
      </p:sp>
      <p:sp>
        <p:nvSpPr>
          <p:cNvPr id="15" name="Shape 13"/>
          <p:cNvSpPr/>
          <p:nvPr/>
        </p:nvSpPr>
        <p:spPr>
          <a:xfrm>
            <a:off x="731520" y="1280160"/>
            <a:ext cx="365760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29184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THỦ TỤC ĐẶT CỌC</a:t>
            </a:r>
            <a:endParaRPr lang="en-US" sz="950" dirty="0"/>
          </a:p>
        </p:txBody>
      </p:sp>
      <p:sp>
        <p:nvSpPr>
          <p:cNvPr id="17" name="Text 15"/>
          <p:cNvSpPr/>
          <p:nvPr/>
        </p:nvSpPr>
        <p:spPr>
          <a:xfrm>
            <a:off x="914400" y="1709928"/>
            <a:ext cx="329184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Sale tạo phiếu cọc trên App (Mã căn, dự án, giá trị, commission).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Khách hàng chuyển khoản, upload minh chứng UNC lên hệ thống.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Kế toán kiểm tra tiền nổi trong tài khoản ngân hàng và duyệt approved.</a:t>
            </a:r>
            <a:endParaRPr lang="en-US" sz="920" dirty="0"/>
          </a:p>
        </p:txBody>
      </p:sp>
      <p:graphicFrame>
        <p:nvGraphicFramePr>
          <p:cNvPr id="18" name="Chart 0" descr=""/>
          <p:cNvGraphicFramePr/>
          <p:nvPr/>
        </p:nvGraphicFramePr>
        <p:xfrm>
          <a:off x="4754880" y="12801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21 / 60</a:t>
            </a:r>
            <a:endParaRPr lang="en-US" sz="850" dirty="0"/>
          </a:p>
        </p:txBody>
      </p:sp>
      <p:sp>
        <p:nvSpPr>
          <p:cNvPr id="20" name="Text 17"/>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ĐẶT CỌC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Lược Đồ Cấu Trúc deposit_milestones</a:t>
            </a:r>
            <a:endParaRPr lang="en-US" sz="1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50292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CSDL</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KHÓA / RÀNG BUỘC</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MÔ TẢ VAI TRÒ</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 AUTO_INCREMENT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PRIMARY KEY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Mã định danh đợt đóng tiền độc nhất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deposit_id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FOREIGN KEY -&gt; deposits(id)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Liên kết phiếu đặt cọc tương ứng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amount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DECIMAL (15,2)</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NOT 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Số tiền phải đóng hoặc thực thu đợt này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status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ENUM('pending','approved','failed')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DEFAULT 'pending'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Trạng thái phê duyệt chứng từ đóng tiền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invoice_id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FOREIGN KEY -&gt; invoices(id)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Hóa đơn tài chính được sinh tự động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22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BỂ CỌC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Nghiệp Vụ Xử Lý Hủy Đặt Cọc (Bể Cọc)</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Yêu cầu hủy cọc</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Nhận yêu cầu hủy cọc từ khách hàng, kiểm tra lịch sử milestones đóng tiền.</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Kiểm tra doanh thu</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Đối soát số đợt đóng tiền approved. Nếu = 0 -&gt; Hạ cấp; Nếu &gt; 0 -&gt; Giữ nguyên.</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Khóa &amp; Ghi log</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Cập nhật trạng thái phiếu cọc, giải phóng căn hộ và ghi nhật ký.</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23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BỂ CỌC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Hủy Cọc Khi Chưa Phát Sinh Doanh Thu</a:t>
            </a:r>
            <a:endParaRPr lang="en-US" sz="1900" dirty="0"/>
          </a:p>
        </p:txBody>
      </p:sp>
      <p:sp>
        <p:nvSpPr>
          <p:cNvPr id="15" name="Shape 13"/>
          <p:cNvSpPr/>
          <p:nvPr/>
        </p:nvSpPr>
        <p:spPr>
          <a:xfrm>
            <a:off x="731520" y="1280160"/>
            <a:ext cx="3657600" cy="3291840"/>
          </a:xfrm>
          <a:prstGeom prst="roundRect">
            <a:avLst>
              <a:gd name="adj" fmla="val 1667"/>
            </a:avLst>
          </a:prstGeom>
          <a:solidFill>
            <a:srgbClr val="FFFFFF"/>
          </a:solidFill>
          <a:ln w="12700">
            <a:solidFill>
              <a:srgbClr val="E2E8F0"/>
            </a:solidFill>
            <a:prstDash val="solid"/>
          </a:ln>
        </p:spPr>
      </p:sp>
      <p:sp>
        <p:nvSpPr>
          <p:cNvPr id="16" name="Text 14"/>
          <p:cNvSpPr/>
          <p:nvPr/>
        </p:nvSpPr>
        <p:spPr>
          <a:xfrm>
            <a:off x="914400" y="1417320"/>
            <a:ext cx="329184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Hạ cấp KHTN</a:t>
            </a:r>
            <a:endParaRPr lang="en-US" sz="2600" dirty="0"/>
          </a:p>
        </p:txBody>
      </p:sp>
      <p:sp>
        <p:nvSpPr>
          <p:cNvPr id="17" name="Text 15"/>
          <p:cNvSpPr/>
          <p:nvPr/>
        </p:nvSpPr>
        <p:spPr>
          <a:xfrm>
            <a:off x="914400" y="1874520"/>
            <a:ext cx="329184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HẠ TRẠNG THÁI &amp; RỚT NHIỆT</a:t>
            </a:r>
            <a:endParaRPr lang="en-US" sz="900" dirty="0"/>
          </a:p>
        </p:txBody>
      </p:sp>
      <p:sp>
        <p:nvSpPr>
          <p:cNvPr id="18" name="Text 16"/>
          <p:cNvSpPr/>
          <p:nvPr/>
        </p:nvSpPr>
        <p:spPr>
          <a:xfrm>
            <a:off x="914400" y="2103120"/>
            <a:ext cx="329184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Trạng thái khách hàng bị hạ về Booking/Đã Gặp. Nhiệt độ rớt 1 cấp (Hot -&gt; Warm -&gt; Neutral...). Bắt đầu chạy lại đồng hồ bảo mật 3 tháng.</a:t>
            </a:r>
            <a:endParaRPr lang="en-US" sz="800" dirty="0"/>
          </a:p>
        </p:txBody>
      </p:sp>
      <p:sp>
        <p:nvSpPr>
          <p:cNvPr id="19" name="Shape 17"/>
          <p:cNvSpPr/>
          <p:nvPr/>
        </p:nvSpPr>
        <p:spPr>
          <a:xfrm>
            <a:off x="4846320" y="1280160"/>
            <a:ext cx="3931920" cy="3291840"/>
          </a:xfrm>
          <a:prstGeom prst="roundRect">
            <a:avLst>
              <a:gd name="adj" fmla="val 1389"/>
            </a:avLst>
          </a:prstGeom>
          <a:solidFill>
            <a:srgbClr val="FFFFFF"/>
          </a:solidFill>
          <a:ln w="12700">
            <a:solidFill>
              <a:srgbClr val="E2E8F0"/>
            </a:solidFill>
            <a:prstDash val="solid"/>
          </a:ln>
        </p:spPr>
      </p:sp>
      <p:sp>
        <p:nvSpPr>
          <p:cNvPr id="20" name="Text 18"/>
          <p:cNvSpPr/>
          <p:nvPr/>
        </p:nvSpPr>
        <p:spPr>
          <a:xfrm>
            <a:off x="5029200" y="1417320"/>
            <a:ext cx="35661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LÝ DO KỸ THUẬT &amp; KINH TẾ</a:t>
            </a:r>
            <a:endParaRPr lang="en-US" sz="950" dirty="0"/>
          </a:p>
        </p:txBody>
      </p:sp>
      <p:sp>
        <p:nvSpPr>
          <p:cNvPr id="21" name="Text 19"/>
          <p:cNvSpPr/>
          <p:nvPr/>
        </p:nvSpPr>
        <p:spPr>
          <a:xfrm>
            <a:off x="5029200" y="1709928"/>
            <a:ext cx="356616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Công ty chưa thực thu được dòng tiền thực tế nào từ giao dịch.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Cho phép lead tự động trả về kho chung (Databank) sau khi hết hạn bảo mật để Sale khác khai thác.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Tối ưu hóa tối đa vòng đời vòng lặp của lead tiềm năng.</a:t>
            </a:r>
            <a:endParaRPr lang="en-US" sz="920" dirty="0"/>
          </a:p>
        </p:txBody>
      </p:sp>
      <p:sp>
        <p:nvSpPr>
          <p:cNvPr id="22"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24 / 60</a:t>
            </a:r>
            <a:endParaRPr lang="en-US" sz="850" dirty="0"/>
          </a:p>
        </p:txBody>
      </p:sp>
      <p:sp>
        <p:nvSpPr>
          <p:cNvPr id="23"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BỂ CỌC</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Hủy Cọc Khi Đã Phát Sinh Doanh Thu</a:t>
            </a:r>
            <a:endParaRPr lang="en-US" sz="1900" dirty="0"/>
          </a:p>
        </p:txBody>
      </p:sp>
      <p:sp>
        <p:nvSpPr>
          <p:cNvPr id="15" name="Shape 13"/>
          <p:cNvSpPr/>
          <p:nvPr/>
        </p:nvSpPr>
        <p:spPr>
          <a:xfrm>
            <a:off x="731520" y="1280160"/>
            <a:ext cx="3657600" cy="3291840"/>
          </a:xfrm>
          <a:prstGeom prst="roundRect">
            <a:avLst>
              <a:gd name="adj" fmla="val 1667"/>
            </a:avLst>
          </a:prstGeom>
          <a:solidFill>
            <a:srgbClr val="FFFFFF"/>
          </a:solidFill>
          <a:ln w="12700">
            <a:solidFill>
              <a:srgbClr val="E2E8F0"/>
            </a:solidFill>
            <a:prstDash val="solid"/>
          </a:ln>
        </p:spPr>
      </p:sp>
      <p:sp>
        <p:nvSpPr>
          <p:cNvPr id="16" name="Text 14"/>
          <p:cNvSpPr/>
          <p:nvPr/>
        </p:nvSpPr>
        <p:spPr>
          <a:xfrm>
            <a:off x="914400" y="1417320"/>
            <a:ext cx="329184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Giữ Đặt Cọc</a:t>
            </a:r>
            <a:endParaRPr lang="en-US" sz="2600" dirty="0"/>
          </a:p>
        </p:txBody>
      </p:sp>
      <p:sp>
        <p:nvSpPr>
          <p:cNvPr id="17" name="Text 15"/>
          <p:cNvSpPr/>
          <p:nvPr/>
        </p:nvSpPr>
        <p:spPr>
          <a:xfrm>
            <a:off x="914400" y="1874520"/>
            <a:ext cx="329184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KHÔNG HẠ TRẠNG THÁI KHTN</a:t>
            </a:r>
            <a:endParaRPr lang="en-US" sz="900" dirty="0"/>
          </a:p>
        </p:txBody>
      </p:sp>
      <p:sp>
        <p:nvSpPr>
          <p:cNvPr id="18" name="Text 16"/>
          <p:cNvSpPr/>
          <p:nvPr/>
        </p:nvSpPr>
        <p:spPr>
          <a:xfrm>
            <a:off x="914400" y="2103120"/>
            <a:ext cx="329184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Person được giữ nguyên trạng thái Đặt Cọc/Khách Hàng. Đồng hồ bảo mật dừng chạy, lead không bao giờ bị thu hồi ra kho chung.</a:t>
            </a:r>
            <a:endParaRPr lang="en-US" sz="800" dirty="0"/>
          </a:p>
        </p:txBody>
      </p:sp>
      <p:sp>
        <p:nvSpPr>
          <p:cNvPr id="19" name="Shape 17"/>
          <p:cNvSpPr/>
          <p:nvPr/>
        </p:nvSpPr>
        <p:spPr>
          <a:xfrm>
            <a:off x="4846320" y="1280160"/>
            <a:ext cx="3931920" cy="3291840"/>
          </a:xfrm>
          <a:prstGeom prst="roundRect">
            <a:avLst>
              <a:gd name="adj" fmla="val 1389"/>
            </a:avLst>
          </a:prstGeom>
          <a:solidFill>
            <a:srgbClr val="FFFFFF"/>
          </a:solidFill>
          <a:ln w="12700">
            <a:solidFill>
              <a:srgbClr val="E2E8F0"/>
            </a:solidFill>
            <a:prstDash val="solid"/>
          </a:ln>
        </p:spPr>
      </p:sp>
      <p:sp>
        <p:nvSpPr>
          <p:cNvPr id="20" name="Text 18"/>
          <p:cNvSpPr/>
          <p:nvPr/>
        </p:nvSpPr>
        <p:spPr>
          <a:xfrm>
            <a:off x="5029200" y="1417320"/>
            <a:ext cx="35661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LÝ DO KỸ THUẬT &amp; KINH TẾ</a:t>
            </a:r>
            <a:endParaRPr lang="en-US" sz="950" dirty="0"/>
          </a:p>
        </p:txBody>
      </p:sp>
      <p:sp>
        <p:nvSpPr>
          <p:cNvPr id="21" name="Text 19"/>
          <p:cNvSpPr/>
          <p:nvPr/>
        </p:nvSpPr>
        <p:spPr>
          <a:xfrm>
            <a:off x="5029200" y="1709928"/>
            <a:ext cx="356616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Công ty đã thực thu được đợt tiền approved (đã có hoa hồng thực tế).</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Xác nhận thực tế Person này là Khách Hàng thật của doanh nghiệp.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Giữ lại chủ cũ để tiếp tục chăm sóc bán lại hoặc làm đại sứ thương hiệu.</a:t>
            </a:r>
            <a:endParaRPr lang="en-US" sz="920" dirty="0"/>
          </a:p>
        </p:txBody>
      </p:sp>
      <p:sp>
        <p:nvSpPr>
          <p:cNvPr id="22"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25 / 60</a:t>
            </a:r>
            <a:endParaRPr lang="en-US" sz="850" dirty="0"/>
          </a:p>
        </p:txBody>
      </p:sp>
      <p:sp>
        <p:nvSpPr>
          <p:cNvPr id="23"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ĐỔI CĂN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Nghiệp Vụ Đổi Căn Hộ Giao Dịch</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Hủy phiếu cọc cũ</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Khóa và đánh dấu hủy phiếu đặt cọc cũ của căn hộ A, lưu giữ lịch sử tài chính.</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Tạo phiếu cọc mới</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Khởi tạo phiếu đặt cọc mới hoàn toàn cho căn hộ B với các mốc milestone mới.</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Liên kết vết audit</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Tạo ghi chú liên kết dạng 'Đổi căn từ căn A' tại deal mới để đối chiếu chéo.</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26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AUDIT TRAIL</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Vết Kiểm Toán Tài Chỉ tiêu Doanh Thu</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GHI NHẬT KÝ THAY ĐỔI</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Mọi thao tác thay đổi giá bán, chiết khấu, hoa hồng đều được ghi log.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nhận danh tính người chỉnh sửa và mốc thời gian chi tiết.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sửa đổi trực tiếp các hóa đơn đã được kế toán duyệt khóa sổ.</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HÓA ĐƠN &amp; DOANH THU</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Auto-create hóa đơn tương ứng với số tiền đợt thanh toán được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Đối chiếu chéo giữa số liệu báo cáo của Sale và dữ liệu thực tế của kế toán.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Xuất báo cáo công nợ đợt đóng tiền tự động gửi về cho khách hàng.</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27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META CAPI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Tín Hiệu Meta Conversion API (CAPI)</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Nghiệp vụ CRM</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Sale cập nhật trạng thái lead hoặc kế toán duyệt đặt cọc approved.</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Bắn thẳng Meta API</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Hệ thống băm SHA256 SĐT/email, gửi sự kiện trực tiếp không qua trung gian.</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Meta Pixel match</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Meta đối soát mã lead_id để tối ưu hóa thuật toán phân phối ads.</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28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META CAPI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Tắc Tín Hiệu CAPI Một Chiều (Forward-Only)</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QUY TẮC MỘT CHIỀU</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Tuyệt đối không gửi sự kiện hoàn trả, hạ cấp trạng thái lead về Meta.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Một khi tín hiệu Purchase đã được gửi đi là kết thúc luồng cho lead đó.</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Bảo vệ dữ liệu tối ưu hóa chiến dịch quảng cáo không bị nhiễu loạn.</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LỢI ÍCH THUẬT TOÁN HỌC</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Giúp thuật toán tìm kiếm khách hàng của Meta tập trung vào tệp chuyển đổi thật.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Né tránh nhầm lẫn do các thay đổi trạng thái hậu trường của CRM.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Giảm chi phí quảng cáo (CPA) đáng kể cho các chiến dịch sau.</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29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TÀI CHÍNH &amp; CAPI</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3: TÀI CHÍNH &amp; CAPI</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Bảo vệ dòng tiền thực thu thông qua kế toán đối soát, vết kiểm toán audit trail và connector trực tiếp Meta Conversion API.</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BỂ CỌC PHÂN NHÁNH</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Hủy cọc trước doanh thu hạ cấp trả kho; hủy cọc sau doanh thu giữ nguyên cọc bảo vệ thực thu.</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UNIT SWITCHING</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Hủy cọc cũ và mở cọc mới, gắn định danh link nguồn giữ trọn vẹn vết kiểm toán tài chính.</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CAPI FORWARD-ONLY</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Bắn tín hiệu 1 chiều từ CSDL, chặn gửi sự kiện hoàn trả giúp bảo vệ thuật toán học Meta.</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30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 Hình Tri Thức AI RAG Truy Xuất</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Upload Tri Thức</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Quản trị viên đưa tài liệu PDF/Web dự án vào hệ thống qua AITrainingPanel.</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Embeddings API</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Chia nhỏ đoạn văn bản (chunking) và sinh vector đặc trưng 768 chiều qua API.</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CSDL Vector Cache</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Lưu trữ vector và text chunk vào bảng ai_vector_cache để truy xuất nhanh.</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31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Chỉ Số Hiệu Năng Bộ Đệm Vector Cache</a:t>
            </a:r>
            <a:endParaRPr lang="en-US" sz="1900" dirty="0"/>
          </a:p>
        </p:txBody>
      </p:sp>
      <p:sp>
        <p:nvSpPr>
          <p:cNvPr id="15" name="Shape 13"/>
          <p:cNvSpPr/>
          <p:nvPr/>
        </p:nvSpPr>
        <p:spPr>
          <a:xfrm>
            <a:off x="731520" y="1280160"/>
            <a:ext cx="2468880" cy="3291840"/>
          </a:xfrm>
          <a:prstGeom prst="roundRect">
            <a:avLst>
              <a:gd name="adj" fmla="val 2222"/>
            </a:avLst>
          </a:prstGeom>
          <a:solidFill>
            <a:srgbClr val="FFFFFF"/>
          </a:solidFill>
          <a:ln w="12700">
            <a:solidFill>
              <a:srgbClr val="E2E8F0"/>
            </a:solidFill>
            <a:prstDash val="solid"/>
          </a:ln>
        </p:spPr>
      </p:sp>
      <p:sp>
        <p:nvSpPr>
          <p:cNvPr id="16" name="Text 14"/>
          <p:cNvSpPr/>
          <p:nvPr/>
        </p:nvSpPr>
        <p:spPr>
          <a:xfrm>
            <a:off x="91440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768 Dim</a:t>
            </a:r>
            <a:endParaRPr lang="en-US" sz="2600" dirty="0"/>
          </a:p>
        </p:txBody>
      </p:sp>
      <p:sp>
        <p:nvSpPr>
          <p:cNvPr id="17" name="Text 15"/>
          <p:cNvSpPr/>
          <p:nvPr/>
        </p:nvSpPr>
        <p:spPr>
          <a:xfrm>
            <a:off x="91440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KÍCH THƯỚC VECTOR</a:t>
            </a:r>
            <a:endParaRPr lang="en-US" sz="900" dirty="0"/>
          </a:p>
        </p:txBody>
      </p:sp>
      <p:sp>
        <p:nvSpPr>
          <p:cNvPr id="18" name="Text 16"/>
          <p:cNvSpPr/>
          <p:nvPr/>
        </p:nvSpPr>
        <p:spPr>
          <a:xfrm>
            <a:off x="91440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Độ rộng chiều vector đặc trưng ngữ nghĩa tạo bởi mô hình gemini-embedding-001.</a:t>
            </a:r>
            <a:endParaRPr lang="en-US" sz="800" dirty="0"/>
          </a:p>
        </p:txBody>
      </p:sp>
      <p:sp>
        <p:nvSpPr>
          <p:cNvPr id="19" name="Shape 17"/>
          <p:cNvSpPr/>
          <p:nvPr/>
        </p:nvSpPr>
        <p:spPr>
          <a:xfrm>
            <a:off x="3520440" y="1280160"/>
            <a:ext cx="2468880" cy="3291840"/>
          </a:xfrm>
          <a:prstGeom prst="roundRect">
            <a:avLst>
              <a:gd name="adj" fmla="val 2222"/>
            </a:avLst>
          </a:prstGeom>
          <a:solidFill>
            <a:srgbClr val="FFFFFF"/>
          </a:solidFill>
          <a:ln w="12700">
            <a:solidFill>
              <a:srgbClr val="E2E8F0"/>
            </a:solidFill>
            <a:prstDash val="solid"/>
          </a:ln>
        </p:spPr>
      </p:sp>
      <p:sp>
        <p:nvSpPr>
          <p:cNvPr id="20" name="Text 18"/>
          <p:cNvSpPr/>
          <p:nvPr/>
        </p:nvSpPr>
        <p:spPr>
          <a:xfrm>
            <a:off x="370332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90 %</a:t>
            </a:r>
            <a:endParaRPr lang="en-US" sz="2600" dirty="0"/>
          </a:p>
        </p:txBody>
      </p:sp>
      <p:sp>
        <p:nvSpPr>
          <p:cNvPr id="21" name="Text 19"/>
          <p:cNvSpPr/>
          <p:nvPr/>
        </p:nvSpPr>
        <p:spPr>
          <a:xfrm>
            <a:off x="370332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TỶ LỆ HIT CACHE CSDL</a:t>
            </a:r>
            <a:endParaRPr lang="en-US" sz="900" dirty="0"/>
          </a:p>
        </p:txBody>
      </p:sp>
      <p:sp>
        <p:nvSpPr>
          <p:cNvPr id="22" name="Text 20"/>
          <p:cNvSpPr/>
          <p:nvPr/>
        </p:nvSpPr>
        <p:spPr>
          <a:xfrm>
            <a:off x="370332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Tận dụng cache MD5 cục bộ giúp giảm lượng cuộc gọi API ngoài sinh trùng lặp.</a:t>
            </a:r>
            <a:endParaRPr lang="en-US" sz="800" dirty="0"/>
          </a:p>
        </p:txBody>
      </p:sp>
      <p:sp>
        <p:nvSpPr>
          <p:cNvPr id="23" name="Shape 21"/>
          <p:cNvSpPr/>
          <p:nvPr/>
        </p:nvSpPr>
        <p:spPr>
          <a:xfrm>
            <a:off x="6309360" y="1280160"/>
            <a:ext cx="2468880" cy="3291840"/>
          </a:xfrm>
          <a:prstGeom prst="roundRect">
            <a:avLst>
              <a:gd name="adj" fmla="val 2222"/>
            </a:avLst>
          </a:prstGeom>
          <a:solidFill>
            <a:srgbClr val="FFFFFF"/>
          </a:solidFill>
          <a:ln w="12700">
            <a:solidFill>
              <a:srgbClr val="E2E8F0"/>
            </a:solidFill>
            <a:prstDash val="solid"/>
          </a:ln>
        </p:spPr>
      </p:sp>
      <p:sp>
        <p:nvSpPr>
          <p:cNvPr id="24" name="Text 22"/>
          <p:cNvSpPr/>
          <p:nvPr/>
        </p:nvSpPr>
        <p:spPr>
          <a:xfrm>
            <a:off x="6492240" y="1417320"/>
            <a:ext cx="210312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&lt; 5ms</a:t>
            </a:r>
            <a:endParaRPr lang="en-US" sz="2600" dirty="0"/>
          </a:p>
        </p:txBody>
      </p:sp>
      <p:sp>
        <p:nvSpPr>
          <p:cNvPr id="25" name="Text 23"/>
          <p:cNvSpPr/>
          <p:nvPr/>
        </p:nvSpPr>
        <p:spPr>
          <a:xfrm>
            <a:off x="6492240" y="1874520"/>
            <a:ext cx="210312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ĐỘ TRỄ ĐỐI KHỚP COSINE</a:t>
            </a:r>
            <a:endParaRPr lang="en-US" sz="900" dirty="0"/>
          </a:p>
        </p:txBody>
      </p:sp>
      <p:sp>
        <p:nvSpPr>
          <p:cNvPr id="26" name="Text 24"/>
          <p:cNvSpPr/>
          <p:nvPr/>
        </p:nvSpPr>
        <p:spPr>
          <a:xfrm>
            <a:off x="6492240" y="2103120"/>
            <a:ext cx="210312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Thời gian tính độ tương đồng vector ngay trong PHP cho trải nghiệm chớp mắt.</a:t>
            </a:r>
            <a:endParaRPr lang="en-US" sz="800" dirty="0"/>
          </a:p>
        </p:txBody>
      </p:sp>
      <p:sp>
        <p:nvSpPr>
          <p:cNvPr id="27" name="Text 25"/>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32 / 60</a:t>
            </a:r>
            <a:endParaRPr lang="en-US" sz="850" dirty="0"/>
          </a:p>
        </p:txBody>
      </p:sp>
      <p:sp>
        <p:nvSpPr>
          <p:cNvPr id="28" name="Text 26"/>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Truy Xuất Ngữ Cảnh Tri Thức AI RAG</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Câu hỏi mới</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Người dùng nhập câu hỏi hoặc ghi chú lead mới đổ về hệ thống.</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Cosine Match</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Đối soát tương đồng ngữ nghĩa trong PHP để tìm 3 đoạn tri thức phù hợp nhất.</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LLM Answer</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Nhúng tri thức làm ngữ cảnh và gửi Gemini tạo câu trả lời chuẩn xác.</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33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Bảng So Sánh Cơ Chế Tìm Kiếm Tri Thức</a:t>
            </a:r>
            <a:endParaRPr lang="en-US" sz="1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75438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ĐẶC ĐIỂM ĐỐI SOÁT</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TÌM KIẾM TỪ KHÓA TRUYỀN THỐNG</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TÌM KIẾM NGỮ NGHĨA (VECTOR SEARCH)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LỢI ÍCH CHO CRM</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Phương pháp khớp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Trùng lặp ký tự chính xác</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Tính toán tương đồng vector Cosine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Hiểu ý định thay vì chữ viết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Từ đồng nghĩa</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Bỏ sót hoàn toàn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Nhận diện tốt (chung cư = căn hộ)</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Tăng độ bao phủ câu hỏi</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75438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Lỗi chính tả nhẹ</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Không tìm thấy kết quả</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Vẫn khớp chính xác nhờ khoảng cách</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Bảo vệ độ trễ phản hồi</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34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Giao Diện Quản Lý Huấn Luyện AI</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AITRAININGPANEL</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Cho phép upload tài liệu tri thức định dạng PDF hoặc nhập liên kết Web.</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Bảng hiển thị danh sách tài liệu kèm trạng thái xử lý vector hóa.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Quản trị viên dễ dàng thêm mới, cập nhật hoặc xóa bỏ tri thức cũ.</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KIỂM THỬ TRỰC TIẾP (SANDBOX)</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Cung cấp khung nhập câu hỏi thử nghiệm ngay trên màn hình Admin.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Hiển thị danh sách các đoạn ngữ cảnh đối khớp kèm điểm tương đồng.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Đánh giá chất lượng tri thức trước khi đưa vào vận hành thực tế.</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35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Tiến Trình AI Sàng Lọc Phân Loại Lead</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Nhận Lead</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Đọc thông tin ghi chú tương tác ban đầu của lead mới nhận.</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AI Phân Loại</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Gemini đối chiếu tri thức, chấm độ tự tin của quyết định.</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Lọc Spam / Sai số</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Nếu tự tin &gt; 85%, tự động gán nhãn loại bỏ lead ảo.</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36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AI RAG</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Cơ Chế Dự Phòng Lỗi Khi Gọi AI</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KỊCH BẢN LỖI THƯỜNG GẶP</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API hết hạn mức (rate limit), máy chủ Gemini phản hồi chậm hoặc timeout.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Định dạng phản hồi JSON từ AI bị lỗi cấu trúc.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Không kết nối được mạng internet từ server.</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XỬ LÝ DỰ PHÒNG</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thực hiện gửi lại yêu cầu tối đa 3 lần.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Nếu vẫn lỗi: Tự động chuyển trạng thái lead về chờ admin duyệt thủ công.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hệ thống không bị ngắt quãng hoạt động khi API ngoài gặp sự cố.</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37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TRÍ TUỆ RAG</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4: HỆ THỐNG TRÍ TUỆ RAG</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Nạp tri thức tài liệu dự án, số hóa thông tin căn hộ thông qua Vector Embeddings và thuật toán tìm kiếm tương đồng ngữ nghĩa trong PHP.</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768 CHIỀU VECTOR</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Sử dụng gemini-embedding-001 ánh xạ ngữ nghĩa đoạn văn bản 700 ký tự.</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COSINE SIMILARITY</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So khớp ngữ nghĩa chớp mắt &lt;5ms trong PHP, bỏ qua sự phụ thuộc vào Vector DB ngoài.</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BỘ ĐỆM MD5 CACHE</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Tận dụng bảng CSDL ai_vector_cache lưu vết vector, triệt tiêu 90% chi phí gọi API ngoài.</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38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LIÊN KẾT</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Cấu Trúc Cột Cấu Hình sheet_connections</a:t>
            </a:r>
            <a:endParaRPr lang="en-US" sz="1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603504">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CẤU HÌNH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GIÁ TRỊ VÍ DỤ</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MỤC ĐÍCH SỬ DỤNG</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spreadsheet_id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VARCHAR(128)</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1g3v...Kx4</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Mã định danh duy nhất của Google Sheets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sheet_name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VARCHAR(50)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'Lead Form'</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Tên cụ thể của thẻ tab cần đồng bộ</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sync_interval_minutes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5</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Chu kỳ thời gian chạy cron quét cập nhật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is_active</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TINYINT(1)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Cờ cho phép bật/tắt tạm thời kết nối đồng bộ</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39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LIÊN KẾT</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Cổng Tiếp Nhận Webhook Tức Thời</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TIẾP NHẬN TỨC THỜI</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Cung cấp URL webhook bảo mật cho các đối tác quảng cáo.</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Bắt dữ liệu dạng POST JSON ngay khi khách hàng điền form.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Trả về phản hồi HTTP 200 tức thì để bên gửi không bị treo.</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GHI NHẬN &amp; XỬ LÝ THÔ</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dữ liệu thô vào bảng leads kèm mốc thời gian nhận.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Kích hoạt tiến trình phân chia lead ngầm không gây nghẽn luồng nhận lead.</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tỷ lệ thất thoát lead đầu vào tiệm cận mức 0%.</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40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LIÊN KẾT</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Đối Soát Chống Lặp Đồng Bộ Hai Chiều</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Tính mã băm SHA256</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Tính mã băm cho dữ liệu mỗi dòng trên Google Sheets.</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So sánh đối soát</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Lưu hash vào sheet_sync_records, chỉ đồng bộ nếu hash mới khác hash cũ.</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Chống lặp vô hạn</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Bỏ qua các dòng chỉnh sửa sinh ra từ chính CRM cập nhật lên.</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41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ĐIỀU KHIỂN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Trung Tâm Lệnh Chatbot Webhooks</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TƯƠNG TÁC QUA ỨNG DỤNG CHAT</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Tích hợp Bot API của Telegram và Zalo OA vào hệ thống.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Thiết lập Webhook lắng nghe tin nhắn từ nhóm chat quản trị.</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Mang lại trải nghiệm quản lý di động cực kỳ nhanh chóng.</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BẢO MẬT CỔNG NHẬN LỆNH</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Đường dẫn Webhook chứa token bảo mật ngẫu nhiên chặn quét cổng.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Chỉ xử lý tin nhắn xuất phát từ các Chat ID đã được xác minh.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log đầy đủ mọi yêu cầu lệnh gửi về để kiểm tra sau này.</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42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ĐIỀU KHIỂN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Bảng Mô Phỏng Tập Lệnh Tương Tác Qua Chat</a:t>
            </a:r>
            <a:endParaRPr lang="en-US" sz="1900" dirty="0"/>
          </a:p>
        </p:txBody>
      </p:sp>
      <p:sp>
        <p:nvSpPr>
          <p:cNvPr id="15" name="Shape 13"/>
          <p:cNvSpPr/>
          <p:nvPr/>
        </p:nvSpPr>
        <p:spPr>
          <a:xfrm>
            <a:off x="731520" y="1371600"/>
            <a:ext cx="3840480" cy="1463040"/>
          </a:xfrm>
          <a:prstGeom prst="roundRect">
            <a:avLst>
              <a:gd name="adj" fmla="val 5000"/>
            </a:avLst>
          </a:prstGeom>
          <a:solidFill>
            <a:srgbClr val="F1F5F9"/>
          </a:solidFill>
          <a:ln w="12700">
            <a:solidFill>
              <a:srgbClr val="E2E8F0"/>
            </a:solidFill>
            <a:prstDash val="solid"/>
          </a:ln>
        </p:spPr>
      </p:sp>
      <p:sp>
        <p:nvSpPr>
          <p:cNvPr id="16" name="Text 14"/>
          <p:cNvSpPr/>
          <p:nvPr/>
        </p:nvSpPr>
        <p:spPr>
          <a:xfrm>
            <a:off x="868680" y="1444752"/>
            <a:ext cx="3566160" cy="182880"/>
          </a:xfrm>
          <a:prstGeom prst="rect">
            <a:avLst/>
          </a:prstGeom>
          <a:noFill/>
          <a:ln/>
        </p:spPr>
        <p:txBody>
          <a:bodyPr wrap="square" rtlCol="0" anchor="ctr"/>
          <a:lstStyle/>
          <a:p>
            <a:pPr indent="0" marL="0">
              <a:buNone/>
            </a:pPr>
            <a:r>
              <a:rPr lang="en-US" sz="750" b="1" dirty="0">
                <a:solidFill>
                  <a:srgbClr val="BD1D2D"/>
                </a:solidFill>
                <a:latin typeface="Segoe UI" pitchFamily="34" charset="0"/>
                <a:ea typeface="Segoe UI" pitchFamily="34" charset="-122"/>
                <a:cs typeface="Segoe UI" pitchFamily="34" charset="-120"/>
              </a:rPr>
              <a:t>QUẢN LÝ (TELEGRAM GROUP)</a:t>
            </a:r>
            <a:endParaRPr lang="en-US" sz="750" dirty="0"/>
          </a:p>
        </p:txBody>
      </p:sp>
      <p:sp>
        <p:nvSpPr>
          <p:cNvPr id="17" name="Text 15"/>
          <p:cNvSpPr/>
          <p:nvPr/>
        </p:nvSpPr>
        <p:spPr>
          <a:xfrm>
            <a:off x="868680" y="1600200"/>
            <a:ext cx="3566160" cy="118872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/report</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Yêu cầu xuất báo cáo số liệu lead mới nhận ngày hôm nay.</a:t>
            </a:r>
            <a:endParaRPr lang="en-US" sz="820" dirty="0"/>
          </a:p>
        </p:txBody>
      </p:sp>
      <p:sp>
        <p:nvSpPr>
          <p:cNvPr id="18" name="Shape 16"/>
          <p:cNvSpPr/>
          <p:nvPr/>
        </p:nvSpPr>
        <p:spPr>
          <a:xfrm>
            <a:off x="731520" y="3017520"/>
            <a:ext cx="3840480" cy="1463040"/>
          </a:xfrm>
          <a:prstGeom prst="roundRect">
            <a:avLst>
              <a:gd name="adj" fmla="val 5000"/>
            </a:avLst>
          </a:prstGeom>
          <a:solidFill>
            <a:srgbClr val="F1F5F9"/>
          </a:solidFill>
          <a:ln w="12700">
            <a:solidFill>
              <a:srgbClr val="E2E8F0"/>
            </a:solidFill>
            <a:prstDash val="solid"/>
          </a:ln>
        </p:spPr>
      </p:sp>
      <p:sp>
        <p:nvSpPr>
          <p:cNvPr id="19" name="Text 17"/>
          <p:cNvSpPr/>
          <p:nvPr/>
        </p:nvSpPr>
        <p:spPr>
          <a:xfrm>
            <a:off x="868680" y="3090672"/>
            <a:ext cx="3566160" cy="182880"/>
          </a:xfrm>
          <a:prstGeom prst="rect">
            <a:avLst/>
          </a:prstGeom>
          <a:noFill/>
          <a:ln/>
        </p:spPr>
        <p:txBody>
          <a:bodyPr wrap="square" rtlCol="0" anchor="ctr"/>
          <a:lstStyle/>
          <a:p>
            <a:pPr indent="0" marL="0">
              <a:buNone/>
            </a:pPr>
            <a:r>
              <a:rPr lang="en-US" sz="750" b="1" dirty="0">
                <a:solidFill>
                  <a:srgbClr val="BD1D2D"/>
                </a:solidFill>
                <a:latin typeface="Segoe UI" pitchFamily="34" charset="0"/>
                <a:ea typeface="Segoe UI" pitchFamily="34" charset="-122"/>
                <a:cs typeface="Segoe UI" pitchFamily="34" charset="-120"/>
              </a:rPr>
              <a:t>QUẢN LÝ (TELEGRAM GROUP)</a:t>
            </a:r>
            <a:endParaRPr lang="en-US" sz="750" dirty="0"/>
          </a:p>
        </p:txBody>
      </p:sp>
      <p:sp>
        <p:nvSpPr>
          <p:cNvPr id="20" name="Text 18"/>
          <p:cNvSpPr/>
          <p:nvPr/>
        </p:nvSpPr>
        <p:spPr>
          <a:xfrm>
            <a:off x="868680" y="3246120"/>
            <a:ext cx="3566160" cy="118872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/duyet 105</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Duyệt nhanh phiếu cọc mã số 105 để kế toán khóa giao dịch.</a:t>
            </a:r>
            <a:endParaRPr lang="en-US" sz="820" dirty="0"/>
          </a:p>
        </p:txBody>
      </p:sp>
      <p:sp>
        <p:nvSpPr>
          <p:cNvPr id="21" name="Shape 19"/>
          <p:cNvSpPr/>
          <p:nvPr/>
        </p:nvSpPr>
        <p:spPr>
          <a:xfrm>
            <a:off x="4846320" y="1371600"/>
            <a:ext cx="3840480" cy="3108960"/>
          </a:xfrm>
          <a:prstGeom prst="roundRect">
            <a:avLst>
              <a:gd name="adj" fmla="val 2353"/>
            </a:avLst>
          </a:prstGeom>
          <a:solidFill>
            <a:srgbClr val="D1FAE5"/>
          </a:solidFill>
          <a:ln w="12700">
            <a:solidFill>
              <a:srgbClr val="E2E8F0"/>
            </a:solidFill>
            <a:prstDash val="solid"/>
          </a:ln>
        </p:spPr>
      </p:sp>
      <p:sp>
        <p:nvSpPr>
          <p:cNvPr id="22" name="Text 20"/>
          <p:cNvSpPr/>
          <p:nvPr/>
        </p:nvSpPr>
        <p:spPr>
          <a:xfrm>
            <a:off x="4983480" y="1444752"/>
            <a:ext cx="3566160" cy="182880"/>
          </a:xfrm>
          <a:prstGeom prst="rect">
            <a:avLst/>
          </a:prstGeom>
          <a:noFill/>
          <a:ln/>
        </p:spPr>
        <p:txBody>
          <a:bodyPr wrap="square" rtlCol="0" anchor="ctr"/>
          <a:lstStyle/>
          <a:p>
            <a:pPr indent="0" marL="0">
              <a:buNone/>
            </a:pPr>
            <a:r>
              <a:rPr lang="en-US" sz="750" b="1" dirty="0">
                <a:solidFill>
                  <a:srgbClr val="065F46"/>
                </a:solidFill>
                <a:latin typeface="Segoe UI" pitchFamily="34" charset="0"/>
                <a:ea typeface="Segoe UI" pitchFamily="34" charset="-122"/>
                <a:cs typeface="Segoe UI" pitchFamily="34" charset="-120"/>
              </a:rPr>
              <a:t>RICH LAND CRM BOT</a:t>
            </a:r>
            <a:endParaRPr lang="en-US" sz="750" dirty="0"/>
          </a:p>
        </p:txBody>
      </p:sp>
      <p:sp>
        <p:nvSpPr>
          <p:cNvPr id="23" name="Text 21"/>
          <p:cNvSpPr/>
          <p:nvPr/>
        </p:nvSpPr>
        <p:spPr>
          <a:xfrm>
            <a:off x="4983480" y="1600200"/>
            <a:ext cx="3566160" cy="2834640"/>
          </a:xfrm>
          <a:prstGeom prst="rect">
            <a:avLst/>
          </a:prstGeom>
          <a:noFill/>
          <a:ln/>
        </p:spPr>
        <p:txBody>
          <a:bodyPr wrap="square" rtlCol="0" anchor="t"/>
          <a:lstStyle/>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BÁO CÁO DOANH THU HÔM NAY:</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Lead mới nhận: 45 lead</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Phiếu cọc mới: 5 phiếu</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Đã duyệt: 3 phiếu (Doanh thu: 150tr)</a:t>
            </a: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 Đang trực: 12 Sale</a:t>
            </a:r>
            <a:endParaRPr lang="en-US" sz="820" dirty="0"/>
          </a:p>
          <a:p>
            <a:pPr indent="0" marL="0">
              <a:lnSpc>
                <a:spcPts val="1100"/>
              </a:lnSpc>
              <a:buNone/>
            </a:pPr>
            <a:endParaRPr lang="en-US" sz="820" dirty="0"/>
          </a:p>
          <a:p>
            <a:pPr indent="0" marL="0">
              <a:lnSpc>
                <a:spcPts val="1100"/>
              </a:lnSpc>
              <a:buNone/>
            </a:pPr>
            <a:r>
              <a:rPr lang="en-US" sz="820" dirty="0">
                <a:solidFill>
                  <a:srgbClr val="0F172A"/>
                </a:solidFill>
                <a:latin typeface="Segoe UI" pitchFamily="34" charset="0"/>
                <a:ea typeface="Segoe UI" pitchFamily="34" charset="-122"/>
                <a:cs typeface="Segoe UI" pitchFamily="34" charset="-120"/>
              </a:rPr>
              <a:t>[SUCCESS] Hệ thống vận hành bình thường.</a:t>
            </a:r>
            <a:endParaRPr lang="en-US" sz="820" dirty="0"/>
          </a:p>
        </p:txBody>
      </p:sp>
      <p:sp>
        <p:nvSpPr>
          <p:cNvPr id="24" name="Text 22"/>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43 / 60</a:t>
            </a:r>
            <a:endParaRPr lang="en-US" sz="850" dirty="0"/>
          </a:p>
        </p:txBody>
      </p:sp>
      <p:sp>
        <p:nvSpPr>
          <p:cNvPr id="25" name="Text 23"/>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ĐIỀU KHIỂN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Xử Lý Webhook Phía Zalo Bot</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ZALO_WEBHOOK.PHP</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tích cấu trúc sự kiện gửi từ Zalo OA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Trích xuất thông tin người gửi, nội dung văn bản lệnh.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Xác minh chữ ký số của Zalo để đảm bảo tin nhắn an toàn.</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LUỒNG PHẢN HỒI ZALO</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Ánh xạ Zalo User ID với tài khoản hệ thống để kiểm tra vai trò.</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thi truy vấn CSDL tương ứng và định dạng kết quả dạng tin nhắn chat.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Gọi API gửi tin nhắn Zalo OA trả kết quả về cho quản trị viên.</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44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ĐIỀU KHIỂN</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Xử Lý Webhook Phía Telegram Bot</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TELEGRAM_WEBHOOK.PHP</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Đăng ký URL webhook bảo mật với máy chủ Telegram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Bắt dữ liệu tin nhắn nhóm hoặc tin nhắn trực tiếp với Bot.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Phân tích cú pháp lệnh gạch chéo (slash commands).</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LUỒNG PHẢN HỒI TELEGRAM</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Định dạng kết quả dạng Markdown chất lượng cao để hiển thị đẹp mắt.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Gửi phản hồi kèm các nút bấm tương tác nhanh (Inline Keyboards).</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gửi ảnh báo cáo đồ thị trực quan cho Quản lý.</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45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LIÊN KẾT &amp; ĐIỀU KHIỂN</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KẾT LUẬN CHƯƠNG 5: ĐỒNG BỘ &amp; TRUNG TÂM LỆNH CHAT</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Tích hợp đa kênh thời gian thực thông qua đồng bộ bảng tính Google Sheets và bảng lệnh Chatbot Webhooks điều khiển quản trị trên Telegram/Zalo di động.</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MUTEX LOCK &amp; HASH</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Khóa tệp cron_sync.lock và so khớp SHA256 chống lặp ghi đè vô hạn giữa CRM và Sheets.</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WEBHOOK INSTANT</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Tiếp nhận thô và phân loại ngầm lead thô LP/Meta trong &lt;20ms, chặn đứng tỷ lệ trôi thất thoát lead.</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CHAT COMMAND CONSOLE</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Tập lệnh slash commands bảo mật token URL giúp Manager duyệt nhanh cọc/check-in trên di động.</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46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Phân Tích Điểm Nghẽn Mạng Đồng Bộ</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VẤN ĐỀ NGHẼN LUỒNG (BLOCKING)</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Khi có lead mới, hệ thống phải gọi nhiều API bên thứ ba (Telegram, Zalo OA).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Các cuộc gọi HTTP đồng bộ bắt tiến trình PHP phải đợi kết nối mạng phản hồi.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Gây tăng thời gian phản hồi API lên &gt;5 giây, dễ dẫn đến timeout và mất lead.</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GIẢI PHÁP CHUYỂN SANG HÀNG ĐỢI</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Chi phí gọi cURL không đồng bộ hóa sẽ tạo ra thắt nút cổ chai cục bộ.</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Đẩy toàn bộ thông báo Zalo/Telegram về hàng đợi nền database.</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Rút ngắn thời gian phản hồi webhook nhận lead xuống dưới 20ms.</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47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 Hình Hàng Đợi Bất Đồng Bộ Hóa</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Lưu hàng đợi DB</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Hàm Notification gửi tham số sync=false ghi tin nhắn vào zalo/telegram_queue.</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Quét ngầm Worker</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Cron job worker chạy ngầm độc lập mỗi phút quét danh sách tin chờ gửi.</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Gửi API ngoài</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Gọi cURL ngoài ngầm, tự động thử lại 3 lần nếu mất mạng và dọn logs.</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48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Lược Đồ Bảng Hàng Đợi zalo_queue</a:t>
            </a:r>
            <a:endParaRPr lang="en-US" sz="19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502920">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TRƯỜNG CSDL</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KIỂU DỮ LIỆU</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RÀNG BUỘC / MẶC ĐỊNH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VAI TRÒ NGHIỆP VỤ</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 AUTO_INCREMENT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PRIMARY KEY</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Định danh tin nhắn duy nhất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payload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TEXT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NOT 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Dữ liệu JSON chứa số điện thoại, nội dung gửi</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status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VARCHAR (20)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'pending'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Trạng thái hàng đợi: pending, processing, sent, failed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attempts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0</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Số lần đã thử gửi tin nhắn khi gặp lỗi mạng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02920">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lead_id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INT (11)</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NULL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Liên kết lead để đối soát mốc thời gian nhận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49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Gửi Tin Nhắn Zalo Bất Đồng Bộ</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SENDZALOMESSAGEWRAPPER</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Tiếp nhận thông tin người nhận, nội dung mẫu tin nhắn Zalo OA.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Kiểm tra tham số sync. Nếu false -&gt; Chuyển hướng lưu vào CSDL.</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Trả về kết quả thành công ảo cho luồng chính để tiếp tục chạy.</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TIẾN TRÌNH GỬI THỰC TẾ</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Worker lấy bản ghi từ zalo_queue để thực hiện cuộc gọi Zalo API.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Xử lý các mã phản hồi lỗi từ Zalo (hết hạn Token, sai ID người dùng).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hiện tự động làm mới Access Token của Zalo OA khi hết hạn.</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50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Luồng Gửi Tin Nhắn Telegram Bất Đồng Bộ</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SENDTELEGRAMMESSAGEWRAPPER</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Tiếp nhận chat_id nhóm nhận và nội dung tin nhắn Markdown.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Ghi nhận vào bảng telegram_queue chỉ trong 1 truy vấn INSERT nhanh.</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Giải phóng tiến trình PHP ngay lập tức.</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GỬI VÀ CẬP NHẬT LOG</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Worker gọi API Telegram SendMessage ngầm.</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Cập nhật trạng thái sent trong hàng đợi sau khi Telegram phản hồi HTTP 200.</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thông tin nhóm chat quản trị luôn được cập nhật đầy đủ.</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51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Tiến Trình Chạy Ngầm Xử Lý Hàng Đợi</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CRON_QUEUE_WORKER.PHP</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Được thiết lập chạy liên tục mỗi phút bằng Cron Job hệ thống.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Giới hạn số lượng tin nhắn xử lý mỗi đợt để tránh làm quá tải CPU.</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Cơ chế tự động thử lại (Retry) tối đa 3 lần đối với tin nhắn lỗi mạng.</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DỌN DẸP NHẬT KÝ CŨ (AUTO-PURGE)</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Dữ liệu nhật ký tin nhắn gửi thành công phình to theo thời gian.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Worker tự động thực hiện lệnh dọn dẹp định kỳ.</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Xóa sạch các bản ghi trạng thái sent/failed cũ hơn 30 ngày để tối ưu bộ nhớ.</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52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HÀNG ĐỢI</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Đồng Hồ Bảo Mật &amp; Phản Hồi Real-Time</a:t>
            </a:r>
            <a:endParaRPr lang="en-US" sz="1900" dirty="0"/>
          </a:p>
        </p:txBody>
      </p:sp>
      <p:sp>
        <p:nvSpPr>
          <p:cNvPr id="15" name="Shape 13"/>
          <p:cNvSpPr/>
          <p:nvPr/>
        </p:nvSpPr>
        <p:spPr>
          <a:xfrm>
            <a:off x="731520" y="1280160"/>
            <a:ext cx="3657600" cy="3291840"/>
          </a:xfrm>
          <a:prstGeom prst="roundRect">
            <a:avLst>
              <a:gd name="adj" fmla="val 1667"/>
            </a:avLst>
          </a:prstGeom>
          <a:solidFill>
            <a:srgbClr val="FFFFFF"/>
          </a:solidFill>
          <a:ln w="12700">
            <a:solidFill>
              <a:srgbClr val="E2E8F0"/>
            </a:solidFill>
            <a:prstDash val="solid"/>
          </a:ln>
        </p:spPr>
      </p:sp>
      <p:sp>
        <p:nvSpPr>
          <p:cNvPr id="16" name="Text 14"/>
          <p:cNvSpPr/>
          <p:nvPr/>
        </p:nvSpPr>
        <p:spPr>
          <a:xfrm>
            <a:off x="914400" y="1417320"/>
            <a:ext cx="3291840" cy="457200"/>
          </a:xfrm>
          <a:prstGeom prst="rect">
            <a:avLst/>
          </a:prstGeom>
          <a:noFill/>
          <a:ln/>
        </p:spPr>
        <p:txBody>
          <a:bodyPr wrap="square" rtlCol="0" anchor="ctr"/>
          <a:lstStyle/>
          <a:p>
            <a:pPr indent="0" marL="0">
              <a:buNone/>
            </a:pPr>
            <a:r>
              <a:rPr lang="en-US" sz="2600" b="1" dirty="0">
                <a:solidFill>
                  <a:srgbClr val="BD1D2D"/>
                </a:solidFill>
                <a:latin typeface="Segoe UI" pitchFamily="34" charset="0"/>
                <a:ea typeface="Segoe UI" pitchFamily="34" charset="-122"/>
                <a:cs typeface="Segoe UI" pitchFamily="34" charset="-120"/>
              </a:rPr>
              <a:t>120s</a:t>
            </a:r>
            <a:endParaRPr lang="en-US" sz="2600" dirty="0"/>
          </a:p>
        </p:txBody>
      </p:sp>
      <p:sp>
        <p:nvSpPr>
          <p:cNvPr id="17" name="Text 15"/>
          <p:cNvSpPr/>
          <p:nvPr/>
        </p:nvSpPr>
        <p:spPr>
          <a:xfrm>
            <a:off x="914400" y="1874520"/>
            <a:ext cx="3291840" cy="228600"/>
          </a:xfrm>
          <a:prstGeom prst="rect">
            <a:avLst/>
          </a:prstGeom>
          <a:noFill/>
          <a:ln/>
        </p:spPr>
        <p:txBody>
          <a:bodyPr wrap="square" rtlCol="0" anchor="t"/>
          <a:lstStyle/>
          <a:p>
            <a:pPr indent="0" marL="0">
              <a:buNone/>
            </a:pPr>
            <a:r>
              <a:rPr lang="en-US" sz="900" b="1" dirty="0">
                <a:solidFill>
                  <a:srgbClr val="0F172A"/>
                </a:solidFill>
                <a:latin typeface="Segoe UI" pitchFamily="34" charset="0"/>
                <a:ea typeface="Segoe UI" pitchFamily="34" charset="-122"/>
                <a:cs typeface="Segoe UI" pitchFamily="34" charset="-120"/>
              </a:rPr>
              <a:t>THỜI GIAN NHẬN LEAD</a:t>
            </a:r>
            <a:endParaRPr lang="en-US" sz="900" dirty="0"/>
          </a:p>
        </p:txBody>
      </p:sp>
      <p:sp>
        <p:nvSpPr>
          <p:cNvPr id="18" name="Text 16"/>
          <p:cNvSpPr/>
          <p:nvPr/>
        </p:nvSpPr>
        <p:spPr>
          <a:xfrm>
            <a:off x="914400" y="2103120"/>
            <a:ext cx="3291840" cy="2377440"/>
          </a:xfrm>
          <a:prstGeom prst="rect">
            <a:avLst/>
          </a:prstGeom>
          <a:noFill/>
          <a:ln/>
        </p:spPr>
        <p:txBody>
          <a:bodyPr wrap="square" rtlCol="0" anchor="t"/>
          <a:lstStyle/>
          <a:p>
            <a:pPr indent="0" marL="0">
              <a:lnSpc>
                <a:spcPts val="1100"/>
              </a:lnSpc>
              <a:buNone/>
            </a:pPr>
            <a:r>
              <a:rPr lang="en-US" sz="800" dirty="0">
                <a:solidFill>
                  <a:srgbClr val="475569"/>
                </a:solidFill>
                <a:latin typeface="Segoe UI" pitchFamily="34" charset="0"/>
                <a:ea typeface="Segoe UI" pitchFamily="34" charset="-122"/>
                <a:cs typeface="Segoe UI" pitchFamily="34" charset="-120"/>
              </a:rPr>
              <a:t>Khoảng thời gian đếm ngược quy định Sale phải click tiếp nhận lead trên Web App. Quá hạn hệ thống tự động thu hồi (Recall) chia cho người tiếp theo.</a:t>
            </a:r>
            <a:endParaRPr lang="en-US" sz="800" dirty="0"/>
          </a:p>
        </p:txBody>
      </p:sp>
      <p:sp>
        <p:nvSpPr>
          <p:cNvPr id="19" name="Shape 17"/>
          <p:cNvSpPr/>
          <p:nvPr/>
        </p:nvSpPr>
        <p:spPr>
          <a:xfrm>
            <a:off x="4846320" y="1280160"/>
            <a:ext cx="3931920" cy="3291840"/>
          </a:xfrm>
          <a:prstGeom prst="roundRect">
            <a:avLst>
              <a:gd name="adj" fmla="val 1389"/>
            </a:avLst>
          </a:prstGeom>
          <a:solidFill>
            <a:srgbClr val="FFFFFF"/>
          </a:solidFill>
          <a:ln w="12700">
            <a:solidFill>
              <a:srgbClr val="E2E8F0"/>
            </a:solidFill>
            <a:prstDash val="solid"/>
          </a:ln>
        </p:spPr>
      </p:sp>
      <p:sp>
        <p:nvSpPr>
          <p:cNvPr id="20" name="Text 18"/>
          <p:cNvSpPr/>
          <p:nvPr/>
        </p:nvSpPr>
        <p:spPr>
          <a:xfrm>
            <a:off x="5029200" y="1417320"/>
            <a:ext cx="356616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ĐỒNG BỘ MỐC KÍCH HOẠT</a:t>
            </a:r>
            <a:endParaRPr lang="en-US" sz="950" dirty="0"/>
          </a:p>
        </p:txBody>
      </p:sp>
      <p:sp>
        <p:nvSpPr>
          <p:cNvPr id="21" name="Text 19"/>
          <p:cNvSpPr/>
          <p:nvPr/>
        </p:nvSpPr>
        <p:spPr>
          <a:xfrm>
            <a:off x="5029200" y="1709928"/>
            <a:ext cx="356616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Mốc bắt đầu tính giờ được kích hoạt chính xác ngay khi tin nhắn báo lead gửi thành công qua Telegram/Zalo.</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Loại bỏ hoàn toàn sai lệch thời gian do độ trễ mạng khi gọi API ngoài.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Sale luôn có đủ trọn vẹn 120 giây để bấm nhận lead.</a:t>
            </a:r>
            <a:endParaRPr lang="en-US" sz="920" dirty="0"/>
          </a:p>
        </p:txBody>
      </p:sp>
      <p:sp>
        <p:nvSpPr>
          <p:cNvPr id="22" name="Text 2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53 / 60</a:t>
            </a:r>
            <a:endParaRPr lang="en-US" sz="850" dirty="0"/>
          </a:p>
        </p:txBody>
      </p:sp>
      <p:sp>
        <p:nvSpPr>
          <p:cNvPr id="23" name="Text 2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 Đồ Thành Phần Khung Kiểm Thử Tích Hợp</a:t>
            </a:r>
            <a:endParaRPr lang="en-US" sz="19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8046720" cy="3017520"/>
        </p:xfrm>
        <a:graphic>
          <a:graphicData uri="http://schemas.openxmlformats.org/drawingml/2006/table">
            <a:tbl>
              <a:tblPr/>
              <a:tblGrid>
                <a:gridCol w="2011680"/>
                <a:gridCol w="2011680"/>
                <a:gridCol w="2011680"/>
                <a:gridCol w="2011680"/>
              </a:tblGrid>
              <a:tr h="603504">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CẤU PHẦN KIỂM THỬ</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MỤC TIÊU ĐỐI SOÁT</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HÀM HỖ TRỢ CHẨN ĐOÁN</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c>
                  <a:txBody>
                    <a:bodyPr/>
                    <a:lstStyle/>
                    <a:p>
                      <a:pPr algn="ctr" indent="0" marL="0">
                        <a:buNone/>
                      </a:pPr>
                      <a:r>
                        <a:rPr lang="en-US" sz="850" b="1" dirty="0">
                          <a:solidFill>
                            <a:srgbClr val="FFFFFF"/>
                          </a:solidFill>
                          <a:latin typeface="Segoe UI" pitchFamily="34" charset="0"/>
                          <a:ea typeface="Segoe UI" pitchFamily="34" charset="-122"/>
                          <a:cs typeface="Segoe UI" pitchFamily="34" charset="-120"/>
                        </a:rPr>
                        <a:t>TỆP TIN CẤU HÌNH</a:t>
                      </a:r>
                      <a:endParaRPr lang="en-US" sz="85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BD1D2D"/>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Kết nối CSDL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Đối soát pool kết nối an toàn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$conn (MySQLi) &amp; $pdo (PDO)</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test_bootstrap.php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Phân bổ xoay vòng</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Kiểm thử round-robin, vacation, check-in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getNextConsultantInRound()</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test_rotation_audit.php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Đồng hồ Recall</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Đo thời gian trôi lead thu hồi</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recallInactiveLeads()</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test_lead_recall_async.php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603504">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Xếp hạng truy vấn</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Quét lỗi tương thích MariaDB</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SQL Scan Tool script</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820" dirty="0">
                          <a:solidFill>
                            <a:srgbClr val="0F172A"/>
                          </a:solidFill>
                          <a:latin typeface="Segoe UI" pitchFamily="34" charset="0"/>
                          <a:ea typeface="Segoe UI" pitchFamily="34" charset="-122"/>
                          <a:cs typeface="Segoe UI" pitchFamily="34" charset="-120"/>
                        </a:rPr>
                        <a:t>test_schema_queries.php</a:t>
                      </a:r>
                      <a:endParaRPr lang="en-US" sz="820" dirty="0">
                        <a:latin typeface="Segoe UI" charset="0"/>
                        <a:ea typeface="Segoe UI" charset="0"/>
                        <a:cs typeface="Segoe U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16"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54 / 60</a:t>
            </a:r>
            <a:endParaRPr lang="en-US" sz="850" dirty="0"/>
          </a:p>
        </p:txBody>
      </p:sp>
      <p:sp>
        <p:nvSpPr>
          <p:cNvPr id="17"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Môi Trường Kiểm Thử Nhất Quán</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KẾT NỐI CSDL CHUẨN HÓA</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Cung cấp sẵn các biến kết nối toàn cục: $conn (MySQLi) và $pdo (PDO).</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các hàm gọi CSDL dùng chung kết nối hiện tại để tránh cạn kiệt pool.</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Hỗ trợ cơ chế kiểm soát giao dịch để có thể rollback dữ liệu sau khi test.</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DỮ LIỆU MOCK AN TOÀN</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Cung cấp bộ hàm tạo dữ liệu thử nghiệm (Sale giả lập, Lead giả lập).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Chặn gửi email/tin nhắn thật đến khách hàng trong quá trình chạy test.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Giúp kiểm thử an toàn ngay trên cơ sở dữ liệu Staging mà không sợ ô nhiễm.</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55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Bộ Công Cụ Chẩn Đoán &amp; Khẳng Định</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ASSERTTEST CHẨN ĐOÁN</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In ra kết quả kiểm thử trực quan dạng PASS/FAIL trên trình duyệt.</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Hiển thị chi tiết giá trị thực tế so với giá trị kỳ vọng khi thất bại.</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Thống kê tổng hợp số lượng ca kiểm thử thành công ở cuối trang.</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HÀM ASSERTDBFIELD KIỂM ĐỐI CHÉO</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Thực hiện truy vấn nhanh kiểm tra giá trị của một trường cụ thể trong bảng.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Khẳng định dữ liệu đã được cập nhật chính xác vào CSDL sau khi thực thi logic.</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Loại bỏ việc viết thủ công các câu lệnh SELECT kiểm tra dữ liệu.</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56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Tắc Đối Soát Cấu Trúc CSDL Từ Xa</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BẮT BUỘC ĐỐI SOÁT TỪ XA (RULE 8)</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Trước khi chạy bất kỳ đoạn mã nâng cấp CSDL nào trên môi trường Staging.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Agent bắt buộc phải thực hiện truy vấn đối soát qua exec_db_query.php.</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kiểu dữ liệu, khóa ngoại hoàn toàn khớp với thiết kế.</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NGĂN NGỪA LỖI LỆCH SCHEMA</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Loại bỏ hoàn toàn lỗi 500 phát sinh do thiếu cột hoặc sai kiểu dữ liệu.</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Đóng bộ tệp schema master unified_schema.sql ngay khi có chỉnh sửa.</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môi trường phát triển cục bộ và Staging luôn nhất quán tuyệt đối.</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57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Quét Lỗi Cú Pháp Truy Vấn Tĩnh</a:t>
            </a:r>
            <a:endParaRPr lang="en-US" sz="1900" dirty="0"/>
          </a:p>
        </p:txBody>
      </p:sp>
      <p:sp>
        <p:nvSpPr>
          <p:cNvPr id="15" name="Shape 13"/>
          <p:cNvSpPr/>
          <p:nvPr/>
        </p:nvSpPr>
        <p:spPr>
          <a:xfrm>
            <a:off x="731520" y="1280160"/>
            <a:ext cx="3840480" cy="3291840"/>
          </a:xfrm>
          <a:prstGeom prst="roundRect">
            <a:avLst>
              <a:gd name="adj" fmla="val 1389"/>
            </a:avLst>
          </a:prstGeom>
          <a:solidFill>
            <a:srgbClr val="FFFFFF"/>
          </a:solidFill>
          <a:ln w="12700">
            <a:solidFill>
              <a:srgbClr val="E2E8F0"/>
            </a:solidFill>
            <a:prstDash val="solid"/>
          </a:ln>
        </p:spPr>
      </p:sp>
      <p:sp>
        <p:nvSpPr>
          <p:cNvPr id="16" name="Text 14"/>
          <p:cNvSpPr/>
          <p:nvPr/>
        </p:nvSpPr>
        <p:spPr>
          <a:xfrm>
            <a:off x="9144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CÔNG CỤ QUÉT SQL SCAN</a:t>
            </a:r>
            <a:endParaRPr lang="en-US" sz="950" dirty="0"/>
          </a:p>
        </p:txBody>
      </p:sp>
      <p:sp>
        <p:nvSpPr>
          <p:cNvPr id="17" name="Text 15"/>
          <p:cNvSpPr/>
          <p:nvPr/>
        </p:nvSpPr>
        <p:spPr>
          <a:xfrm>
            <a:off x="9144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Tự động quét toàn bộ mã nguồn PHP để tìm kiếm các từ khóa SQL không hợp lệ.</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Phát hiện các câu lệnh không tương thích với cấu hình chế độ MariaDB Staging.</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Tìm ra các truy vấn SQL viết sai cú pháp trước khi chạy thực tế.</a:t>
            </a:r>
            <a:endParaRPr lang="en-US" sz="920" dirty="0"/>
          </a:p>
        </p:txBody>
      </p:sp>
      <p:sp>
        <p:nvSpPr>
          <p:cNvPr id="18" name="Shape 16"/>
          <p:cNvSpPr/>
          <p:nvPr/>
        </p:nvSpPr>
        <p:spPr>
          <a:xfrm>
            <a:off x="4846320" y="1280160"/>
            <a:ext cx="3840480" cy="3291840"/>
          </a:xfrm>
          <a:prstGeom prst="roundRect">
            <a:avLst>
              <a:gd name="adj" fmla="val 1389"/>
            </a:avLst>
          </a:prstGeom>
          <a:solidFill>
            <a:srgbClr val="FFFFFF"/>
          </a:solidFill>
          <a:ln w="12700">
            <a:solidFill>
              <a:srgbClr val="E2E8F0"/>
            </a:solidFill>
            <a:prstDash val="solid"/>
          </a:ln>
        </p:spPr>
      </p:sp>
      <p:sp>
        <p:nvSpPr>
          <p:cNvPr id="19" name="Text 17"/>
          <p:cNvSpPr/>
          <p:nvPr/>
        </p:nvSpPr>
        <p:spPr>
          <a:xfrm>
            <a:off x="5029200" y="1417320"/>
            <a:ext cx="3474720" cy="274320"/>
          </a:xfrm>
          <a:prstGeom prst="rect">
            <a:avLst/>
          </a:prstGeom>
          <a:noFill/>
          <a:ln/>
        </p:spPr>
        <p:txBody>
          <a:bodyPr wrap="square" rtlCol="0" anchor="t"/>
          <a:lstStyle/>
          <a:p>
            <a:pPr indent="0" marL="0">
              <a:buNone/>
            </a:pPr>
            <a:r>
              <a:rPr lang="en-US" sz="950" b="1" dirty="0">
                <a:solidFill>
                  <a:srgbClr val="BD1D2D"/>
                </a:solidFill>
                <a:latin typeface="Segoe UI" pitchFamily="34" charset="0"/>
                <a:ea typeface="Segoe UI" pitchFamily="34" charset="-122"/>
                <a:cs typeface="Segoe UI" pitchFamily="34" charset="-120"/>
              </a:rPr>
              <a:t>PHÒNG NGỪA SỰ CỐ</a:t>
            </a:r>
            <a:endParaRPr lang="en-US" sz="950" dirty="0"/>
          </a:p>
        </p:txBody>
      </p:sp>
      <p:sp>
        <p:nvSpPr>
          <p:cNvPr id="20" name="Text 18"/>
          <p:cNvSpPr/>
          <p:nvPr/>
        </p:nvSpPr>
        <p:spPr>
          <a:xfrm>
            <a:off x="5029200" y="1709928"/>
            <a:ext cx="3474720" cy="2724912"/>
          </a:xfrm>
          <a:prstGeom prst="rect">
            <a:avLst/>
          </a:prstGeom>
          <a:noFill/>
          <a:ln/>
        </p:spPr>
        <p:txBody>
          <a:bodyPr wrap="square" rtlCol="0" anchor="t"/>
          <a:lstStyle/>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Báo cáo chi tiết đường dẫn tệp và số dòng có nguy cơ gây lỗi truy vấn.</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Đảm bảo tính ổn định cao của tầng dữ liệu.</a:t>
            </a:r>
            <a:endParaRPr lang="en-US" sz="920" dirty="0"/>
          </a:p>
          <a:p>
            <a:pPr indent="0" marL="0">
              <a:lnSpc>
                <a:spcPts val="1400"/>
              </a:lnSpc>
              <a:buNone/>
            </a:pPr>
            <a:endParaRPr lang="en-US" sz="920" dirty="0"/>
          </a:p>
          <a:p>
            <a:pPr indent="0" marL="0">
              <a:lnSpc>
                <a:spcPts val="1400"/>
              </a:lnSpc>
              <a:buNone/>
            </a:pPr>
            <a:r>
              <a:rPr lang="en-US" sz="920" dirty="0">
                <a:solidFill>
                  <a:srgbClr val="475569"/>
                </a:solidFill>
                <a:latin typeface="Segoe UI" pitchFamily="34" charset="0"/>
                <a:ea typeface="Segoe UI" pitchFamily="34" charset="-122"/>
                <a:cs typeface="Segoe UI" pitchFamily="34" charset="-120"/>
              </a:rPr>
              <a:t>▪  Rút ngắn thời gian gỡ lỗi thủ công của lập trình viên.</a:t>
            </a:r>
            <a:endParaRPr lang="en-US" sz="920" dirty="0"/>
          </a:p>
        </p:txBody>
      </p:sp>
      <p:sp>
        <p:nvSpPr>
          <p:cNvPr id="21" name="Text 19"/>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58 / 60</a:t>
            </a:r>
            <a:endParaRPr lang="en-US" sz="850" dirty="0"/>
          </a:p>
        </p:txBody>
      </p:sp>
      <p:sp>
        <p:nvSpPr>
          <p:cNvPr id="22" name="Text 20"/>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0" cy="5143500"/>
          </a:xfrm>
          <a:prstGeom prst="rect">
            <a:avLst/>
          </a:prstGeom>
          <a:solidFill>
            <a:srgbClr val="FFFFFF"/>
          </a:solidFill>
          <a:ln w="12700">
            <a:solidFill>
              <a:srgbClr val="E2E8F0"/>
            </a:solidFill>
            <a:prstDash val="solid"/>
          </a:ln>
        </p:spPr>
      </p:sp>
      <p:sp>
        <p:nvSpPr>
          <p:cNvPr id="3" name="Shape 1"/>
          <p:cNvSpPr/>
          <p:nvPr/>
        </p:nvSpPr>
        <p:spPr>
          <a:xfrm>
            <a:off x="137160" y="182880"/>
            <a:ext cx="274320" cy="274320"/>
          </a:xfrm>
          <a:prstGeom prst="roundRect">
            <a:avLst>
              <a:gd name="adj" fmla="val 66667"/>
            </a:avLst>
          </a:prstGeom>
          <a:solidFill>
            <a:srgbClr val="BD1D2D"/>
          </a:solidFill>
          <a:ln/>
        </p:spPr>
      </p:sp>
      <p:sp>
        <p:nvSpPr>
          <p:cNvPr id="4" name="Shape 2"/>
          <p:cNvSpPr/>
          <p:nvPr/>
        </p:nvSpPr>
        <p:spPr>
          <a:xfrm>
            <a:off x="164592" y="731520"/>
            <a:ext cx="219456" cy="219456"/>
          </a:xfrm>
          <a:prstGeom prst="roundRect">
            <a:avLst>
              <a:gd name="adj" fmla="val 62500"/>
            </a:avLst>
          </a:prstGeom>
          <a:solidFill>
            <a:srgbClr val="FEE2E2"/>
          </a:solidFill>
          <a:ln w="12700">
            <a:solidFill>
              <a:srgbClr val="BD1D2D"/>
            </a:solidFill>
            <a:prstDash val="solid"/>
          </a:ln>
        </p:spPr>
      </p:sp>
      <p:sp>
        <p:nvSpPr>
          <p:cNvPr id="5" name="Shape 3"/>
          <p:cNvSpPr/>
          <p:nvPr/>
        </p:nvSpPr>
        <p:spPr>
          <a:xfrm>
            <a:off x="164592" y="1188720"/>
            <a:ext cx="219456" cy="219456"/>
          </a:xfrm>
          <a:prstGeom prst="roundRect">
            <a:avLst>
              <a:gd name="adj" fmla="val 62500"/>
            </a:avLst>
          </a:prstGeom>
          <a:solidFill>
            <a:srgbClr val="F1F5F9"/>
          </a:solidFill>
          <a:ln w="12700">
            <a:solidFill>
              <a:srgbClr val="E2E8F0"/>
            </a:solidFill>
            <a:prstDash val="solid"/>
          </a:ln>
        </p:spPr>
      </p:sp>
      <p:sp>
        <p:nvSpPr>
          <p:cNvPr id="6" name="Shape 4"/>
          <p:cNvSpPr/>
          <p:nvPr/>
        </p:nvSpPr>
        <p:spPr>
          <a:xfrm>
            <a:off x="164592" y="1645920"/>
            <a:ext cx="219456" cy="219456"/>
          </a:xfrm>
          <a:prstGeom prst="roundRect">
            <a:avLst>
              <a:gd name="adj" fmla="val 62500"/>
            </a:avLst>
          </a:prstGeom>
          <a:solidFill>
            <a:srgbClr val="F1F5F9"/>
          </a:solidFill>
          <a:ln w="12700">
            <a:solidFill>
              <a:srgbClr val="E2E8F0"/>
            </a:solidFill>
            <a:prstDash val="solid"/>
          </a:ln>
        </p:spPr>
      </p:sp>
      <p:sp>
        <p:nvSpPr>
          <p:cNvPr id="7" name="Shape 5"/>
          <p:cNvSpPr/>
          <p:nvPr/>
        </p:nvSpPr>
        <p:spPr>
          <a:xfrm>
            <a:off x="164592" y="2103120"/>
            <a:ext cx="219456" cy="219456"/>
          </a:xfrm>
          <a:prstGeom prst="roundRect">
            <a:avLst>
              <a:gd name="adj" fmla="val 62500"/>
            </a:avLst>
          </a:prstGeom>
          <a:solidFill>
            <a:srgbClr val="F1F5F9"/>
          </a:solidFill>
          <a:ln w="12700">
            <a:solidFill>
              <a:srgbClr val="E2E8F0"/>
            </a:solidFill>
            <a:prstDash val="solid"/>
          </a:ln>
        </p:spPr>
      </p:sp>
      <p:sp>
        <p:nvSpPr>
          <p:cNvPr id="8" name="Shape 6"/>
          <p:cNvSpPr/>
          <p:nvPr/>
        </p:nvSpPr>
        <p:spPr>
          <a:xfrm>
            <a:off x="164592" y="2560320"/>
            <a:ext cx="219456" cy="219456"/>
          </a:xfrm>
          <a:prstGeom prst="roundRect">
            <a:avLst>
              <a:gd name="adj" fmla="val 62500"/>
            </a:avLst>
          </a:prstGeom>
          <a:solidFill>
            <a:srgbClr val="F1F5F9"/>
          </a:solidFill>
          <a:ln w="12700">
            <a:solidFill>
              <a:srgbClr val="E2E8F0"/>
            </a:solidFill>
            <a:prstDash val="solid"/>
          </a:ln>
        </p:spPr>
      </p:sp>
      <p:sp>
        <p:nvSpPr>
          <p:cNvPr id="9" name="Shape 7"/>
          <p:cNvSpPr/>
          <p:nvPr/>
        </p:nvSpPr>
        <p:spPr>
          <a:xfrm>
            <a:off x="164592" y="3017520"/>
            <a:ext cx="219456" cy="219456"/>
          </a:xfrm>
          <a:prstGeom prst="roundRect">
            <a:avLst>
              <a:gd name="adj" fmla="val 62500"/>
            </a:avLst>
          </a:prstGeom>
          <a:solidFill>
            <a:srgbClr val="F1F5F9"/>
          </a:solidFill>
          <a:ln w="12700">
            <a:solidFill>
              <a:srgbClr val="E2E8F0"/>
            </a:solidFill>
            <a:prstDash val="solid"/>
          </a:ln>
        </p:spPr>
      </p:sp>
      <p:sp>
        <p:nvSpPr>
          <p:cNvPr id="10" name="Shape 8"/>
          <p:cNvSpPr/>
          <p:nvPr/>
        </p:nvSpPr>
        <p:spPr>
          <a:xfrm>
            <a:off x="548640" y="0"/>
            <a:ext cx="8595360" cy="548640"/>
          </a:xfrm>
          <a:prstGeom prst="rect">
            <a:avLst/>
          </a:prstGeom>
          <a:solidFill>
            <a:srgbClr val="FFFFFF"/>
          </a:solidFill>
          <a:ln w="12700">
            <a:solidFill>
              <a:srgbClr val="E2E8F0"/>
            </a:solidFill>
            <a:prstDash val="solid"/>
          </a:ln>
        </p:spPr>
      </p:sp>
      <p:sp>
        <p:nvSpPr>
          <p:cNvPr id="11" name="Text 9"/>
          <p:cNvSpPr/>
          <p:nvPr/>
        </p:nvSpPr>
        <p:spPr>
          <a:xfrm>
            <a:off x="731520" y="137160"/>
            <a:ext cx="45720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RICH LAND CRM   /   DEVOPS</a:t>
            </a:r>
            <a:endParaRPr lang="en-US" sz="850" dirty="0"/>
          </a:p>
        </p:txBody>
      </p:sp>
      <p:sp>
        <p:nvSpPr>
          <p:cNvPr id="12" name="Shape 10"/>
          <p:cNvSpPr/>
          <p:nvPr/>
        </p:nvSpPr>
        <p:spPr>
          <a:xfrm>
            <a:off x="6583680" y="137160"/>
            <a:ext cx="2011680" cy="274320"/>
          </a:xfrm>
          <a:prstGeom prst="roundRect">
            <a:avLst>
              <a:gd name="adj" fmla="val 50000"/>
            </a:avLst>
          </a:prstGeom>
          <a:solidFill>
            <a:srgbClr val="F8FAFC"/>
          </a:solidFill>
          <a:ln w="12700">
            <a:solidFill>
              <a:srgbClr val="E2E8F0"/>
            </a:solidFill>
            <a:prstDash val="solid"/>
          </a:ln>
        </p:spPr>
      </p:sp>
      <p:sp>
        <p:nvSpPr>
          <p:cNvPr id="13" name="Text 11"/>
          <p:cNvSpPr/>
          <p:nvPr/>
        </p:nvSpPr>
        <p:spPr>
          <a:xfrm>
            <a:off x="6720840" y="137160"/>
            <a:ext cx="1645920" cy="274320"/>
          </a:xfrm>
          <a:prstGeom prst="rect">
            <a:avLst/>
          </a:prstGeom>
          <a:noFill/>
          <a:ln/>
        </p:spPr>
        <p:txBody>
          <a:bodyPr wrap="square" rtlCol="0" anchor="ctr"/>
          <a:lstStyle/>
          <a:p>
            <a:pPr indent="0" marL="0">
              <a:buNone/>
            </a:pPr>
            <a:r>
              <a:rPr lang="en-US" sz="800" dirty="0">
                <a:solidFill>
                  <a:srgbClr val="94A3B8"/>
                </a:solidFill>
                <a:latin typeface="Segoe UI" pitchFamily="34" charset="0"/>
                <a:ea typeface="Segoe UI" pitchFamily="34" charset="-122"/>
                <a:cs typeface="Segoe UI" pitchFamily="34" charset="-120"/>
              </a:rPr>
              <a:t>Search database...</a:t>
            </a:r>
            <a:endParaRPr lang="en-US" sz="800" dirty="0"/>
          </a:p>
        </p:txBody>
      </p:sp>
      <p:sp>
        <p:nvSpPr>
          <p:cNvPr id="14" name="Text 12"/>
          <p:cNvSpPr/>
          <p:nvPr/>
        </p:nvSpPr>
        <p:spPr>
          <a:xfrm>
            <a:off x="731520" y="731520"/>
            <a:ext cx="8046720" cy="457200"/>
          </a:xfrm>
          <a:prstGeom prst="rect">
            <a:avLst/>
          </a:prstGeom>
          <a:noFill/>
          <a:ln/>
        </p:spPr>
        <p:txBody>
          <a:bodyPr wrap="square"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Quy Trình Triển Khai Deploy Song Song</a:t>
            </a:r>
            <a:endParaRPr lang="en-US" sz="1900" dirty="0"/>
          </a:p>
        </p:txBody>
      </p:sp>
      <p:sp>
        <p:nvSpPr>
          <p:cNvPr id="15" name="Shape 13"/>
          <p:cNvSpPr/>
          <p:nvPr/>
        </p:nvSpPr>
        <p:spPr>
          <a:xfrm>
            <a:off x="731520" y="1645920"/>
            <a:ext cx="2286000" cy="2286000"/>
          </a:xfrm>
          <a:prstGeom prst="roundRect">
            <a:avLst>
              <a:gd name="adj" fmla="val 2000"/>
            </a:avLst>
          </a:prstGeom>
          <a:solidFill>
            <a:srgbClr val="FFFFFF"/>
          </a:solidFill>
          <a:ln w="12700">
            <a:solidFill>
              <a:srgbClr val="E2E8F0"/>
            </a:solidFill>
            <a:prstDash val="solid"/>
          </a:ln>
        </p:spPr>
      </p:sp>
      <p:sp>
        <p:nvSpPr>
          <p:cNvPr id="16" name="Shape 14"/>
          <p:cNvSpPr/>
          <p:nvPr/>
        </p:nvSpPr>
        <p:spPr>
          <a:xfrm>
            <a:off x="868680" y="1783080"/>
            <a:ext cx="320040" cy="228600"/>
          </a:xfrm>
          <a:prstGeom prst="roundRect">
            <a:avLst>
              <a:gd name="adj" fmla="val 200000"/>
            </a:avLst>
          </a:prstGeom>
          <a:solidFill>
            <a:srgbClr val="FEE2E2"/>
          </a:solidFill>
          <a:ln/>
        </p:spPr>
      </p:sp>
      <p:sp>
        <p:nvSpPr>
          <p:cNvPr id="17" name="Text 15"/>
          <p:cNvSpPr/>
          <p:nvPr/>
        </p:nvSpPr>
        <p:spPr>
          <a:xfrm>
            <a:off x="86868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1</a:t>
            </a:r>
            <a:endParaRPr lang="en-US" sz="900" dirty="0"/>
          </a:p>
        </p:txBody>
      </p:sp>
      <p:sp>
        <p:nvSpPr>
          <p:cNvPr id="18" name="Text 16"/>
          <p:cNvSpPr/>
          <p:nvPr/>
        </p:nvSpPr>
        <p:spPr>
          <a:xfrm>
            <a:off x="128016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Lệnh Deploy</a:t>
            </a:r>
            <a:endParaRPr lang="en-US" sz="1000" dirty="0"/>
          </a:p>
        </p:txBody>
      </p:sp>
      <p:sp>
        <p:nvSpPr>
          <p:cNvPr id="19" name="Text 17"/>
          <p:cNvSpPr/>
          <p:nvPr/>
        </p:nvSpPr>
        <p:spPr>
          <a:xfrm>
            <a:off x="86868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Manager gõ lệnh deploy chính thức, hệ thống bắt sự kiện.</a:t>
            </a:r>
            <a:endParaRPr lang="en-US" sz="820" dirty="0"/>
          </a:p>
        </p:txBody>
      </p:sp>
      <p:sp>
        <p:nvSpPr>
          <p:cNvPr id="20" name="Shape 18"/>
          <p:cNvSpPr/>
          <p:nvPr/>
        </p:nvSpPr>
        <p:spPr>
          <a:xfrm>
            <a:off x="3054096" y="2697480"/>
            <a:ext cx="109728" cy="182880"/>
          </a:xfrm>
          <a:prstGeom prst="rightArrow">
            <a:avLst/>
          </a:prstGeom>
          <a:solidFill>
            <a:srgbClr val="94A3B8"/>
          </a:solidFill>
          <a:ln w="6350">
            <a:solidFill>
              <a:srgbClr val="E2E8F0"/>
            </a:solidFill>
            <a:prstDash val="solid"/>
          </a:ln>
        </p:spPr>
      </p:sp>
      <p:sp>
        <p:nvSpPr>
          <p:cNvPr id="21" name="Shape 19"/>
          <p:cNvSpPr/>
          <p:nvPr/>
        </p:nvSpPr>
        <p:spPr>
          <a:xfrm>
            <a:off x="3337560" y="1645920"/>
            <a:ext cx="2286000" cy="2286000"/>
          </a:xfrm>
          <a:prstGeom prst="roundRect">
            <a:avLst>
              <a:gd name="adj" fmla="val 2000"/>
            </a:avLst>
          </a:prstGeom>
          <a:solidFill>
            <a:srgbClr val="FFFFFF"/>
          </a:solidFill>
          <a:ln w="12700">
            <a:solidFill>
              <a:srgbClr val="E2E8F0"/>
            </a:solidFill>
            <a:prstDash val="solid"/>
          </a:ln>
        </p:spPr>
      </p:sp>
      <p:sp>
        <p:nvSpPr>
          <p:cNvPr id="22" name="Shape 20"/>
          <p:cNvSpPr/>
          <p:nvPr/>
        </p:nvSpPr>
        <p:spPr>
          <a:xfrm>
            <a:off x="3474720" y="1783080"/>
            <a:ext cx="320040" cy="228600"/>
          </a:xfrm>
          <a:prstGeom prst="roundRect">
            <a:avLst>
              <a:gd name="adj" fmla="val 200000"/>
            </a:avLst>
          </a:prstGeom>
          <a:solidFill>
            <a:srgbClr val="FEE2E2"/>
          </a:solidFill>
          <a:ln/>
        </p:spPr>
      </p:sp>
      <p:sp>
        <p:nvSpPr>
          <p:cNvPr id="23" name="Text 21"/>
          <p:cNvSpPr/>
          <p:nvPr/>
        </p:nvSpPr>
        <p:spPr>
          <a:xfrm>
            <a:off x="347472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2</a:t>
            </a:r>
            <a:endParaRPr lang="en-US" sz="900" dirty="0"/>
          </a:p>
        </p:txBody>
      </p:sp>
      <p:sp>
        <p:nvSpPr>
          <p:cNvPr id="24" name="Text 22"/>
          <p:cNvSpPr/>
          <p:nvPr/>
        </p:nvSpPr>
        <p:spPr>
          <a:xfrm>
            <a:off x="388620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Deploy song song</a:t>
            </a:r>
            <a:endParaRPr lang="en-US" sz="1000" dirty="0"/>
          </a:p>
        </p:txBody>
      </p:sp>
      <p:sp>
        <p:nvSpPr>
          <p:cNvPr id="25" name="Text 23"/>
          <p:cNvSpPr/>
          <p:nvPr/>
        </p:nvSpPr>
        <p:spPr>
          <a:xfrm>
            <a:off x="347472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Chạy build code mới lên Staging và áp dụng các nâng cấp database ngầm.</a:t>
            </a:r>
            <a:endParaRPr lang="en-US" sz="820" dirty="0"/>
          </a:p>
        </p:txBody>
      </p:sp>
      <p:sp>
        <p:nvSpPr>
          <p:cNvPr id="26" name="Shape 24"/>
          <p:cNvSpPr/>
          <p:nvPr/>
        </p:nvSpPr>
        <p:spPr>
          <a:xfrm>
            <a:off x="5660136" y="2697480"/>
            <a:ext cx="109728" cy="182880"/>
          </a:xfrm>
          <a:prstGeom prst="rightArrow">
            <a:avLst/>
          </a:prstGeom>
          <a:solidFill>
            <a:srgbClr val="94A3B8"/>
          </a:solidFill>
          <a:ln w="6350">
            <a:solidFill>
              <a:srgbClr val="E2E8F0"/>
            </a:solidFill>
            <a:prstDash val="solid"/>
          </a:ln>
        </p:spPr>
      </p:sp>
      <p:sp>
        <p:nvSpPr>
          <p:cNvPr id="27" name="Shape 25"/>
          <p:cNvSpPr/>
          <p:nvPr/>
        </p:nvSpPr>
        <p:spPr>
          <a:xfrm>
            <a:off x="5943600" y="1645920"/>
            <a:ext cx="2286000" cy="2286000"/>
          </a:xfrm>
          <a:prstGeom prst="roundRect">
            <a:avLst>
              <a:gd name="adj" fmla="val 2000"/>
            </a:avLst>
          </a:prstGeom>
          <a:solidFill>
            <a:srgbClr val="FFFFFF"/>
          </a:solidFill>
          <a:ln w="12700">
            <a:solidFill>
              <a:srgbClr val="E2E8F0"/>
            </a:solidFill>
            <a:prstDash val="solid"/>
          </a:ln>
        </p:spPr>
      </p:sp>
      <p:sp>
        <p:nvSpPr>
          <p:cNvPr id="28" name="Shape 26"/>
          <p:cNvSpPr/>
          <p:nvPr/>
        </p:nvSpPr>
        <p:spPr>
          <a:xfrm>
            <a:off x="6080760" y="1783080"/>
            <a:ext cx="320040" cy="228600"/>
          </a:xfrm>
          <a:prstGeom prst="roundRect">
            <a:avLst>
              <a:gd name="adj" fmla="val 200000"/>
            </a:avLst>
          </a:prstGeom>
          <a:solidFill>
            <a:srgbClr val="FEE2E2"/>
          </a:solidFill>
          <a:ln/>
        </p:spPr>
      </p:sp>
      <p:sp>
        <p:nvSpPr>
          <p:cNvPr id="29" name="Text 27"/>
          <p:cNvSpPr/>
          <p:nvPr/>
        </p:nvSpPr>
        <p:spPr>
          <a:xfrm>
            <a:off x="6080760" y="1783080"/>
            <a:ext cx="320040" cy="228600"/>
          </a:xfrm>
          <a:prstGeom prst="rect">
            <a:avLst/>
          </a:prstGeom>
          <a:noFill/>
          <a:ln/>
        </p:spPr>
        <p:txBody>
          <a:bodyPr wrap="square" rtlCol="0" anchor="ctr"/>
          <a:lstStyle/>
          <a:p>
            <a:pPr algn="ctr" indent="0" marL="0">
              <a:buNone/>
            </a:pPr>
            <a:r>
              <a:rPr lang="en-US" sz="900" b="1" dirty="0">
                <a:solidFill>
                  <a:srgbClr val="BD1D2D"/>
                </a:solidFill>
                <a:latin typeface="Segoe UI" pitchFamily="34" charset="0"/>
                <a:ea typeface="Segoe UI" pitchFamily="34" charset="-122"/>
                <a:cs typeface="Segoe UI" pitchFamily="34" charset="-120"/>
              </a:rPr>
              <a:t>3</a:t>
            </a:r>
            <a:endParaRPr lang="en-US" sz="900" dirty="0"/>
          </a:p>
        </p:txBody>
      </p:sp>
      <p:sp>
        <p:nvSpPr>
          <p:cNvPr id="30" name="Text 28"/>
          <p:cNvSpPr/>
          <p:nvPr/>
        </p:nvSpPr>
        <p:spPr>
          <a:xfrm>
            <a:off x="6492240" y="1783080"/>
            <a:ext cx="1600200" cy="228600"/>
          </a:xfrm>
          <a:prstGeom prst="rect">
            <a:avLst/>
          </a:prstGeom>
          <a:noFill/>
          <a:ln/>
        </p:spPr>
        <p:txBody>
          <a:bodyPr wrap="square"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Git Commit &amp; Push</a:t>
            </a:r>
            <a:endParaRPr lang="en-US" sz="1000" dirty="0"/>
          </a:p>
        </p:txBody>
      </p:sp>
      <p:sp>
        <p:nvSpPr>
          <p:cNvPr id="31" name="Text 29"/>
          <p:cNvSpPr/>
          <p:nvPr/>
        </p:nvSpPr>
        <p:spPr>
          <a:xfrm>
            <a:off x="6080760" y="2057400"/>
            <a:ext cx="2011680" cy="1737360"/>
          </a:xfrm>
          <a:prstGeom prst="rect">
            <a:avLst/>
          </a:prstGeom>
          <a:noFill/>
          <a:ln/>
        </p:spPr>
        <p:txBody>
          <a:bodyPr wrap="square" rtlCol="0" anchor="t"/>
          <a:lstStyle/>
          <a:p>
            <a:pPr indent="0" marL="0">
              <a:lnSpc>
                <a:spcPts val="1100"/>
              </a:lnSpc>
              <a:buNone/>
            </a:pPr>
            <a:r>
              <a:rPr lang="en-US" sz="820" dirty="0">
                <a:solidFill>
                  <a:srgbClr val="475569"/>
                </a:solidFill>
                <a:latin typeface="Segoe UI" pitchFamily="34" charset="0"/>
                <a:ea typeface="Segoe UI" pitchFamily="34" charset="-122"/>
                <a:cs typeface="Segoe UI" pitchFamily="34" charset="-120"/>
              </a:rPr>
              <a:t>Đồng bộ commit code mới nhất lên main branch cùng lúc.</a:t>
            </a:r>
            <a:endParaRPr lang="en-US" sz="820" dirty="0"/>
          </a:p>
        </p:txBody>
      </p:sp>
      <p:sp>
        <p:nvSpPr>
          <p:cNvPr id="32" name="Text 30"/>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59 / 60</a:t>
            </a:r>
            <a:endParaRPr lang="en-US" sz="850" dirty="0"/>
          </a:p>
        </p:txBody>
      </p:sp>
      <p:sp>
        <p:nvSpPr>
          <p:cNvPr id="33" name="Text 31"/>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D1D2D"/>
          </a:solidFill>
          <a:ln/>
        </p:spPr>
      </p:sp>
      <p:sp>
        <p:nvSpPr>
          <p:cNvPr id="3" name="Text 1"/>
          <p:cNvSpPr/>
          <p:nvPr/>
        </p:nvSpPr>
        <p:spPr>
          <a:xfrm>
            <a:off x="914400" y="914400"/>
            <a:ext cx="7315200" cy="274320"/>
          </a:xfrm>
          <a:prstGeom prst="rect">
            <a:avLst/>
          </a:prstGeom>
          <a:noFill/>
          <a:ln/>
        </p:spPr>
        <p:txBody>
          <a:bodyPr wrap="square" rtlCol="0" anchor="ctr"/>
          <a:lstStyle/>
          <a:p>
            <a:pPr indent="0" marL="0">
              <a:buNone/>
            </a:pPr>
            <a:r>
              <a:rPr lang="en-US" sz="1300" b="1" dirty="0">
                <a:solidFill>
                  <a:srgbClr val="BD1D2D"/>
                </a:solidFill>
                <a:latin typeface="Segoe UI" pitchFamily="34" charset="0"/>
                <a:ea typeface="Segoe UI" pitchFamily="34" charset="-122"/>
                <a:cs typeface="Segoe UI" pitchFamily="34" charset="-120"/>
              </a:rPr>
              <a:t>ROADMAP</a:t>
            </a:r>
            <a:endParaRPr lang="en-US" sz="1300" dirty="0"/>
          </a:p>
        </p:txBody>
      </p:sp>
      <p:sp>
        <p:nvSpPr>
          <p:cNvPr id="4" name="Text 2"/>
          <p:cNvSpPr/>
          <p:nvPr/>
        </p:nvSpPr>
        <p:spPr>
          <a:xfrm>
            <a:off x="914400" y="1280160"/>
            <a:ext cx="7315200" cy="914400"/>
          </a:xfrm>
          <a:prstGeom prst="rect">
            <a:avLst/>
          </a:prstGeom>
          <a:noFill/>
          <a:ln/>
        </p:spPr>
        <p:txBody>
          <a:bodyPr wrap="square"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LỘ TRÌNH PHÁT TRIỂN &amp; NÂNG CẤP HỆ THỐNG</a:t>
            </a:r>
            <a:endParaRPr lang="en-US" sz="3000" dirty="0"/>
          </a:p>
        </p:txBody>
      </p:sp>
      <p:sp>
        <p:nvSpPr>
          <p:cNvPr id="5" name="Text 3"/>
          <p:cNvSpPr/>
          <p:nvPr/>
        </p:nvSpPr>
        <p:spPr>
          <a:xfrm>
            <a:off x="914400" y="2377440"/>
            <a:ext cx="7315200" cy="548640"/>
          </a:xfrm>
          <a:prstGeom prst="rect">
            <a:avLst/>
          </a:prstGeom>
          <a:noFill/>
          <a:ln/>
        </p:spPr>
        <p:txBody>
          <a:bodyPr wrap="square" rtlCol="0" anchor="t"/>
          <a:lstStyle/>
          <a:p>
            <a:pPr indent="0" marL="0">
              <a:lnSpc>
                <a:spcPts val="1600"/>
              </a:lnSpc>
              <a:buNone/>
            </a:pPr>
            <a:r>
              <a:rPr lang="en-US" sz="1150" dirty="0">
                <a:solidFill>
                  <a:srgbClr val="000000"/>
                </a:solidFill>
                <a:latin typeface="Segoe UI" pitchFamily="34" charset="0"/>
                <a:ea typeface="Segoe UI" pitchFamily="34" charset="-122"/>
                <a:cs typeface="Segoe UI" pitchFamily="34" charset="-120"/>
              </a:rPr>
              <a:t>Kế hoạch nâng cấp và mở rộng khả năng tối ưu hóa chuyển đổi, tương tác tự động ở quy mô lớn cho Rich Land CRM.</a:t>
            </a:r>
            <a:endParaRPr lang="en-US" sz="1150" dirty="0"/>
          </a:p>
        </p:txBody>
      </p:sp>
      <p:sp>
        <p:nvSpPr>
          <p:cNvPr id="6" name="Shape 4"/>
          <p:cNvSpPr/>
          <p:nvPr/>
        </p:nvSpPr>
        <p:spPr>
          <a:xfrm>
            <a:off x="914400" y="3017520"/>
            <a:ext cx="219456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105156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PHASE 1: HẠ TẦNG</a:t>
            </a:r>
            <a:endParaRPr lang="en-US" sz="950" dirty="0"/>
          </a:p>
        </p:txBody>
      </p:sp>
      <p:sp>
        <p:nvSpPr>
          <p:cNvPr id="8" name="Text 6"/>
          <p:cNvSpPr/>
          <p:nvPr/>
        </p:nvSpPr>
        <p:spPr>
          <a:xfrm>
            <a:off x="105156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Ổn định phân chia lead thông qua 5 Gate bảo mật, check-in selfie và hàng đợi tin nhắn ngầm.</a:t>
            </a:r>
            <a:endParaRPr lang="en-US" sz="850" dirty="0"/>
          </a:p>
        </p:txBody>
      </p:sp>
      <p:sp>
        <p:nvSpPr>
          <p:cNvPr id="9" name="Shape 7"/>
          <p:cNvSpPr/>
          <p:nvPr/>
        </p:nvSpPr>
        <p:spPr>
          <a:xfrm>
            <a:off x="3474720" y="3017520"/>
            <a:ext cx="219456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361188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PHASE 2: RAG &amp; CHAT</a:t>
            </a:r>
            <a:endParaRPr lang="en-US" sz="950" dirty="0"/>
          </a:p>
        </p:txBody>
      </p:sp>
      <p:sp>
        <p:nvSpPr>
          <p:cNvPr id="11" name="Text 9"/>
          <p:cNvSpPr/>
          <p:nvPr/>
        </p:nvSpPr>
        <p:spPr>
          <a:xfrm>
            <a:off x="361188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Nạp tri thức tự động bằng Vector, chatbot commands quản lý di động và AI screening.</a:t>
            </a:r>
            <a:endParaRPr lang="en-US" sz="850" dirty="0"/>
          </a:p>
        </p:txBody>
      </p:sp>
      <p:sp>
        <p:nvSpPr>
          <p:cNvPr id="12" name="Shape 10"/>
          <p:cNvSpPr/>
          <p:nvPr/>
        </p:nvSpPr>
        <p:spPr>
          <a:xfrm>
            <a:off x="6035040" y="3017520"/>
            <a:ext cx="219456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6172200" y="3154680"/>
            <a:ext cx="1920240" cy="274320"/>
          </a:xfrm>
          <a:prstGeom prst="rect">
            <a:avLst/>
          </a:prstGeom>
          <a:noFill/>
          <a:ln/>
        </p:spPr>
        <p:txBody>
          <a:bodyPr wrap="square" rtlCol="0" anchor="ctr"/>
          <a:lstStyle/>
          <a:p>
            <a:pPr indent="0" marL="0">
              <a:buNone/>
            </a:pPr>
            <a:r>
              <a:rPr lang="en-US" sz="950" b="1" dirty="0">
                <a:solidFill>
                  <a:srgbClr val="BD1D2D"/>
                </a:solidFill>
                <a:latin typeface="Segoe UI" pitchFamily="34" charset="0"/>
                <a:ea typeface="Segoe UI" pitchFamily="34" charset="-122"/>
                <a:cs typeface="Segoe UI" pitchFamily="34" charset="-120"/>
              </a:rPr>
              <a:t>PHASE 3: MỞ RỘNG</a:t>
            </a:r>
            <a:endParaRPr lang="en-US" sz="950" dirty="0"/>
          </a:p>
        </p:txBody>
      </p:sp>
      <p:sp>
        <p:nvSpPr>
          <p:cNvPr id="14" name="Text 12"/>
          <p:cNvSpPr/>
          <p:nvPr/>
        </p:nvSpPr>
        <p:spPr>
          <a:xfrm>
            <a:off x="6172200" y="3429000"/>
            <a:ext cx="1920240" cy="1005840"/>
          </a:xfrm>
          <a:prstGeom prst="rect">
            <a:avLst/>
          </a:prstGeom>
          <a:noFill/>
          <a:ln/>
        </p:spPr>
        <p:txBody>
          <a:bodyPr wrap="square" rtlCol="0" anchor="t"/>
          <a:lstStyle/>
          <a:p>
            <a:pPr indent="0" marL="0">
              <a:lnSpc>
                <a:spcPts val="1200"/>
              </a:lnSpc>
              <a:buNone/>
            </a:pPr>
            <a:r>
              <a:rPr lang="en-US" sz="850" dirty="0">
                <a:solidFill>
                  <a:srgbClr val="000000"/>
                </a:solidFill>
                <a:latin typeface="Segoe UI" pitchFamily="34" charset="0"/>
                <a:ea typeface="Segoe UI" pitchFamily="34" charset="-122"/>
                <a:cs typeface="Segoe UI" pitchFamily="34" charset="-120"/>
              </a:rPr>
              <a:t>Tích hợp IP Phone, ghi âm cuộc gọi, phân tích Cost Ads sâu (ROAS) đến ad creative cụ thể.</a:t>
            </a:r>
            <a:endParaRPr lang="en-US" sz="850" dirty="0"/>
          </a:p>
        </p:txBody>
      </p:sp>
      <p:sp>
        <p:nvSpPr>
          <p:cNvPr id="15" name="Text 13"/>
          <p:cNvSpPr/>
          <p:nvPr/>
        </p:nvSpPr>
        <p:spPr>
          <a:xfrm>
            <a:off x="7772400" y="4709160"/>
            <a:ext cx="914400" cy="274320"/>
          </a:xfrm>
          <a:prstGeom prst="rect">
            <a:avLst/>
          </a:prstGeom>
          <a:noFill/>
          <a:ln/>
        </p:spPr>
        <p:txBody>
          <a:bodyPr wrap="square" rtlCol="0" anchor="ctr"/>
          <a:lstStyle/>
          <a:p>
            <a:pPr algn="r" indent="0" marL="0">
              <a:buNone/>
            </a:pPr>
            <a:r>
              <a:rPr lang="en-US" sz="850" b="1" dirty="0">
                <a:solidFill>
                  <a:srgbClr val="94A3B8"/>
                </a:solidFill>
                <a:latin typeface="Segoe UI" pitchFamily="34" charset="0"/>
                <a:ea typeface="Segoe UI" pitchFamily="34" charset="-122"/>
                <a:cs typeface="Segoe UI" pitchFamily="34" charset="-120"/>
              </a:rPr>
              <a:t>Slide 60 / 60</a:t>
            </a:r>
            <a:endParaRPr lang="en-US" sz="850" dirty="0"/>
          </a:p>
        </p:txBody>
      </p:sp>
      <p:sp>
        <p:nvSpPr>
          <p:cNvPr id="16" name="Text 14"/>
          <p:cNvSpPr/>
          <p:nvPr/>
        </p:nvSpPr>
        <p:spPr>
          <a:xfrm>
            <a:off x="731520" y="4709160"/>
            <a:ext cx="5486400" cy="274320"/>
          </a:xfrm>
          <a:prstGeom prst="rect">
            <a:avLst/>
          </a:prstGeom>
          <a:noFill/>
          <a:ln/>
        </p:spPr>
        <p:txBody>
          <a:bodyPr wrap="square" rtlCol="0" anchor="ctr"/>
          <a:lstStyle/>
          <a:p>
            <a:pPr indent="0" marL="0">
              <a:buNone/>
            </a:pPr>
            <a:r>
              <a:rPr lang="en-US" sz="850" b="1" dirty="0">
                <a:solidFill>
                  <a:srgbClr val="94A3B8"/>
                </a:solidFill>
                <a:latin typeface="Segoe UI" pitchFamily="34" charset="0"/>
                <a:ea typeface="Segoe UI" pitchFamily="34" charset="-122"/>
                <a:cs typeface="Segoe UI" pitchFamily="34" charset="-120"/>
              </a:rPr>
              <a:t>TÀI LIỆU KIẾN TRÚC KỸ THUẬT RICH LAND CRM — BẢO MẬT NỘI BỘ</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2026-07-26T13:49:16Z</dcterms:created>
  <dcterms:modified xsi:type="dcterms:W3CDTF">2026-07-26T13:49:16Z</dcterms:modified>
</cp:coreProperties>
</file>