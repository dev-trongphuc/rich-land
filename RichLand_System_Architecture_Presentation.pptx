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</p:sldIdLst>
  <p:notesMasterIdLst>
    <p:notesMasterId r:id="rId6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notesMaster" Target="notesMasters/notesMaster1.xml"/><Relationship Id="rId63" Type="http://schemas.openxmlformats.org/officeDocument/2006/relationships/presProps" Target="presProps.xml"/><Relationship Id="rId64" Type="http://schemas.openxmlformats.org/officeDocument/2006/relationships/viewProps" Target="viewProps.xml"/><Relationship Id="rId65" Type="http://schemas.openxmlformats.org/officeDocument/2006/relationships/theme" Target="theme/theme1.xml"/><Relationship Id="rId6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BD1D2D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463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SYSTEM ARCHITECTURE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731520" y="1920240"/>
            <a:ext cx="7772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KIẾN TRÚC HỆ THỐNG &amp; LUỒNG HOẠT ĐỘNG LÕI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10896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Báo cáo phân tích chuyên sâu về hạ tầng lead, 5 cổng duyệt, quy tắc giao dịch và hàng đợi bất đồng bộ.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31520" y="41148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PHIÊN BẢN HỆ THỐNG V1.9.0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MỤC LỤC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Danh Mục Nội Dung Thuyết Trình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CẤU TRÚC NỬA ĐẦU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Phần 1: Kiến trúc ứng dụng &amp; luồng định tuyến (Slides 3-10)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Phần 2: Thuật toán chia lead &amp; 5 cổng duyệt bảo vệ (Slides 11-20)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Phần 3: Quy tắc đặt cọc, hủy cọc &amp; đối soát hoa hồng (Slides 21-30)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CẤU TRÚC NỬA SAU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Phần 4: Hệ thống tri thức AI &amp; Vector RAG (Slides 31-38)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Phần 5: Đồng bộ hai chiều &amp; Trung tâm lệnh Chatbot (Slides 39-46)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Phần 6: Hàng đợi bất đồng bộ &amp; Khung kiểm thử DevOps (Slides 47-60)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TỔNG QUAN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Tóm Tắt Tổng Quan Hệ Thống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MỤC TIÊU THIẾT KẾ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Phân chia Lead tự động tức thời với độ trễ xử lý &lt;50ms.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Ngăn ngừa tình trạng ôm lead, giấu lead hoặc phân bổ thiếu công bằng.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Đảm bảo vết kiểm toán (audit trail) chính xác cho dòng tiền cọc và hoa hồng.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PHÁP KỸ THUẬT LÕI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Sử dụng API Router tập trung qua cổng bảo mật JWT.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Xây dựng 5 Gate kiểm duyệt thông minh dựa trên Check-in và Roster.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Offload các tác vụ gửi tin qua Zalo/Telegram vào hàng đợi Database.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KIẾN TRÚC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Kiến Trúc Client - Server Tổng Thể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FRONTEND REACT SPA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Xây dựng trên nền tảng React, Vite và TypeScript tối ưu dung lượng gói tin.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Sử dụng Tailwind CSS cho giao diện đồng bộ, tốc độ dựng trang nhanh.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Kết nối API thông qua Axios Client cấu hình tự động gắn JWT Token.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BACKEND API &amp; DATABASE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API viết bằng PHP thuần để đảm bảo thời gian khởi động (bootstrap) tối thiểu.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CSDL MySQL/MariaDB lưu giữ toàn bộ dữ liệu quan hệ.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Tận dụng View ảo (consultants, accounts) để tương thích ngược.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KIẾN TRÚC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Cấu Trúc Định Tuyến &amp; Giữ DOM AppTabs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REACT-ROUTER-DOM ĐỊNH TUYẾN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Quản lý tập trung các đường dẫn tại tệp App.tsx.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Phân tách các trang theo phân quyền người dùng cụ thể.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Tích hợp lazy loading để tăng tốc độ tải trang lần đầu.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PHÁP APPTABS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Thay vì Unmount các component khi đổi trang, AppTabs giữ nguyên DOM.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Duy trì state của các bộ lọc và trang dữ liệu khi Sale chuyển tab.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Giảm tải số lần gọi API tải lại trang không cần thiết.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BACKEND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Cổng API Backend Duy Nhất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CƠ CHẾ ROUTE QUA ACTION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Mọi yêu cầu HTTP đổ về tệp backend/index.php duy nhất.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Phân loại luồng xử lý dựa trên tham số query action.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Quản lý CORS tập trung, chặn các truy cập ngoài danh sách cho phép.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XỬ LÝ LỖI TẬP TRUNG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Khối try-catch bao bọc toàn hệ thống bắt toàn bộ lỗi runtime.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Chuyển đổi mã lỗi CSDL thành phản hồi JSON chuẩn hóa.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Ngăn ngừa rò rỉ cấu trúc tệp tin hệ thống ra môi trường ngoài.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XÁC THỰC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Cơ Chế Xác Thực Người Dùng JWT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REQUIREAUTH MIDDLEWARE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Trích xuất Bearer Token từ tiêu đề Authorization.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Hỗ trợ lấy token từ query string cho các tiến trình kiểm thử nhanh.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Giải mã cấu trúc token để lấy định danh user và thời gian hết hạn.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LÝ TOKEN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Thời gian sống của token được giới hạn bảo mật.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Chữ ký JWT mã hóa bằng khóa bí mật riêng cấu hình trên Staging.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Từ chối truy cập ngay lập tức nếu token bị chỉnh sửa hoặc hết hạn.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7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XÁC THỰC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Chuẩn Hóa Vai Trò Người Dùng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ÁNH XẠ VAI TRÒ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Frontend truyền quyền dạng 'sale' để hiển thị giao diện.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requireAuth tự động chuyển đổi thành 'sales' cho đồng bộ backend.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Tránh tình trạng sai lệch kiểm tra quyền giữa client và server.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KHẮC PHỤC LỖI UNDEFINED INDEX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Tự động ánh xạ trường id thành user_id trong dữ liệu phiên làm việc.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Đồng bộ khóa name và full_name để tương thích các đoạn code cũ.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Chặn hoàn toàn các cảnh báo Notice từ PHP làm gãy cấu trúc JSON trả về.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8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BẢO MẬT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 Lập Dữ Liệu Đa Khách Thuê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PHẠM VI TENANT_ID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Mỗi bản ghi liên quan đến khách hàng, user đều chứa khóa tenant_id.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Mọi câu lệnh SQL truy vấn đều được tự động thêm điều kiện lọc tenant.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Đảm bảo các doanh nghiệp dùng chung CSDL không nhìn thấy dữ liệu của nhau.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NGĂN NGỪA TRUY CẬP CHÉO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Kiểm duyệt dữ liệu đầu vào chặn đứng việc truyền ID giả mạo.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Cơ chế ghi nhật ký tự động báo động khi có dấu hiệu truy cập chéo tenant.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Đảm bảo an toàn tuyệt đối cho dữ liệu khách hàng tiềm năng.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9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TỔNG QUAN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Tóm Tắt Takeaways Phần 1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804672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TÓM TẮT KỸ THUẬT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768096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Kiến trúc React SPA kết hợp PHP API tối giản giúp tăng hiệu năng truy cập vượt trội.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Hệ thống bảo mật 3 lớp: CORS -&gt; JWT requireAuth -&gt; Tenant ID Scoping bảo vệ dữ liệu tối đa.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Giữ DOM bằng AppTabs tối ưu hóa hoàn toàn tài nguyên CPU/RAM phía client.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10 / 60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CHIA LEAD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Vòng Đời Của Một Lead Đầu Vào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TIẾP NHẬN LEAD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Lead đổ về từ Google Sheets, Landing Page hoặc webhook Facebook Ads.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Ghi nhận vào bảng leads dạng trạng thái thô để lưu vết lịch sử.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Hệ thống chuẩn hóa số điện thoại bằng hàm normalizePhone.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XÁC MINH TRÙNG LẶP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Tra cứu bảng persons bằng SĐT để tìm kiếm khách hàng cũ.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Nếu tìm thấy: Giữ nguyên chủ sở hữu cũ để chăm sóc (bảo mật khách hàng).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Nếu là khách mới: Kích hoạt luồng phân bổ xoay vòng trong chiến dịch.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11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CHIA LEAD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Thuật Toán Xoay Vòng Round-Robin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GETNEXTCONSULTANTINROUND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Đọc cột last_assigned_consultant_id trong bảng distribution_rounds.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Sắp xếp danh sách Sale đăng ký tham gia vòng theo thứ tự ID tăng dần.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Tìm vị trí Sale kế tiếp sau Sale vừa nhận lead gần nhất.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ĐẢM BẢO TÍNH CÔNG BẰNG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Hỗ trợ tỷ lệ nhận lead (receive_ratio) khác nhau giữa các Sale.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Cập nhật ngay mốc thời gian nhận lead cuối cùng vào CSDL.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Tự động bỏ qua các Sale không vượt qua các rào chắn kiểm duyệt.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12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5 GATES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1: Dự Án &amp; Roster Chiến Dịch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LOẠI THEO DỰ ÁN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Quét từ khóa chiến dịch hoặc ghi chú lead để nhận diện dự án phù hợp.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Dự án được quản lý trong bảng projects trạng thái đang hoạt động.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Nếu nhận diện được dự án: Bắt buộc đi qua cổng Roster.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PROJECT ROSTER CHECK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Tra cứu bảng project_roster để tìm danh sách Sale được cấp quyền.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Chỉ chia lead dự án cho Sale nằm trong roster đăng ký của dự án đó.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Chặn chia lead nhầm cho Sale chưa được đào tạo dự án tương ứng.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13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5 GATES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2: Điểm Danh &amp; Check-in Đầu Ngày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RÀO CHẮN CHECK-IN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Sale làm việc ca ngày bắt buộc phải thực hiện selfie check-in trên App.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Trạng thái check-in phải là approved (hoặc pending_approval tùy cấu hình).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Chưa check-in đầu ngày đồng nghĩa với việc không sẵn sàng -&gt; Bị loại trừ.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 HỢP NGOẠI LỆ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Tự động bỏ qua kiểm tra check-in đối với Sale trực ca đêm đã duyệt.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Bỏ qua check-in khi có đăng ký trực ngày lễ/cuối tuần (weekend/holiday).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Đảm bảo Sale trực ca đặc biệt vẫn nhận được lead bình thường.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14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5 GATES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3: Trạng Thái Sale &amp; Nghỉ Phép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VACATION MODE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Sale đi gặp khách hoặc có việc cá nhân bật chế độ tạm vắng trên App.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Cột vacation_mode = 1 trong bảng consultants và users.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Hệ thống loại trừ ngay lập tức khi quét phân bổ lead.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LỊCH TRÌNH NGHỈ PHÉP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Tra cứu mốc thời gian leave_start và leave_end đã đăng ký.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Nếu ngày hiện tại nằm trong lịch nghỉ phép -&gt; Loại trừ.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Đảm bảo lead không bị giao cho người đang vắng mặt dẫn đến trôi lead.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15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5 GATES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4: Van Chống Ôm Lead (Backpressure)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CƠ CHẾ CHỐNG GĂM GIỮ LEAD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Đếm số lượng KHTN chưa tương tác của Sale trong chiến dịch hiện tại.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Điều kiện: pipeline = 'chua_xac_dinh', hoặc 'quan_tam' nhưng chưa có note.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Đảm bảo Sale tập trung chăm sóc lead cũ trước khi nhận lead mới.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CHẶN PHÂN BỔ VƯỢT NGƯỠNG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Đọc giới hạn cấu hình hệ thống backpressure_limit (mặc định 5).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Nếu số lead chưa xử lý &gt;= giới hạn -&gt; Chặn chia lead mới cho Sale đó.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Thúc đẩy tốc độ tương tác lead dưới 15 phút đầu tiên.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16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5 GATES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Gate 5: Hạn Mức Phân Phối Lead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 THEO THỜI GIAN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Giới hạn số lead tối đa Sale được phép nhận theo Giờ, Ngày và Tháng.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Cấu hình linh hoạt qua bảng cài đặt hệ thống (system_settings).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Tra cứu nhật ký logs để đếm số lượng lead thực nhận.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QUOTA GIỜ VÀNG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Cài đặt khung giờ vàng (ví dụ: 06:00 - 08:30 sáng).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Giới hạn số lượng lead tối đa nhận được trong khung giờ này.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Giảm thiểu tình trạng dồn dập lead vào đầu ngày cho một cá nhân.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17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CHIA LEAD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Định Tuyến Dự Phòng Khi Bị Chặn Toàn Bộ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TÌNH HUỐNG GÃY LUỒNG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Toàn bộ Sale trong vòng xoay đều bị chặn bởi các Gate bảo vệ.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Hoặc không có Sale nào check-in/hoạt động tại thời điểm lead về.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Cần cơ chế dự phòng để lead không bị mồ côi.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LUỒNG XỬ LÝ DỰ PHÒNG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Chuyển tiếp lead đến email liên hệ dự phòng cấu hình trong chiến dịch.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Hoặc phân phối trực tiếp cho các tài khoản Quản trị viên (Admin/Manager).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Đảm bảo lead luôn được lưu vết và gán người chịu trách nhiệm.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18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CHIA LEAD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Cơ Chế Chống Đói Lead Cho Sale Vắng Mặt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TÍCH LŨY ĐIỂM BỎ QUA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Khi Sale vắng mặt hoặc đi gặp khách hàng (bị Gate chặn).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Hệ thống tự động cộng dồn điểm cộng bù (skipped_credit) cho họ.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Ghi nhận chính xác số lượt phân bổ bị bỏ lỡ.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ƯU TIÊN BÙ LƯỢT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Khi Sale quay lại hoạt động và điểm danh thành công.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Hệ thống kiểm tra và ưu tiên phân phối lead cho người có skipped_credit cao nhất.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Đảm bảo sự công bằng về doanh số lead nhận được giữa các thành viên.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19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TỔNG QUAN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Tóm Tắt Toàn Cảnh Quy Trình Chia Lead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804672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TỔNG KẾT 5 GATES BẢO VỆ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768096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Cổng 1 &amp; 3: Lọc đúng người đăng ký roster dự án và đang ở trạng thái sẵn sàng hoạt động.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Cổng 2: Bắt buộc kỷ luật điểm danh check-in hàng ngày bằng hình ảnh selfie.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Cổng 4 &amp; 5: Thiết lập van chống ôm lead và giới hạn hạn mức để điều tiết nhịp độ chăm sóc khách hàng.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Cơ chế Fallback và Starvation đảm bảo lead không bị thất lạc và cân bằng lợi ích cho Sale.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20 / 60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ĐẶT CỌC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Trình Giao Dịch Đặt Cọc &amp; Doanh Thu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KHỞI TẠO PHIẾU CỌC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Sale tạo phiếu cọc ghi nhận mã căn, giá bán, hoa hồng và các đợt thanh toán.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Phiếu cọc được tạo ở trạng thái chờ duyệt (pending_approval).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Khách hàng tải ảnh ủy nhiệm chi (UNC) lên để xác minh.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PHÊ DUYỆT ĐỢT THANH TOÁN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Kế toán kiểm tra dòng tiền thực tế đổ về tài khoản ngân hàng.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Duyệt đợt thanh toán thành approved trong hệ thống.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Hệ thống tự động tạo hóa đơn (invoice) tương ứng để đối soát.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21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ĐẶT CỌC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Thông Tin Thuộc Tính Phiếu Đặt Cọc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THÔNG TIN CĂN HỘ &amp; TÀI CHÍNH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Căn hộ liên kết với bảng projects để xác định dự án.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Tổng giá trị hợp đồng, tỷ lệ hoa hồng chia sẻ cho Sale.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Mốc thời gian ký hợp đồng mua bán dự kiến.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QUẢN LÝ ĐỢT THANH TOÁN (MILESTONES)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Bảng deposit_milestones theo dõi từng đợt đóng tiền.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Trạng thái đợt tiền: pending (chờ), approved (đã thu), failed (lỗi).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Doanh thu công ty chỉ ghi nhận từ các đợt đóng tiền approved.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22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BỂ CỌC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Tắc Nghiệp Vụ Bể Cọc (Hủy Cọc)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HAI KỊCH BẢN HỦY CỌC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Kịch bản 1: Hủy cọc khi chưa phát sinh doanh thu thực tế cho công ty.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Kịch bản 2: Hủy cọc khi đã đóng ít nhất đợt 1 (đã phát sinh dòng tiền thực).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Hai kịch bản có cách xử lý dữ liệu khách hàng hoàn toàn khác nhau.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ĐẢM BẢO TÍNH CHÍNH TRỰC DỮ LIỆU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Bảo vệ doanh thu thực tế được ghi nhận bởi kế toán.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Kích hoạt lại đồng hồ bảo mật dữ liệu khách hàng hợp lý.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Lưu lại vết hủy cọc cụ thể để phục vụ thanh tra tài chính.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23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BỂ CỌC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Bể Cọc Trước Khi Phát Sinh Doanh Thu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ĐIỀU KIỆN ÁP DỤNG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Khách hàng hủy đặt cọc trước khi đóng tiền đợt 1.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Chưa có bất kỳ milestone nào được kế toán duyệt approved.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Chưa ghi nhận doanh thu thực tế nào cho công ty từ giao dịch này.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HÀNH VI HỆ THỐNG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Hạ trạng thái KHTN từ Đặt Cọc về trạng thái trước đó (Booking/Đã Gặp).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Giảm nhiệt độ chăm sóc xuống 1 cấp (ví dụ: Hot -&gt; Warm).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Kích hoạt lại đồng hồ bảo mật chạy 3 tháng, có thể tự động trả về kho chung.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24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BỂ CỌC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Bể Cọc Trước/Sau Doanh Thu Phân Nhánh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ĐIỀU KIỆN ÁP DỤNG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Khách hàng hủy đặt cọc nhưng đã đóng đợt 1 thành công.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Đã có ít nhất 1 đợt thanh toán được duyệt approved trong CSDL.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Công ty đã thực thu được một phần phí môi giới hoặc doanh thu.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HÀNH VI HỆ THỐNG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Giữ nguyên trạng thái Đặt Cọc / Khách Hàng của Person.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Không hạ trạng thái, không kích hoạt trả về kho chung.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Chuyển trạng thái phiếu cọc sang cancelled và ghi nhận lý do cụ thể.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25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ĐỔI CĂN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Trình Đổi Căn Hộ Giao Dịch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ĐÓNG GIAO DỊCH CŨ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Đóng/hủy phiếu đặt cọc cũ của căn hộ A.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Đánh dấu trạng thái phiếu cọc cũ là thất bại hoặc đổi căn.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Lưu giữ nguyên lịch sử dòng tiền và hóa đơn của căn hộ cũ.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TẠO GIAO DỊCH MỚI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Tạo một phiếu đặt cọc mới hoàn toàn cho căn hộ B.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Gắn ghi chú liên kết dạng 'Đổi căn từ căn A' ở phiếu cọc mới.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Giữ trọn vẹn lịch sử phí và vết kiểm toán tài chính (audit trail).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26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AUDIT TRAIL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Vết Kiểm Toán Tài Chỉ tiêu Doanh Thu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GHI NHẬT KÝ THAY ĐỔI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Mọi thao tác thay đổi giá bán, chiết khấu, hoa hồng đều được ghi log.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Ghi nhận danh tính người chỉnh sửa và mốc thời gian chi tiết.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Chặn sửa đổi trực tiếp các hóa đơn đã được kế toán duyệt khóa sổ.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HÓA ĐƠN &amp; DOANH THU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Auto-create hóa đơn tương ứng với số tiền đợt thanh toán được duyệt.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Đối chiếu chéo giữa số liệu báo cáo của Sale và dữ liệu thực tế của kế toán.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Xuất báo cáo công nợ đợt đóng tiền tự động gửi về cho khách hàng.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27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META CAPI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Tích Hợp Tín Hiệu Meta Conversion API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BẮN TÍN HIỆU CHUYỂN ĐỔI TRỰC TIẾP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Loại bỏ hoàn toàn Google Sheets trung gian để tránh gãy luồng tín hiệu.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Gửi sự kiện chuyển đổi trực tiếp từ máy chủ CRM về Meta Pixel.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Tối ưu hóa chất lượng khớp dữ liệu (Match Quality) bằng hash SHA256.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LOẠI SỰ KIỆN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Trạng thái lead mới -&gt; CompleteRegistration.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Trạng thái Quan Tâm -&gt; Converted.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Trạng thái Đặt Cọc -&gt; Purchase (gửi kèm giá trị hoa hồng thực nhận).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28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META CAPI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Tắc Tín Hiệu CAPI Một Chiều (Forward-Only)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TẮC MỘT CHIỀU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Tuyệt đối không gửi sự kiện hoàn trả, hạ cấp trạng thái lead về Meta.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Một khi tín hiệu Purchase đã được gửi đi là kết thúc luồng cho lead đó.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Bảo vệ dữ liệu tối ưu hóa chiến dịch quảng cáo không bị nhiễu loạn.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LỢI ÍCH THUẬT TOÁN HỌC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Giúp thuật toán tìm kiếm khách hàng của Meta tập trung vào tệp chuyển đổi thật.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Né tránh nhầm lẫn do các thay đổi trạng thái hậu trường của CRM.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Giảm chi phí quảng cáo (CPA) đáng kể cho các chiến dịch sau.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29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TỔNG QUAN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Tóm Tắt Quy Tắc Giao Dịch &amp; CAPI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804672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TỔNG KẾT NGHIỆP VỤ TÀI CHÍNH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768096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Bể cọc trước doanh thu hạ trạng thái và thả lại kho dữ liệu; bể cọc sau doanh thu giữ nguyên trạng thái.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Đổi căn đóng deal cũ tạo deal mới kèm liên kết ghi chú rõ ràng phục vụ audit.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Tín hiệu Meta CAPI gửi trực tiếp từ CRM theo quy tắc một chiều tiến lên để bảo vệ thuật toán ads.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30 / 60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AI RAG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Hệ Thống Trí Tuệ Nhân Tạo AI RAG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GIỚI THIỆU RAG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Retrieval-Augmented Generation: Tạo sinh có truy xuất tri thức.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Giúp mô hình AI trả lời và sàng lọc lead dựa trên tài liệu thực tế của dự án.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Khắc phục hoàn toàn hiện tượng ảo giác (hallucination) của AI.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ỨNG DỤNG TRONG CRM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Tự động chấm điểm độ thiện chí của khách hàng qua ghi chú tương tác.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Nhận diện câu hỏi thường gặp và gợi ý kịch bản tư vấn phù hợp cho Sale.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Phân loại tự động lead rác/spam đổ về hệ thống.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31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AI RAG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Trình Vector Hóa Tri Thức Dự Án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EMBEDDINGS API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Sử dụng mô hình gemini-embedding-001 để biến đổi văn bản thành vector.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Mỗi vector là một chuỗi 768 chiều biểu thị đặc trưng ngữ nghĩa.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Lưu trữ vector vào cơ sở dữ liệu để tìm kiếm tương đồng ngữ nghĩa sau này.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BỘ ĐỆM AI_VECTOR_CACHE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Tính mã băm MD5 của văn bản làm khóa tra cứu cục bộ.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Lưu trữ vector tương ứng vào bảng ai_vector_cache.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Giảm 90% chi phí gọi API ngoài và tăng tốc độ truy xuất ngữ nghĩa lên &lt;5ms.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32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AI RAG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Kiến Trúc Truy Xuất Ngữ Cảnh Ngữ Nghĩa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TRUY VẤN TƯƠNG ĐỒNG COSINE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Chuyển đổi câu hỏi/ghi chú mới của khách hàng thành vector truy vấn.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So khớp Cosine Similarity với danh sách vector tri thức dự án có sẵn.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Lọc ra top các đoạn tri thức có điểm tương đồng cao nhất.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LẮP RÁP PROMPT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Lấy các đoạn tri thức liên quan nhất làm ngữ cảnh (context).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Kết hợp câu hỏi gốc của khách hàng để tạo Prompt gửi lên LLM.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AI phản hồi chính xác dựa trên dữ liệu thật của dự án.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33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AI RAG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So Sánh Tìm Kiếm Ngữ Nghĩa &amp; Từ Khóa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GIỚI HẠN TÌM KIẾM TỪ KHÓA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Chỉ tìm thấy nếu viết chính xác từ khóa (ví dụ: 'căn hộ').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Bỏ lỡ các từ đồng nghĩa (ví dụ: 'chung cư', 'nhà chung', 'condo').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Dễ bị sai lệch khi khách hàng gõ sai lỗi chính tả nhẹ.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ƯU THẾ TÌM KIẾM NGỮ NGHĨA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Hiểu được ý nghĩa thực sự đằng sau câu hỏi của khách hàng.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Trả về kết quả phù hợp kể cả khi không trùng bất kỳ từ khóa nào.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Nhận diện tốt các câu hỏi ẩn ý về giá bán hoặc pháp lý.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34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AI RAG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Giao Diện Quản Lý Huấn Luyện AI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AITRAININGPANEL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Cho phép upload tài liệu tri thức định dạng PDF hoặc nhập liên kết Web.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Bảng hiển thị danh sách tài liệu kèm trạng thái xử lý vector hóa.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Quản trị viên dễ dàng thêm mới, cập nhật hoặc xóa bỏ tri thức cũ.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KIỂM THỬ TRỰC TIẾP (SANDBOX)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Cung cấp khung nhập câu hỏi thử nghiệm ngay trên màn hình Admin.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Hiển thị danh sách các đoạn ngữ cảnh đối khớp kèm điểm tương đồng.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Đánh giá chất lượng tri thức trước khi đưa vào vận hành thực tế.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35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AI RAG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Logic Sàng Lọc Lead Tự Động Bằng AI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ĐÁNH GIÁ CHẤT LƯỢNG LEAD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Phân tích nội dung ghi chú lead từ nguồn đổ về.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Đối chiếu tri thức dự án để phát hiện các dấu hiệu không phù hợp.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Gắn thẻ tự động: Lead hợp lệ (Valid), Lead ảo/Spam, Lead sai số.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ĐỘ TỰ TIN (CONFIDENCE SCORE)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Trả về điểm phần trăm độ tự tin của quyết định phân loại.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Nếu điểm tự tin cao: Tự động cập nhật trạng thái và thực hiện phân bổ.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Tiết kiệm 80% thời gian lọc tay cho bộ phận kiểm soát chất lượng.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36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AI RAG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Cơ Chế Dự Phòng Lỗi Khi Gọi AI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KỊCH BẢN LỖI THƯỜNG GẶP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API hết hạn mức (rate limit), máy chủ Gemini phản hồi chậm hoặc timeout.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Định dạng phản hồi JSON từ AI bị lỗi cấu trúc.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Không kết nối được mạng internet từ server.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XỬ LÝ DỰ PHÒNG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Tự động thực hiện gửi lại yêu cầu tối đa 3 lần.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Nếu vẫn lỗi: Tự động chuyển trạng thái lead về chờ admin duyệt thủ công.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Đảm bảo hệ thống không bị ngắt quãng hoạt động khi API ngoài gặp sự cố.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37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TỔNG QUAN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Tóm Tắt Hệ Thống AI RAG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804672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TÓM TẮT CƠ CHẾ TRI THỨC AI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768096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Tích hợp Gemini API trích xuất PDF/Web, thực hiện chunking dấu câu chuẩn xác.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Bộ đệm ai_vector_cache tối ưu chi phí và tăng tốc đối khớp ngữ nghĩa bằng Cosine trong PHP.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AI tự động sàng lọc phân loại lead, hỗ trợ cơ chế dự phòng lỗi chuyển duyệt thủ công khi API lỗi.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38 / 60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LIÊN KẾT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Đồng Bộ Dữ Liệu Google Sheets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CẤU HÌNH KẾT NỐI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Quản lý danh sách bảng tính qua bảng sheet_connections.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Lưu trữ Spreadsheet ID, tên Sheet và tần suất đồng bộ mong muốn.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Cho phép bật/tắt kết nối nhanh chóng thông qua thuộc tính is_active.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LUỒNG CHẠY NỀN ĐỊNH KỲ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Cron job quét danh sách kết nối đang hoạt động.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Đọc dữ liệu thô từ API Google Sheets và phân tích cấu trúc cột.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Cập nhật tự động các thay đổi về trạng thái lead hoặc ghi chú vào CRM.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39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LIÊN KẾT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Cổng Tiếp Nhận Webhook Tức Thời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TIẾP NHẬN TỨC THỜI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Cung cấp URL webhook bảo mật cho các đối tác quảng cáo.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Bắt dữ liệu dạng POST JSON ngay khi khách hàng điền form.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Trả về phản hồi HTTP 200 tức thì để bên gửi không bị treo.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GHI NHẬN &amp; XỬ LÝ THÔ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Ghi dữ liệu thô vào bảng leads kèm mốc thời gian nhận.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Kích hoạt tiến trình phân chia lead ngầm không gây nghẽn luồng nhận lead.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Đảm bảo tỷ lệ thất thoát lead đầu vào tiệm cận mức 0%.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40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LIÊN KẾT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Xử Lý Xung Đột Đồng Bộ Hai Chiều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TRÁNH GHI ĐÈ TRÙNG LẶP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Tính mã băm SHA256 cho dữ liệu mỗi hàng bảng tính.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Lưu trữ mã băm vào bảng sheet_sync_records sau mỗi lần đồng bộ.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So sánh hash mới với hash cũ để phát hiện dòng thực sự có chỉnh sửa.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CHỐNG VÒNG LẶP VÔ HẠN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Khi CRM cập nhật Sheets, hệ thống lưu lại hash mới nhất của hàng đó.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Lượt quét tiếp theo của Cron sẽ bỏ qua dòng đó vì hash trùng khớp.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Giải quyết triệt để vấn đề vòng lặp cập nhật vô hạn giữa CRM và Sheets.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41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ĐIỀU KHIỂN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Trung Tâm Lệnh Chatbot Webhooks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TƯƠNG TÁC QUA ỨNG DỤNG CHAT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Tích hợp Bot API của Telegram và Zalo OA vào hệ thống.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Thiết lập Webhook lắng nghe tin nhắn từ nhóm chat quản trị.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Mang lại trải nghiệm quản lý di động cực kỳ nhanh chóng.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BẢO MẬT CỔNG NHẬN LỆNH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Đường dẫn Webhook chứa token bảo mật ngẫu nhiên chặn quét cổng.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Chỉ xử lý tin nhắn xuất phát từ các Chat ID đã được xác minh.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Ghi log đầy đủ mọi yêu cầu lệnh gửi về để kiểm tra sau này.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42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ĐIỀU KHIỂN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Tập Lệnh Điều Khiển Hệ Thống Qua Chat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TRA CỨU &amp; XEM BÁO CÁO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Lệnh `/report`: Trả về thống kê lead mới, cọc, doanh thu trong ngày.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Lệnh `/sales`: Danh sách Sale đang hoạt động, vắng mặt hoặc nghỉ phép.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Lệnh `/check [sđt]`: Kiểm tra nhanh lịch sử trùng lặp của khách hàng.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PHÊ DUYỆT TỨC THỜI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Lệnh `/duyet [id]`: Duyệt nhanh check-in hoặc duyệt đợt thanh toán cọc.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Lệnh `/tuchoi [id] [lý_do]`: Từ chối duyệt kèm ghi chú lý do.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Phê duyệt giao dịch ngay khi đang trò chuyện với đối tác ngoài thực địa.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43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ĐIỀU KHIỂN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Xử Lý Webhook Phía Zalo Bot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ZALO_WEBHOOK.PHP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Phân tích cấu trúc sự kiện gửi từ Zalo OA API.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Trích xuất thông tin người gửi, nội dung văn bản lệnh.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Xác minh chữ ký số của Zalo để đảm bảo tin nhắn an toàn.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LUỒNG PHẢN HỒI ZALO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Ánh xạ Zalo User ID với tài khoản hệ thống để kiểm tra vai trò.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Thực thi truy vấn CSDL tương ứng và định dạng kết quả dạng tin nhắn chat.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Gọi API gửi tin nhắn Zalo OA trả kết quả về cho quản trị viên.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44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ĐIỀU KHIỂN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Xử Lý Webhook Phía Telegram Bot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TELEGRAM_WEBHOOK.PHP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Đăng ký URL webhook bảo mật với máy chủ Telegram API.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Bắt dữ liệu tin nhắn nhóm hoặc tin nhắn trực tiếp với Bot.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Phân tích cú pháp lệnh gạch chéo (slash commands).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LUỒNG PHẢN HỒI TELEGRAM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Định dạng kết quả dạng Markdown chất lượng cao để hiển thị đẹp mắt.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Gửi phản hồi kèm các nút bấm tương tác nhanh (Inline Keyboards).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Hỗ trợ gửi ảnh báo cáo đồ thị trực quan cho Quản lý.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45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TỔNG QUAN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Tóm Tắt Đồng Bộ &amp; Điều Khiển Chat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804672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TỔNG KẾT LIÊN KẾT NGOÀI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768096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Google Sheets đồng bộ hai chiều sử dụng thuật toán đối soát Row Hash SHA256 chống lặp vô hạn.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Bộ tiếp nhận Webhook tối ưu hóa hàng đợi giúp bắt lead tức thời từ quảng cáo.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Trung tâm điều khiển qua Telegram/Zalo Bot mang lại khả năng phê duyệt nhanh và xem báo cáo linh hoạt từ xa.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46 / 60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HÀNG ĐỢI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Phân Tích Điểm Nghẽn Mạng Đồng Bộ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VẤN ĐỀ NGHẼN LUỒNG (BLOCKING)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Khi có lead mới, hệ thống phải gọi nhiều API bên thứ ba (Telegram, Zalo OA).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Các cuộc gọi HTTP đồng bộ bắt tiến trình PHP phải đợi kết nối mạng phản hồi.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Gây tăng thời gian phản hồi API lên &gt;5 giây, dễ dẫn đến timeout và mất lead.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PHÁP CHUYỂN SANG HÀNG ĐỢI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Loại bỏ hoàn toàn các cuộc gọi API đồng bộ trong luồng chính nhận lead.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Chuyển toàn bộ tác vụ thông báo sang mô hình bất đồng bộ (Asynchronous).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Trả về kết quả tiếp nhận lead ngay lập tức cho đối tác trong &lt;20ms.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47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HÀNG ĐỢI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Kiến Trúc Hàng Đợi Tin Nhắn Bất Đồng Bộ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CƠ CHẾ ĐẨY HÀNG ĐỢI (ENQUEUE)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Các hàm sendZaloMessage và sendTelegramMessage nhận tham số sync = false.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Thay vì gọi cURL đi, hệ thống lưu payload tin nhắn vào bảng hàng đợi CSDL.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Đảm bảo tiến trình chính kết thúc cực nhanh, không phụ thuộc mạng ngoài.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XỬ LÝ HÀNG ĐỢI NGẦM (WORKER)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Tiến trình Cron job worker chạy ngầm độc lập quét bảng hàng đợi.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Lấy các tin nhắn chưa gửi để thực hiện kết nối gửi đi tuần tự.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Cập nhật trạng thái gửi thành công hoặc ghi lỗi nếu thất bại.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48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HÀNG ĐỢI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Lược Đồ Bảng Hàng Đợi &amp; Tối Ưu Chỉ Mục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CẤU TRÚC BẢNG HÀNG ĐỢI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Bảng zalo_queue và telegram_queue lưu trữ: payload, status, retries.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Cột status gồm các trạng thái: pending, processing, sent, failed.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Ghi nhận lỗi chi tiết trong cột error_message khi gửi thất bại.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TỐI ƯU CHỈ MỤC (DATABASE INDEXING)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Tạo chỉ mục idx_telegram_queue_status_created trên (status, created_at).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Giúp câu lệnh SELECT của Worker tìm kiếm tin nhắn chờ gửi chỉ trong &lt;1ms.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Tránh tình trạng khóa bảng hoặc quét toàn bộ bảng khi hàng đợi lớn.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49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HÀNG ĐỢI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Luồng Gửi Tin Nhắn Zalo Bất Đồng Bộ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HÀM SENDZALOMESSAGEWRAPPER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Tiếp nhận thông tin người nhận, nội dung mẫu tin nhắn Zalo OA.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Kiểm tra tham số sync. Nếu false -&gt; Chuyển hướng lưu vào CSDL.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Trả về kết quả thành công ảo cho luồng chính để tiếp tục chạy.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TIẾN TRÌNH GỬI THỰC TẾ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Worker lấy bản ghi từ zalo_queue để thực hiện cuộc gọi Zalo API.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Xử lý các mã phản hồi lỗi từ Zalo (hết hạn Token, sai ID người dùng).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Thực hiện tự động làm mới Access Token của Zalo OA khi hết hạn.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50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HÀNG ĐỢI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Luồng Gửi Tin Nhắn Telegram Bất Đồng Bộ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HÀM SENDTELEGRAMMESSAGEWRAPPER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Tiếp nhận chat_id nhóm nhận và nội dung tin nhắn Markdown.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Ghi nhận vào bảng telegram_queue chỉ trong 1 truy vấn INSERT nhanh.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Giải phóng tiến trình PHP ngay lập tức.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GỬI VÀ CẬP NHẬT LOG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Worker gọi API Telegram SendMessage ngầm.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Cập nhật trạng thái sent trong hàng đợi sau khi Telegram phản hồi HTTP 200.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Đảm bảo thông tin nhóm chat quản trị luôn được cập nhật đầy đủ.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51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HÀNG ĐỢI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Tiến Trình Chạy Ngầm Xử Lý Hàng Đợi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CRON_QUEUE_WORKER.PHP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Được thiết lập chạy liên tục mỗi phút bằng Cron Job hệ thống.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Giới hạn số lượng tin nhắn xử lý mỗi đợt để tránh làm quá tải CPU.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Cơ chế tự động thử lại (Retry) tối đa 3 lần đối với tin nhắn lỗi mạng.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DỌN DẸP NHẬT KÝ CŨ (AUTO-PURGE)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Dữ liệu nhật ký tin nhắn gửi thành công phình to theo thời gian.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Worker tự động thực hiện lệnh dọn dẹp định kỳ.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Xóa sạch các bản ghi trạng thái sent/failed cũ hơn 30 ngày để tối ưu bộ nhớ.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52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HÀNG ĐỢI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Đồng Hồ Bảo Mật &amp; Phản Hồi Real-Time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ĐỒNG HỒ ĐẾM NGƯỢC 2 PHÚT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Hệ thống yêu cầu Sale phải tiếp nhận lead trong vòng 2 phút đầu tiên.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Nếu quá hạn: Hệ thống tự động thu hồi (Recall) và phân phối lại.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Đồng hồ đếm ngược cần độ chính xác tuyệt đối.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ĐỒNG BỘ MỐC KÍCH HOẠT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Mốc bắt đầu tính giờ được kích hoạt chính xác ngay khi tin nhắn báo lead gửi thành công.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Loại bỏ hoàn toàn sai lệch thời gian do độ trễ mạng khi gọi API ngoài.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Đảm bảo Sale luôn có đủ trọn vẹn 120 giây để bấm nhận lead.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53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DEVOPS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Khung Kiểm Thử Tích Hợp Hệ Thống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TEST_BOOTSTRAP.PHP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Tập tin nền tảng khởi tạo môi trường kiểm thử an toàn.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Chỉ cần nhúng dòng require_once test_bootstrap.php ở đầu mỗi tệp test.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Tự động nạp cấu hình hệ thống, kết nối cơ sở dữ liệu.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NẠP SẴN THƯ VIỆN NGHIỆP VỤ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Nạp toàn bộ các tệp helper lõi: webhook_logic.php, mailer.php.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Tích hợp sẵn bộ điều khiển Zalo Bot và Telegram Bot.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Cung cấp môi trường kiểm thử đầy đủ không cần thiết lập lại từ đầu.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54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DEVOPS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Môi Trường Kiểm Thử Nhất Quán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NỐI CSDL CHUẨN HÓA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Cung cấp sẵn các biến kết nối toàn cục: $conn (MySQLi) và $pdo (PDO).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Đảm bảo các hàm gọi CSDL dùng chung kết nối hiện tại để tránh cạn kiệt pool.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Hỗ trợ cơ chế kiểm soát giao dịch để có thể rollback dữ liệu sau khi test.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DỮ LIỆU MOCK AN TOÀN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Cung cấp bộ hàm tạo dữ liệu thử nghiệm (Sale giả lập, Lead giả lập).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Chặn gửi email/tin nhắn thật đến khách hàng trong quá trình chạy test.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Giúp kiểm thử an toàn ngay trên cơ sở dữ liệu Staging mà không sợ ô nhiễm.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55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DEVOPS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Bộ Công Cụ Chẩn Đoán &amp; Khẳng Định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HÀM ASSERTTEST CHẨN ĐOÁN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In ra kết quả kiểm thử trực quan dạng PASS/FAIL trên trình duyệt.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Hiển thị chi tiết giá trị thực tế so với giá trị kỳ vọng khi thất bại.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Thống kê tổng hợp số lượng ca kiểm thử thành công ở cuối trang.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HÀM ASSERTDBFIELD KIỂM ĐỐI CHÉO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Thực hiện truy vấn nhanh kiểm tra giá trị của một trường cụ thể trong bảng.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Khẳng định dữ liệu đã được cập nhật chính xác vào CSDL sau khi thực thi logic.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Loại bỏ việc viết thủ công các câu lệnh SELECT kiểm tra dữ liệu.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56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DEVOPS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Tắc Đối Soát Cấu Trúc CSDL Từ Xa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BẮT BUỘC ĐỐI SOÁT TỪ XA (RULE 8)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Trước khi chạy bất kỳ đoạn mã nâng cấp CSDL nào trên môi trường Staging.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Agent bắt buộc phải thực hiện truy vấn đối soát qua exec_db_query.php.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Đảm bảo kiểu dữ liệu, khóa ngoại hoàn toàn khớp với thiết kế.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NGĂN NGỪA LỖI LỆCH SCHEMA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Loại bỏ hoàn toàn lỗi 500 phát sinh do thiếu cột hoặc sai kiểu dữ liệu.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Đồng bộ tệp schema master unified_schema.sql ngay khi có chỉnh sửa.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Đảm bảo môi trường phát triển cục bộ và Staging luôn nhất quán tuyệt đối.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57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DEVOPS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Quét Lỗi Cú Pháp Truy Vấn Tĩnh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CÔNG CỤ QUÉT SQL SCAN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Tự động quét toàn bộ mã nguồn PHP để tìm kiếm các từ khóa SQL không hợp lệ.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Phát hiện các câu lệnh không tương thích với cấu hình chế độ MariaDB Staging.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Tìm ra các truy vấn SQL viết sai cú pháp trước khi chạy thực tế.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PHÒNG NGỪA SỰ CỐ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Báo cáo chi tiết đường dẫn tệp và số dòng có nguy cơ gây lỗi truy vấn.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Đảm bảo tính ổn định cao của tầng dữ liệu.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Rút ngắn thời gian gỡ lỗi thủ công của lập trình viên.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58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DEVOPS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Quy Trình Triển Khai Deploy Song Song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TỰ ĐỘNG HÓA ĐỒNG BỘ (RULE 5)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Khi có lệnh yêu cầu deploy từ cấp quản lý.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Hệ thống tự động thực hiện lệnh deploy backend lên máy chủ.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Chạy lệnh di chuyển phiên bản cơ sở dữ liệu ngầm tự động.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COMMIT &amp; PUSH SONG SONG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Tiến trình thực hiện git add, commit và push code lên nhánh chính main.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Đảm bảo mã nguồn trên server Staging và kho lưu trữ Git luôn khớp nhau.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Tuyệt đối cấm tự động chạy deploy khi chưa có lệnh bằng chữ cụ thể (Rule 7).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59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0" cy="51435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37160" y="182880"/>
            <a:ext cx="274320" cy="274320"/>
          </a:xfrm>
          <a:prstGeom prst="roundRect">
            <a:avLst>
              <a:gd name="adj" fmla="val 66667"/>
            </a:avLst>
          </a:prstGeom>
          <a:solidFill>
            <a:srgbClr val="BD1D2D"/>
          </a:solidFill>
          <a:ln/>
        </p:spPr>
      </p:sp>
      <p:sp>
        <p:nvSpPr>
          <p:cNvPr id="4" name="Shape 2"/>
          <p:cNvSpPr/>
          <p:nvPr/>
        </p:nvSpPr>
        <p:spPr>
          <a:xfrm>
            <a:off x="164592" y="731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EE2E2"/>
          </a:solidFill>
          <a:ln w="12700">
            <a:solidFill>
              <a:srgbClr val="BD1D2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4592" y="11887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64592" y="16459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64592" y="21031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64592" y="25603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64592" y="3017520"/>
            <a:ext cx="219456" cy="219456"/>
          </a:xfrm>
          <a:prstGeom prst="roundRect">
            <a:avLst>
              <a:gd name="adj" fmla="val 625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548640" y="0"/>
            <a:ext cx="8595360" cy="548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1520" y="137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RICH LAND CRM   /   KẾT LUẬN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6583680" y="137160"/>
            <a:ext cx="2011680" cy="274320"/>
          </a:xfrm>
          <a:prstGeom prst="roundRect">
            <a:avLst>
              <a:gd name="adj" fmla="val 50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20840" y="137160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Search database...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731520" y="731520"/>
            <a:ext cx="8046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Kết Luận &amp; Định Hướng Nâng Cấp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7315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THÀNH QUẢ ĐẠT ĐƯỢC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9144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Xây dựng hoàn chỉnh luồng phân chia lead tự động an toàn qua 5 lớp kiểm duyệt.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Thiết lập hàng đợi tin nhắn giải quyết triệt để vấn đề nghẽn luồng kết nối ngoài.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Khung kiểm thử tự động toàn diện giúp bảo vệ tính ổn định của hệ thống.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4846320" y="1280160"/>
            <a:ext cx="3840480" cy="3291840"/>
          </a:xfrm>
          <a:prstGeom prst="roundRect">
            <a:avLst>
              <a:gd name="adj" fmla="val 1389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29200" y="14173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b="1" dirty="0">
                <a:solidFill>
                  <a:srgbClr val="BD1D2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KẾ HOẠCH TƯƠNG LAI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029200" y="1709928"/>
            <a:ext cx="3474720" cy="272491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Tích hợp sâu AI RAG hỗ trợ chấm điểm và phân loại lead nâng cao ở diện rộng.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Tích hợp báo cáo phân tích sâu ROAS ads đến từng ad creative.</a:t>
            </a: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endParaRPr lang="en-US" sz="920" dirty="0"/>
          </a:p>
          <a:p>
            <a:pPr indent="0" marL="0">
              <a:lnSpc>
                <a:spcPts val="1400"/>
              </a:lnSpc>
              <a:buNone/>
            </a:pPr>
            <a:r>
              <a:rPr lang="en-US" sz="92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▪  Mở rộng kết nối API cho nhiều hệ thống tổng đài cuộc gọi của đối tác.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77724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Slide 60 / 60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7315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TÀI LIỆU KIẾN TRÚC KỸ THUẬT RICH LAND CRM — BẢO MẬT NỘI BỘ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60</Slides>
  <Notes>60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60</vt:i4>
      </vt:variant>
    </vt:vector>
  </HeadingPairs>
  <TitlesOfParts>
    <vt:vector size="6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2026-07-26T13:45:52Z</dcterms:created>
  <dcterms:modified xsi:type="dcterms:W3CDTF">2026-07-26T13:45:52Z</dcterms:modified>
</cp:coreProperties>
</file>