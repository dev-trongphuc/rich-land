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webp"/><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webp"/><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webp"/><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webp"/><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webp"/><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webp"/><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webp"/><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webp"/><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webp"/><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webp"/><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webp"/><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webp"/><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webp"/><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webp"/><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webp"/><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webp"/><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webp"/><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webp"/><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webp"/><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webp"/><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webp"/><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webp"/><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webp"/><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webp"/><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webp"/><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webp"/><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webp"/><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webp"/><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webp"/><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webp"/><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webp"/><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webp"/><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webp"/><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webp"/><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webp"/><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webp"/><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webp"/><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webp"/><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webp"/><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webp"/><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webp"/><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webp"/><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webp"/><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webp"/><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webp"/><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webp"/><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webp"/><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webp"/><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webp"/><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webp"/><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webp"/><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webp"/><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webp"/><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webp"/><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webp"/><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webp"/><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webp"/><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webp"/><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webp"/><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webp"/><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webp"/><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webp"/><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webp"/><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webp"/><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sp>
        <p:nvSpPr>
          <p:cNvPr id="3" name="Shape 1"/>
          <p:cNvSpPr/>
          <p:nvPr/>
        </p:nvSpPr>
        <p:spPr>
          <a:xfrm>
            <a:off x="0" y="0"/>
            <a:ext cx="182880" cy="5143500"/>
          </a:xfrm>
          <a:prstGeom prst="rect">
            <a:avLst/>
          </a:prstGeom>
          <a:solidFill>
            <a:srgbClr val="FFFFFF"/>
          </a:solidFill>
          <a:ln/>
        </p:spPr>
      </p:sp>
      <p:pic>
        <p:nvPicPr>
          <p:cNvPr id="4" name="Image 0" descr="https://rich-land.vercel.app/imgs/logo-rich-land-viet-nam-trang.webp">    </p:cNvPr>
          <p:cNvPicPr>
            <a:picLocks noChangeAspect="1"/>
          </p:cNvPicPr>
          <p:nvPr/>
        </p:nvPicPr>
        <p:blipFill>
          <a:blip r:embed="rId1"/>
          <a:stretch>
            <a:fillRect/>
          </a:stretch>
        </p:blipFill>
        <p:spPr>
          <a:xfrm>
            <a:off x="731520" y="548640"/>
            <a:ext cx="2468880" cy="548640"/>
          </a:xfrm>
          <a:prstGeom prst="rect">
            <a:avLst/>
          </a:prstGeom>
        </p:spPr>
      </p:pic>
      <p:sp>
        <p:nvSpPr>
          <p:cNvPr id="5" name="Text 2"/>
          <p:cNvSpPr/>
          <p:nvPr/>
        </p:nvSpPr>
        <p:spPr>
          <a:xfrm>
            <a:off x="731520" y="1463040"/>
            <a:ext cx="7772400" cy="36576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RICH LAND CRM SYSTEM ARCHITECTURE</a:t>
            </a:r>
            <a:endParaRPr lang="en-US" sz="1300" dirty="0"/>
          </a:p>
        </p:txBody>
      </p:sp>
      <p:sp>
        <p:nvSpPr>
          <p:cNvPr id="6" name="Text 3"/>
          <p:cNvSpPr/>
          <p:nvPr/>
        </p:nvSpPr>
        <p:spPr>
          <a:xfrm>
            <a:off x="731520" y="1920240"/>
            <a:ext cx="7772400" cy="109728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KIẾN TRÚC HỆ THỐNG &amp; LUỒNG HOẠT ĐỘNG LÕI</a:t>
            </a:r>
            <a:endParaRPr lang="en-US" sz="3200" dirty="0"/>
          </a:p>
        </p:txBody>
      </p:sp>
      <p:sp>
        <p:nvSpPr>
          <p:cNvPr id="7" name="Text 4"/>
          <p:cNvSpPr/>
          <p:nvPr/>
        </p:nvSpPr>
        <p:spPr>
          <a:xfrm>
            <a:off x="731520" y="3108960"/>
            <a:ext cx="7315200" cy="548640"/>
          </a:xfrm>
          <a:prstGeom prst="rect">
            <a:avLst/>
          </a:prstGeom>
          <a:noFill/>
          <a:ln/>
        </p:spPr>
        <p:txBody>
          <a:bodyPr wrap="square" rtlCol="0" anchor="ctr"/>
          <a:lstStyle/>
          <a:p>
            <a:pPr indent="0" marL="0">
              <a:buNone/>
            </a:pPr>
            <a:r>
              <a:rPr lang="en-US" sz="1100" dirty="0">
                <a:solidFill>
                  <a:srgbClr val="F1F5F9"/>
                </a:solidFill>
                <a:latin typeface="Segoe UI" pitchFamily="34" charset="0"/>
                <a:ea typeface="Segoe UI" pitchFamily="34" charset="-122"/>
                <a:cs typeface="Segoe UI" pitchFamily="34" charset="-120"/>
              </a:rPr>
              <a:t>Báo cáo phân tích chuyên sâu về hạ tầng lead, 5 cổng duyệt, quy tắc giao dịch và hàng đợi bất đồng bộ.</a:t>
            </a:r>
            <a:endParaRPr lang="en-US" sz="1100" dirty="0"/>
          </a:p>
        </p:txBody>
      </p:sp>
      <p:pic>
        <p:nvPicPr>
          <p:cNvPr id="8" name="Image 1" descr="https://domation.net/imgs/ICON.png">    </p:cNvPr>
          <p:cNvPicPr>
            <a:picLocks noChangeAspect="1"/>
          </p:cNvPicPr>
          <p:nvPr/>
        </p:nvPicPr>
        <p:blipFill>
          <a:blip r:embed="rId2"/>
          <a:stretch>
            <a:fillRect/>
          </a:stretch>
        </p:blipFill>
        <p:spPr>
          <a:xfrm>
            <a:off x="731520" y="3931920"/>
            <a:ext cx="365760" cy="365760"/>
          </a:xfrm>
          <a:prstGeom prst="rect">
            <a:avLst/>
          </a:prstGeom>
        </p:spPr>
      </p:pic>
      <p:sp>
        <p:nvSpPr>
          <p:cNvPr id="9" name="Text 5"/>
          <p:cNvSpPr/>
          <p:nvPr/>
        </p:nvSpPr>
        <p:spPr>
          <a:xfrm>
            <a:off x="1188720" y="3977640"/>
            <a:ext cx="64008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ĐƠN VỊ THỰC HIỆN: DOMATION  |  HỆ THỐNG PHIÊN BẢN V1.9.0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MỤC LỤC</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MỤC LỤC &amp; ĐỊNH HƯỚNG BÁO CÁO</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Sơ đồ chi tiết thiết kế 6 chương phân tích toàn bộ cấu trúc định tuyến API, thuật toán Protection Gates, quy trình thanh toán đặt cọc và DevOps.</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CẤU TRÚC 1 &amp; 2</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Hạ tầng định tuyến API, requireAuth, normal roles và cơ chế Protection Gates chia lead.</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CẤU TRÚC 3 &amp; 4</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Quy tắc đặt cọc, đổi căn giao dịch, Meta CAPI và tri thức AI Vector RAG.</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CẤU TRÚC 5 &amp; 6</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Đồng bộ Sheets 2 chiều, chatbot webhooks console và hàng đợi DevOps.</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TỔNG QUAN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Tóm Tắt Tổng Quan Chỉ Số Hệ Thống</a:t>
            </a:r>
            <a:endParaRPr lang="en-US" sz="1900" dirty="0"/>
          </a:p>
        </p:txBody>
      </p:sp>
      <p:sp>
        <p:nvSpPr>
          <p:cNvPr id="14" name="Shape 10"/>
          <p:cNvSpPr/>
          <p:nvPr/>
        </p:nvSpPr>
        <p:spPr>
          <a:xfrm>
            <a:off x="731520" y="1280160"/>
            <a:ext cx="2468880" cy="3291840"/>
          </a:xfrm>
          <a:prstGeom prst="roundRect">
            <a:avLst>
              <a:gd name="adj" fmla="val 2222"/>
            </a:avLst>
          </a:prstGeom>
          <a:solidFill>
            <a:srgbClr val="FFFFFF"/>
          </a:solidFill>
          <a:ln w="12700">
            <a:solidFill>
              <a:srgbClr val="E2E8F0"/>
            </a:solidFill>
            <a:prstDash val="solid"/>
          </a:ln>
        </p:spPr>
      </p:sp>
      <p:sp>
        <p:nvSpPr>
          <p:cNvPr id="15" name="Text 11"/>
          <p:cNvSpPr/>
          <p:nvPr/>
        </p:nvSpPr>
        <p:spPr>
          <a:xfrm>
            <a:off x="91440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&lt; 50ms</a:t>
            </a:r>
            <a:endParaRPr lang="en-US" sz="2600" dirty="0"/>
          </a:p>
        </p:txBody>
      </p:sp>
      <p:sp>
        <p:nvSpPr>
          <p:cNvPr id="16" name="Text 12"/>
          <p:cNvSpPr/>
          <p:nvPr/>
        </p:nvSpPr>
        <p:spPr>
          <a:xfrm>
            <a:off x="91440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THỜI GIAN CHIA LEAD</a:t>
            </a:r>
            <a:endParaRPr lang="en-US" sz="900" dirty="0"/>
          </a:p>
        </p:txBody>
      </p:sp>
      <p:sp>
        <p:nvSpPr>
          <p:cNvPr id="17" name="Text 13"/>
          <p:cNvSpPr/>
          <p:nvPr/>
        </p:nvSpPr>
        <p:spPr>
          <a:xfrm>
            <a:off x="91440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Lead mới được phân bổ tức thời xuống máy của Sale qua 5 Gate bảo mật trong nháy mắt.</a:t>
            </a:r>
            <a:endParaRPr lang="en-US" sz="800" dirty="0"/>
          </a:p>
        </p:txBody>
      </p:sp>
      <p:sp>
        <p:nvSpPr>
          <p:cNvPr id="18" name="Shape 14"/>
          <p:cNvSpPr/>
          <p:nvPr/>
        </p:nvSpPr>
        <p:spPr>
          <a:xfrm>
            <a:off x="3520440" y="1280160"/>
            <a:ext cx="2468880" cy="3291840"/>
          </a:xfrm>
          <a:prstGeom prst="roundRect">
            <a:avLst>
              <a:gd name="adj" fmla="val 2222"/>
            </a:avLst>
          </a:prstGeom>
          <a:solidFill>
            <a:srgbClr val="FFFFFF"/>
          </a:solidFill>
          <a:ln w="12700">
            <a:solidFill>
              <a:srgbClr val="E2E8F0"/>
            </a:solidFill>
            <a:prstDash val="solid"/>
          </a:ln>
        </p:spPr>
      </p:sp>
      <p:sp>
        <p:nvSpPr>
          <p:cNvPr id="19" name="Text 15"/>
          <p:cNvSpPr/>
          <p:nvPr/>
        </p:nvSpPr>
        <p:spPr>
          <a:xfrm>
            <a:off x="370332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99.9 %</a:t>
            </a:r>
            <a:endParaRPr lang="en-US" sz="2600" dirty="0"/>
          </a:p>
        </p:txBody>
      </p:sp>
      <p:sp>
        <p:nvSpPr>
          <p:cNvPr id="20" name="Text 16"/>
          <p:cNvSpPr/>
          <p:nvPr/>
        </p:nvSpPr>
        <p:spPr>
          <a:xfrm>
            <a:off x="370332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ĐỘ TIN CẬY HÀNG ĐỢI</a:t>
            </a:r>
            <a:endParaRPr lang="en-US" sz="900" dirty="0"/>
          </a:p>
        </p:txBody>
      </p:sp>
      <p:sp>
        <p:nvSpPr>
          <p:cNvPr id="21" name="Text 17"/>
          <p:cNvSpPr/>
          <p:nvPr/>
        </p:nvSpPr>
        <p:spPr>
          <a:xfrm>
            <a:off x="370332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Các yêu cầu gửi cURL bên thứ ba (Zalo OA, Telegram) được bất đồng bộ hóa 100% tránh nghẽn.</a:t>
            </a:r>
            <a:endParaRPr lang="en-US" sz="800" dirty="0"/>
          </a:p>
        </p:txBody>
      </p:sp>
      <p:sp>
        <p:nvSpPr>
          <p:cNvPr id="22" name="Shape 18"/>
          <p:cNvSpPr/>
          <p:nvPr/>
        </p:nvSpPr>
        <p:spPr>
          <a:xfrm>
            <a:off x="6309360" y="1280160"/>
            <a:ext cx="2468880" cy="3291840"/>
          </a:xfrm>
          <a:prstGeom prst="roundRect">
            <a:avLst>
              <a:gd name="adj" fmla="val 2222"/>
            </a:avLst>
          </a:prstGeom>
          <a:solidFill>
            <a:srgbClr val="FFFFFF"/>
          </a:solidFill>
          <a:ln w="12700">
            <a:solidFill>
              <a:srgbClr val="E2E8F0"/>
            </a:solidFill>
            <a:prstDash val="solid"/>
          </a:ln>
        </p:spPr>
      </p:sp>
      <p:sp>
        <p:nvSpPr>
          <p:cNvPr id="23" name="Text 19"/>
          <p:cNvSpPr/>
          <p:nvPr/>
        </p:nvSpPr>
        <p:spPr>
          <a:xfrm>
            <a:off x="649224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100 %</a:t>
            </a:r>
            <a:endParaRPr lang="en-US" sz="2600" dirty="0"/>
          </a:p>
        </p:txBody>
      </p:sp>
      <p:sp>
        <p:nvSpPr>
          <p:cNvPr id="24" name="Text 20"/>
          <p:cNvSpPr/>
          <p:nvPr/>
        </p:nvSpPr>
        <p:spPr>
          <a:xfrm>
            <a:off x="649224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VẾT KIỂM TOÁN</a:t>
            </a:r>
            <a:endParaRPr lang="en-US" sz="900" dirty="0"/>
          </a:p>
        </p:txBody>
      </p:sp>
      <p:sp>
        <p:nvSpPr>
          <p:cNvPr id="25" name="Text 21"/>
          <p:cNvSpPr/>
          <p:nvPr/>
        </p:nvSpPr>
        <p:spPr>
          <a:xfrm>
            <a:off x="649224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Toàn bộ dòng tiền đặt cọc, đợt thu milestones, thay đổi chủ lead đều được ký số ghi log bảo mật.</a:t>
            </a:r>
            <a:endParaRPr lang="en-US" sz="800" dirty="0"/>
          </a:p>
        </p:txBody>
      </p:sp>
      <p:sp>
        <p:nvSpPr>
          <p:cNvPr id="26" name="Text 22"/>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 / 65</a:t>
            </a:r>
            <a:endParaRPr lang="en-US" sz="850" dirty="0"/>
          </a:p>
        </p:txBody>
      </p:sp>
      <p:sp>
        <p:nvSpPr>
          <p:cNvPr id="27" name="Text 23"/>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TỔNG QUAN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Báo Cáo Giám Sát Hoạt Động (Dashboard)</a:t>
            </a:r>
            <a:endParaRPr lang="en-US" sz="1900" dirty="0"/>
          </a:p>
        </p:txBody>
      </p:sp>
      <p:pic>
        <p:nvPicPr>
          <p:cNvPr id="14" name="Image 2" descr="C:/Users/LENOVO/.gemini/antigravity-ide/brain/e9c532d6-760d-4225-9cf7-98e98524ed90/app_dashboard.png">    </p:cNvPr>
          <p:cNvPicPr>
            <a:picLocks noChangeAspect="1"/>
          </p:cNvPicPr>
          <p:nvPr/>
        </p:nvPicPr>
        <p:blipFill>
          <a:blip r:embed="rId3"/>
          <a:stretch>
            <a:fillRect/>
          </a:stretch>
        </p:blipFill>
        <p:spPr>
          <a:xfrm>
            <a:off x="731520" y="1280160"/>
            <a:ext cx="8046720" cy="3291840"/>
          </a:xfrm>
          <a:prstGeom prst="rect">
            <a:avLst/>
          </a:prstGeom>
        </p:spPr>
      </p:pic>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KIẾN TRÚC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Kết Nối Kiến Trúc Client - Server</a:t>
            </a:r>
            <a:endParaRPr lang="en-US" sz="1900" dirty="0"/>
          </a:p>
        </p:txBody>
      </p:sp>
      <p:sp>
        <p:nvSpPr>
          <p:cNvPr id="14" name="Shape 10"/>
          <p:cNvSpPr/>
          <p:nvPr/>
        </p:nvSpPr>
        <p:spPr>
          <a:xfrm>
            <a:off x="731520" y="1371600"/>
            <a:ext cx="2499360" cy="3017520"/>
          </a:xfrm>
          <a:prstGeom prst="roundRect">
            <a:avLst>
              <a:gd name="adj" fmla="val 2195"/>
            </a:avLst>
          </a:prstGeom>
          <a:solidFill>
            <a:srgbClr val="FFFFFF"/>
          </a:solidFill>
          <a:ln w="12700">
            <a:solidFill>
              <a:srgbClr val="E2E8F0"/>
            </a:solidFill>
            <a:prstDash val="solid"/>
          </a:ln>
        </p:spPr>
      </p:sp>
      <p:sp>
        <p:nvSpPr>
          <p:cNvPr id="15" name="Shape 11"/>
          <p:cNvSpPr/>
          <p:nvPr/>
        </p:nvSpPr>
        <p:spPr>
          <a:xfrm>
            <a:off x="3230880" y="1737360"/>
            <a:ext cx="274320" cy="0"/>
          </a:xfrm>
          <a:prstGeom prst="line">
            <a:avLst/>
          </a:prstGeom>
          <a:noFill/>
          <a:ln w="19050">
            <a:solidFill>
              <a:srgbClr val="BD1D2D"/>
            </a:solidFill>
            <a:prstDash val="dash"/>
          </a:ln>
        </p:spPr>
      </p:sp>
      <p:sp>
        <p:nvSpPr>
          <p:cNvPr id="16" name="Shape 12"/>
          <p:cNvSpPr/>
          <p:nvPr/>
        </p:nvSpPr>
        <p:spPr>
          <a:xfrm>
            <a:off x="1798320" y="1554480"/>
            <a:ext cx="365760" cy="365760"/>
          </a:xfrm>
          <a:prstGeom prst="ellipse">
            <a:avLst/>
          </a:prstGeom>
          <a:solidFill>
            <a:srgbClr val="BD1D2D"/>
          </a:solidFill>
          <a:ln w="19050">
            <a:solidFill>
              <a:srgbClr val="FFFFFF"/>
            </a:solidFill>
            <a:prstDash val="solid"/>
          </a:ln>
        </p:spPr>
      </p:sp>
      <p:sp>
        <p:nvSpPr>
          <p:cNvPr id="17" name="Text 13"/>
          <p:cNvSpPr/>
          <p:nvPr/>
        </p:nvSpPr>
        <p:spPr>
          <a:xfrm>
            <a:off x="179832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1</a:t>
            </a:r>
            <a:endParaRPr lang="en-US" sz="950" dirty="0"/>
          </a:p>
        </p:txBody>
      </p:sp>
      <p:sp>
        <p:nvSpPr>
          <p:cNvPr id="18" name="Text 14"/>
          <p:cNvSpPr/>
          <p:nvPr/>
        </p:nvSpPr>
        <p:spPr>
          <a:xfrm>
            <a:off x="82296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Vite Frontend React</a:t>
            </a:r>
            <a:endParaRPr lang="en-US" sz="950" dirty="0"/>
          </a:p>
        </p:txBody>
      </p:sp>
      <p:sp>
        <p:nvSpPr>
          <p:cNvPr id="19" name="Text 15"/>
          <p:cNvSpPr/>
          <p:nvPr/>
        </p:nvSpPr>
        <p:spPr>
          <a:xfrm>
            <a:off x="82296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SPA gửi yêu cầu API thông qua Axios Client, tự động nạp JWT token bảo mật.</a:t>
            </a:r>
            <a:endParaRPr lang="en-US" sz="800" dirty="0"/>
          </a:p>
        </p:txBody>
      </p:sp>
      <p:sp>
        <p:nvSpPr>
          <p:cNvPr id="20" name="Shape 16"/>
          <p:cNvSpPr/>
          <p:nvPr/>
        </p:nvSpPr>
        <p:spPr>
          <a:xfrm>
            <a:off x="3505200" y="1371600"/>
            <a:ext cx="2499360" cy="3017520"/>
          </a:xfrm>
          <a:prstGeom prst="roundRect">
            <a:avLst>
              <a:gd name="adj" fmla="val 2195"/>
            </a:avLst>
          </a:prstGeom>
          <a:solidFill>
            <a:srgbClr val="FFFFFF"/>
          </a:solidFill>
          <a:ln w="12700">
            <a:solidFill>
              <a:srgbClr val="E2E8F0"/>
            </a:solidFill>
            <a:prstDash val="solid"/>
          </a:ln>
        </p:spPr>
      </p:sp>
      <p:sp>
        <p:nvSpPr>
          <p:cNvPr id="21" name="Shape 17"/>
          <p:cNvSpPr/>
          <p:nvPr/>
        </p:nvSpPr>
        <p:spPr>
          <a:xfrm>
            <a:off x="6004560" y="1737360"/>
            <a:ext cx="274320" cy="0"/>
          </a:xfrm>
          <a:prstGeom prst="line">
            <a:avLst/>
          </a:prstGeom>
          <a:noFill/>
          <a:ln w="19050">
            <a:solidFill>
              <a:srgbClr val="BD1D2D"/>
            </a:solidFill>
            <a:prstDash val="dash"/>
          </a:ln>
        </p:spPr>
      </p:sp>
      <p:sp>
        <p:nvSpPr>
          <p:cNvPr id="22" name="Shape 18"/>
          <p:cNvSpPr/>
          <p:nvPr/>
        </p:nvSpPr>
        <p:spPr>
          <a:xfrm>
            <a:off x="4572000" y="1554480"/>
            <a:ext cx="365760" cy="365760"/>
          </a:xfrm>
          <a:prstGeom prst="ellipse">
            <a:avLst/>
          </a:prstGeom>
          <a:solidFill>
            <a:srgbClr val="BD1D2D"/>
          </a:solidFill>
          <a:ln w="19050">
            <a:solidFill>
              <a:srgbClr val="FFFFFF"/>
            </a:solidFill>
            <a:prstDash val="solid"/>
          </a:ln>
        </p:spPr>
      </p:sp>
      <p:sp>
        <p:nvSpPr>
          <p:cNvPr id="23" name="Text 19"/>
          <p:cNvSpPr/>
          <p:nvPr/>
        </p:nvSpPr>
        <p:spPr>
          <a:xfrm>
            <a:off x="457200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2</a:t>
            </a:r>
            <a:endParaRPr lang="en-US" sz="950" dirty="0"/>
          </a:p>
        </p:txBody>
      </p:sp>
      <p:sp>
        <p:nvSpPr>
          <p:cNvPr id="24" name="Text 20"/>
          <p:cNvSpPr/>
          <p:nvPr/>
        </p:nvSpPr>
        <p:spPr>
          <a:xfrm>
            <a:off x="359664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index.php API Router</a:t>
            </a:r>
            <a:endParaRPr lang="en-US" sz="950" dirty="0"/>
          </a:p>
        </p:txBody>
      </p:sp>
      <p:sp>
        <p:nvSpPr>
          <p:cNvPr id="25" name="Text 21"/>
          <p:cNvSpPr/>
          <p:nvPr/>
        </p:nvSpPr>
        <p:spPr>
          <a:xfrm>
            <a:off x="359664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Cổng định tuyến Backend duy nhất, xử lý CORS, bắt lỗi và phân loại action.</a:t>
            </a:r>
            <a:endParaRPr lang="en-US" sz="800" dirty="0"/>
          </a:p>
        </p:txBody>
      </p:sp>
      <p:sp>
        <p:nvSpPr>
          <p:cNvPr id="26" name="Shape 22"/>
          <p:cNvSpPr/>
          <p:nvPr/>
        </p:nvSpPr>
        <p:spPr>
          <a:xfrm>
            <a:off x="6278880" y="1371600"/>
            <a:ext cx="2499360" cy="3017520"/>
          </a:xfrm>
          <a:prstGeom prst="roundRect">
            <a:avLst>
              <a:gd name="adj" fmla="val 2195"/>
            </a:avLst>
          </a:prstGeom>
          <a:solidFill>
            <a:srgbClr val="FFFFFF"/>
          </a:solidFill>
          <a:ln w="12700">
            <a:solidFill>
              <a:srgbClr val="E2E8F0"/>
            </a:solidFill>
            <a:prstDash val="solid"/>
          </a:ln>
        </p:spPr>
      </p:sp>
      <p:sp>
        <p:nvSpPr>
          <p:cNvPr id="27" name="Shape 23"/>
          <p:cNvSpPr/>
          <p:nvPr/>
        </p:nvSpPr>
        <p:spPr>
          <a:xfrm>
            <a:off x="7345680" y="1554480"/>
            <a:ext cx="365760" cy="365760"/>
          </a:xfrm>
          <a:prstGeom prst="ellipse">
            <a:avLst/>
          </a:prstGeom>
          <a:solidFill>
            <a:srgbClr val="BD1D2D"/>
          </a:solidFill>
          <a:ln w="19050">
            <a:solidFill>
              <a:srgbClr val="FFFFFF"/>
            </a:solidFill>
            <a:prstDash val="solid"/>
          </a:ln>
        </p:spPr>
      </p:sp>
      <p:sp>
        <p:nvSpPr>
          <p:cNvPr id="28" name="Text 24"/>
          <p:cNvSpPr/>
          <p:nvPr/>
        </p:nvSpPr>
        <p:spPr>
          <a:xfrm>
            <a:off x="734568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3</a:t>
            </a:r>
            <a:endParaRPr lang="en-US" sz="950" dirty="0"/>
          </a:p>
        </p:txBody>
      </p:sp>
      <p:sp>
        <p:nvSpPr>
          <p:cNvPr id="29" name="Text 25"/>
          <p:cNvSpPr/>
          <p:nvPr/>
        </p:nvSpPr>
        <p:spPr>
          <a:xfrm>
            <a:off x="637032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MariaDB CSDL</a:t>
            </a:r>
            <a:endParaRPr lang="en-US" sz="950" dirty="0"/>
          </a:p>
        </p:txBody>
      </p:sp>
      <p:sp>
        <p:nvSpPr>
          <p:cNvPr id="30" name="Text 26"/>
          <p:cNvSpPr/>
          <p:nvPr/>
        </p:nvSpPr>
        <p:spPr>
          <a:xfrm>
            <a:off x="637032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Quản lý truy vấn quan hệ, khóa ngoại bảng ghi và views tương thích ngược.</a:t>
            </a:r>
            <a:endParaRPr lang="en-US" sz="80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KIẾN TRÚC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Cấu Trúc Định Tuyến &amp; Giữ DOM AppTabs</a:t>
            </a:r>
            <a:endParaRPr lang="en-US" sz="1900" dirty="0"/>
          </a:p>
        </p:txBody>
      </p:sp>
      <p:sp>
        <p:nvSpPr>
          <p:cNvPr id="14" name="Shape 10"/>
          <p:cNvSpPr/>
          <p:nvPr/>
        </p:nvSpPr>
        <p:spPr>
          <a:xfrm>
            <a:off x="731520" y="1280160"/>
            <a:ext cx="3840480" cy="3200400"/>
          </a:xfrm>
          <a:prstGeom prst="roundRect">
            <a:avLst>
              <a:gd name="adj" fmla="val 1714"/>
            </a:avLst>
          </a:prstGeom>
          <a:solidFill>
            <a:srgbClr val="FFFFFF"/>
          </a:solidFill>
          <a:ln w="22860">
            <a:solidFill>
              <a:srgbClr val="BD1D2D"/>
            </a:solidFill>
            <a:prstDash val="solid"/>
          </a:ln>
        </p:spPr>
      </p:sp>
      <p:sp>
        <p:nvSpPr>
          <p:cNvPr id="15" name="Text 11"/>
          <p:cNvSpPr/>
          <p:nvPr/>
        </p:nvSpPr>
        <p:spPr>
          <a:xfrm>
            <a:off x="914400" y="1417320"/>
            <a:ext cx="347472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CÁCH ĐỊNH TUYẾN THÔNG THƯỜNG</a:t>
            </a:r>
            <a:endParaRPr lang="en-US" sz="950" dirty="0"/>
          </a:p>
        </p:txBody>
      </p:sp>
      <p:sp>
        <p:nvSpPr>
          <p:cNvPr id="16" name="Text 12"/>
          <p:cNvSpPr/>
          <p:nvPr/>
        </p:nvSpPr>
        <p:spPr>
          <a:xfrm>
            <a:off x="914400" y="1737360"/>
            <a:ext cx="3474720" cy="2560320"/>
          </a:xfrm>
          <a:prstGeom prst="rect">
            <a:avLst/>
          </a:prstGeom>
          <a:noFill/>
          <a:ln/>
        </p:spPr>
        <p:txBody>
          <a:bodyPr wrap="square" rtlCol="0" anchor="t"/>
          <a:lstStyle/>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Unmount các component khi đổi trang.</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Mất toàn bộ state, bộ lọc dữ liệu khi chuyển tab.</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Bắt buộc gọi lại API kéo dữ liệu từ đầu gây trễ mạng.</a:t>
            </a:r>
            <a:endParaRPr lang="en-US" sz="900" dirty="0"/>
          </a:p>
        </p:txBody>
      </p:sp>
      <p:sp>
        <p:nvSpPr>
          <p:cNvPr id="17" name="Shape 13"/>
          <p:cNvSpPr/>
          <p:nvPr/>
        </p:nvSpPr>
        <p:spPr>
          <a:xfrm>
            <a:off x="4937760" y="1280160"/>
            <a:ext cx="3840480" cy="3200400"/>
          </a:xfrm>
          <a:prstGeom prst="roundRect">
            <a:avLst>
              <a:gd name="adj" fmla="val 1714"/>
            </a:avLst>
          </a:prstGeom>
          <a:solidFill>
            <a:srgbClr val="FFFFFF"/>
          </a:solidFill>
          <a:ln w="22860">
            <a:solidFill>
              <a:srgbClr val="059669"/>
            </a:solidFill>
            <a:prstDash val="solid"/>
          </a:ln>
        </p:spPr>
      </p:sp>
      <p:sp>
        <p:nvSpPr>
          <p:cNvPr id="18" name="Text 14"/>
          <p:cNvSpPr/>
          <p:nvPr/>
        </p:nvSpPr>
        <p:spPr>
          <a:xfrm>
            <a:off x="5120640" y="1417320"/>
            <a:ext cx="3474720" cy="274320"/>
          </a:xfrm>
          <a:prstGeom prst="rect">
            <a:avLst/>
          </a:prstGeom>
          <a:noFill/>
          <a:ln/>
        </p:spPr>
        <p:txBody>
          <a:bodyPr wrap="square" rtlCol="0" anchor="ctr"/>
          <a:lstStyle/>
          <a:p>
            <a:pPr indent="0" marL="0">
              <a:buNone/>
            </a:pPr>
            <a:r>
              <a:rPr lang="en-US" sz="950" b="1" dirty="0">
                <a:solidFill>
                  <a:srgbClr val="059669"/>
                </a:solidFill>
                <a:latin typeface="Segoe UI" pitchFamily="34" charset="0"/>
                <a:ea typeface="Segoe UI" pitchFamily="34" charset="-122"/>
                <a:cs typeface="Segoe UI" pitchFamily="34" charset="-120"/>
              </a:rPr>
              <a:t>GIẢI PHÁP GIỮ DOM APPTABS</a:t>
            </a:r>
            <a:endParaRPr lang="en-US" sz="950" dirty="0"/>
          </a:p>
        </p:txBody>
      </p:sp>
      <p:sp>
        <p:nvSpPr>
          <p:cNvPr id="19" name="Text 15"/>
          <p:cNvSpPr/>
          <p:nvPr/>
        </p:nvSpPr>
        <p:spPr>
          <a:xfrm>
            <a:off x="5120640" y="1737360"/>
            <a:ext cx="3474720" cy="2560320"/>
          </a:xfrm>
          <a:prstGeom prst="rect">
            <a:avLst/>
          </a:prstGeom>
          <a:noFill/>
          <a:ln/>
        </p:spPr>
        <p:txBody>
          <a:bodyPr wrap="square" rtlCol="0" anchor="t"/>
          <a:lstStyle/>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Ẩn/hiện thẻ DOM thay vì gỡ bỏ hoàn toàn.</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Giữ trọn vẹn state lọc và vị trí cuộn trang của Sale.</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Giảm tải 80% số lần gọi API tải lại trang không cần thiết.</a:t>
            </a:r>
            <a:endParaRPr lang="en-US" sz="90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BACKEND</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Cổng API Router Backend index.php</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CƠ CHẾ ROUTE QUA ACTION</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Mọi yêu cầu HTTP đổ về tệp backend/index.php duy nhất.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Phân loại luồng xử lý dựa trên tham số query action.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Quản lý CORS tập trung, chặn các truy cập ngoài danh sách cho phép.</a:t>
            </a:r>
            <a:endParaRPr lang="en-US" sz="920" dirty="0"/>
          </a:p>
        </p:txBody>
      </p:sp>
      <p:sp>
        <p:nvSpPr>
          <p:cNvPr id="17" name="Shape 13"/>
          <p:cNvSpPr/>
          <p:nvPr/>
        </p:nvSpPr>
        <p:spPr>
          <a:xfrm>
            <a:off x="4572000" y="1280160"/>
            <a:ext cx="3840480" cy="3291840"/>
          </a:xfrm>
          <a:prstGeom prst="roundRect">
            <a:avLst>
              <a:gd name="adj" fmla="val 1389"/>
            </a:avLst>
          </a:prstGeom>
          <a:solidFill>
            <a:srgbClr val="F1F5F9"/>
          </a:solidFill>
          <a:ln w="19050">
            <a:solidFill>
              <a:srgbClr val="E2E8F0"/>
            </a:solidFill>
            <a:prstDash val="solid"/>
          </a:ln>
        </p:spPr>
      </p:sp>
      <p:sp>
        <p:nvSpPr>
          <p:cNvPr id="18" name="Shape 14"/>
          <p:cNvSpPr/>
          <p:nvPr/>
        </p:nvSpPr>
        <p:spPr>
          <a:xfrm>
            <a:off x="4572000" y="1280160"/>
            <a:ext cx="3840480" cy="320040"/>
          </a:xfrm>
          <a:prstGeom prst="rect">
            <a:avLst/>
          </a:prstGeom>
          <a:solidFill>
            <a:srgbClr val="FFFFFF"/>
          </a:solidFill>
          <a:ln w="6350">
            <a:solidFill>
              <a:srgbClr val="E2E8F0"/>
            </a:solidFill>
            <a:prstDash val="solid"/>
          </a:ln>
        </p:spPr>
      </p:sp>
      <p:sp>
        <p:nvSpPr>
          <p:cNvPr id="19" name="Shape 15"/>
          <p:cNvSpPr/>
          <p:nvPr/>
        </p:nvSpPr>
        <p:spPr>
          <a:xfrm>
            <a:off x="4709160" y="1389888"/>
            <a:ext cx="91440" cy="91440"/>
          </a:xfrm>
          <a:prstGeom prst="ellipse">
            <a:avLst/>
          </a:prstGeom>
          <a:solidFill>
            <a:srgbClr val="EF4444"/>
          </a:solidFill>
          <a:ln/>
        </p:spPr>
      </p:sp>
      <p:sp>
        <p:nvSpPr>
          <p:cNvPr id="20" name="Shape 16"/>
          <p:cNvSpPr/>
          <p:nvPr/>
        </p:nvSpPr>
        <p:spPr>
          <a:xfrm>
            <a:off x="4846320" y="1389888"/>
            <a:ext cx="91440" cy="91440"/>
          </a:xfrm>
          <a:prstGeom prst="ellipse">
            <a:avLst/>
          </a:prstGeom>
          <a:solidFill>
            <a:srgbClr val="F59E0B"/>
          </a:solidFill>
          <a:ln/>
        </p:spPr>
      </p:sp>
      <p:sp>
        <p:nvSpPr>
          <p:cNvPr id="21" name="Shape 17"/>
          <p:cNvSpPr/>
          <p:nvPr/>
        </p:nvSpPr>
        <p:spPr>
          <a:xfrm>
            <a:off x="4983480" y="1389888"/>
            <a:ext cx="91440" cy="91440"/>
          </a:xfrm>
          <a:prstGeom prst="ellipse">
            <a:avLst/>
          </a:prstGeom>
          <a:solidFill>
            <a:srgbClr val="10B981"/>
          </a:solidFill>
          <a:ln/>
        </p:spPr>
      </p:sp>
      <p:sp>
        <p:nvSpPr>
          <p:cNvPr id="22" name="Text 18"/>
          <p:cNvSpPr/>
          <p:nvPr/>
        </p:nvSpPr>
        <p:spPr>
          <a:xfrm>
            <a:off x="5212080" y="1280160"/>
            <a:ext cx="2926080" cy="320040"/>
          </a:xfrm>
          <a:prstGeom prst="rect">
            <a:avLst/>
          </a:prstGeom>
          <a:noFill/>
          <a:ln/>
        </p:spPr>
        <p:txBody>
          <a:bodyPr wrap="square" rtlCol="0" anchor="ctr"/>
          <a:lstStyle/>
          <a:p>
            <a:pPr indent="0" marL="0">
              <a:buNone/>
            </a:pPr>
            <a:r>
              <a:rPr lang="en-US" sz="850" b="1" dirty="0">
                <a:solidFill>
                  <a:srgbClr val="475569"/>
                </a:solidFill>
                <a:latin typeface="Segoe UI" pitchFamily="34" charset="0"/>
                <a:ea typeface="Segoe UI" pitchFamily="34" charset="-122"/>
                <a:cs typeface="Segoe UI" pitchFamily="34" charset="-120"/>
              </a:rPr>
              <a:t>HÀNH ĐỘNG HỆ THỐNG</a:t>
            </a:r>
            <a:endParaRPr lang="en-US" sz="850" dirty="0"/>
          </a:p>
        </p:txBody>
      </p:sp>
      <p:sp>
        <p:nvSpPr>
          <p:cNvPr id="23" name="Text 19"/>
          <p:cNvSpPr/>
          <p:nvPr/>
        </p:nvSpPr>
        <p:spPr>
          <a:xfrm>
            <a:off x="4754880" y="1737360"/>
            <a:ext cx="3474720" cy="2651760"/>
          </a:xfrm>
          <a:prstGeom prst="rect">
            <a:avLst/>
          </a:prstGeom>
          <a:noFill/>
          <a:ln/>
        </p:spPr>
        <p:txBody>
          <a:bodyPr wrap="square" rtlCol="0" anchor="t"/>
          <a:lstStyle/>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Tiếp nhận yêu cầu từ ứng dụng (ví dụ: tạo khách hàng tiềm năng).</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Kiểm tra xem yêu cầu có hợp lệ hay có dấu hiệu tấn công mạng.</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Điều hướng tự động yêu cầu đến đúng bộ phận nghiệp vụ liên quan.</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Trả kết quả nhanh chóng, chính xác dạng bảo mật về cho người dùng.</a:t>
            </a:r>
            <a:endParaRPr lang="en-US" sz="880" dirty="0"/>
          </a:p>
        </p:txBody>
      </p:sp>
      <p:sp>
        <p:nvSpPr>
          <p:cNvPr id="24"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7 / 65</a:t>
            </a:r>
            <a:endParaRPr lang="en-US" sz="850" dirty="0"/>
          </a:p>
        </p:txBody>
      </p:sp>
      <p:sp>
        <p:nvSpPr>
          <p:cNvPr id="25"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XÁC THỰC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Xác Thực Người Dùng JWT</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REQUIREAUTH MIDDLEWARE</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Trích xuất Bearer Token từ tiêu đề Authorization.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Hỗ trợ lấy token từ query string cho các tiến trình kiểm thử nhanh.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Giải mã cấu trúc token để lấy định danh user và thời gian hết hạn.</a:t>
            </a:r>
            <a:endParaRPr lang="en-US" sz="920" dirty="0"/>
          </a:p>
        </p:txBody>
      </p:sp>
      <p:sp>
        <p:nvSpPr>
          <p:cNvPr id="17" name="Shape 13"/>
          <p:cNvSpPr/>
          <p:nvPr/>
        </p:nvSpPr>
        <p:spPr>
          <a:xfrm>
            <a:off x="4572000" y="1280160"/>
            <a:ext cx="3840480" cy="3291840"/>
          </a:xfrm>
          <a:prstGeom prst="roundRect">
            <a:avLst>
              <a:gd name="adj" fmla="val 1389"/>
            </a:avLst>
          </a:prstGeom>
          <a:solidFill>
            <a:srgbClr val="F1F5F9"/>
          </a:solidFill>
          <a:ln w="19050">
            <a:solidFill>
              <a:srgbClr val="E2E8F0"/>
            </a:solidFill>
            <a:prstDash val="solid"/>
          </a:ln>
        </p:spPr>
      </p:sp>
      <p:sp>
        <p:nvSpPr>
          <p:cNvPr id="18" name="Shape 14"/>
          <p:cNvSpPr/>
          <p:nvPr/>
        </p:nvSpPr>
        <p:spPr>
          <a:xfrm>
            <a:off x="4572000" y="1280160"/>
            <a:ext cx="3840480" cy="320040"/>
          </a:xfrm>
          <a:prstGeom prst="rect">
            <a:avLst/>
          </a:prstGeom>
          <a:solidFill>
            <a:srgbClr val="FFFFFF"/>
          </a:solidFill>
          <a:ln w="6350">
            <a:solidFill>
              <a:srgbClr val="E2E8F0"/>
            </a:solidFill>
            <a:prstDash val="solid"/>
          </a:ln>
        </p:spPr>
      </p:sp>
      <p:sp>
        <p:nvSpPr>
          <p:cNvPr id="19" name="Shape 15"/>
          <p:cNvSpPr/>
          <p:nvPr/>
        </p:nvSpPr>
        <p:spPr>
          <a:xfrm>
            <a:off x="4709160" y="1389888"/>
            <a:ext cx="91440" cy="91440"/>
          </a:xfrm>
          <a:prstGeom prst="ellipse">
            <a:avLst/>
          </a:prstGeom>
          <a:solidFill>
            <a:srgbClr val="EF4444"/>
          </a:solidFill>
          <a:ln/>
        </p:spPr>
      </p:sp>
      <p:sp>
        <p:nvSpPr>
          <p:cNvPr id="20" name="Shape 16"/>
          <p:cNvSpPr/>
          <p:nvPr/>
        </p:nvSpPr>
        <p:spPr>
          <a:xfrm>
            <a:off x="4846320" y="1389888"/>
            <a:ext cx="91440" cy="91440"/>
          </a:xfrm>
          <a:prstGeom prst="ellipse">
            <a:avLst/>
          </a:prstGeom>
          <a:solidFill>
            <a:srgbClr val="F59E0B"/>
          </a:solidFill>
          <a:ln/>
        </p:spPr>
      </p:sp>
      <p:sp>
        <p:nvSpPr>
          <p:cNvPr id="21" name="Shape 17"/>
          <p:cNvSpPr/>
          <p:nvPr/>
        </p:nvSpPr>
        <p:spPr>
          <a:xfrm>
            <a:off x="4983480" y="1389888"/>
            <a:ext cx="91440" cy="91440"/>
          </a:xfrm>
          <a:prstGeom prst="ellipse">
            <a:avLst/>
          </a:prstGeom>
          <a:solidFill>
            <a:srgbClr val="10B981"/>
          </a:solidFill>
          <a:ln/>
        </p:spPr>
      </p:sp>
      <p:sp>
        <p:nvSpPr>
          <p:cNvPr id="22" name="Text 18"/>
          <p:cNvSpPr/>
          <p:nvPr/>
        </p:nvSpPr>
        <p:spPr>
          <a:xfrm>
            <a:off x="5212080" y="1280160"/>
            <a:ext cx="2926080" cy="320040"/>
          </a:xfrm>
          <a:prstGeom prst="rect">
            <a:avLst/>
          </a:prstGeom>
          <a:noFill/>
          <a:ln/>
        </p:spPr>
        <p:txBody>
          <a:bodyPr wrap="square" rtlCol="0" anchor="ctr"/>
          <a:lstStyle/>
          <a:p>
            <a:pPr indent="0" marL="0">
              <a:buNone/>
            </a:pPr>
            <a:r>
              <a:rPr lang="en-US" sz="850" b="1" dirty="0">
                <a:solidFill>
                  <a:srgbClr val="475569"/>
                </a:solidFill>
                <a:latin typeface="Segoe UI" pitchFamily="34" charset="0"/>
                <a:ea typeface="Segoe UI" pitchFamily="34" charset="-122"/>
                <a:cs typeface="Segoe UI" pitchFamily="34" charset="-120"/>
              </a:rPr>
              <a:t>KIỂM TRA BẢO MẬT</a:t>
            </a:r>
            <a:endParaRPr lang="en-US" sz="850" dirty="0"/>
          </a:p>
        </p:txBody>
      </p:sp>
      <p:sp>
        <p:nvSpPr>
          <p:cNvPr id="23" name="Text 19"/>
          <p:cNvSpPr/>
          <p:nvPr/>
        </p:nvSpPr>
        <p:spPr>
          <a:xfrm>
            <a:off x="4754880" y="1737360"/>
            <a:ext cx="3474720" cy="2651760"/>
          </a:xfrm>
          <a:prstGeom prst="rect">
            <a:avLst/>
          </a:prstGeom>
          <a:noFill/>
          <a:ln/>
        </p:spPr>
        <p:txBody>
          <a:bodyPr wrap="square" rtlCol="0" anchor="t"/>
          <a:lstStyle/>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Kiểm tra chữ ký số bảo mật của thiết bị gửi yêu cầu.</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Xác minh tài khoản nhân sự đang hoạt động bình thường.</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Đối chiếu quyền hạn xem thông tin của nhóm tài khoản.</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Từ chối ngay lập tức nếu phát hiện truy cập trái phép.</a:t>
            </a:r>
            <a:endParaRPr lang="en-US" sz="880" dirty="0"/>
          </a:p>
        </p:txBody>
      </p:sp>
      <p:sp>
        <p:nvSpPr>
          <p:cNvPr id="24"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8 / 65</a:t>
            </a:r>
            <a:endParaRPr lang="en-US" sz="850" dirty="0"/>
          </a:p>
        </p:txBody>
      </p:sp>
      <p:sp>
        <p:nvSpPr>
          <p:cNvPr id="25"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XÁC THỰC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Ánh Xạ Chuẩn Hóa Quyền Hạn requireAuth</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75438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DỮ LIỆU FRONTEND TRUYỀN</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CSDL BACKEND YÊU CẦU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HÀNH ĐỘNG CHUẨN HÓA</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LÝ DO KỸ THUẬT</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role = 'sale'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role = 'sales'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Thay đổi ký tự cuối thêm 's'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Đồng bộ phân quyền trong các Controller 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id = 1004</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user_id = 1004</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Sao chép giá trị khóa chính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Tương thích các logic lọc quan hệ bảng ghi cũ</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name = 'Thanh'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full_name = 'Thanh'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Ánh xạ key name nếu thiếu</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Ngăn chặn cảnh báo Undefined Index làm gãy JSON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9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BẢO MẬT</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Cô Lập Dữ Liệu Đa Khách Thuê (Multi-Tenant)</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LỌC TENANT_ID SCOPING</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Mọi bảng ghi liên kết KHTN, user, config đều chứa trường tenant_id.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Backend tự động tiêm clause WHERE tenant_id = ? vào tất cả truy vấn SQL.</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NGĂN CHẶN TRUY CẬP CHÉO</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Kiểm duyệt dữ liệu đầu vào chặn đứng hành vi chỉnh sửa param ID chéo tenant.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Trả lỗi 403 Forbidden ngay lập tức cho các action vi phạm ranh giới.</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HẠ TẦNG DÙNG CHUNG</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Các tenant chia sẻ chung Schema và CSDL MySQL giúp tiết kiệm chi phí.</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Sử dụng chỉ mục để phân tách dữ liệu nhanh chóng mà không cần nhiều CSDL.</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10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KIẾN TRÚC LÕI</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1: KIẾN TRÚC &amp; ĐỊNH TUYẾN</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Dựng nền tảng API PHP Router an toàn tuyệt đối với cơ chế bảo mật ba lớp và tăng tốc độ SPA bằng AppTabs giữ nguyên DOM.</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BẢO MẬT 3 LỚP</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Kết hợp CORS whitelist -&gt; requireAuth xác thực JWT -&gt; tenant_id cô lập CSDL tuyệt đối.</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APPTABS CACHE</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Không unmount component, bảo vệ bộ lọc và trạng thái client, tối ưu 80% tài nguyên CPU.</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CHUẨN HÓA VAI</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Tự động dịch role, user_id và full_name để triệt tiêu lỗi Notice PHP làm gãy luồng API.</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11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CHIA LEAD</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Tiến Trình Xử Lý Lead Đầu Vào</a:t>
            </a:r>
            <a:endParaRPr lang="en-US" sz="1900" dirty="0"/>
          </a:p>
        </p:txBody>
      </p:sp>
      <p:sp>
        <p:nvSpPr>
          <p:cNvPr id="14" name="Shape 10"/>
          <p:cNvSpPr/>
          <p:nvPr/>
        </p:nvSpPr>
        <p:spPr>
          <a:xfrm>
            <a:off x="731520" y="1280160"/>
            <a:ext cx="1805940" cy="1645920"/>
          </a:xfrm>
          <a:prstGeom prst="roundRect">
            <a:avLst>
              <a:gd name="adj" fmla="val 3333"/>
            </a:avLst>
          </a:prstGeom>
          <a:solidFill>
            <a:srgbClr val="FFFFFF"/>
          </a:solidFill>
          <a:ln w="12700">
            <a:solidFill>
              <a:srgbClr val="E2E8F0"/>
            </a:solidFill>
            <a:prstDash val="solid"/>
          </a:ln>
        </p:spPr>
      </p:sp>
      <p:sp>
        <p:nvSpPr>
          <p:cNvPr id="15" name="Shape 11"/>
          <p:cNvSpPr/>
          <p:nvPr/>
        </p:nvSpPr>
        <p:spPr>
          <a:xfrm>
            <a:off x="2537460" y="1645920"/>
            <a:ext cx="274320" cy="0"/>
          </a:xfrm>
          <a:prstGeom prst="line">
            <a:avLst/>
          </a:prstGeom>
          <a:noFill/>
          <a:ln w="19050">
            <a:solidFill>
              <a:srgbClr val="BD1D2D"/>
            </a:solidFill>
            <a:prstDash val="dash"/>
          </a:ln>
        </p:spPr>
      </p:sp>
      <p:sp>
        <p:nvSpPr>
          <p:cNvPr id="16" name="Shape 12"/>
          <p:cNvSpPr/>
          <p:nvPr/>
        </p:nvSpPr>
        <p:spPr>
          <a:xfrm>
            <a:off x="1451610" y="1463040"/>
            <a:ext cx="365760" cy="365760"/>
          </a:xfrm>
          <a:prstGeom prst="ellipse">
            <a:avLst/>
          </a:prstGeom>
          <a:solidFill>
            <a:srgbClr val="BD1D2D"/>
          </a:solidFill>
          <a:ln w="19050">
            <a:solidFill>
              <a:srgbClr val="FFFFFF"/>
            </a:solidFill>
            <a:prstDash val="solid"/>
          </a:ln>
        </p:spPr>
      </p:sp>
      <p:sp>
        <p:nvSpPr>
          <p:cNvPr id="17" name="Text 13"/>
          <p:cNvSpPr/>
          <p:nvPr/>
        </p:nvSpPr>
        <p:spPr>
          <a:xfrm>
            <a:off x="1451610" y="146304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1</a:t>
            </a:r>
            <a:endParaRPr lang="en-US" sz="950" dirty="0"/>
          </a:p>
        </p:txBody>
      </p:sp>
      <p:sp>
        <p:nvSpPr>
          <p:cNvPr id="18" name="Text 14"/>
          <p:cNvSpPr/>
          <p:nvPr/>
        </p:nvSpPr>
        <p:spPr>
          <a:xfrm>
            <a:off x="822960" y="1965960"/>
            <a:ext cx="162306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Webhook nhận</a:t>
            </a:r>
            <a:endParaRPr lang="en-US" sz="950" dirty="0"/>
          </a:p>
        </p:txBody>
      </p:sp>
      <p:sp>
        <p:nvSpPr>
          <p:cNvPr id="19" name="Text 15"/>
          <p:cNvSpPr/>
          <p:nvPr/>
        </p:nvSpPr>
        <p:spPr>
          <a:xfrm>
            <a:off x="822960" y="2286000"/>
            <a:ext cx="1623060" cy="5486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POST lead thô từ Facebook/LP, normalize SĐT.</a:t>
            </a:r>
            <a:endParaRPr lang="en-US" sz="800" dirty="0"/>
          </a:p>
        </p:txBody>
      </p:sp>
      <p:sp>
        <p:nvSpPr>
          <p:cNvPr id="20" name="Shape 16"/>
          <p:cNvSpPr/>
          <p:nvPr/>
        </p:nvSpPr>
        <p:spPr>
          <a:xfrm>
            <a:off x="2811780" y="1280160"/>
            <a:ext cx="1805940" cy="1645920"/>
          </a:xfrm>
          <a:prstGeom prst="roundRect">
            <a:avLst>
              <a:gd name="adj" fmla="val 3333"/>
            </a:avLst>
          </a:prstGeom>
          <a:solidFill>
            <a:srgbClr val="FFFFFF"/>
          </a:solidFill>
          <a:ln w="12700">
            <a:solidFill>
              <a:srgbClr val="E2E8F0"/>
            </a:solidFill>
            <a:prstDash val="solid"/>
          </a:ln>
        </p:spPr>
      </p:sp>
      <p:sp>
        <p:nvSpPr>
          <p:cNvPr id="21" name="Shape 17"/>
          <p:cNvSpPr/>
          <p:nvPr/>
        </p:nvSpPr>
        <p:spPr>
          <a:xfrm>
            <a:off x="4617720" y="1645920"/>
            <a:ext cx="274320" cy="0"/>
          </a:xfrm>
          <a:prstGeom prst="line">
            <a:avLst/>
          </a:prstGeom>
          <a:noFill/>
          <a:ln w="19050">
            <a:solidFill>
              <a:srgbClr val="BD1D2D"/>
            </a:solidFill>
            <a:prstDash val="dash"/>
          </a:ln>
        </p:spPr>
      </p:sp>
      <p:sp>
        <p:nvSpPr>
          <p:cNvPr id="22" name="Shape 18"/>
          <p:cNvSpPr/>
          <p:nvPr/>
        </p:nvSpPr>
        <p:spPr>
          <a:xfrm>
            <a:off x="3531870" y="1463040"/>
            <a:ext cx="365760" cy="365760"/>
          </a:xfrm>
          <a:prstGeom prst="ellipse">
            <a:avLst/>
          </a:prstGeom>
          <a:solidFill>
            <a:srgbClr val="BD1D2D"/>
          </a:solidFill>
          <a:ln w="19050">
            <a:solidFill>
              <a:srgbClr val="FFFFFF"/>
            </a:solidFill>
            <a:prstDash val="solid"/>
          </a:ln>
        </p:spPr>
      </p:sp>
      <p:sp>
        <p:nvSpPr>
          <p:cNvPr id="23" name="Text 19"/>
          <p:cNvSpPr/>
          <p:nvPr/>
        </p:nvSpPr>
        <p:spPr>
          <a:xfrm>
            <a:off x="3531870" y="146304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2</a:t>
            </a:r>
            <a:endParaRPr lang="en-US" sz="950" dirty="0"/>
          </a:p>
        </p:txBody>
      </p:sp>
      <p:sp>
        <p:nvSpPr>
          <p:cNvPr id="24" name="Text 20"/>
          <p:cNvSpPr/>
          <p:nvPr/>
        </p:nvSpPr>
        <p:spPr>
          <a:xfrm>
            <a:off x="2903220" y="1965960"/>
            <a:ext cx="162306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Persons Check</a:t>
            </a:r>
            <a:endParaRPr lang="en-US" sz="950" dirty="0"/>
          </a:p>
        </p:txBody>
      </p:sp>
      <p:sp>
        <p:nvSpPr>
          <p:cNvPr id="25" name="Text 21"/>
          <p:cNvSpPr/>
          <p:nvPr/>
        </p:nvSpPr>
        <p:spPr>
          <a:xfrm>
            <a:off x="2903220" y="2286000"/>
            <a:ext cx="1623060" cy="5486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Tìm kiếm SĐT cũ, giữ nguyên chủ cũ nếu trùng.</a:t>
            </a:r>
            <a:endParaRPr lang="en-US" sz="800" dirty="0"/>
          </a:p>
        </p:txBody>
      </p:sp>
      <p:sp>
        <p:nvSpPr>
          <p:cNvPr id="26" name="Shape 22"/>
          <p:cNvSpPr/>
          <p:nvPr/>
        </p:nvSpPr>
        <p:spPr>
          <a:xfrm>
            <a:off x="4892040" y="1280160"/>
            <a:ext cx="1805940" cy="1645920"/>
          </a:xfrm>
          <a:prstGeom prst="roundRect">
            <a:avLst>
              <a:gd name="adj" fmla="val 3333"/>
            </a:avLst>
          </a:prstGeom>
          <a:solidFill>
            <a:srgbClr val="FFFFFF"/>
          </a:solidFill>
          <a:ln w="12700">
            <a:solidFill>
              <a:srgbClr val="E2E8F0"/>
            </a:solidFill>
            <a:prstDash val="solid"/>
          </a:ln>
        </p:spPr>
      </p:sp>
      <p:sp>
        <p:nvSpPr>
          <p:cNvPr id="27" name="Shape 23"/>
          <p:cNvSpPr/>
          <p:nvPr/>
        </p:nvSpPr>
        <p:spPr>
          <a:xfrm>
            <a:off x="6697980" y="1645920"/>
            <a:ext cx="274320" cy="0"/>
          </a:xfrm>
          <a:prstGeom prst="line">
            <a:avLst/>
          </a:prstGeom>
          <a:noFill/>
          <a:ln w="19050">
            <a:solidFill>
              <a:srgbClr val="BD1D2D"/>
            </a:solidFill>
            <a:prstDash val="dash"/>
          </a:ln>
        </p:spPr>
      </p:sp>
      <p:sp>
        <p:nvSpPr>
          <p:cNvPr id="28" name="Shape 24"/>
          <p:cNvSpPr/>
          <p:nvPr/>
        </p:nvSpPr>
        <p:spPr>
          <a:xfrm>
            <a:off x="5612130" y="1463040"/>
            <a:ext cx="365760" cy="365760"/>
          </a:xfrm>
          <a:prstGeom prst="ellipse">
            <a:avLst/>
          </a:prstGeom>
          <a:solidFill>
            <a:srgbClr val="BD1D2D"/>
          </a:solidFill>
          <a:ln w="19050">
            <a:solidFill>
              <a:srgbClr val="FFFFFF"/>
            </a:solidFill>
            <a:prstDash val="solid"/>
          </a:ln>
        </p:spPr>
      </p:sp>
      <p:sp>
        <p:nvSpPr>
          <p:cNvPr id="29" name="Text 25"/>
          <p:cNvSpPr/>
          <p:nvPr/>
        </p:nvSpPr>
        <p:spPr>
          <a:xfrm>
            <a:off x="5612130" y="146304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3</a:t>
            </a:r>
            <a:endParaRPr lang="en-US" sz="950" dirty="0"/>
          </a:p>
        </p:txBody>
      </p:sp>
      <p:sp>
        <p:nvSpPr>
          <p:cNvPr id="30" name="Text 26"/>
          <p:cNvSpPr/>
          <p:nvPr/>
        </p:nvSpPr>
        <p:spPr>
          <a:xfrm>
            <a:off x="4983480" y="1965960"/>
            <a:ext cx="162306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getNext Sale</a:t>
            </a:r>
            <a:endParaRPr lang="en-US" sz="950" dirty="0"/>
          </a:p>
        </p:txBody>
      </p:sp>
      <p:sp>
        <p:nvSpPr>
          <p:cNvPr id="31" name="Text 27"/>
          <p:cNvSpPr/>
          <p:nvPr/>
        </p:nvSpPr>
        <p:spPr>
          <a:xfrm>
            <a:off x="4983480" y="2286000"/>
            <a:ext cx="1623060" cy="5486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Xoay vòng Sale hợp lệ qua Roster ca trực.</a:t>
            </a:r>
            <a:endParaRPr lang="en-US" sz="800" dirty="0"/>
          </a:p>
        </p:txBody>
      </p:sp>
      <p:sp>
        <p:nvSpPr>
          <p:cNvPr id="32" name="Shape 28"/>
          <p:cNvSpPr/>
          <p:nvPr/>
        </p:nvSpPr>
        <p:spPr>
          <a:xfrm>
            <a:off x="6972300" y="1280160"/>
            <a:ext cx="1805940" cy="1645920"/>
          </a:xfrm>
          <a:prstGeom prst="roundRect">
            <a:avLst>
              <a:gd name="adj" fmla="val 3333"/>
            </a:avLst>
          </a:prstGeom>
          <a:solidFill>
            <a:srgbClr val="FFFFFF"/>
          </a:solidFill>
          <a:ln w="12700">
            <a:solidFill>
              <a:srgbClr val="E2E8F0"/>
            </a:solidFill>
            <a:prstDash val="solid"/>
          </a:ln>
        </p:spPr>
      </p:sp>
      <p:sp>
        <p:nvSpPr>
          <p:cNvPr id="33" name="Shape 29"/>
          <p:cNvSpPr/>
          <p:nvPr/>
        </p:nvSpPr>
        <p:spPr>
          <a:xfrm>
            <a:off x="7692390" y="1463040"/>
            <a:ext cx="365760" cy="365760"/>
          </a:xfrm>
          <a:prstGeom prst="ellipse">
            <a:avLst/>
          </a:prstGeom>
          <a:solidFill>
            <a:srgbClr val="BD1D2D"/>
          </a:solidFill>
          <a:ln w="19050">
            <a:solidFill>
              <a:srgbClr val="FFFFFF"/>
            </a:solidFill>
            <a:prstDash val="solid"/>
          </a:ln>
        </p:spPr>
      </p:sp>
      <p:sp>
        <p:nvSpPr>
          <p:cNvPr id="34" name="Text 30"/>
          <p:cNvSpPr/>
          <p:nvPr/>
        </p:nvSpPr>
        <p:spPr>
          <a:xfrm>
            <a:off x="7692390" y="146304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4</a:t>
            </a:r>
            <a:endParaRPr lang="en-US" sz="950" dirty="0"/>
          </a:p>
        </p:txBody>
      </p:sp>
      <p:sp>
        <p:nvSpPr>
          <p:cNvPr id="35" name="Text 31"/>
          <p:cNvSpPr/>
          <p:nvPr/>
        </p:nvSpPr>
        <p:spPr>
          <a:xfrm>
            <a:off x="7063740" y="1965960"/>
            <a:ext cx="162306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Gán lead</a:t>
            </a:r>
            <a:endParaRPr lang="en-US" sz="950" dirty="0"/>
          </a:p>
        </p:txBody>
      </p:sp>
      <p:sp>
        <p:nvSpPr>
          <p:cNvPr id="36" name="Text 32"/>
          <p:cNvSpPr/>
          <p:nvPr/>
        </p:nvSpPr>
        <p:spPr>
          <a:xfrm>
            <a:off x="7063740" y="2286000"/>
            <a:ext cx="1623060" cy="5486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Chuyển trạng thái assigned, đếm ngược 120s.</a:t>
            </a:r>
            <a:endParaRPr lang="en-US" sz="800" dirty="0"/>
          </a:p>
        </p:txBody>
      </p:sp>
      <p:sp>
        <p:nvSpPr>
          <p:cNvPr id="37" name="Shape 33"/>
          <p:cNvSpPr/>
          <p:nvPr/>
        </p:nvSpPr>
        <p:spPr>
          <a:xfrm>
            <a:off x="731520" y="3108960"/>
            <a:ext cx="3840480" cy="1417320"/>
          </a:xfrm>
          <a:prstGeom prst="roundRect">
            <a:avLst>
              <a:gd name="adj" fmla="val 5161"/>
            </a:avLst>
          </a:prstGeom>
          <a:solidFill>
            <a:srgbClr val="FFFFFF"/>
          </a:solidFill>
          <a:ln w="12700">
            <a:solidFill>
              <a:srgbClr val="E2E8F0"/>
            </a:solidFill>
            <a:prstDash val="solid"/>
          </a:ln>
        </p:spPr>
      </p:sp>
      <p:sp>
        <p:nvSpPr>
          <p:cNvPr id="38" name="Text 34"/>
          <p:cNvSpPr/>
          <p:nvPr/>
        </p:nvSpPr>
        <p:spPr>
          <a:xfrm>
            <a:off x="914400" y="3246120"/>
            <a:ext cx="2743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Lịch sử giao Data gần đây</a:t>
            </a:r>
            <a:endParaRPr lang="en-US" sz="1000" dirty="0"/>
          </a:p>
        </p:txBody>
      </p:sp>
      <p:sp>
        <p:nvSpPr>
          <p:cNvPr id="39" name="Text 35"/>
          <p:cNvSpPr/>
          <p:nvPr/>
        </p:nvSpPr>
        <p:spPr>
          <a:xfrm>
            <a:off x="3657600" y="3246120"/>
            <a:ext cx="731520" cy="228600"/>
          </a:xfrm>
          <a:prstGeom prst="rect">
            <a:avLst/>
          </a:prstGeom>
          <a:noFill/>
          <a:ln/>
        </p:spPr>
        <p:txBody>
          <a:bodyPr wrap="square" rtlCol="0" anchor="ctr"/>
          <a:lstStyle/>
          <a:p>
            <a:pPr algn="r" indent="0" marL="0">
              <a:buNone/>
            </a:pPr>
            <a:r>
              <a:rPr lang="en-US" sz="800" b="1" dirty="0">
                <a:solidFill>
                  <a:srgbClr val="BD1D2D"/>
                </a:solidFill>
                <a:latin typeface="Segoe UI" pitchFamily="34" charset="0"/>
                <a:ea typeface="Segoe UI" pitchFamily="34" charset="-122"/>
                <a:cs typeface="Segoe UI" pitchFamily="34" charset="-120"/>
              </a:rPr>
              <a:t>Xem tất cả</a:t>
            </a:r>
            <a:endParaRPr lang="en-US" sz="800" dirty="0"/>
          </a:p>
        </p:txBody>
      </p:sp>
      <p:sp>
        <p:nvSpPr>
          <p:cNvPr id="40" name="Shape 36"/>
          <p:cNvSpPr/>
          <p:nvPr/>
        </p:nvSpPr>
        <p:spPr>
          <a:xfrm>
            <a:off x="914400" y="3584448"/>
            <a:ext cx="274320" cy="274320"/>
          </a:xfrm>
          <a:prstGeom prst="ellipse">
            <a:avLst/>
          </a:prstGeom>
          <a:solidFill>
            <a:srgbClr val="F1F5F9"/>
          </a:solidFill>
          <a:ln w="6350">
            <a:solidFill>
              <a:srgbClr val="E2E8F0"/>
            </a:solidFill>
            <a:prstDash val="solid"/>
          </a:ln>
        </p:spPr>
      </p:sp>
      <p:sp>
        <p:nvSpPr>
          <p:cNvPr id="41" name="Text 37"/>
          <p:cNvSpPr/>
          <p:nvPr/>
        </p:nvSpPr>
        <p:spPr>
          <a:xfrm>
            <a:off x="914400" y="3584448"/>
            <a:ext cx="274320" cy="27432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N</a:t>
            </a:r>
            <a:endParaRPr lang="en-US" sz="900" dirty="0"/>
          </a:p>
        </p:txBody>
      </p:sp>
      <p:sp>
        <p:nvSpPr>
          <p:cNvPr id="42" name="Text 38"/>
          <p:cNvSpPr/>
          <p:nvPr/>
        </p:nvSpPr>
        <p:spPr>
          <a:xfrm>
            <a:off x="1280160" y="3566160"/>
            <a:ext cx="2011680" cy="164592"/>
          </a:xfrm>
          <a:prstGeom prst="rect">
            <a:avLst/>
          </a:prstGeom>
          <a:noFill/>
          <a:ln/>
        </p:spPr>
        <p:txBody>
          <a:bodyPr wrap="square" rtlCol="0" anchor="ctr"/>
          <a:lstStyle/>
          <a:p>
            <a:pPr indent="0" marL="0">
              <a:buNone/>
            </a:pPr>
            <a:r>
              <a:rPr lang="en-US" sz="850" b="1" dirty="0">
                <a:solidFill>
                  <a:srgbClr val="0F172A"/>
                </a:solidFill>
                <a:latin typeface="Segoe UI" pitchFamily="34" charset="0"/>
                <a:ea typeface="Segoe UI" pitchFamily="34" charset="-122"/>
                <a:cs typeface="Segoe UI" pitchFamily="34" charset="-120"/>
              </a:rPr>
              <a:t>Nguyễn Hải Đăng (Sale)</a:t>
            </a:r>
            <a:endParaRPr lang="en-US" sz="850" dirty="0"/>
          </a:p>
        </p:txBody>
      </p:sp>
      <p:sp>
        <p:nvSpPr>
          <p:cNvPr id="43" name="Text 39"/>
          <p:cNvSpPr/>
          <p:nvPr/>
        </p:nvSpPr>
        <p:spPr>
          <a:xfrm>
            <a:off x="1280160" y="3730752"/>
            <a:ext cx="2011680" cy="146304"/>
          </a:xfrm>
          <a:prstGeom prst="rect">
            <a:avLst/>
          </a:prstGeom>
          <a:noFill/>
          <a:ln/>
        </p:spPr>
        <p:txBody>
          <a:bodyPr wrap="square" rtlCol="0" anchor="ctr"/>
          <a:lstStyle/>
          <a:p>
            <a:pPr indent="0" marL="0">
              <a:buNone/>
            </a:pPr>
            <a:r>
              <a:rPr lang="en-US" sz="720" dirty="0">
                <a:solidFill>
                  <a:srgbClr val="475569"/>
                </a:solidFill>
                <a:latin typeface="Segoe UI" pitchFamily="34" charset="0"/>
                <a:ea typeface="Segoe UI" pitchFamily="34" charset="-122"/>
                <a:cs typeface="Segoe UI" pitchFamily="34" charset="-120"/>
              </a:rPr>
              <a:t>Huỳnh Trọng Phúc • 15:57:02 24/7/2026</a:t>
            </a:r>
            <a:endParaRPr lang="en-US" sz="720" dirty="0"/>
          </a:p>
        </p:txBody>
      </p:sp>
      <p:sp>
        <p:nvSpPr>
          <p:cNvPr id="44" name="Shape 40"/>
          <p:cNvSpPr/>
          <p:nvPr/>
        </p:nvSpPr>
        <p:spPr>
          <a:xfrm>
            <a:off x="3200400" y="3602736"/>
            <a:ext cx="1188720" cy="182880"/>
          </a:xfrm>
          <a:prstGeom prst="roundRect">
            <a:avLst>
              <a:gd name="adj" fmla="val 250000"/>
            </a:avLst>
          </a:prstGeom>
          <a:solidFill>
            <a:srgbClr val="D1FAE5"/>
          </a:solidFill>
          <a:ln/>
        </p:spPr>
      </p:sp>
      <p:sp>
        <p:nvSpPr>
          <p:cNvPr id="45" name="Text 41"/>
          <p:cNvSpPr/>
          <p:nvPr/>
        </p:nvSpPr>
        <p:spPr>
          <a:xfrm>
            <a:off x="3200400" y="3602736"/>
            <a:ext cx="1188720" cy="182880"/>
          </a:xfrm>
          <a:prstGeom prst="rect">
            <a:avLst/>
          </a:prstGeom>
          <a:noFill/>
          <a:ln/>
        </p:spPr>
        <p:txBody>
          <a:bodyPr wrap="square" rtlCol="0" anchor="ctr"/>
          <a:lstStyle/>
          <a:p>
            <a:pPr algn="ctr" indent="0" marL="0">
              <a:buNone/>
            </a:pPr>
            <a:r>
              <a:rPr lang="en-US" sz="700" b="1" dirty="0">
                <a:solidFill>
                  <a:srgbClr val="065F46"/>
                </a:solidFill>
                <a:latin typeface="Segoe UI" pitchFamily="34" charset="0"/>
                <a:ea typeface="Segoe UI" pitchFamily="34" charset="-122"/>
                <a:cs typeface="Segoe UI" pitchFamily="34" charset="-120"/>
              </a:rPr>
              <a:t>Vinhomes Cần Giờ</a:t>
            </a:r>
            <a:endParaRPr lang="en-US" sz="700" dirty="0"/>
          </a:p>
        </p:txBody>
      </p:sp>
      <p:sp>
        <p:nvSpPr>
          <p:cNvPr id="46" name="Shape 42"/>
          <p:cNvSpPr/>
          <p:nvPr/>
        </p:nvSpPr>
        <p:spPr>
          <a:xfrm>
            <a:off x="914400" y="3733038"/>
            <a:ext cx="3474720" cy="0"/>
          </a:xfrm>
          <a:prstGeom prst="line">
            <a:avLst/>
          </a:prstGeom>
          <a:noFill/>
          <a:ln w="6350">
            <a:solidFill>
              <a:srgbClr val="E2E8F0"/>
            </a:solidFill>
            <a:prstDash val="solid"/>
          </a:ln>
        </p:spPr>
      </p:sp>
      <p:sp>
        <p:nvSpPr>
          <p:cNvPr id="47" name="Shape 43"/>
          <p:cNvSpPr/>
          <p:nvPr/>
        </p:nvSpPr>
        <p:spPr>
          <a:xfrm>
            <a:off x="914400" y="3824478"/>
            <a:ext cx="274320" cy="274320"/>
          </a:xfrm>
          <a:prstGeom prst="ellipse">
            <a:avLst/>
          </a:prstGeom>
          <a:solidFill>
            <a:srgbClr val="F1F5F9"/>
          </a:solidFill>
          <a:ln w="6350">
            <a:solidFill>
              <a:srgbClr val="E2E8F0"/>
            </a:solidFill>
            <a:prstDash val="solid"/>
          </a:ln>
        </p:spPr>
      </p:sp>
      <p:sp>
        <p:nvSpPr>
          <p:cNvPr id="48" name="Text 44"/>
          <p:cNvSpPr/>
          <p:nvPr/>
        </p:nvSpPr>
        <p:spPr>
          <a:xfrm>
            <a:off x="914400" y="3824478"/>
            <a:ext cx="274320" cy="27432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Đ</a:t>
            </a:r>
            <a:endParaRPr lang="en-US" sz="900" dirty="0"/>
          </a:p>
        </p:txBody>
      </p:sp>
      <p:sp>
        <p:nvSpPr>
          <p:cNvPr id="49" name="Text 45"/>
          <p:cNvSpPr/>
          <p:nvPr/>
        </p:nvSpPr>
        <p:spPr>
          <a:xfrm>
            <a:off x="1280160" y="3806190"/>
            <a:ext cx="2011680" cy="164592"/>
          </a:xfrm>
          <a:prstGeom prst="rect">
            <a:avLst/>
          </a:prstGeom>
          <a:noFill/>
          <a:ln/>
        </p:spPr>
        <p:txBody>
          <a:bodyPr wrap="square" rtlCol="0" anchor="ctr"/>
          <a:lstStyle/>
          <a:p>
            <a:pPr indent="0" marL="0">
              <a:buNone/>
            </a:pPr>
            <a:r>
              <a:rPr lang="en-US" sz="850" b="1" dirty="0">
                <a:solidFill>
                  <a:srgbClr val="0F172A"/>
                </a:solidFill>
                <a:latin typeface="Segoe UI" pitchFamily="34" charset="0"/>
                <a:ea typeface="Segoe UI" pitchFamily="34" charset="-122"/>
                <a:cs typeface="Segoe UI" pitchFamily="34" charset="-120"/>
              </a:rPr>
              <a:t>Đinh Thanh</a:t>
            </a:r>
            <a:endParaRPr lang="en-US" sz="850" dirty="0"/>
          </a:p>
        </p:txBody>
      </p:sp>
      <p:sp>
        <p:nvSpPr>
          <p:cNvPr id="50" name="Text 46"/>
          <p:cNvSpPr/>
          <p:nvPr/>
        </p:nvSpPr>
        <p:spPr>
          <a:xfrm>
            <a:off x="1280160" y="3970782"/>
            <a:ext cx="2011680" cy="146304"/>
          </a:xfrm>
          <a:prstGeom prst="rect">
            <a:avLst/>
          </a:prstGeom>
          <a:noFill/>
          <a:ln/>
        </p:spPr>
        <p:txBody>
          <a:bodyPr wrap="square" rtlCol="0" anchor="ctr"/>
          <a:lstStyle/>
          <a:p>
            <a:pPr indent="0" marL="0">
              <a:buNone/>
            </a:pPr>
            <a:r>
              <a:rPr lang="en-US" sz="720" dirty="0">
                <a:solidFill>
                  <a:srgbClr val="475569"/>
                </a:solidFill>
                <a:latin typeface="Segoe UI" pitchFamily="34" charset="0"/>
                <a:ea typeface="Segoe UI" pitchFamily="34" charset="-122"/>
                <a:cs typeface="Segoe UI" pitchFamily="34" charset="-120"/>
              </a:rPr>
              <a:t>Nguyễn Minh Anh • 11:08:01 23/7/2026</a:t>
            </a:r>
            <a:endParaRPr lang="en-US" sz="720" dirty="0"/>
          </a:p>
        </p:txBody>
      </p:sp>
      <p:sp>
        <p:nvSpPr>
          <p:cNvPr id="51" name="Shape 47"/>
          <p:cNvSpPr/>
          <p:nvPr/>
        </p:nvSpPr>
        <p:spPr>
          <a:xfrm>
            <a:off x="3200400" y="3842766"/>
            <a:ext cx="1188720" cy="182880"/>
          </a:xfrm>
          <a:prstGeom prst="roundRect">
            <a:avLst>
              <a:gd name="adj" fmla="val 250000"/>
            </a:avLst>
          </a:prstGeom>
          <a:solidFill>
            <a:srgbClr val="D1FAE5"/>
          </a:solidFill>
          <a:ln/>
        </p:spPr>
      </p:sp>
      <p:sp>
        <p:nvSpPr>
          <p:cNvPr id="52" name="Text 48"/>
          <p:cNvSpPr/>
          <p:nvPr/>
        </p:nvSpPr>
        <p:spPr>
          <a:xfrm>
            <a:off x="3200400" y="3842766"/>
            <a:ext cx="1188720" cy="182880"/>
          </a:xfrm>
          <a:prstGeom prst="rect">
            <a:avLst/>
          </a:prstGeom>
          <a:noFill/>
          <a:ln/>
        </p:spPr>
        <p:txBody>
          <a:bodyPr wrap="square" rtlCol="0" anchor="ctr"/>
          <a:lstStyle/>
          <a:p>
            <a:pPr algn="ctr" indent="0" marL="0">
              <a:buNone/>
            </a:pPr>
            <a:r>
              <a:rPr lang="en-US" sz="700" b="1" dirty="0">
                <a:solidFill>
                  <a:srgbClr val="065F46"/>
                </a:solidFill>
                <a:latin typeface="Segoe UI" pitchFamily="34" charset="0"/>
                <a:ea typeface="Segoe UI" pitchFamily="34" charset="-122"/>
                <a:cs typeface="Segoe UI" pitchFamily="34" charset="-120"/>
              </a:rPr>
              <a:t>Vinhomes Cần Giờ</a:t>
            </a:r>
            <a:endParaRPr lang="en-US" sz="700" dirty="0"/>
          </a:p>
        </p:txBody>
      </p:sp>
      <p:sp>
        <p:nvSpPr>
          <p:cNvPr id="53" name="Shape 49"/>
          <p:cNvSpPr/>
          <p:nvPr/>
        </p:nvSpPr>
        <p:spPr>
          <a:xfrm>
            <a:off x="914400" y="3973068"/>
            <a:ext cx="3474720" cy="0"/>
          </a:xfrm>
          <a:prstGeom prst="line">
            <a:avLst/>
          </a:prstGeom>
          <a:noFill/>
          <a:ln w="6350">
            <a:solidFill>
              <a:srgbClr val="E2E8F0"/>
            </a:solidFill>
            <a:prstDash val="solid"/>
          </a:ln>
        </p:spPr>
      </p:sp>
      <p:sp>
        <p:nvSpPr>
          <p:cNvPr id="54" name="Shape 50"/>
          <p:cNvSpPr/>
          <p:nvPr/>
        </p:nvSpPr>
        <p:spPr>
          <a:xfrm>
            <a:off x="914400" y="4064508"/>
            <a:ext cx="274320" cy="274320"/>
          </a:xfrm>
          <a:prstGeom prst="ellipse">
            <a:avLst/>
          </a:prstGeom>
          <a:solidFill>
            <a:srgbClr val="F1F5F9"/>
          </a:solidFill>
          <a:ln w="6350">
            <a:solidFill>
              <a:srgbClr val="E2E8F0"/>
            </a:solidFill>
            <a:prstDash val="solid"/>
          </a:ln>
        </p:spPr>
      </p:sp>
      <p:sp>
        <p:nvSpPr>
          <p:cNvPr id="55" name="Text 51"/>
          <p:cNvSpPr/>
          <p:nvPr/>
        </p:nvSpPr>
        <p:spPr>
          <a:xfrm>
            <a:off x="914400" y="4064508"/>
            <a:ext cx="274320" cy="27432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Đ</a:t>
            </a:r>
            <a:endParaRPr lang="en-US" sz="900" dirty="0"/>
          </a:p>
        </p:txBody>
      </p:sp>
      <p:sp>
        <p:nvSpPr>
          <p:cNvPr id="56" name="Text 52"/>
          <p:cNvSpPr/>
          <p:nvPr/>
        </p:nvSpPr>
        <p:spPr>
          <a:xfrm>
            <a:off x="1280160" y="4046220"/>
            <a:ext cx="2011680" cy="164592"/>
          </a:xfrm>
          <a:prstGeom prst="rect">
            <a:avLst/>
          </a:prstGeom>
          <a:noFill/>
          <a:ln/>
        </p:spPr>
        <p:txBody>
          <a:bodyPr wrap="square" rtlCol="0" anchor="ctr"/>
          <a:lstStyle/>
          <a:p>
            <a:pPr indent="0" marL="0">
              <a:buNone/>
            </a:pPr>
            <a:r>
              <a:rPr lang="en-US" sz="850" b="1" dirty="0">
                <a:solidFill>
                  <a:srgbClr val="0F172A"/>
                </a:solidFill>
                <a:latin typeface="Segoe UI" pitchFamily="34" charset="0"/>
                <a:ea typeface="Segoe UI" pitchFamily="34" charset="-122"/>
                <a:cs typeface="Segoe UI" pitchFamily="34" charset="-120"/>
              </a:rPr>
              <a:t>Đinh Thanh</a:t>
            </a:r>
            <a:endParaRPr lang="en-US" sz="850" dirty="0"/>
          </a:p>
        </p:txBody>
      </p:sp>
      <p:sp>
        <p:nvSpPr>
          <p:cNvPr id="57" name="Text 53"/>
          <p:cNvSpPr/>
          <p:nvPr/>
        </p:nvSpPr>
        <p:spPr>
          <a:xfrm>
            <a:off x="1280160" y="4210812"/>
            <a:ext cx="2011680" cy="146304"/>
          </a:xfrm>
          <a:prstGeom prst="rect">
            <a:avLst/>
          </a:prstGeom>
          <a:noFill/>
          <a:ln/>
        </p:spPr>
        <p:txBody>
          <a:bodyPr wrap="square" rtlCol="0" anchor="ctr"/>
          <a:lstStyle/>
          <a:p>
            <a:pPr indent="0" marL="0">
              <a:buNone/>
            </a:pPr>
            <a:r>
              <a:rPr lang="en-US" sz="720" dirty="0">
                <a:solidFill>
                  <a:srgbClr val="475569"/>
                </a:solidFill>
                <a:latin typeface="Segoe UI" pitchFamily="34" charset="0"/>
                <a:ea typeface="Segoe UI" pitchFamily="34" charset="-122"/>
                <a:cs typeface="Segoe UI" pitchFamily="34" charset="-120"/>
              </a:rPr>
              <a:t>Võ Hoàng Nam • 11:06:03 23/7/2026</a:t>
            </a:r>
            <a:endParaRPr lang="en-US" sz="720" dirty="0"/>
          </a:p>
        </p:txBody>
      </p:sp>
      <p:sp>
        <p:nvSpPr>
          <p:cNvPr id="58" name="Shape 54"/>
          <p:cNvSpPr/>
          <p:nvPr/>
        </p:nvSpPr>
        <p:spPr>
          <a:xfrm>
            <a:off x="3200400" y="4082796"/>
            <a:ext cx="1188720" cy="182880"/>
          </a:xfrm>
          <a:prstGeom prst="roundRect">
            <a:avLst>
              <a:gd name="adj" fmla="val 250000"/>
            </a:avLst>
          </a:prstGeom>
          <a:solidFill>
            <a:srgbClr val="D1FAE5"/>
          </a:solidFill>
          <a:ln/>
        </p:spPr>
      </p:sp>
      <p:sp>
        <p:nvSpPr>
          <p:cNvPr id="59" name="Text 55"/>
          <p:cNvSpPr/>
          <p:nvPr/>
        </p:nvSpPr>
        <p:spPr>
          <a:xfrm>
            <a:off x="3200400" y="4082796"/>
            <a:ext cx="1188720" cy="182880"/>
          </a:xfrm>
          <a:prstGeom prst="rect">
            <a:avLst/>
          </a:prstGeom>
          <a:noFill/>
          <a:ln/>
        </p:spPr>
        <p:txBody>
          <a:bodyPr wrap="square" rtlCol="0" anchor="ctr"/>
          <a:lstStyle/>
          <a:p>
            <a:pPr algn="ctr" indent="0" marL="0">
              <a:buNone/>
            </a:pPr>
            <a:r>
              <a:rPr lang="en-US" sz="700" b="1" dirty="0">
                <a:solidFill>
                  <a:srgbClr val="065F46"/>
                </a:solidFill>
                <a:latin typeface="Segoe UI" pitchFamily="34" charset="0"/>
                <a:ea typeface="Segoe UI" pitchFamily="34" charset="-122"/>
                <a:cs typeface="Segoe UI" pitchFamily="34" charset="-120"/>
              </a:rPr>
              <a:t>Vinhomes Cần Giờ</a:t>
            </a:r>
            <a:endParaRPr lang="en-US" sz="700" dirty="0"/>
          </a:p>
        </p:txBody>
      </p:sp>
      <p:sp>
        <p:nvSpPr>
          <p:cNvPr id="60" name="Shape 56"/>
          <p:cNvSpPr/>
          <p:nvPr/>
        </p:nvSpPr>
        <p:spPr>
          <a:xfrm>
            <a:off x="914400" y="4213098"/>
            <a:ext cx="3474720" cy="0"/>
          </a:xfrm>
          <a:prstGeom prst="line">
            <a:avLst/>
          </a:prstGeom>
          <a:noFill/>
          <a:ln w="6350">
            <a:solidFill>
              <a:srgbClr val="E2E8F0"/>
            </a:solidFill>
            <a:prstDash val="solid"/>
          </a:ln>
        </p:spPr>
      </p:sp>
      <p:sp>
        <p:nvSpPr>
          <p:cNvPr id="61" name="Shape 57"/>
          <p:cNvSpPr/>
          <p:nvPr/>
        </p:nvSpPr>
        <p:spPr>
          <a:xfrm>
            <a:off x="914400" y="4304538"/>
            <a:ext cx="274320" cy="274320"/>
          </a:xfrm>
          <a:prstGeom prst="ellipse">
            <a:avLst/>
          </a:prstGeom>
          <a:solidFill>
            <a:srgbClr val="F1F5F9"/>
          </a:solidFill>
          <a:ln w="6350">
            <a:solidFill>
              <a:srgbClr val="E2E8F0"/>
            </a:solidFill>
            <a:prstDash val="solid"/>
          </a:ln>
        </p:spPr>
      </p:sp>
      <p:sp>
        <p:nvSpPr>
          <p:cNvPr id="62" name="Text 58"/>
          <p:cNvSpPr/>
          <p:nvPr/>
        </p:nvSpPr>
        <p:spPr>
          <a:xfrm>
            <a:off x="914400" y="4304538"/>
            <a:ext cx="274320" cy="27432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Đ</a:t>
            </a:r>
            <a:endParaRPr lang="en-US" sz="900" dirty="0"/>
          </a:p>
        </p:txBody>
      </p:sp>
      <p:sp>
        <p:nvSpPr>
          <p:cNvPr id="63" name="Text 59"/>
          <p:cNvSpPr/>
          <p:nvPr/>
        </p:nvSpPr>
        <p:spPr>
          <a:xfrm>
            <a:off x="1280160" y="4286250"/>
            <a:ext cx="2011680" cy="164592"/>
          </a:xfrm>
          <a:prstGeom prst="rect">
            <a:avLst/>
          </a:prstGeom>
          <a:noFill/>
          <a:ln/>
        </p:spPr>
        <p:txBody>
          <a:bodyPr wrap="square" rtlCol="0" anchor="ctr"/>
          <a:lstStyle/>
          <a:p>
            <a:pPr indent="0" marL="0">
              <a:buNone/>
            </a:pPr>
            <a:r>
              <a:rPr lang="en-US" sz="850" b="1" dirty="0">
                <a:solidFill>
                  <a:srgbClr val="0F172A"/>
                </a:solidFill>
                <a:latin typeface="Segoe UI" pitchFamily="34" charset="0"/>
                <a:ea typeface="Segoe UI" pitchFamily="34" charset="-122"/>
                <a:cs typeface="Segoe UI" pitchFamily="34" charset="-120"/>
              </a:rPr>
              <a:t>Đinh Thanh</a:t>
            </a:r>
            <a:endParaRPr lang="en-US" sz="850" dirty="0"/>
          </a:p>
        </p:txBody>
      </p:sp>
      <p:sp>
        <p:nvSpPr>
          <p:cNvPr id="64" name="Text 60"/>
          <p:cNvSpPr/>
          <p:nvPr/>
        </p:nvSpPr>
        <p:spPr>
          <a:xfrm>
            <a:off x="1280160" y="4450842"/>
            <a:ext cx="2011680" cy="146304"/>
          </a:xfrm>
          <a:prstGeom prst="rect">
            <a:avLst/>
          </a:prstGeom>
          <a:noFill/>
          <a:ln/>
        </p:spPr>
        <p:txBody>
          <a:bodyPr wrap="square" rtlCol="0" anchor="ctr"/>
          <a:lstStyle/>
          <a:p>
            <a:pPr indent="0" marL="0">
              <a:buNone/>
            </a:pPr>
            <a:r>
              <a:rPr lang="en-US" sz="720" dirty="0">
                <a:solidFill>
                  <a:srgbClr val="475569"/>
                </a:solidFill>
                <a:latin typeface="Segoe UI" pitchFamily="34" charset="0"/>
                <a:ea typeface="Segoe UI" pitchFamily="34" charset="-122"/>
                <a:cs typeface="Segoe UI" pitchFamily="34" charset="-120"/>
              </a:rPr>
              <a:t>Phạm Thu Hà • 11:06:01 23/7/2026</a:t>
            </a:r>
            <a:endParaRPr lang="en-US" sz="720" dirty="0"/>
          </a:p>
        </p:txBody>
      </p:sp>
      <p:sp>
        <p:nvSpPr>
          <p:cNvPr id="65" name="Shape 61"/>
          <p:cNvSpPr/>
          <p:nvPr/>
        </p:nvSpPr>
        <p:spPr>
          <a:xfrm>
            <a:off x="3200400" y="4322826"/>
            <a:ext cx="1188720" cy="182880"/>
          </a:xfrm>
          <a:prstGeom prst="roundRect">
            <a:avLst>
              <a:gd name="adj" fmla="val 250000"/>
            </a:avLst>
          </a:prstGeom>
          <a:solidFill>
            <a:srgbClr val="D1FAE5"/>
          </a:solidFill>
          <a:ln/>
        </p:spPr>
      </p:sp>
      <p:sp>
        <p:nvSpPr>
          <p:cNvPr id="66" name="Text 62"/>
          <p:cNvSpPr/>
          <p:nvPr/>
        </p:nvSpPr>
        <p:spPr>
          <a:xfrm>
            <a:off x="3200400" y="4322826"/>
            <a:ext cx="1188720" cy="182880"/>
          </a:xfrm>
          <a:prstGeom prst="rect">
            <a:avLst/>
          </a:prstGeom>
          <a:noFill/>
          <a:ln/>
        </p:spPr>
        <p:txBody>
          <a:bodyPr wrap="square" rtlCol="0" anchor="ctr"/>
          <a:lstStyle/>
          <a:p>
            <a:pPr algn="ctr" indent="0" marL="0">
              <a:buNone/>
            </a:pPr>
            <a:r>
              <a:rPr lang="en-US" sz="700" b="1" dirty="0">
                <a:solidFill>
                  <a:srgbClr val="065F46"/>
                </a:solidFill>
                <a:latin typeface="Segoe UI" pitchFamily="34" charset="0"/>
                <a:ea typeface="Segoe UI" pitchFamily="34" charset="-122"/>
                <a:cs typeface="Segoe UI" pitchFamily="34" charset="-120"/>
              </a:rPr>
              <a:t>Vinhomes Cần Giờ</a:t>
            </a:r>
            <a:endParaRPr lang="en-US" sz="700" dirty="0"/>
          </a:p>
        </p:txBody>
      </p:sp>
      <p:sp>
        <p:nvSpPr>
          <p:cNvPr id="67" name="Shape 63"/>
          <p:cNvSpPr/>
          <p:nvPr/>
        </p:nvSpPr>
        <p:spPr>
          <a:xfrm>
            <a:off x="4937760" y="3108960"/>
            <a:ext cx="3840480" cy="1417320"/>
          </a:xfrm>
          <a:prstGeom prst="roundRect">
            <a:avLst>
              <a:gd name="adj" fmla="val 5161"/>
            </a:avLst>
          </a:prstGeom>
          <a:solidFill>
            <a:srgbClr val="FFFFFF"/>
          </a:solidFill>
          <a:ln w="12700">
            <a:solidFill>
              <a:srgbClr val="E2E8F0"/>
            </a:solidFill>
            <a:prstDash val="solid"/>
          </a:ln>
        </p:spPr>
      </p:sp>
      <p:sp>
        <p:nvSpPr>
          <p:cNvPr id="68" name="Shape 64"/>
          <p:cNvSpPr/>
          <p:nvPr/>
        </p:nvSpPr>
        <p:spPr>
          <a:xfrm>
            <a:off x="4937760" y="3108960"/>
            <a:ext cx="3840480" cy="274320"/>
          </a:xfrm>
          <a:prstGeom prst="rect">
            <a:avLst/>
          </a:prstGeom>
          <a:solidFill>
            <a:srgbClr val="F8FAFC"/>
          </a:solidFill>
          <a:ln/>
        </p:spPr>
      </p:sp>
      <p:sp>
        <p:nvSpPr>
          <p:cNvPr id="69" name="Shape 65"/>
          <p:cNvSpPr/>
          <p:nvPr/>
        </p:nvSpPr>
        <p:spPr>
          <a:xfrm>
            <a:off x="5074920" y="3200400"/>
            <a:ext cx="91440" cy="91440"/>
          </a:xfrm>
          <a:prstGeom prst="ellipse">
            <a:avLst/>
          </a:prstGeom>
          <a:solidFill>
            <a:srgbClr val="3B82F6"/>
          </a:solidFill>
          <a:ln/>
        </p:spPr>
      </p:sp>
      <p:sp>
        <p:nvSpPr>
          <p:cNvPr id="70" name="Text 66"/>
          <p:cNvSpPr/>
          <p:nvPr/>
        </p:nvSpPr>
        <p:spPr>
          <a:xfrm>
            <a:off x="5212080" y="3108960"/>
            <a:ext cx="3474720" cy="274320"/>
          </a:xfrm>
          <a:prstGeom prst="rect">
            <a:avLst/>
          </a:prstGeom>
          <a:noFill/>
          <a:ln/>
        </p:spPr>
        <p:txBody>
          <a:bodyPr wrap="square" rtlCol="0" anchor="ctr"/>
          <a:lstStyle/>
          <a:p>
            <a:pPr indent="0" marL="0">
              <a:buNone/>
            </a:pPr>
            <a:r>
              <a:rPr lang="en-US" sz="800" b="1" dirty="0">
                <a:solidFill>
                  <a:srgbClr val="475569"/>
                </a:solidFill>
                <a:latin typeface="Segoe UI" pitchFamily="34" charset="0"/>
                <a:ea typeface="Segoe UI" pitchFamily="34" charset="-122"/>
                <a:cs typeface="Segoe UI" pitchFamily="34" charset="-120"/>
              </a:rPr>
              <a:t>TICKET: ASSIGNED</a:t>
            </a:r>
            <a:endParaRPr lang="en-US" sz="800" dirty="0"/>
          </a:p>
        </p:txBody>
      </p:sp>
      <p:sp>
        <p:nvSpPr>
          <p:cNvPr id="71" name="Text 67"/>
          <p:cNvSpPr/>
          <p:nvPr/>
        </p:nvSpPr>
        <p:spPr>
          <a:xfrm>
            <a:off x="5074920" y="3474720"/>
            <a:ext cx="3566160" cy="228600"/>
          </a:xfrm>
          <a:prstGeom prst="rect">
            <a:avLst/>
          </a:prstGeom>
          <a:noFill/>
          <a:ln/>
        </p:spPr>
        <p:txBody>
          <a:bodyPr wrap="square" rtlCol="0" anchor="ctr"/>
          <a:lstStyle/>
          <a:p>
            <a:pPr indent="0" marL="0">
              <a:buNone/>
            </a:pPr>
            <a:r>
              <a:rPr lang="en-US" sz="1050" b="1" dirty="0">
                <a:solidFill>
                  <a:srgbClr val="0F172A"/>
                </a:solidFill>
                <a:latin typeface="Segoe UI" pitchFamily="34" charset="0"/>
                <a:ea typeface="Segoe UI" pitchFamily="34" charset="-122"/>
                <a:cs typeface="Segoe UI" pitchFamily="34" charset="-120"/>
              </a:rPr>
              <a:t>Nguyễn Văn An</a:t>
            </a:r>
            <a:endParaRPr lang="en-US" sz="1050" dirty="0"/>
          </a:p>
        </p:txBody>
      </p:sp>
      <p:sp>
        <p:nvSpPr>
          <p:cNvPr id="72" name="Text 68"/>
          <p:cNvSpPr/>
          <p:nvPr/>
        </p:nvSpPr>
        <p:spPr>
          <a:xfrm>
            <a:off x="5074920" y="3703320"/>
            <a:ext cx="3566160" cy="182880"/>
          </a:xfrm>
          <a:prstGeom prst="rect">
            <a:avLst/>
          </a:prstGeom>
          <a:noFill/>
          <a:ln/>
        </p:spPr>
        <p:txBody>
          <a:bodyPr wrap="square" rtlCol="0" anchor="ctr"/>
          <a:lstStyle/>
          <a:p>
            <a:pPr indent="0" marL="0">
              <a:buNone/>
            </a:pPr>
            <a:r>
              <a:rPr lang="en-US" sz="900" dirty="0">
                <a:solidFill>
                  <a:srgbClr val="475569"/>
                </a:solidFill>
                <a:latin typeface="Segoe UI" pitchFamily="34" charset="0"/>
                <a:ea typeface="Segoe UI" pitchFamily="34" charset="-122"/>
                <a:cs typeface="Segoe UI" pitchFamily="34" charset="-120"/>
              </a:rPr>
              <a:t>0912345678</a:t>
            </a:r>
            <a:endParaRPr lang="en-US" sz="900" dirty="0"/>
          </a:p>
        </p:txBody>
      </p:sp>
      <p:sp>
        <p:nvSpPr>
          <p:cNvPr id="73" name="Shape 69"/>
          <p:cNvSpPr/>
          <p:nvPr/>
        </p:nvSpPr>
        <p:spPr>
          <a:xfrm>
            <a:off x="5074920" y="3977640"/>
            <a:ext cx="822960" cy="201168"/>
          </a:xfrm>
          <a:prstGeom prst="roundRect">
            <a:avLst>
              <a:gd name="adj" fmla="val 227273"/>
            </a:avLst>
          </a:prstGeom>
          <a:solidFill>
            <a:srgbClr val="E0F2FE"/>
          </a:solidFill>
          <a:ln/>
        </p:spPr>
      </p:sp>
      <p:sp>
        <p:nvSpPr>
          <p:cNvPr id="74" name="Text 70"/>
          <p:cNvSpPr/>
          <p:nvPr/>
        </p:nvSpPr>
        <p:spPr>
          <a:xfrm>
            <a:off x="5074920" y="3977640"/>
            <a:ext cx="822960" cy="201168"/>
          </a:xfrm>
          <a:prstGeom prst="rect">
            <a:avLst/>
          </a:prstGeom>
          <a:noFill/>
          <a:ln/>
        </p:spPr>
        <p:txBody>
          <a:bodyPr wrap="square" rtlCol="0" anchor="ctr"/>
          <a:lstStyle/>
          <a:p>
            <a:pPr algn="ctr" indent="0" marL="0">
              <a:buNone/>
            </a:pPr>
            <a:r>
              <a:rPr lang="en-US" sz="750" b="1" dirty="0">
                <a:solidFill>
                  <a:srgbClr val="0369A1"/>
                </a:solidFill>
                <a:latin typeface="Segoe UI" pitchFamily="34" charset="0"/>
                <a:ea typeface="Segoe UI" pitchFamily="34" charset="-122"/>
                <a:cs typeface="Segoe UI" pitchFamily="34" charset="-120"/>
              </a:rPr>
              <a:t>Facebook Ads</a:t>
            </a:r>
            <a:endParaRPr lang="en-US" sz="750" dirty="0"/>
          </a:p>
        </p:txBody>
      </p:sp>
      <p:sp>
        <p:nvSpPr>
          <p:cNvPr id="75" name="Shape 71"/>
          <p:cNvSpPr/>
          <p:nvPr/>
        </p:nvSpPr>
        <p:spPr>
          <a:xfrm>
            <a:off x="5989320" y="3977640"/>
            <a:ext cx="731520" cy="201168"/>
          </a:xfrm>
          <a:prstGeom prst="roundRect">
            <a:avLst>
              <a:gd name="adj" fmla="val 227273"/>
            </a:avLst>
          </a:prstGeom>
          <a:solidFill>
            <a:srgbClr val="FEE2E2"/>
          </a:solidFill>
          <a:ln/>
        </p:spPr>
      </p:sp>
      <p:sp>
        <p:nvSpPr>
          <p:cNvPr id="76" name="Text 72"/>
          <p:cNvSpPr/>
          <p:nvPr/>
        </p:nvSpPr>
        <p:spPr>
          <a:xfrm>
            <a:off x="5989320" y="3977640"/>
            <a:ext cx="731520" cy="201168"/>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HOT</a:t>
            </a:r>
            <a:endParaRPr lang="en-US" sz="750" dirty="0"/>
          </a:p>
        </p:txBody>
      </p:sp>
      <p:sp>
        <p:nvSpPr>
          <p:cNvPr id="77" name="Text 7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12 / 65</a:t>
            </a:r>
            <a:endParaRPr lang="en-US" sz="850" dirty="0"/>
          </a:p>
        </p:txBody>
      </p:sp>
      <p:sp>
        <p:nvSpPr>
          <p:cNvPr id="78" name="Text 7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CHIA LEAD</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Vòng Lặp Phân Phối Tròn getNextConsultant</a:t>
            </a:r>
            <a:endParaRPr lang="en-US" sz="1900" dirty="0"/>
          </a:p>
        </p:txBody>
      </p:sp>
      <p:sp>
        <p:nvSpPr>
          <p:cNvPr id="14" name="Shape 10"/>
          <p:cNvSpPr/>
          <p:nvPr/>
        </p:nvSpPr>
        <p:spPr>
          <a:xfrm>
            <a:off x="731520" y="1371600"/>
            <a:ext cx="3474720" cy="914400"/>
          </a:xfrm>
          <a:prstGeom prst="roundRect">
            <a:avLst>
              <a:gd name="adj" fmla="val 5000"/>
            </a:avLst>
          </a:prstGeom>
          <a:solidFill>
            <a:srgbClr val="FFFFFF"/>
          </a:solidFill>
          <a:ln w="12700">
            <a:solidFill>
              <a:srgbClr val="E2E8F0"/>
            </a:solidFill>
            <a:prstDash val="solid"/>
          </a:ln>
        </p:spPr>
      </p:sp>
      <p:sp>
        <p:nvSpPr>
          <p:cNvPr id="15" name="Shape 11"/>
          <p:cNvSpPr/>
          <p:nvPr/>
        </p:nvSpPr>
        <p:spPr>
          <a:xfrm>
            <a:off x="868680" y="1508760"/>
            <a:ext cx="320040" cy="228600"/>
          </a:xfrm>
          <a:prstGeom prst="roundRect">
            <a:avLst>
              <a:gd name="adj" fmla="val 200000"/>
            </a:avLst>
          </a:prstGeom>
          <a:solidFill>
            <a:srgbClr val="FEE2E2"/>
          </a:solidFill>
          <a:ln/>
        </p:spPr>
      </p:sp>
      <p:sp>
        <p:nvSpPr>
          <p:cNvPr id="16" name="Text 12"/>
          <p:cNvSpPr/>
          <p:nvPr/>
        </p:nvSpPr>
        <p:spPr>
          <a:xfrm>
            <a:off x="868680" y="150876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7" name="Text 13"/>
          <p:cNvSpPr/>
          <p:nvPr/>
        </p:nvSpPr>
        <p:spPr>
          <a:xfrm>
            <a:off x="1280160" y="1508760"/>
            <a:ext cx="278892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Lấy Sale cuối</a:t>
            </a:r>
            <a:endParaRPr lang="en-US" sz="1000" dirty="0"/>
          </a:p>
        </p:txBody>
      </p:sp>
      <p:sp>
        <p:nvSpPr>
          <p:cNvPr id="18" name="Text 14"/>
          <p:cNvSpPr/>
          <p:nvPr/>
        </p:nvSpPr>
        <p:spPr>
          <a:xfrm>
            <a:off x="868680" y="1783080"/>
            <a:ext cx="3200400" cy="3657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Đọc id Sale nhận lead gần nhất từ distribution_rounds.</a:t>
            </a:r>
            <a:endParaRPr lang="en-US" sz="820" dirty="0"/>
          </a:p>
        </p:txBody>
      </p:sp>
      <p:sp>
        <p:nvSpPr>
          <p:cNvPr id="19" name="Shape 15"/>
          <p:cNvSpPr/>
          <p:nvPr/>
        </p:nvSpPr>
        <p:spPr>
          <a:xfrm>
            <a:off x="4242816" y="1737360"/>
            <a:ext cx="109728" cy="182880"/>
          </a:xfrm>
          <a:prstGeom prst="rightArrow">
            <a:avLst/>
          </a:prstGeom>
          <a:solidFill>
            <a:srgbClr val="94A3B8"/>
          </a:solidFill>
          <a:ln w="6350">
            <a:solidFill>
              <a:srgbClr val="E2E8F0"/>
            </a:solidFill>
            <a:prstDash val="solid"/>
          </a:ln>
        </p:spPr>
      </p:sp>
      <p:sp>
        <p:nvSpPr>
          <p:cNvPr id="20" name="Shape 16"/>
          <p:cNvSpPr/>
          <p:nvPr/>
        </p:nvSpPr>
        <p:spPr>
          <a:xfrm>
            <a:off x="731520" y="2377440"/>
            <a:ext cx="3474720" cy="914400"/>
          </a:xfrm>
          <a:prstGeom prst="roundRect">
            <a:avLst>
              <a:gd name="adj" fmla="val 5000"/>
            </a:avLst>
          </a:prstGeom>
          <a:solidFill>
            <a:srgbClr val="FFFFFF"/>
          </a:solidFill>
          <a:ln w="12700">
            <a:solidFill>
              <a:srgbClr val="E2E8F0"/>
            </a:solidFill>
            <a:prstDash val="solid"/>
          </a:ln>
        </p:spPr>
      </p:sp>
      <p:sp>
        <p:nvSpPr>
          <p:cNvPr id="21" name="Shape 17"/>
          <p:cNvSpPr/>
          <p:nvPr/>
        </p:nvSpPr>
        <p:spPr>
          <a:xfrm>
            <a:off x="868680" y="2514600"/>
            <a:ext cx="320040" cy="228600"/>
          </a:xfrm>
          <a:prstGeom prst="roundRect">
            <a:avLst>
              <a:gd name="adj" fmla="val 200000"/>
            </a:avLst>
          </a:prstGeom>
          <a:solidFill>
            <a:srgbClr val="FEE2E2"/>
          </a:solidFill>
          <a:ln/>
        </p:spPr>
      </p:sp>
      <p:sp>
        <p:nvSpPr>
          <p:cNvPr id="22" name="Text 18"/>
          <p:cNvSpPr/>
          <p:nvPr/>
        </p:nvSpPr>
        <p:spPr>
          <a:xfrm>
            <a:off x="868680" y="251460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3" name="Text 19"/>
          <p:cNvSpPr/>
          <p:nvPr/>
        </p:nvSpPr>
        <p:spPr>
          <a:xfrm>
            <a:off x="1280160" y="2514600"/>
            <a:ext cx="278892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Tăng vị trí +1</a:t>
            </a:r>
            <a:endParaRPr lang="en-US" sz="1000" dirty="0"/>
          </a:p>
        </p:txBody>
      </p:sp>
      <p:sp>
        <p:nvSpPr>
          <p:cNvPr id="24" name="Text 20"/>
          <p:cNvSpPr/>
          <p:nvPr/>
        </p:nvSpPr>
        <p:spPr>
          <a:xfrm>
            <a:off x="868680" y="2788920"/>
            <a:ext cx="3200400" cy="3657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Xoay chỉ mục sang người tiếp theo, tìm trong CSDL.</a:t>
            </a:r>
            <a:endParaRPr lang="en-US" sz="820" dirty="0"/>
          </a:p>
        </p:txBody>
      </p:sp>
      <p:sp>
        <p:nvSpPr>
          <p:cNvPr id="25" name="Shape 21"/>
          <p:cNvSpPr/>
          <p:nvPr/>
        </p:nvSpPr>
        <p:spPr>
          <a:xfrm>
            <a:off x="4242816" y="2743200"/>
            <a:ext cx="109728" cy="182880"/>
          </a:xfrm>
          <a:prstGeom prst="rightArrow">
            <a:avLst/>
          </a:prstGeom>
          <a:solidFill>
            <a:srgbClr val="94A3B8"/>
          </a:solidFill>
          <a:ln w="6350">
            <a:solidFill>
              <a:srgbClr val="E2E8F0"/>
            </a:solidFill>
            <a:prstDash val="solid"/>
          </a:ln>
        </p:spPr>
      </p:sp>
      <p:sp>
        <p:nvSpPr>
          <p:cNvPr id="26" name="Shape 22"/>
          <p:cNvSpPr/>
          <p:nvPr/>
        </p:nvSpPr>
        <p:spPr>
          <a:xfrm>
            <a:off x="731520" y="3383280"/>
            <a:ext cx="3474720" cy="914400"/>
          </a:xfrm>
          <a:prstGeom prst="roundRect">
            <a:avLst>
              <a:gd name="adj" fmla="val 5000"/>
            </a:avLst>
          </a:prstGeom>
          <a:solidFill>
            <a:srgbClr val="FFFFFF"/>
          </a:solidFill>
          <a:ln w="12700">
            <a:solidFill>
              <a:srgbClr val="E2E8F0"/>
            </a:solidFill>
            <a:prstDash val="solid"/>
          </a:ln>
        </p:spPr>
      </p:sp>
      <p:sp>
        <p:nvSpPr>
          <p:cNvPr id="27" name="Shape 23"/>
          <p:cNvSpPr/>
          <p:nvPr/>
        </p:nvSpPr>
        <p:spPr>
          <a:xfrm>
            <a:off x="868680" y="3520440"/>
            <a:ext cx="320040" cy="228600"/>
          </a:xfrm>
          <a:prstGeom prst="roundRect">
            <a:avLst>
              <a:gd name="adj" fmla="val 200000"/>
            </a:avLst>
          </a:prstGeom>
          <a:solidFill>
            <a:srgbClr val="FEE2E2"/>
          </a:solidFill>
          <a:ln/>
        </p:spPr>
      </p:sp>
      <p:sp>
        <p:nvSpPr>
          <p:cNvPr id="28" name="Text 24"/>
          <p:cNvSpPr/>
          <p:nvPr/>
        </p:nvSpPr>
        <p:spPr>
          <a:xfrm>
            <a:off x="868680" y="352044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29" name="Text 25"/>
          <p:cNvSpPr/>
          <p:nvPr/>
        </p:nvSpPr>
        <p:spPr>
          <a:xfrm>
            <a:off x="1280160" y="3520440"/>
            <a:ext cx="278892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Cập nhật khóa</a:t>
            </a:r>
            <a:endParaRPr lang="en-US" sz="1000" dirty="0"/>
          </a:p>
        </p:txBody>
      </p:sp>
      <p:sp>
        <p:nvSpPr>
          <p:cNvPr id="30" name="Text 26"/>
          <p:cNvSpPr/>
          <p:nvPr/>
        </p:nvSpPr>
        <p:spPr>
          <a:xfrm>
            <a:off x="868680" y="3794760"/>
            <a:ext cx="3200400" cy="3657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Ghi nhận Sale ID mới vào rounds làm mốc cho lần sau.</a:t>
            </a:r>
            <a:endParaRPr lang="en-US" sz="820" dirty="0"/>
          </a:p>
        </p:txBody>
      </p:sp>
      <p:sp>
        <p:nvSpPr>
          <p:cNvPr id="31" name="Shape 27"/>
          <p:cNvSpPr/>
          <p:nvPr/>
        </p:nvSpPr>
        <p:spPr>
          <a:xfrm>
            <a:off x="4663440" y="1371600"/>
            <a:ext cx="4114800" cy="2971800"/>
          </a:xfrm>
          <a:prstGeom prst="roundRect">
            <a:avLst>
              <a:gd name="adj" fmla="val 2462"/>
            </a:avLst>
          </a:prstGeom>
          <a:solidFill>
            <a:srgbClr val="FFFFFF"/>
          </a:solidFill>
          <a:ln w="19050">
            <a:solidFill>
              <a:srgbClr val="E2E8F0"/>
            </a:solidFill>
            <a:prstDash val="solid"/>
          </a:ln>
        </p:spPr>
      </p:sp>
      <p:sp>
        <p:nvSpPr>
          <p:cNvPr id="32" name="Text 28"/>
          <p:cNvSpPr/>
          <p:nvPr/>
        </p:nvSpPr>
        <p:spPr>
          <a:xfrm>
            <a:off x="8412480" y="1463040"/>
            <a:ext cx="274320" cy="274320"/>
          </a:xfrm>
          <a:prstGeom prst="rect">
            <a:avLst/>
          </a:prstGeom>
          <a:noFill/>
          <a:ln/>
        </p:spPr>
        <p:txBody>
          <a:bodyPr wrap="square" rtlCol="0" anchor="ctr"/>
          <a:lstStyle/>
          <a:p>
            <a:pPr algn="ctr" indent="0" marL="0">
              <a:buNone/>
            </a:pPr>
            <a:r>
              <a:rPr lang="en-US" sz="1000" dirty="0">
                <a:solidFill>
                  <a:srgbClr val="94A3B8"/>
                </a:solidFill>
                <a:latin typeface="Segoe UI" pitchFamily="34" charset="0"/>
                <a:ea typeface="Segoe UI" pitchFamily="34" charset="-122"/>
                <a:cs typeface="Segoe UI" pitchFamily="34" charset="-120"/>
              </a:rPr>
              <a:t>✕</a:t>
            </a:r>
            <a:endParaRPr lang="en-US" sz="1000" dirty="0"/>
          </a:p>
        </p:txBody>
      </p:sp>
      <p:sp>
        <p:nvSpPr>
          <p:cNvPr id="33" name="Text 29"/>
          <p:cNvSpPr/>
          <p:nvPr/>
        </p:nvSpPr>
        <p:spPr>
          <a:xfrm>
            <a:off x="4937760" y="1508760"/>
            <a:ext cx="3383280" cy="274320"/>
          </a:xfrm>
          <a:prstGeom prst="rect">
            <a:avLst/>
          </a:prstGeom>
          <a:noFill/>
          <a:ln/>
        </p:spPr>
        <p:txBody>
          <a:bodyPr wrap="square" rtlCol="0" anchor="ctr"/>
          <a:lstStyle/>
          <a:p>
            <a:pPr indent="0" marL="0">
              <a:buNone/>
            </a:pPr>
            <a:r>
              <a:rPr lang="en-US" sz="1100" b="1" dirty="0">
                <a:solidFill>
                  <a:srgbClr val="0F172A"/>
                </a:solidFill>
                <a:latin typeface="Segoe UI" pitchFamily="34" charset="0"/>
                <a:ea typeface="Segoe UI" pitchFamily="34" charset="-122"/>
                <a:cs typeface="Segoe UI" pitchFamily="34" charset="-120"/>
              </a:rPr>
              <a:t>Menu điều hướng nhanh</a:t>
            </a:r>
            <a:endParaRPr lang="en-US" sz="1100" dirty="0"/>
          </a:p>
        </p:txBody>
      </p:sp>
      <p:sp>
        <p:nvSpPr>
          <p:cNvPr id="34" name="Shape 30"/>
          <p:cNvSpPr/>
          <p:nvPr/>
        </p:nvSpPr>
        <p:spPr>
          <a:xfrm>
            <a:off x="5189220" y="1993392"/>
            <a:ext cx="320040" cy="320040"/>
          </a:xfrm>
          <a:prstGeom prst="ellipse">
            <a:avLst/>
          </a:prstGeom>
          <a:solidFill>
            <a:srgbClr val="3B82F6"/>
          </a:solidFill>
          <a:ln w="12700">
            <a:solidFill>
              <a:srgbClr val="FFFFFF"/>
            </a:solidFill>
            <a:prstDash val="solid"/>
          </a:ln>
        </p:spPr>
      </p:sp>
      <p:sp>
        <p:nvSpPr>
          <p:cNvPr id="35" name="Text 31"/>
          <p:cNvSpPr/>
          <p:nvPr/>
        </p:nvSpPr>
        <p:spPr>
          <a:xfrm>
            <a:off x="4937760" y="233172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Dashboard</a:t>
            </a:r>
            <a:endParaRPr lang="en-US" sz="720" dirty="0"/>
          </a:p>
        </p:txBody>
      </p:sp>
      <p:sp>
        <p:nvSpPr>
          <p:cNvPr id="36" name="Shape 32"/>
          <p:cNvSpPr/>
          <p:nvPr/>
        </p:nvSpPr>
        <p:spPr>
          <a:xfrm>
            <a:off x="6149340" y="1993392"/>
            <a:ext cx="320040" cy="320040"/>
          </a:xfrm>
          <a:prstGeom prst="ellipse">
            <a:avLst/>
          </a:prstGeom>
          <a:solidFill>
            <a:srgbClr val="10B981"/>
          </a:solidFill>
          <a:ln w="12700">
            <a:solidFill>
              <a:srgbClr val="FFFFFF"/>
            </a:solidFill>
            <a:prstDash val="solid"/>
          </a:ln>
        </p:spPr>
      </p:sp>
      <p:sp>
        <p:nvSpPr>
          <p:cNvPr id="37" name="Text 33"/>
          <p:cNvSpPr/>
          <p:nvPr/>
        </p:nvSpPr>
        <p:spPr>
          <a:xfrm>
            <a:off x="5897880" y="233172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Bàn làm việc</a:t>
            </a:r>
            <a:endParaRPr lang="en-US" sz="720" dirty="0"/>
          </a:p>
        </p:txBody>
      </p:sp>
      <p:sp>
        <p:nvSpPr>
          <p:cNvPr id="38" name="Shape 34"/>
          <p:cNvSpPr/>
          <p:nvPr/>
        </p:nvSpPr>
        <p:spPr>
          <a:xfrm>
            <a:off x="7109460" y="1993392"/>
            <a:ext cx="320040" cy="320040"/>
          </a:xfrm>
          <a:prstGeom prst="ellipse">
            <a:avLst/>
          </a:prstGeom>
          <a:solidFill>
            <a:srgbClr val="8B5CF6"/>
          </a:solidFill>
          <a:ln w="12700">
            <a:solidFill>
              <a:srgbClr val="FFFFFF"/>
            </a:solidFill>
            <a:prstDash val="solid"/>
          </a:ln>
        </p:spPr>
      </p:sp>
      <p:sp>
        <p:nvSpPr>
          <p:cNvPr id="39" name="Text 35"/>
          <p:cNvSpPr/>
          <p:nvPr/>
        </p:nvSpPr>
        <p:spPr>
          <a:xfrm>
            <a:off x="6858000" y="233172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Báo cáo</a:t>
            </a:r>
            <a:endParaRPr lang="en-US" sz="720" dirty="0"/>
          </a:p>
        </p:txBody>
      </p:sp>
      <p:sp>
        <p:nvSpPr>
          <p:cNvPr id="40" name="Shape 36"/>
          <p:cNvSpPr/>
          <p:nvPr/>
        </p:nvSpPr>
        <p:spPr>
          <a:xfrm>
            <a:off x="8069580" y="1993392"/>
            <a:ext cx="320040" cy="320040"/>
          </a:xfrm>
          <a:prstGeom prst="ellipse">
            <a:avLst/>
          </a:prstGeom>
          <a:solidFill>
            <a:srgbClr val="EC4899"/>
          </a:solidFill>
          <a:ln w="12700">
            <a:solidFill>
              <a:srgbClr val="FFFFFF"/>
            </a:solidFill>
            <a:prstDash val="solid"/>
          </a:ln>
        </p:spPr>
      </p:sp>
      <p:sp>
        <p:nvSpPr>
          <p:cNvPr id="41" name="Text 37"/>
          <p:cNvSpPr/>
          <p:nvPr/>
        </p:nvSpPr>
        <p:spPr>
          <a:xfrm>
            <a:off x="7818120" y="233172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Khách hàng</a:t>
            </a:r>
            <a:endParaRPr lang="en-US" sz="720" dirty="0"/>
          </a:p>
        </p:txBody>
      </p:sp>
      <p:sp>
        <p:nvSpPr>
          <p:cNvPr id="42" name="Shape 38"/>
          <p:cNvSpPr/>
          <p:nvPr/>
        </p:nvSpPr>
        <p:spPr>
          <a:xfrm>
            <a:off x="5189220" y="2816352"/>
            <a:ext cx="320040" cy="320040"/>
          </a:xfrm>
          <a:prstGeom prst="ellipse">
            <a:avLst/>
          </a:prstGeom>
          <a:solidFill>
            <a:srgbClr val="9333EA"/>
          </a:solidFill>
          <a:ln w="12700">
            <a:solidFill>
              <a:srgbClr val="FFFFFF"/>
            </a:solidFill>
            <a:prstDash val="solid"/>
          </a:ln>
        </p:spPr>
      </p:sp>
      <p:sp>
        <p:nvSpPr>
          <p:cNvPr id="43" name="Text 39"/>
          <p:cNvSpPr/>
          <p:nvPr/>
        </p:nvSpPr>
        <p:spPr>
          <a:xfrm>
            <a:off x="4937760" y="315468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Pipeline</a:t>
            </a:r>
            <a:endParaRPr lang="en-US" sz="720" dirty="0"/>
          </a:p>
        </p:txBody>
      </p:sp>
      <p:sp>
        <p:nvSpPr>
          <p:cNvPr id="44" name="Shape 40"/>
          <p:cNvSpPr/>
          <p:nvPr/>
        </p:nvSpPr>
        <p:spPr>
          <a:xfrm>
            <a:off x="6149340" y="2816352"/>
            <a:ext cx="320040" cy="320040"/>
          </a:xfrm>
          <a:prstGeom prst="ellipse">
            <a:avLst/>
          </a:prstGeom>
          <a:solidFill>
            <a:srgbClr val="06B6D4"/>
          </a:solidFill>
          <a:ln w="12700">
            <a:solidFill>
              <a:srgbClr val="FFFFFF"/>
            </a:solidFill>
            <a:prstDash val="solid"/>
          </a:ln>
        </p:spPr>
      </p:sp>
      <p:sp>
        <p:nvSpPr>
          <p:cNvPr id="45" name="Text 41"/>
          <p:cNvSpPr/>
          <p:nvPr/>
        </p:nvSpPr>
        <p:spPr>
          <a:xfrm>
            <a:off x="5897880" y="315468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Giỏ hàng</a:t>
            </a:r>
            <a:endParaRPr lang="en-US" sz="720" dirty="0"/>
          </a:p>
        </p:txBody>
      </p:sp>
      <p:sp>
        <p:nvSpPr>
          <p:cNvPr id="46" name="Shape 42"/>
          <p:cNvSpPr/>
          <p:nvPr/>
        </p:nvSpPr>
        <p:spPr>
          <a:xfrm>
            <a:off x="7109460" y="2816352"/>
            <a:ext cx="320040" cy="320040"/>
          </a:xfrm>
          <a:prstGeom prst="ellipse">
            <a:avLst/>
          </a:prstGeom>
          <a:solidFill>
            <a:srgbClr val="F59E0B"/>
          </a:solidFill>
          <a:ln w="12700">
            <a:solidFill>
              <a:srgbClr val="FFFFFF"/>
            </a:solidFill>
            <a:prstDash val="solid"/>
          </a:ln>
        </p:spPr>
      </p:sp>
      <p:sp>
        <p:nvSpPr>
          <p:cNvPr id="47" name="Text 43"/>
          <p:cNvSpPr/>
          <p:nvPr/>
        </p:nvSpPr>
        <p:spPr>
          <a:xfrm>
            <a:off x="6858000" y="3154680"/>
            <a:ext cx="822960" cy="18288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Kho Databank</a:t>
            </a:r>
            <a:endParaRPr lang="en-US" sz="720" dirty="0"/>
          </a:p>
        </p:txBody>
      </p:sp>
      <p:sp>
        <p:nvSpPr>
          <p:cNvPr id="48" name="Text 44"/>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13 / 65</a:t>
            </a:r>
            <a:endParaRPr lang="en-US" sz="850" dirty="0"/>
          </a:p>
        </p:txBody>
      </p:sp>
      <p:sp>
        <p:nvSpPr>
          <p:cNvPr id="49" name="Text 45"/>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5 GATES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1: Dự Án &amp; Roster Chiến Dịch</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PHÂN LOẠI THEO DỰ ÁN</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Quét từ khóa chiến dịch hoặc ghi chú lead để nhận diện dự án phù hợp.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Dự án được quản lý trong bảng projects trạng thái đang hoạt động.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Nếu nhận diện được dự án: Bắt buộc đi qua cổng Roster.</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PROJECT ROSTER CHECK</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Tra cứu bảng project_roster để tìm danh sách Sale được cấp quyền.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Chỉ chia lead dự án cho Sale nằm trong roster đăng ký của dự án đó.</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chia lead nhầm cho Sale chưa được đào tạo dự án tương ứng.</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14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5 GATES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2: Điểm Danh Selfie &amp; Check-in Ca Trực</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RÀO CHẮN CHECK-IN</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ca trực ngày bắt buộc chụp ảnh selfie check-in approved.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Chưa approved check-in sẽ bị Gate chặn không nhận lead.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bỏ qua check-in với ca trực đêm (night_shift) đã duyệt.</a:t>
            </a:r>
            <a:endParaRPr lang="en-US" sz="920" dirty="0"/>
          </a:p>
        </p:txBody>
      </p:sp>
      <p:sp>
        <p:nvSpPr>
          <p:cNvPr id="17" name="Shape 13"/>
          <p:cNvSpPr/>
          <p:nvPr/>
        </p:nvSpPr>
        <p:spPr>
          <a:xfrm>
            <a:off x="4572000" y="1280160"/>
            <a:ext cx="1828800" cy="1554480"/>
          </a:xfrm>
          <a:prstGeom prst="roundRect">
            <a:avLst>
              <a:gd name="adj" fmla="val 4706"/>
            </a:avLst>
          </a:prstGeom>
          <a:solidFill>
            <a:srgbClr val="FFFFFF"/>
          </a:solidFill>
          <a:ln w="12700">
            <a:solidFill>
              <a:srgbClr val="E2E8F0"/>
            </a:solidFill>
            <a:prstDash val="solid"/>
          </a:ln>
        </p:spPr>
      </p:sp>
      <p:sp>
        <p:nvSpPr>
          <p:cNvPr id="18" name="Shape 14"/>
          <p:cNvSpPr/>
          <p:nvPr/>
        </p:nvSpPr>
        <p:spPr>
          <a:xfrm>
            <a:off x="4709160" y="1417320"/>
            <a:ext cx="411480" cy="411480"/>
          </a:xfrm>
          <a:prstGeom prst="ellipse">
            <a:avLst/>
          </a:prstGeom>
          <a:solidFill>
            <a:srgbClr val="F1F5F9"/>
          </a:solidFill>
          <a:ln w="12700">
            <a:solidFill>
              <a:srgbClr val="E2E8F0"/>
            </a:solidFill>
            <a:prstDash val="solid"/>
          </a:ln>
        </p:spPr>
      </p:sp>
      <p:sp>
        <p:nvSpPr>
          <p:cNvPr id="19" name="Text 15"/>
          <p:cNvSpPr/>
          <p:nvPr/>
        </p:nvSpPr>
        <p:spPr>
          <a:xfrm>
            <a:off x="4709160" y="141732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N</a:t>
            </a:r>
            <a:endParaRPr lang="en-US" sz="1200" dirty="0"/>
          </a:p>
        </p:txBody>
      </p:sp>
      <p:sp>
        <p:nvSpPr>
          <p:cNvPr id="20" name="Text 16"/>
          <p:cNvSpPr/>
          <p:nvPr/>
        </p:nvSpPr>
        <p:spPr>
          <a:xfrm>
            <a:off x="5212080" y="141732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Nguyễn Sale A</a:t>
            </a:r>
            <a:endParaRPr lang="en-US" sz="1000" dirty="0"/>
          </a:p>
        </p:txBody>
      </p:sp>
      <p:sp>
        <p:nvSpPr>
          <p:cNvPr id="21" name="Shape 17"/>
          <p:cNvSpPr/>
          <p:nvPr/>
        </p:nvSpPr>
        <p:spPr>
          <a:xfrm>
            <a:off x="5212080" y="1645920"/>
            <a:ext cx="822960" cy="182880"/>
          </a:xfrm>
          <a:prstGeom prst="roundRect">
            <a:avLst>
              <a:gd name="adj" fmla="val 250000"/>
            </a:avLst>
          </a:prstGeom>
          <a:solidFill>
            <a:srgbClr val="D1FAE5"/>
          </a:solidFill>
          <a:ln/>
        </p:spPr>
      </p:sp>
      <p:sp>
        <p:nvSpPr>
          <p:cNvPr id="22" name="Text 18"/>
          <p:cNvSpPr/>
          <p:nvPr/>
        </p:nvSpPr>
        <p:spPr>
          <a:xfrm>
            <a:off x="5212080" y="1645920"/>
            <a:ext cx="822960" cy="182880"/>
          </a:xfrm>
          <a:prstGeom prst="rect">
            <a:avLst/>
          </a:prstGeom>
          <a:noFill/>
          <a:ln/>
        </p:spPr>
        <p:txBody>
          <a:bodyPr wrap="square" rtlCol="0" anchor="ctr"/>
          <a:lstStyle/>
          <a:p>
            <a:pPr algn="ctr" indent="0" marL="0">
              <a:buNone/>
            </a:pPr>
            <a:r>
              <a:rPr lang="en-US" sz="720" b="1" dirty="0">
                <a:solidFill>
                  <a:srgbClr val="065F46"/>
                </a:solidFill>
                <a:latin typeface="Segoe UI" pitchFamily="34" charset="0"/>
                <a:ea typeface="Segoe UI" pitchFamily="34" charset="-122"/>
                <a:cs typeface="Segoe UI" pitchFamily="34" charset="-120"/>
              </a:rPr>
              <a:t>ACTIVE</a:t>
            </a:r>
            <a:endParaRPr lang="en-US" sz="720" dirty="0"/>
          </a:p>
        </p:txBody>
      </p:sp>
      <p:sp>
        <p:nvSpPr>
          <p:cNvPr id="23" name="Text 19"/>
          <p:cNvSpPr/>
          <p:nvPr/>
        </p:nvSpPr>
        <p:spPr>
          <a:xfrm>
            <a:off x="4709160" y="193852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8/20 Leads</a:t>
            </a:r>
            <a:endParaRPr lang="en-US" sz="750" dirty="0"/>
          </a:p>
        </p:txBody>
      </p:sp>
      <p:sp>
        <p:nvSpPr>
          <p:cNvPr id="24" name="Shape 20"/>
          <p:cNvSpPr/>
          <p:nvPr/>
        </p:nvSpPr>
        <p:spPr>
          <a:xfrm>
            <a:off x="4709160" y="2121408"/>
            <a:ext cx="1554480" cy="73152"/>
          </a:xfrm>
          <a:prstGeom prst="roundRect">
            <a:avLst>
              <a:gd name="adj" fmla="val 625000"/>
            </a:avLst>
          </a:prstGeom>
          <a:solidFill>
            <a:srgbClr val="F1F5F9"/>
          </a:solidFill>
          <a:ln/>
        </p:spPr>
      </p:sp>
      <p:sp>
        <p:nvSpPr>
          <p:cNvPr id="25" name="Shape 21"/>
          <p:cNvSpPr/>
          <p:nvPr/>
        </p:nvSpPr>
        <p:spPr>
          <a:xfrm>
            <a:off x="4709160" y="2121408"/>
            <a:ext cx="621792" cy="73152"/>
          </a:xfrm>
          <a:prstGeom prst="roundRect">
            <a:avLst>
              <a:gd name="adj" fmla="val 625000"/>
            </a:avLst>
          </a:prstGeom>
          <a:solidFill>
            <a:srgbClr val="3B82F6"/>
          </a:solidFill>
          <a:ln/>
        </p:spPr>
      </p:sp>
      <p:sp>
        <p:nvSpPr>
          <p:cNvPr id="26" name="Shape 22"/>
          <p:cNvSpPr/>
          <p:nvPr/>
        </p:nvSpPr>
        <p:spPr>
          <a:xfrm>
            <a:off x="6583680" y="1280160"/>
            <a:ext cx="1828800" cy="1554480"/>
          </a:xfrm>
          <a:prstGeom prst="roundRect">
            <a:avLst>
              <a:gd name="adj" fmla="val 4706"/>
            </a:avLst>
          </a:prstGeom>
          <a:solidFill>
            <a:srgbClr val="FFFFFF"/>
          </a:solidFill>
          <a:ln w="12700">
            <a:solidFill>
              <a:srgbClr val="E2E8F0"/>
            </a:solidFill>
            <a:prstDash val="solid"/>
          </a:ln>
        </p:spPr>
      </p:sp>
      <p:sp>
        <p:nvSpPr>
          <p:cNvPr id="27" name="Shape 23"/>
          <p:cNvSpPr/>
          <p:nvPr/>
        </p:nvSpPr>
        <p:spPr>
          <a:xfrm>
            <a:off x="6720840" y="1417320"/>
            <a:ext cx="411480" cy="411480"/>
          </a:xfrm>
          <a:prstGeom prst="ellipse">
            <a:avLst/>
          </a:prstGeom>
          <a:solidFill>
            <a:srgbClr val="F1F5F9"/>
          </a:solidFill>
          <a:ln w="12700">
            <a:solidFill>
              <a:srgbClr val="E2E8F0"/>
            </a:solidFill>
            <a:prstDash val="solid"/>
          </a:ln>
        </p:spPr>
      </p:sp>
      <p:sp>
        <p:nvSpPr>
          <p:cNvPr id="28" name="Text 24"/>
          <p:cNvSpPr/>
          <p:nvPr/>
        </p:nvSpPr>
        <p:spPr>
          <a:xfrm>
            <a:off x="6720840" y="141732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T</a:t>
            </a:r>
            <a:endParaRPr lang="en-US" sz="1200" dirty="0"/>
          </a:p>
        </p:txBody>
      </p:sp>
      <p:sp>
        <p:nvSpPr>
          <p:cNvPr id="29" name="Text 25"/>
          <p:cNvSpPr/>
          <p:nvPr/>
        </p:nvSpPr>
        <p:spPr>
          <a:xfrm>
            <a:off x="7223760" y="141732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Trần Sale B</a:t>
            </a:r>
            <a:endParaRPr lang="en-US" sz="1000" dirty="0"/>
          </a:p>
        </p:txBody>
      </p:sp>
      <p:sp>
        <p:nvSpPr>
          <p:cNvPr id="30" name="Shape 26"/>
          <p:cNvSpPr/>
          <p:nvPr/>
        </p:nvSpPr>
        <p:spPr>
          <a:xfrm>
            <a:off x="7223760" y="1645920"/>
            <a:ext cx="822960" cy="182880"/>
          </a:xfrm>
          <a:prstGeom prst="roundRect">
            <a:avLst>
              <a:gd name="adj" fmla="val 250000"/>
            </a:avLst>
          </a:prstGeom>
          <a:solidFill>
            <a:srgbClr val="D1FAE5"/>
          </a:solidFill>
          <a:ln/>
        </p:spPr>
      </p:sp>
      <p:sp>
        <p:nvSpPr>
          <p:cNvPr id="31" name="Text 27"/>
          <p:cNvSpPr/>
          <p:nvPr/>
        </p:nvSpPr>
        <p:spPr>
          <a:xfrm>
            <a:off x="7223760" y="1645920"/>
            <a:ext cx="822960" cy="182880"/>
          </a:xfrm>
          <a:prstGeom prst="rect">
            <a:avLst/>
          </a:prstGeom>
          <a:noFill/>
          <a:ln/>
        </p:spPr>
        <p:txBody>
          <a:bodyPr wrap="square" rtlCol="0" anchor="ctr"/>
          <a:lstStyle/>
          <a:p>
            <a:pPr algn="ctr" indent="0" marL="0">
              <a:buNone/>
            </a:pPr>
            <a:r>
              <a:rPr lang="en-US" sz="720" b="1" dirty="0">
                <a:solidFill>
                  <a:srgbClr val="065F46"/>
                </a:solidFill>
                <a:latin typeface="Segoe UI" pitchFamily="34" charset="0"/>
                <a:ea typeface="Segoe UI" pitchFamily="34" charset="-122"/>
                <a:cs typeface="Segoe UI" pitchFamily="34" charset="-120"/>
              </a:rPr>
              <a:t>ACTIVE</a:t>
            </a:r>
            <a:endParaRPr lang="en-US" sz="720" dirty="0"/>
          </a:p>
        </p:txBody>
      </p:sp>
      <p:sp>
        <p:nvSpPr>
          <p:cNvPr id="32" name="Text 28"/>
          <p:cNvSpPr/>
          <p:nvPr/>
        </p:nvSpPr>
        <p:spPr>
          <a:xfrm>
            <a:off x="6720840" y="193852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19/20 Leads</a:t>
            </a:r>
            <a:endParaRPr lang="en-US" sz="750" dirty="0"/>
          </a:p>
        </p:txBody>
      </p:sp>
      <p:sp>
        <p:nvSpPr>
          <p:cNvPr id="33" name="Shape 29"/>
          <p:cNvSpPr/>
          <p:nvPr/>
        </p:nvSpPr>
        <p:spPr>
          <a:xfrm>
            <a:off x="6720840" y="2121408"/>
            <a:ext cx="1554480" cy="73152"/>
          </a:xfrm>
          <a:prstGeom prst="roundRect">
            <a:avLst>
              <a:gd name="adj" fmla="val 625000"/>
            </a:avLst>
          </a:prstGeom>
          <a:solidFill>
            <a:srgbClr val="F1F5F9"/>
          </a:solidFill>
          <a:ln/>
        </p:spPr>
      </p:sp>
      <p:sp>
        <p:nvSpPr>
          <p:cNvPr id="34" name="Shape 30"/>
          <p:cNvSpPr/>
          <p:nvPr/>
        </p:nvSpPr>
        <p:spPr>
          <a:xfrm>
            <a:off x="6720840" y="2121408"/>
            <a:ext cx="1476756" cy="73152"/>
          </a:xfrm>
          <a:prstGeom prst="roundRect">
            <a:avLst>
              <a:gd name="adj" fmla="val 625000"/>
            </a:avLst>
          </a:prstGeom>
          <a:solidFill>
            <a:srgbClr val="3B82F6"/>
          </a:solidFill>
          <a:ln/>
        </p:spPr>
      </p:sp>
      <p:sp>
        <p:nvSpPr>
          <p:cNvPr id="35" name="Shape 31"/>
          <p:cNvSpPr/>
          <p:nvPr/>
        </p:nvSpPr>
        <p:spPr>
          <a:xfrm>
            <a:off x="4572000" y="3017520"/>
            <a:ext cx="1828800" cy="1554480"/>
          </a:xfrm>
          <a:prstGeom prst="roundRect">
            <a:avLst>
              <a:gd name="adj" fmla="val 4706"/>
            </a:avLst>
          </a:prstGeom>
          <a:solidFill>
            <a:srgbClr val="FFFFFF"/>
          </a:solidFill>
          <a:ln w="12700">
            <a:solidFill>
              <a:srgbClr val="E2E8F0"/>
            </a:solidFill>
            <a:prstDash val="solid"/>
          </a:ln>
        </p:spPr>
      </p:sp>
      <p:sp>
        <p:nvSpPr>
          <p:cNvPr id="36" name="Shape 32"/>
          <p:cNvSpPr/>
          <p:nvPr/>
        </p:nvSpPr>
        <p:spPr>
          <a:xfrm>
            <a:off x="4709160" y="3154680"/>
            <a:ext cx="411480" cy="411480"/>
          </a:xfrm>
          <a:prstGeom prst="ellipse">
            <a:avLst/>
          </a:prstGeom>
          <a:solidFill>
            <a:srgbClr val="F1F5F9"/>
          </a:solidFill>
          <a:ln w="12700">
            <a:solidFill>
              <a:srgbClr val="E2E8F0"/>
            </a:solidFill>
            <a:prstDash val="solid"/>
          </a:ln>
        </p:spPr>
      </p:sp>
      <p:sp>
        <p:nvSpPr>
          <p:cNvPr id="37" name="Text 33"/>
          <p:cNvSpPr/>
          <p:nvPr/>
        </p:nvSpPr>
        <p:spPr>
          <a:xfrm>
            <a:off x="4709160" y="315468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L</a:t>
            </a:r>
            <a:endParaRPr lang="en-US" sz="1200" dirty="0"/>
          </a:p>
        </p:txBody>
      </p:sp>
      <p:sp>
        <p:nvSpPr>
          <p:cNvPr id="38" name="Text 34"/>
          <p:cNvSpPr/>
          <p:nvPr/>
        </p:nvSpPr>
        <p:spPr>
          <a:xfrm>
            <a:off x="5212080" y="315468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Lê Sale C</a:t>
            </a:r>
            <a:endParaRPr lang="en-US" sz="1000" dirty="0"/>
          </a:p>
        </p:txBody>
      </p:sp>
      <p:sp>
        <p:nvSpPr>
          <p:cNvPr id="39" name="Shape 35"/>
          <p:cNvSpPr/>
          <p:nvPr/>
        </p:nvSpPr>
        <p:spPr>
          <a:xfrm>
            <a:off x="5212080" y="3383280"/>
            <a:ext cx="822960" cy="182880"/>
          </a:xfrm>
          <a:prstGeom prst="roundRect">
            <a:avLst>
              <a:gd name="adj" fmla="val 250000"/>
            </a:avLst>
          </a:prstGeom>
          <a:solidFill>
            <a:srgbClr val="E2E8F0"/>
          </a:solidFill>
          <a:ln/>
        </p:spPr>
      </p:sp>
      <p:sp>
        <p:nvSpPr>
          <p:cNvPr id="40" name="Text 36"/>
          <p:cNvSpPr/>
          <p:nvPr/>
        </p:nvSpPr>
        <p:spPr>
          <a:xfrm>
            <a:off x="5212080" y="3383280"/>
            <a:ext cx="822960" cy="182880"/>
          </a:xfrm>
          <a:prstGeom prst="rect">
            <a:avLst/>
          </a:prstGeom>
          <a:noFill/>
          <a:ln/>
        </p:spPr>
        <p:txBody>
          <a:bodyPr wrap="square" rtlCol="0" anchor="ctr"/>
          <a:lstStyle/>
          <a:p>
            <a:pPr algn="ctr" indent="0" marL="0">
              <a:buNone/>
            </a:pPr>
            <a:r>
              <a:rPr lang="en-US" sz="720" b="1" dirty="0">
                <a:solidFill>
                  <a:srgbClr val="475569"/>
                </a:solidFill>
                <a:latin typeface="Segoe UI" pitchFamily="34" charset="0"/>
                <a:ea typeface="Segoe UI" pitchFamily="34" charset="-122"/>
                <a:cs typeface="Segoe UI" pitchFamily="34" charset="-120"/>
              </a:rPr>
              <a:t>UNCHECKED</a:t>
            </a:r>
            <a:endParaRPr lang="en-US" sz="720" dirty="0"/>
          </a:p>
        </p:txBody>
      </p:sp>
      <p:sp>
        <p:nvSpPr>
          <p:cNvPr id="41" name="Text 37"/>
          <p:cNvSpPr/>
          <p:nvPr/>
        </p:nvSpPr>
        <p:spPr>
          <a:xfrm>
            <a:off x="4709160" y="367588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0/20 Leads</a:t>
            </a:r>
            <a:endParaRPr lang="en-US" sz="750" dirty="0"/>
          </a:p>
        </p:txBody>
      </p:sp>
      <p:sp>
        <p:nvSpPr>
          <p:cNvPr id="42" name="Shape 38"/>
          <p:cNvSpPr/>
          <p:nvPr/>
        </p:nvSpPr>
        <p:spPr>
          <a:xfrm>
            <a:off x="4709160" y="3858768"/>
            <a:ext cx="1554480" cy="73152"/>
          </a:xfrm>
          <a:prstGeom prst="roundRect">
            <a:avLst>
              <a:gd name="adj" fmla="val 625000"/>
            </a:avLst>
          </a:prstGeom>
          <a:solidFill>
            <a:srgbClr val="F1F5F9"/>
          </a:solidFill>
          <a:ln/>
        </p:spPr>
      </p:sp>
      <p:sp>
        <p:nvSpPr>
          <p:cNvPr id="43" name="Shape 39"/>
          <p:cNvSpPr/>
          <p:nvPr/>
        </p:nvSpPr>
        <p:spPr>
          <a:xfrm>
            <a:off x="6583680" y="3017520"/>
            <a:ext cx="1828800" cy="1554480"/>
          </a:xfrm>
          <a:prstGeom prst="roundRect">
            <a:avLst>
              <a:gd name="adj" fmla="val 4706"/>
            </a:avLst>
          </a:prstGeom>
          <a:solidFill>
            <a:srgbClr val="FFFFFF"/>
          </a:solidFill>
          <a:ln w="12700">
            <a:solidFill>
              <a:srgbClr val="E2E8F0"/>
            </a:solidFill>
            <a:prstDash val="solid"/>
          </a:ln>
        </p:spPr>
      </p:sp>
      <p:sp>
        <p:nvSpPr>
          <p:cNvPr id="44" name="Shape 40"/>
          <p:cNvSpPr/>
          <p:nvPr/>
        </p:nvSpPr>
        <p:spPr>
          <a:xfrm>
            <a:off x="6720840" y="3154680"/>
            <a:ext cx="411480" cy="411480"/>
          </a:xfrm>
          <a:prstGeom prst="ellipse">
            <a:avLst/>
          </a:prstGeom>
          <a:solidFill>
            <a:srgbClr val="F1F5F9"/>
          </a:solidFill>
          <a:ln w="12700">
            <a:solidFill>
              <a:srgbClr val="E2E8F0"/>
            </a:solidFill>
            <a:prstDash val="solid"/>
          </a:ln>
        </p:spPr>
      </p:sp>
      <p:sp>
        <p:nvSpPr>
          <p:cNvPr id="45" name="Text 41"/>
          <p:cNvSpPr/>
          <p:nvPr/>
        </p:nvSpPr>
        <p:spPr>
          <a:xfrm>
            <a:off x="6720840" y="315468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P</a:t>
            </a:r>
            <a:endParaRPr lang="en-US" sz="1200" dirty="0"/>
          </a:p>
        </p:txBody>
      </p:sp>
      <p:sp>
        <p:nvSpPr>
          <p:cNvPr id="46" name="Text 42"/>
          <p:cNvSpPr/>
          <p:nvPr/>
        </p:nvSpPr>
        <p:spPr>
          <a:xfrm>
            <a:off x="7223760" y="315468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Phạm Ca Đêm</a:t>
            </a:r>
            <a:endParaRPr lang="en-US" sz="1000" dirty="0"/>
          </a:p>
        </p:txBody>
      </p:sp>
      <p:sp>
        <p:nvSpPr>
          <p:cNvPr id="47" name="Shape 43"/>
          <p:cNvSpPr/>
          <p:nvPr/>
        </p:nvSpPr>
        <p:spPr>
          <a:xfrm>
            <a:off x="7223760" y="3383280"/>
            <a:ext cx="822960" cy="182880"/>
          </a:xfrm>
          <a:prstGeom prst="roundRect">
            <a:avLst>
              <a:gd name="adj" fmla="val 250000"/>
            </a:avLst>
          </a:prstGeom>
          <a:solidFill>
            <a:srgbClr val="E2E8F0"/>
          </a:solidFill>
          <a:ln/>
        </p:spPr>
      </p:sp>
      <p:sp>
        <p:nvSpPr>
          <p:cNvPr id="48" name="Text 44"/>
          <p:cNvSpPr/>
          <p:nvPr/>
        </p:nvSpPr>
        <p:spPr>
          <a:xfrm>
            <a:off x="7223760" y="3383280"/>
            <a:ext cx="822960" cy="182880"/>
          </a:xfrm>
          <a:prstGeom prst="rect">
            <a:avLst/>
          </a:prstGeom>
          <a:noFill/>
          <a:ln/>
        </p:spPr>
        <p:txBody>
          <a:bodyPr wrap="square" rtlCol="0" anchor="ctr"/>
          <a:lstStyle/>
          <a:p>
            <a:pPr algn="ctr" indent="0" marL="0">
              <a:buNone/>
            </a:pPr>
            <a:r>
              <a:rPr lang="en-US" sz="720" b="1" dirty="0">
                <a:solidFill>
                  <a:srgbClr val="475569"/>
                </a:solidFill>
                <a:latin typeface="Segoe UI" pitchFamily="34" charset="0"/>
                <a:ea typeface="Segoe UI" pitchFamily="34" charset="-122"/>
                <a:cs typeface="Segoe UI" pitchFamily="34" charset="-120"/>
              </a:rPr>
              <a:t>NIGHT SHIFT</a:t>
            </a:r>
            <a:endParaRPr lang="en-US" sz="720" dirty="0"/>
          </a:p>
        </p:txBody>
      </p:sp>
      <p:sp>
        <p:nvSpPr>
          <p:cNvPr id="49" name="Text 45"/>
          <p:cNvSpPr/>
          <p:nvPr/>
        </p:nvSpPr>
        <p:spPr>
          <a:xfrm>
            <a:off x="6720840" y="367588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5/20 Leads</a:t>
            </a:r>
            <a:endParaRPr lang="en-US" sz="750" dirty="0"/>
          </a:p>
        </p:txBody>
      </p:sp>
      <p:sp>
        <p:nvSpPr>
          <p:cNvPr id="50" name="Shape 46"/>
          <p:cNvSpPr/>
          <p:nvPr/>
        </p:nvSpPr>
        <p:spPr>
          <a:xfrm>
            <a:off x="6720840" y="3858768"/>
            <a:ext cx="1554480" cy="73152"/>
          </a:xfrm>
          <a:prstGeom prst="roundRect">
            <a:avLst>
              <a:gd name="adj" fmla="val 625000"/>
            </a:avLst>
          </a:prstGeom>
          <a:solidFill>
            <a:srgbClr val="F1F5F9"/>
          </a:solidFill>
          <a:ln/>
        </p:spPr>
      </p:sp>
      <p:sp>
        <p:nvSpPr>
          <p:cNvPr id="51" name="Shape 47"/>
          <p:cNvSpPr/>
          <p:nvPr/>
        </p:nvSpPr>
        <p:spPr>
          <a:xfrm>
            <a:off x="6720840" y="3858768"/>
            <a:ext cx="388620" cy="73152"/>
          </a:xfrm>
          <a:prstGeom prst="roundRect">
            <a:avLst>
              <a:gd name="adj" fmla="val 625000"/>
            </a:avLst>
          </a:prstGeom>
          <a:solidFill>
            <a:srgbClr val="3B82F6"/>
          </a:solidFill>
          <a:ln/>
        </p:spPr>
      </p:sp>
      <p:sp>
        <p:nvSpPr>
          <p:cNvPr id="52" name="Text 48"/>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15 / 65</a:t>
            </a:r>
            <a:endParaRPr lang="en-US" sz="850" dirty="0"/>
          </a:p>
        </p:txBody>
      </p:sp>
      <p:sp>
        <p:nvSpPr>
          <p:cNvPr id="53" name="Text 49"/>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5 GATES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3: Trạng Thế Sale &amp; Nghỉ Phép</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VACATION MODE &amp; LEAVE</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có thể bật chế độ tạm vắng (vacation_mode = 1) trên App.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Quét bảng leave_schedules tìm các lịch nghỉ phép đã đăng ký.</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vắng mặt hoặc đi gặp khách sẽ được tự động bỏ qua chia lead.</a:t>
            </a:r>
            <a:endParaRPr lang="en-US" sz="920" dirty="0"/>
          </a:p>
        </p:txBody>
      </p:sp>
      <p:sp>
        <p:nvSpPr>
          <p:cNvPr id="17" name="Shape 13"/>
          <p:cNvSpPr/>
          <p:nvPr/>
        </p:nvSpPr>
        <p:spPr>
          <a:xfrm>
            <a:off x="4572000" y="1280160"/>
            <a:ext cx="1828800" cy="1554480"/>
          </a:xfrm>
          <a:prstGeom prst="roundRect">
            <a:avLst>
              <a:gd name="adj" fmla="val 4706"/>
            </a:avLst>
          </a:prstGeom>
          <a:solidFill>
            <a:srgbClr val="FFFFFF"/>
          </a:solidFill>
          <a:ln w="12700">
            <a:solidFill>
              <a:srgbClr val="E2E8F0"/>
            </a:solidFill>
            <a:prstDash val="solid"/>
          </a:ln>
        </p:spPr>
      </p:sp>
      <p:sp>
        <p:nvSpPr>
          <p:cNvPr id="18" name="Shape 14"/>
          <p:cNvSpPr/>
          <p:nvPr/>
        </p:nvSpPr>
        <p:spPr>
          <a:xfrm>
            <a:off x="4709160" y="1417320"/>
            <a:ext cx="411480" cy="411480"/>
          </a:xfrm>
          <a:prstGeom prst="ellipse">
            <a:avLst/>
          </a:prstGeom>
          <a:solidFill>
            <a:srgbClr val="F1F5F9"/>
          </a:solidFill>
          <a:ln w="12700">
            <a:solidFill>
              <a:srgbClr val="E2E8F0"/>
            </a:solidFill>
            <a:prstDash val="solid"/>
          </a:ln>
        </p:spPr>
      </p:sp>
      <p:sp>
        <p:nvSpPr>
          <p:cNvPr id="19" name="Text 15"/>
          <p:cNvSpPr/>
          <p:nvPr/>
        </p:nvSpPr>
        <p:spPr>
          <a:xfrm>
            <a:off x="4709160" y="141732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H</a:t>
            </a:r>
            <a:endParaRPr lang="en-US" sz="1200" dirty="0"/>
          </a:p>
        </p:txBody>
      </p:sp>
      <p:sp>
        <p:nvSpPr>
          <p:cNvPr id="20" name="Text 16"/>
          <p:cNvSpPr/>
          <p:nvPr/>
        </p:nvSpPr>
        <p:spPr>
          <a:xfrm>
            <a:off x="5212080" y="141732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Hoàng Sale D</a:t>
            </a:r>
            <a:endParaRPr lang="en-US" sz="1000" dirty="0"/>
          </a:p>
        </p:txBody>
      </p:sp>
      <p:sp>
        <p:nvSpPr>
          <p:cNvPr id="21" name="Shape 17"/>
          <p:cNvSpPr/>
          <p:nvPr/>
        </p:nvSpPr>
        <p:spPr>
          <a:xfrm>
            <a:off x="5212080" y="1645920"/>
            <a:ext cx="822960" cy="182880"/>
          </a:xfrm>
          <a:prstGeom prst="roundRect">
            <a:avLst>
              <a:gd name="adj" fmla="val 250000"/>
            </a:avLst>
          </a:prstGeom>
          <a:solidFill>
            <a:srgbClr val="FEE2E2"/>
          </a:solidFill>
          <a:ln/>
        </p:spPr>
      </p:sp>
      <p:sp>
        <p:nvSpPr>
          <p:cNvPr id="22" name="Text 18"/>
          <p:cNvSpPr/>
          <p:nvPr/>
        </p:nvSpPr>
        <p:spPr>
          <a:xfrm>
            <a:off x="5212080" y="1645920"/>
            <a:ext cx="822960" cy="182880"/>
          </a:xfrm>
          <a:prstGeom prst="rect">
            <a:avLst/>
          </a:prstGeom>
          <a:noFill/>
          <a:ln/>
        </p:spPr>
        <p:txBody>
          <a:bodyPr wrap="square" rtlCol="0" anchor="ctr"/>
          <a:lstStyle/>
          <a:p>
            <a:pPr algn="ctr" indent="0" marL="0">
              <a:buNone/>
            </a:pPr>
            <a:r>
              <a:rPr lang="en-US" sz="720" b="1" dirty="0">
                <a:solidFill>
                  <a:srgbClr val="BD1D2D"/>
                </a:solidFill>
                <a:latin typeface="Segoe UI" pitchFamily="34" charset="0"/>
                <a:ea typeface="Segoe UI" pitchFamily="34" charset="-122"/>
                <a:cs typeface="Segoe UI" pitchFamily="34" charset="-120"/>
              </a:rPr>
              <a:t>VACATION</a:t>
            </a:r>
            <a:endParaRPr lang="en-US" sz="720" dirty="0"/>
          </a:p>
        </p:txBody>
      </p:sp>
      <p:sp>
        <p:nvSpPr>
          <p:cNvPr id="23" name="Text 19"/>
          <p:cNvSpPr/>
          <p:nvPr/>
        </p:nvSpPr>
        <p:spPr>
          <a:xfrm>
            <a:off x="4709160" y="193852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12/20 Leads</a:t>
            </a:r>
            <a:endParaRPr lang="en-US" sz="750" dirty="0"/>
          </a:p>
        </p:txBody>
      </p:sp>
      <p:sp>
        <p:nvSpPr>
          <p:cNvPr id="24" name="Shape 20"/>
          <p:cNvSpPr/>
          <p:nvPr/>
        </p:nvSpPr>
        <p:spPr>
          <a:xfrm>
            <a:off x="4709160" y="2121408"/>
            <a:ext cx="1554480" cy="73152"/>
          </a:xfrm>
          <a:prstGeom prst="roundRect">
            <a:avLst>
              <a:gd name="adj" fmla="val 625000"/>
            </a:avLst>
          </a:prstGeom>
          <a:solidFill>
            <a:srgbClr val="F1F5F9"/>
          </a:solidFill>
          <a:ln/>
        </p:spPr>
      </p:sp>
      <p:sp>
        <p:nvSpPr>
          <p:cNvPr id="25" name="Shape 21"/>
          <p:cNvSpPr/>
          <p:nvPr/>
        </p:nvSpPr>
        <p:spPr>
          <a:xfrm>
            <a:off x="4709160" y="2121408"/>
            <a:ext cx="932688" cy="73152"/>
          </a:xfrm>
          <a:prstGeom prst="roundRect">
            <a:avLst>
              <a:gd name="adj" fmla="val 625000"/>
            </a:avLst>
          </a:prstGeom>
          <a:solidFill>
            <a:srgbClr val="3B82F6"/>
          </a:solidFill>
          <a:ln/>
        </p:spPr>
      </p:sp>
      <p:sp>
        <p:nvSpPr>
          <p:cNvPr id="26" name="Shape 22"/>
          <p:cNvSpPr/>
          <p:nvPr/>
        </p:nvSpPr>
        <p:spPr>
          <a:xfrm>
            <a:off x="6583680" y="1280160"/>
            <a:ext cx="1828800" cy="1554480"/>
          </a:xfrm>
          <a:prstGeom prst="roundRect">
            <a:avLst>
              <a:gd name="adj" fmla="val 4706"/>
            </a:avLst>
          </a:prstGeom>
          <a:solidFill>
            <a:srgbClr val="FFFFFF"/>
          </a:solidFill>
          <a:ln w="12700">
            <a:solidFill>
              <a:srgbClr val="E2E8F0"/>
            </a:solidFill>
            <a:prstDash val="solid"/>
          </a:ln>
        </p:spPr>
      </p:sp>
      <p:sp>
        <p:nvSpPr>
          <p:cNvPr id="27" name="Shape 23"/>
          <p:cNvSpPr/>
          <p:nvPr/>
        </p:nvSpPr>
        <p:spPr>
          <a:xfrm>
            <a:off x="6720840" y="1417320"/>
            <a:ext cx="411480" cy="411480"/>
          </a:xfrm>
          <a:prstGeom prst="ellipse">
            <a:avLst/>
          </a:prstGeom>
          <a:solidFill>
            <a:srgbClr val="F1F5F9"/>
          </a:solidFill>
          <a:ln w="12700">
            <a:solidFill>
              <a:srgbClr val="E2E8F0"/>
            </a:solidFill>
            <a:prstDash val="solid"/>
          </a:ln>
        </p:spPr>
      </p:sp>
      <p:sp>
        <p:nvSpPr>
          <p:cNvPr id="28" name="Text 24"/>
          <p:cNvSpPr/>
          <p:nvPr/>
        </p:nvSpPr>
        <p:spPr>
          <a:xfrm>
            <a:off x="6720840" y="141732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V</a:t>
            </a:r>
            <a:endParaRPr lang="en-US" sz="1200" dirty="0"/>
          </a:p>
        </p:txBody>
      </p:sp>
      <p:sp>
        <p:nvSpPr>
          <p:cNvPr id="29" name="Text 25"/>
          <p:cNvSpPr/>
          <p:nvPr/>
        </p:nvSpPr>
        <p:spPr>
          <a:xfrm>
            <a:off x="7223760" y="141732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Vũ Sale E</a:t>
            </a:r>
            <a:endParaRPr lang="en-US" sz="1000" dirty="0"/>
          </a:p>
        </p:txBody>
      </p:sp>
      <p:sp>
        <p:nvSpPr>
          <p:cNvPr id="30" name="Shape 26"/>
          <p:cNvSpPr/>
          <p:nvPr/>
        </p:nvSpPr>
        <p:spPr>
          <a:xfrm>
            <a:off x="7223760" y="1645920"/>
            <a:ext cx="822960" cy="182880"/>
          </a:xfrm>
          <a:prstGeom prst="roundRect">
            <a:avLst>
              <a:gd name="adj" fmla="val 250000"/>
            </a:avLst>
          </a:prstGeom>
          <a:solidFill>
            <a:srgbClr val="FEE2E2"/>
          </a:solidFill>
          <a:ln/>
        </p:spPr>
      </p:sp>
      <p:sp>
        <p:nvSpPr>
          <p:cNvPr id="31" name="Text 27"/>
          <p:cNvSpPr/>
          <p:nvPr/>
        </p:nvSpPr>
        <p:spPr>
          <a:xfrm>
            <a:off x="7223760" y="1645920"/>
            <a:ext cx="822960" cy="182880"/>
          </a:xfrm>
          <a:prstGeom prst="rect">
            <a:avLst/>
          </a:prstGeom>
          <a:noFill/>
          <a:ln/>
        </p:spPr>
        <p:txBody>
          <a:bodyPr wrap="square" rtlCol="0" anchor="ctr"/>
          <a:lstStyle/>
          <a:p>
            <a:pPr algn="ctr" indent="0" marL="0">
              <a:buNone/>
            </a:pPr>
            <a:r>
              <a:rPr lang="en-US" sz="720" b="1" dirty="0">
                <a:solidFill>
                  <a:srgbClr val="BD1D2D"/>
                </a:solidFill>
                <a:latin typeface="Segoe UI" pitchFamily="34" charset="0"/>
                <a:ea typeface="Segoe UI" pitchFamily="34" charset="-122"/>
                <a:cs typeface="Segoe UI" pitchFamily="34" charset="-120"/>
              </a:rPr>
              <a:t>LEAVE</a:t>
            </a:r>
            <a:endParaRPr lang="en-US" sz="720" dirty="0"/>
          </a:p>
        </p:txBody>
      </p:sp>
      <p:sp>
        <p:nvSpPr>
          <p:cNvPr id="32" name="Text 28"/>
          <p:cNvSpPr/>
          <p:nvPr/>
        </p:nvSpPr>
        <p:spPr>
          <a:xfrm>
            <a:off x="6720840" y="193852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0/20 Leads</a:t>
            </a:r>
            <a:endParaRPr lang="en-US" sz="750" dirty="0"/>
          </a:p>
        </p:txBody>
      </p:sp>
      <p:sp>
        <p:nvSpPr>
          <p:cNvPr id="33" name="Shape 29"/>
          <p:cNvSpPr/>
          <p:nvPr/>
        </p:nvSpPr>
        <p:spPr>
          <a:xfrm>
            <a:off x="6720840" y="2121408"/>
            <a:ext cx="1554480" cy="73152"/>
          </a:xfrm>
          <a:prstGeom prst="roundRect">
            <a:avLst>
              <a:gd name="adj" fmla="val 625000"/>
            </a:avLst>
          </a:prstGeom>
          <a:solidFill>
            <a:srgbClr val="F1F5F9"/>
          </a:solidFill>
          <a:ln/>
        </p:spPr>
      </p:sp>
      <p:sp>
        <p:nvSpPr>
          <p:cNvPr id="34" name="Shape 30"/>
          <p:cNvSpPr/>
          <p:nvPr/>
        </p:nvSpPr>
        <p:spPr>
          <a:xfrm>
            <a:off x="4572000" y="3017520"/>
            <a:ext cx="1828800" cy="1554480"/>
          </a:xfrm>
          <a:prstGeom prst="roundRect">
            <a:avLst>
              <a:gd name="adj" fmla="val 4706"/>
            </a:avLst>
          </a:prstGeom>
          <a:solidFill>
            <a:srgbClr val="FFFFFF"/>
          </a:solidFill>
          <a:ln w="12700">
            <a:solidFill>
              <a:srgbClr val="E2E8F0"/>
            </a:solidFill>
            <a:prstDash val="solid"/>
          </a:ln>
        </p:spPr>
      </p:sp>
      <p:sp>
        <p:nvSpPr>
          <p:cNvPr id="35" name="Shape 31"/>
          <p:cNvSpPr/>
          <p:nvPr/>
        </p:nvSpPr>
        <p:spPr>
          <a:xfrm>
            <a:off x="4709160" y="3154680"/>
            <a:ext cx="411480" cy="411480"/>
          </a:xfrm>
          <a:prstGeom prst="ellipse">
            <a:avLst/>
          </a:prstGeom>
          <a:solidFill>
            <a:srgbClr val="F1F5F9"/>
          </a:solidFill>
          <a:ln w="12700">
            <a:solidFill>
              <a:srgbClr val="E2E8F0"/>
            </a:solidFill>
            <a:prstDash val="solid"/>
          </a:ln>
        </p:spPr>
      </p:sp>
      <p:sp>
        <p:nvSpPr>
          <p:cNvPr id="36" name="Text 32"/>
          <p:cNvSpPr/>
          <p:nvPr/>
        </p:nvSpPr>
        <p:spPr>
          <a:xfrm>
            <a:off x="4709160" y="315468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Đ</a:t>
            </a:r>
            <a:endParaRPr lang="en-US" sz="1200" dirty="0"/>
          </a:p>
        </p:txBody>
      </p:sp>
      <p:sp>
        <p:nvSpPr>
          <p:cNvPr id="37" name="Text 33"/>
          <p:cNvSpPr/>
          <p:nvPr/>
        </p:nvSpPr>
        <p:spPr>
          <a:xfrm>
            <a:off x="5212080" y="315468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Đỗ Sale F</a:t>
            </a:r>
            <a:endParaRPr lang="en-US" sz="1000" dirty="0"/>
          </a:p>
        </p:txBody>
      </p:sp>
      <p:sp>
        <p:nvSpPr>
          <p:cNvPr id="38" name="Shape 34"/>
          <p:cNvSpPr/>
          <p:nvPr/>
        </p:nvSpPr>
        <p:spPr>
          <a:xfrm>
            <a:off x="5212080" y="3383280"/>
            <a:ext cx="822960" cy="182880"/>
          </a:xfrm>
          <a:prstGeom prst="roundRect">
            <a:avLst>
              <a:gd name="adj" fmla="val 250000"/>
            </a:avLst>
          </a:prstGeom>
          <a:solidFill>
            <a:srgbClr val="D1FAE5"/>
          </a:solidFill>
          <a:ln/>
        </p:spPr>
      </p:sp>
      <p:sp>
        <p:nvSpPr>
          <p:cNvPr id="39" name="Text 35"/>
          <p:cNvSpPr/>
          <p:nvPr/>
        </p:nvSpPr>
        <p:spPr>
          <a:xfrm>
            <a:off x="5212080" y="3383280"/>
            <a:ext cx="822960" cy="182880"/>
          </a:xfrm>
          <a:prstGeom prst="rect">
            <a:avLst/>
          </a:prstGeom>
          <a:noFill/>
          <a:ln/>
        </p:spPr>
        <p:txBody>
          <a:bodyPr wrap="square" rtlCol="0" anchor="ctr"/>
          <a:lstStyle/>
          <a:p>
            <a:pPr algn="ctr" indent="0" marL="0">
              <a:buNone/>
            </a:pPr>
            <a:r>
              <a:rPr lang="en-US" sz="720" b="1" dirty="0">
                <a:solidFill>
                  <a:srgbClr val="065F46"/>
                </a:solidFill>
                <a:latin typeface="Segoe UI" pitchFamily="34" charset="0"/>
                <a:ea typeface="Segoe UI" pitchFamily="34" charset="-122"/>
                <a:cs typeface="Segoe UI" pitchFamily="34" charset="-120"/>
              </a:rPr>
              <a:t>ACTIVE</a:t>
            </a:r>
            <a:endParaRPr lang="en-US" sz="720" dirty="0"/>
          </a:p>
        </p:txBody>
      </p:sp>
      <p:sp>
        <p:nvSpPr>
          <p:cNvPr id="40" name="Text 36"/>
          <p:cNvSpPr/>
          <p:nvPr/>
        </p:nvSpPr>
        <p:spPr>
          <a:xfrm>
            <a:off x="4709160" y="367588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4/20 Leads</a:t>
            </a:r>
            <a:endParaRPr lang="en-US" sz="750" dirty="0"/>
          </a:p>
        </p:txBody>
      </p:sp>
      <p:sp>
        <p:nvSpPr>
          <p:cNvPr id="41" name="Shape 37"/>
          <p:cNvSpPr/>
          <p:nvPr/>
        </p:nvSpPr>
        <p:spPr>
          <a:xfrm>
            <a:off x="4709160" y="3858768"/>
            <a:ext cx="1554480" cy="73152"/>
          </a:xfrm>
          <a:prstGeom prst="roundRect">
            <a:avLst>
              <a:gd name="adj" fmla="val 625000"/>
            </a:avLst>
          </a:prstGeom>
          <a:solidFill>
            <a:srgbClr val="F1F5F9"/>
          </a:solidFill>
          <a:ln/>
        </p:spPr>
      </p:sp>
      <p:sp>
        <p:nvSpPr>
          <p:cNvPr id="42" name="Shape 38"/>
          <p:cNvSpPr/>
          <p:nvPr/>
        </p:nvSpPr>
        <p:spPr>
          <a:xfrm>
            <a:off x="4709160" y="3858768"/>
            <a:ext cx="310896" cy="73152"/>
          </a:xfrm>
          <a:prstGeom prst="roundRect">
            <a:avLst>
              <a:gd name="adj" fmla="val 625000"/>
            </a:avLst>
          </a:prstGeom>
          <a:solidFill>
            <a:srgbClr val="3B82F6"/>
          </a:solidFill>
          <a:ln/>
        </p:spPr>
      </p:sp>
      <p:sp>
        <p:nvSpPr>
          <p:cNvPr id="43" name="Shape 39"/>
          <p:cNvSpPr/>
          <p:nvPr/>
        </p:nvSpPr>
        <p:spPr>
          <a:xfrm>
            <a:off x="6583680" y="3017520"/>
            <a:ext cx="1828800" cy="1554480"/>
          </a:xfrm>
          <a:prstGeom prst="roundRect">
            <a:avLst>
              <a:gd name="adj" fmla="val 4706"/>
            </a:avLst>
          </a:prstGeom>
          <a:solidFill>
            <a:srgbClr val="FFFFFF"/>
          </a:solidFill>
          <a:ln w="12700">
            <a:solidFill>
              <a:srgbClr val="E2E8F0"/>
            </a:solidFill>
            <a:prstDash val="solid"/>
          </a:ln>
        </p:spPr>
      </p:sp>
      <p:sp>
        <p:nvSpPr>
          <p:cNvPr id="44" name="Shape 40"/>
          <p:cNvSpPr/>
          <p:nvPr/>
        </p:nvSpPr>
        <p:spPr>
          <a:xfrm>
            <a:off x="6720840" y="3154680"/>
            <a:ext cx="411480" cy="411480"/>
          </a:xfrm>
          <a:prstGeom prst="ellipse">
            <a:avLst/>
          </a:prstGeom>
          <a:solidFill>
            <a:srgbClr val="F1F5F9"/>
          </a:solidFill>
          <a:ln w="12700">
            <a:solidFill>
              <a:srgbClr val="E2E8F0"/>
            </a:solidFill>
            <a:prstDash val="solid"/>
          </a:ln>
        </p:spPr>
      </p:sp>
      <p:sp>
        <p:nvSpPr>
          <p:cNvPr id="45" name="Text 41"/>
          <p:cNvSpPr/>
          <p:nvPr/>
        </p:nvSpPr>
        <p:spPr>
          <a:xfrm>
            <a:off x="6720840" y="315468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M</a:t>
            </a:r>
            <a:endParaRPr lang="en-US" sz="1200" dirty="0"/>
          </a:p>
        </p:txBody>
      </p:sp>
      <p:sp>
        <p:nvSpPr>
          <p:cNvPr id="46" name="Text 42"/>
          <p:cNvSpPr/>
          <p:nvPr/>
        </p:nvSpPr>
        <p:spPr>
          <a:xfrm>
            <a:off x="7223760" y="315468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Mai Sale G</a:t>
            </a:r>
            <a:endParaRPr lang="en-US" sz="1000" dirty="0"/>
          </a:p>
        </p:txBody>
      </p:sp>
      <p:sp>
        <p:nvSpPr>
          <p:cNvPr id="47" name="Shape 43"/>
          <p:cNvSpPr/>
          <p:nvPr/>
        </p:nvSpPr>
        <p:spPr>
          <a:xfrm>
            <a:off x="7223760" y="3383280"/>
            <a:ext cx="822960" cy="182880"/>
          </a:xfrm>
          <a:prstGeom prst="roundRect">
            <a:avLst>
              <a:gd name="adj" fmla="val 250000"/>
            </a:avLst>
          </a:prstGeom>
          <a:solidFill>
            <a:srgbClr val="D1FAE5"/>
          </a:solidFill>
          <a:ln/>
        </p:spPr>
      </p:sp>
      <p:sp>
        <p:nvSpPr>
          <p:cNvPr id="48" name="Text 44"/>
          <p:cNvSpPr/>
          <p:nvPr/>
        </p:nvSpPr>
        <p:spPr>
          <a:xfrm>
            <a:off x="7223760" y="3383280"/>
            <a:ext cx="822960" cy="182880"/>
          </a:xfrm>
          <a:prstGeom prst="rect">
            <a:avLst/>
          </a:prstGeom>
          <a:noFill/>
          <a:ln/>
        </p:spPr>
        <p:txBody>
          <a:bodyPr wrap="square" rtlCol="0" anchor="ctr"/>
          <a:lstStyle/>
          <a:p>
            <a:pPr algn="ctr" indent="0" marL="0">
              <a:buNone/>
            </a:pPr>
            <a:r>
              <a:rPr lang="en-US" sz="720" b="1" dirty="0">
                <a:solidFill>
                  <a:srgbClr val="065F46"/>
                </a:solidFill>
                <a:latin typeface="Segoe UI" pitchFamily="34" charset="0"/>
                <a:ea typeface="Segoe UI" pitchFamily="34" charset="-122"/>
                <a:cs typeface="Segoe UI" pitchFamily="34" charset="-120"/>
              </a:rPr>
              <a:t>ACTIVE</a:t>
            </a:r>
            <a:endParaRPr lang="en-US" sz="720" dirty="0"/>
          </a:p>
        </p:txBody>
      </p:sp>
      <p:sp>
        <p:nvSpPr>
          <p:cNvPr id="49" name="Text 45"/>
          <p:cNvSpPr/>
          <p:nvPr/>
        </p:nvSpPr>
        <p:spPr>
          <a:xfrm>
            <a:off x="6720840" y="367588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15/20 Leads</a:t>
            </a:r>
            <a:endParaRPr lang="en-US" sz="750" dirty="0"/>
          </a:p>
        </p:txBody>
      </p:sp>
      <p:sp>
        <p:nvSpPr>
          <p:cNvPr id="50" name="Shape 46"/>
          <p:cNvSpPr/>
          <p:nvPr/>
        </p:nvSpPr>
        <p:spPr>
          <a:xfrm>
            <a:off x="6720840" y="3858768"/>
            <a:ext cx="1554480" cy="73152"/>
          </a:xfrm>
          <a:prstGeom prst="roundRect">
            <a:avLst>
              <a:gd name="adj" fmla="val 625000"/>
            </a:avLst>
          </a:prstGeom>
          <a:solidFill>
            <a:srgbClr val="F1F5F9"/>
          </a:solidFill>
          <a:ln/>
        </p:spPr>
      </p:sp>
      <p:sp>
        <p:nvSpPr>
          <p:cNvPr id="51" name="Shape 47"/>
          <p:cNvSpPr/>
          <p:nvPr/>
        </p:nvSpPr>
        <p:spPr>
          <a:xfrm>
            <a:off x="6720840" y="3858768"/>
            <a:ext cx="1165860" cy="73152"/>
          </a:xfrm>
          <a:prstGeom prst="roundRect">
            <a:avLst>
              <a:gd name="adj" fmla="val 625000"/>
            </a:avLst>
          </a:prstGeom>
          <a:solidFill>
            <a:srgbClr val="3B82F6"/>
          </a:solidFill>
          <a:ln/>
        </p:spPr>
      </p:sp>
      <p:sp>
        <p:nvSpPr>
          <p:cNvPr id="52" name="Text 48"/>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16 / 65</a:t>
            </a:r>
            <a:endParaRPr lang="en-US" sz="850" dirty="0"/>
          </a:p>
        </p:txBody>
      </p:sp>
      <p:sp>
        <p:nvSpPr>
          <p:cNvPr id="53" name="Text 49"/>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5 GATES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4: Van Chống Ôm Lead (Backpressure)</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NGƯỠNG GĂM GIỮ LEAD</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chia lead nếu Sale giữ quá 5 lead chưa xử lý.</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Thúc đẩy tốc độ tương tác lead dưới 15 phút đầu tiên.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Phản hồi nhanh giúp tăng 400% tỷ lệ chuyển đổi.</a:t>
            </a:r>
            <a:endParaRPr lang="en-US" sz="920" dirty="0"/>
          </a:p>
        </p:txBody>
      </p:sp>
      <p:sp>
        <p:nvSpPr>
          <p:cNvPr id="17" name="Shape 13"/>
          <p:cNvSpPr/>
          <p:nvPr/>
        </p:nvSpPr>
        <p:spPr>
          <a:xfrm>
            <a:off x="4572000" y="1280160"/>
            <a:ext cx="1828800" cy="1554480"/>
          </a:xfrm>
          <a:prstGeom prst="roundRect">
            <a:avLst>
              <a:gd name="adj" fmla="val 4706"/>
            </a:avLst>
          </a:prstGeom>
          <a:solidFill>
            <a:srgbClr val="FFFFFF"/>
          </a:solidFill>
          <a:ln w="12700">
            <a:solidFill>
              <a:srgbClr val="E2E8F0"/>
            </a:solidFill>
            <a:prstDash val="solid"/>
          </a:ln>
        </p:spPr>
      </p:sp>
      <p:sp>
        <p:nvSpPr>
          <p:cNvPr id="18" name="Shape 14"/>
          <p:cNvSpPr/>
          <p:nvPr/>
        </p:nvSpPr>
        <p:spPr>
          <a:xfrm>
            <a:off x="4709160" y="1417320"/>
            <a:ext cx="411480" cy="411480"/>
          </a:xfrm>
          <a:prstGeom prst="ellipse">
            <a:avLst/>
          </a:prstGeom>
          <a:solidFill>
            <a:srgbClr val="F1F5F9"/>
          </a:solidFill>
          <a:ln w="12700">
            <a:solidFill>
              <a:srgbClr val="E2E8F0"/>
            </a:solidFill>
            <a:prstDash val="solid"/>
          </a:ln>
        </p:spPr>
      </p:sp>
      <p:sp>
        <p:nvSpPr>
          <p:cNvPr id="19" name="Text 15"/>
          <p:cNvSpPr/>
          <p:nvPr/>
        </p:nvSpPr>
        <p:spPr>
          <a:xfrm>
            <a:off x="4709160" y="141732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B</a:t>
            </a:r>
            <a:endParaRPr lang="en-US" sz="1200" dirty="0"/>
          </a:p>
        </p:txBody>
      </p:sp>
      <p:sp>
        <p:nvSpPr>
          <p:cNvPr id="20" name="Text 16"/>
          <p:cNvSpPr/>
          <p:nvPr/>
        </p:nvSpPr>
        <p:spPr>
          <a:xfrm>
            <a:off x="5212080" y="141732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Bùi Sale H</a:t>
            </a:r>
            <a:endParaRPr lang="en-US" sz="1000" dirty="0"/>
          </a:p>
        </p:txBody>
      </p:sp>
      <p:sp>
        <p:nvSpPr>
          <p:cNvPr id="21" name="Shape 17"/>
          <p:cNvSpPr/>
          <p:nvPr/>
        </p:nvSpPr>
        <p:spPr>
          <a:xfrm>
            <a:off x="5212080" y="1645920"/>
            <a:ext cx="822960" cy="182880"/>
          </a:xfrm>
          <a:prstGeom prst="roundRect">
            <a:avLst>
              <a:gd name="adj" fmla="val 250000"/>
            </a:avLst>
          </a:prstGeom>
          <a:solidFill>
            <a:srgbClr val="FEE2E2"/>
          </a:solidFill>
          <a:ln/>
        </p:spPr>
      </p:sp>
      <p:sp>
        <p:nvSpPr>
          <p:cNvPr id="22" name="Text 18"/>
          <p:cNvSpPr/>
          <p:nvPr/>
        </p:nvSpPr>
        <p:spPr>
          <a:xfrm>
            <a:off x="5212080" y="1645920"/>
            <a:ext cx="822960" cy="182880"/>
          </a:xfrm>
          <a:prstGeom prst="rect">
            <a:avLst/>
          </a:prstGeom>
          <a:noFill/>
          <a:ln/>
        </p:spPr>
        <p:txBody>
          <a:bodyPr wrap="square" rtlCol="0" anchor="ctr"/>
          <a:lstStyle/>
          <a:p>
            <a:pPr algn="ctr" indent="0" marL="0">
              <a:buNone/>
            </a:pPr>
            <a:r>
              <a:rPr lang="en-US" sz="720" b="1" dirty="0">
                <a:solidFill>
                  <a:srgbClr val="BD1D2D"/>
                </a:solidFill>
                <a:latin typeface="Segoe UI" pitchFamily="34" charset="0"/>
                <a:ea typeface="Segoe UI" pitchFamily="34" charset="-122"/>
                <a:cs typeface="Segoe UI" pitchFamily="34" charset="-120"/>
              </a:rPr>
              <a:t>BLOCKED</a:t>
            </a:r>
            <a:endParaRPr lang="en-US" sz="720" dirty="0"/>
          </a:p>
        </p:txBody>
      </p:sp>
      <p:sp>
        <p:nvSpPr>
          <p:cNvPr id="23" name="Text 19"/>
          <p:cNvSpPr/>
          <p:nvPr/>
        </p:nvSpPr>
        <p:spPr>
          <a:xfrm>
            <a:off x="4709160" y="193852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5/5 Leads</a:t>
            </a:r>
            <a:endParaRPr lang="en-US" sz="750" dirty="0"/>
          </a:p>
        </p:txBody>
      </p:sp>
      <p:sp>
        <p:nvSpPr>
          <p:cNvPr id="24" name="Shape 20"/>
          <p:cNvSpPr/>
          <p:nvPr/>
        </p:nvSpPr>
        <p:spPr>
          <a:xfrm>
            <a:off x="4709160" y="2121408"/>
            <a:ext cx="1554480" cy="73152"/>
          </a:xfrm>
          <a:prstGeom prst="roundRect">
            <a:avLst>
              <a:gd name="adj" fmla="val 625000"/>
            </a:avLst>
          </a:prstGeom>
          <a:solidFill>
            <a:srgbClr val="F1F5F9"/>
          </a:solidFill>
          <a:ln/>
        </p:spPr>
      </p:sp>
      <p:sp>
        <p:nvSpPr>
          <p:cNvPr id="25" name="Shape 21"/>
          <p:cNvSpPr/>
          <p:nvPr/>
        </p:nvSpPr>
        <p:spPr>
          <a:xfrm>
            <a:off x="4709160" y="2121408"/>
            <a:ext cx="1554480" cy="73152"/>
          </a:xfrm>
          <a:prstGeom prst="roundRect">
            <a:avLst>
              <a:gd name="adj" fmla="val 625000"/>
            </a:avLst>
          </a:prstGeom>
          <a:solidFill>
            <a:srgbClr val="BD1D2D"/>
          </a:solidFill>
          <a:ln/>
        </p:spPr>
      </p:sp>
      <p:sp>
        <p:nvSpPr>
          <p:cNvPr id="26" name="Shape 22"/>
          <p:cNvSpPr/>
          <p:nvPr/>
        </p:nvSpPr>
        <p:spPr>
          <a:xfrm>
            <a:off x="6583680" y="1280160"/>
            <a:ext cx="1828800" cy="1554480"/>
          </a:xfrm>
          <a:prstGeom prst="roundRect">
            <a:avLst>
              <a:gd name="adj" fmla="val 4706"/>
            </a:avLst>
          </a:prstGeom>
          <a:solidFill>
            <a:srgbClr val="FFFFFF"/>
          </a:solidFill>
          <a:ln w="12700">
            <a:solidFill>
              <a:srgbClr val="E2E8F0"/>
            </a:solidFill>
            <a:prstDash val="solid"/>
          </a:ln>
        </p:spPr>
      </p:sp>
      <p:sp>
        <p:nvSpPr>
          <p:cNvPr id="27" name="Shape 23"/>
          <p:cNvSpPr/>
          <p:nvPr/>
        </p:nvSpPr>
        <p:spPr>
          <a:xfrm>
            <a:off x="6720840" y="1417320"/>
            <a:ext cx="411480" cy="411480"/>
          </a:xfrm>
          <a:prstGeom prst="ellipse">
            <a:avLst/>
          </a:prstGeom>
          <a:solidFill>
            <a:srgbClr val="F1F5F9"/>
          </a:solidFill>
          <a:ln w="12700">
            <a:solidFill>
              <a:srgbClr val="E2E8F0"/>
            </a:solidFill>
            <a:prstDash val="solid"/>
          </a:ln>
        </p:spPr>
      </p:sp>
      <p:sp>
        <p:nvSpPr>
          <p:cNvPr id="28" name="Text 24"/>
          <p:cNvSpPr/>
          <p:nvPr/>
        </p:nvSpPr>
        <p:spPr>
          <a:xfrm>
            <a:off x="6720840" y="1417320"/>
            <a:ext cx="411480" cy="411480"/>
          </a:xfrm>
          <a:prstGeom prst="rect">
            <a:avLst/>
          </a:prstGeom>
          <a:noFill/>
          <a:ln/>
        </p:spPr>
        <p:txBody>
          <a:bodyPr wrap="square" rtlCol="0" anchor="ctr"/>
          <a:lstStyle/>
          <a:p>
            <a:pPr algn="ctr" indent="0" marL="0">
              <a:buNone/>
            </a:pPr>
            <a:r>
              <a:rPr lang="en-US" sz="1200" b="1" dirty="0">
                <a:solidFill>
                  <a:srgbClr val="BD1D2D"/>
                </a:solidFill>
                <a:latin typeface="Segoe UI" pitchFamily="34" charset="0"/>
                <a:ea typeface="Segoe UI" pitchFamily="34" charset="-122"/>
                <a:cs typeface="Segoe UI" pitchFamily="34" charset="-120"/>
              </a:rPr>
              <a:t>N</a:t>
            </a:r>
            <a:endParaRPr lang="en-US" sz="1200" dirty="0"/>
          </a:p>
        </p:txBody>
      </p:sp>
      <p:sp>
        <p:nvSpPr>
          <p:cNvPr id="29" name="Text 25"/>
          <p:cNvSpPr/>
          <p:nvPr/>
        </p:nvSpPr>
        <p:spPr>
          <a:xfrm>
            <a:off x="7223760" y="1417320"/>
            <a:ext cx="109728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Ngô Sale I</a:t>
            </a:r>
            <a:endParaRPr lang="en-US" sz="1000" dirty="0"/>
          </a:p>
        </p:txBody>
      </p:sp>
      <p:sp>
        <p:nvSpPr>
          <p:cNvPr id="30" name="Shape 26"/>
          <p:cNvSpPr/>
          <p:nvPr/>
        </p:nvSpPr>
        <p:spPr>
          <a:xfrm>
            <a:off x="7223760" y="1645920"/>
            <a:ext cx="822960" cy="182880"/>
          </a:xfrm>
          <a:prstGeom prst="roundRect">
            <a:avLst>
              <a:gd name="adj" fmla="val 250000"/>
            </a:avLst>
          </a:prstGeom>
          <a:solidFill>
            <a:srgbClr val="D1FAE5"/>
          </a:solidFill>
          <a:ln/>
        </p:spPr>
      </p:sp>
      <p:sp>
        <p:nvSpPr>
          <p:cNvPr id="31" name="Text 27"/>
          <p:cNvSpPr/>
          <p:nvPr/>
        </p:nvSpPr>
        <p:spPr>
          <a:xfrm>
            <a:off x="7223760" y="1645920"/>
            <a:ext cx="822960" cy="182880"/>
          </a:xfrm>
          <a:prstGeom prst="rect">
            <a:avLst/>
          </a:prstGeom>
          <a:noFill/>
          <a:ln/>
        </p:spPr>
        <p:txBody>
          <a:bodyPr wrap="square" rtlCol="0" anchor="ctr"/>
          <a:lstStyle/>
          <a:p>
            <a:pPr algn="ctr" indent="0" marL="0">
              <a:buNone/>
            </a:pPr>
            <a:r>
              <a:rPr lang="en-US" sz="720" b="1" dirty="0">
                <a:solidFill>
                  <a:srgbClr val="065F46"/>
                </a:solidFill>
                <a:latin typeface="Segoe UI" pitchFamily="34" charset="0"/>
                <a:ea typeface="Segoe UI" pitchFamily="34" charset="-122"/>
                <a:cs typeface="Segoe UI" pitchFamily="34" charset="-120"/>
              </a:rPr>
              <a:t>ACTIVE</a:t>
            </a:r>
            <a:endParaRPr lang="en-US" sz="720" dirty="0"/>
          </a:p>
        </p:txBody>
      </p:sp>
      <p:sp>
        <p:nvSpPr>
          <p:cNvPr id="32" name="Text 28"/>
          <p:cNvSpPr/>
          <p:nvPr/>
        </p:nvSpPr>
        <p:spPr>
          <a:xfrm>
            <a:off x="6720840" y="1938528"/>
            <a:ext cx="155448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Quota: 2/5 Leads</a:t>
            </a:r>
            <a:endParaRPr lang="en-US" sz="750" dirty="0"/>
          </a:p>
        </p:txBody>
      </p:sp>
      <p:sp>
        <p:nvSpPr>
          <p:cNvPr id="33" name="Shape 29"/>
          <p:cNvSpPr/>
          <p:nvPr/>
        </p:nvSpPr>
        <p:spPr>
          <a:xfrm>
            <a:off x="6720840" y="2121408"/>
            <a:ext cx="1554480" cy="73152"/>
          </a:xfrm>
          <a:prstGeom prst="roundRect">
            <a:avLst>
              <a:gd name="adj" fmla="val 625000"/>
            </a:avLst>
          </a:prstGeom>
          <a:solidFill>
            <a:srgbClr val="F1F5F9"/>
          </a:solidFill>
          <a:ln/>
        </p:spPr>
      </p:sp>
      <p:sp>
        <p:nvSpPr>
          <p:cNvPr id="34" name="Shape 30"/>
          <p:cNvSpPr/>
          <p:nvPr/>
        </p:nvSpPr>
        <p:spPr>
          <a:xfrm>
            <a:off x="6720840" y="2121408"/>
            <a:ext cx="621792" cy="73152"/>
          </a:xfrm>
          <a:prstGeom prst="roundRect">
            <a:avLst>
              <a:gd name="adj" fmla="val 625000"/>
            </a:avLst>
          </a:prstGeom>
          <a:solidFill>
            <a:srgbClr val="3B82F6"/>
          </a:solidFill>
          <a:ln/>
        </p:spPr>
      </p:sp>
      <p:sp>
        <p:nvSpPr>
          <p:cNvPr id="35" name="Shape 31"/>
          <p:cNvSpPr/>
          <p:nvPr/>
        </p:nvSpPr>
        <p:spPr>
          <a:xfrm>
            <a:off x="4572000" y="3017520"/>
            <a:ext cx="3840480" cy="1554480"/>
          </a:xfrm>
          <a:prstGeom prst="roundRect">
            <a:avLst>
              <a:gd name="adj" fmla="val 4706"/>
            </a:avLst>
          </a:prstGeom>
          <a:solidFill>
            <a:srgbClr val="FFFFFF"/>
          </a:solidFill>
          <a:ln w="12700">
            <a:solidFill>
              <a:srgbClr val="E2E8F0"/>
            </a:solidFill>
            <a:prstDash val="solid"/>
          </a:ln>
        </p:spPr>
      </p:sp>
      <p:sp>
        <p:nvSpPr>
          <p:cNvPr id="36" name="Shape 32"/>
          <p:cNvSpPr/>
          <p:nvPr/>
        </p:nvSpPr>
        <p:spPr>
          <a:xfrm>
            <a:off x="4572000" y="3017520"/>
            <a:ext cx="3840480" cy="274320"/>
          </a:xfrm>
          <a:prstGeom prst="rect">
            <a:avLst/>
          </a:prstGeom>
          <a:solidFill>
            <a:srgbClr val="F8FAFC"/>
          </a:solidFill>
          <a:ln/>
        </p:spPr>
      </p:sp>
      <p:sp>
        <p:nvSpPr>
          <p:cNvPr id="37" name="Shape 33"/>
          <p:cNvSpPr/>
          <p:nvPr/>
        </p:nvSpPr>
        <p:spPr>
          <a:xfrm>
            <a:off x="4709160" y="3108960"/>
            <a:ext cx="91440" cy="91440"/>
          </a:xfrm>
          <a:prstGeom prst="ellipse">
            <a:avLst/>
          </a:prstGeom>
          <a:solidFill>
            <a:srgbClr val="3B82F6"/>
          </a:solidFill>
          <a:ln/>
        </p:spPr>
      </p:sp>
      <p:sp>
        <p:nvSpPr>
          <p:cNvPr id="38" name="Text 34"/>
          <p:cNvSpPr/>
          <p:nvPr/>
        </p:nvSpPr>
        <p:spPr>
          <a:xfrm>
            <a:off x="4846320" y="3017520"/>
            <a:ext cx="3474720" cy="274320"/>
          </a:xfrm>
          <a:prstGeom prst="rect">
            <a:avLst/>
          </a:prstGeom>
          <a:noFill/>
          <a:ln/>
        </p:spPr>
        <p:txBody>
          <a:bodyPr wrap="square" rtlCol="0" anchor="ctr"/>
          <a:lstStyle/>
          <a:p>
            <a:pPr indent="0" marL="0">
              <a:buNone/>
            </a:pPr>
            <a:r>
              <a:rPr lang="en-US" sz="800" b="1" dirty="0">
                <a:solidFill>
                  <a:srgbClr val="475569"/>
                </a:solidFill>
                <a:latin typeface="Segoe UI" pitchFamily="34" charset="0"/>
                <a:ea typeface="Segoe UI" pitchFamily="34" charset="-122"/>
                <a:cs typeface="Segoe UI" pitchFamily="34" charset="-120"/>
              </a:rPr>
              <a:t>TICKET: UNASSIGNED</a:t>
            </a:r>
            <a:endParaRPr lang="en-US" sz="800" dirty="0"/>
          </a:p>
        </p:txBody>
      </p:sp>
      <p:sp>
        <p:nvSpPr>
          <p:cNvPr id="39" name="Text 35"/>
          <p:cNvSpPr/>
          <p:nvPr/>
        </p:nvSpPr>
        <p:spPr>
          <a:xfrm>
            <a:off x="4709160" y="3383280"/>
            <a:ext cx="3566160" cy="228600"/>
          </a:xfrm>
          <a:prstGeom prst="rect">
            <a:avLst/>
          </a:prstGeom>
          <a:noFill/>
          <a:ln/>
        </p:spPr>
        <p:txBody>
          <a:bodyPr wrap="square" rtlCol="0" anchor="ctr"/>
          <a:lstStyle/>
          <a:p>
            <a:pPr indent="0" marL="0">
              <a:buNone/>
            </a:pPr>
            <a:r>
              <a:rPr lang="en-US" sz="1050" b="1" dirty="0">
                <a:solidFill>
                  <a:srgbClr val="0F172A"/>
                </a:solidFill>
                <a:latin typeface="Segoe UI" pitchFamily="34" charset="0"/>
                <a:ea typeface="Segoe UI" pitchFamily="34" charset="-122"/>
                <a:cs typeface="Segoe UI" pitchFamily="34" charset="-120"/>
              </a:rPr>
              <a:t>Lê Hoàng Long</a:t>
            </a:r>
            <a:endParaRPr lang="en-US" sz="1050" dirty="0"/>
          </a:p>
        </p:txBody>
      </p:sp>
      <p:sp>
        <p:nvSpPr>
          <p:cNvPr id="40" name="Text 36"/>
          <p:cNvSpPr/>
          <p:nvPr/>
        </p:nvSpPr>
        <p:spPr>
          <a:xfrm>
            <a:off x="4709160" y="3611880"/>
            <a:ext cx="3566160" cy="182880"/>
          </a:xfrm>
          <a:prstGeom prst="rect">
            <a:avLst/>
          </a:prstGeom>
          <a:noFill/>
          <a:ln/>
        </p:spPr>
        <p:txBody>
          <a:bodyPr wrap="square" rtlCol="0" anchor="ctr"/>
          <a:lstStyle/>
          <a:p>
            <a:pPr indent="0" marL="0">
              <a:buNone/>
            </a:pPr>
            <a:r>
              <a:rPr lang="en-US" sz="900" dirty="0">
                <a:solidFill>
                  <a:srgbClr val="475569"/>
                </a:solidFill>
                <a:latin typeface="Segoe UI" pitchFamily="34" charset="0"/>
                <a:ea typeface="Segoe UI" pitchFamily="34" charset="-122"/>
                <a:cs typeface="Segoe UI" pitchFamily="34" charset="-120"/>
              </a:rPr>
              <a:t>0909090909</a:t>
            </a:r>
            <a:endParaRPr lang="en-US" sz="900" dirty="0"/>
          </a:p>
        </p:txBody>
      </p:sp>
      <p:sp>
        <p:nvSpPr>
          <p:cNvPr id="41" name="Shape 37"/>
          <p:cNvSpPr/>
          <p:nvPr/>
        </p:nvSpPr>
        <p:spPr>
          <a:xfrm>
            <a:off x="4709160" y="3886200"/>
            <a:ext cx="822960" cy="201168"/>
          </a:xfrm>
          <a:prstGeom prst="roundRect">
            <a:avLst>
              <a:gd name="adj" fmla="val 227273"/>
            </a:avLst>
          </a:prstGeom>
          <a:solidFill>
            <a:srgbClr val="E0F2FE"/>
          </a:solidFill>
          <a:ln/>
        </p:spPr>
      </p:sp>
      <p:sp>
        <p:nvSpPr>
          <p:cNvPr id="42" name="Text 38"/>
          <p:cNvSpPr/>
          <p:nvPr/>
        </p:nvSpPr>
        <p:spPr>
          <a:xfrm>
            <a:off x="4709160" y="3886200"/>
            <a:ext cx="822960" cy="201168"/>
          </a:xfrm>
          <a:prstGeom prst="rect">
            <a:avLst/>
          </a:prstGeom>
          <a:noFill/>
          <a:ln/>
        </p:spPr>
        <p:txBody>
          <a:bodyPr wrap="square" rtlCol="0" anchor="ctr"/>
          <a:lstStyle/>
          <a:p>
            <a:pPr algn="ctr" indent="0" marL="0">
              <a:buNone/>
            </a:pPr>
            <a:r>
              <a:rPr lang="en-US" sz="750" b="1" dirty="0">
                <a:solidFill>
                  <a:srgbClr val="0369A1"/>
                </a:solidFill>
                <a:latin typeface="Segoe UI" pitchFamily="34" charset="0"/>
                <a:ea typeface="Segoe UI" pitchFamily="34" charset="-122"/>
                <a:cs typeface="Segoe UI" pitchFamily="34" charset="-120"/>
              </a:rPr>
              <a:t>Campaign A</a:t>
            </a:r>
            <a:endParaRPr lang="en-US" sz="750" dirty="0"/>
          </a:p>
        </p:txBody>
      </p:sp>
      <p:sp>
        <p:nvSpPr>
          <p:cNvPr id="43" name="Shape 39"/>
          <p:cNvSpPr/>
          <p:nvPr/>
        </p:nvSpPr>
        <p:spPr>
          <a:xfrm>
            <a:off x="5623560" y="3886200"/>
            <a:ext cx="731520" cy="201168"/>
          </a:xfrm>
          <a:prstGeom prst="roundRect">
            <a:avLst>
              <a:gd name="adj" fmla="val 227273"/>
            </a:avLst>
          </a:prstGeom>
          <a:solidFill>
            <a:srgbClr val="FEE2E2"/>
          </a:solidFill>
          <a:ln/>
        </p:spPr>
      </p:sp>
      <p:sp>
        <p:nvSpPr>
          <p:cNvPr id="44" name="Text 40"/>
          <p:cNvSpPr/>
          <p:nvPr/>
        </p:nvSpPr>
        <p:spPr>
          <a:xfrm>
            <a:off x="5623560" y="3886200"/>
            <a:ext cx="731520" cy="201168"/>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HOT</a:t>
            </a:r>
            <a:endParaRPr lang="en-US" sz="750" dirty="0"/>
          </a:p>
        </p:txBody>
      </p:sp>
      <p:sp>
        <p:nvSpPr>
          <p:cNvPr id="45" name="Text 41"/>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17 / 65</a:t>
            </a:r>
            <a:endParaRPr lang="en-US" sz="850" dirty="0"/>
          </a:p>
        </p:txBody>
      </p:sp>
      <p:sp>
        <p:nvSpPr>
          <p:cNvPr id="46" name="Text 42"/>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5 GATES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5: Hạn Mức &amp; Giám Sát Dòng Chảy Phân Bổ</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CÀI ĐẶT HẠN MỨC (QUOTA)</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chặn chia lead nếu vượt giới hạn nhận trong ngày/tháng.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Hạn mức giờ: tối đa 3 lead nhận mỗi giờ.</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Hạn mức ngày: cấu hình động tùy chiến dịch (mặc định 20 lead).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Giám sát trực quan tỷ lệ tiếp nhận và tỷ lệ thu hồi quá hạn.</a:t>
            </a:r>
            <a:endParaRPr lang="en-US" sz="920" dirty="0"/>
          </a:p>
        </p:txBody>
      </p:sp>
      <p:sp>
        <p:nvSpPr>
          <p:cNvPr id="17" name="Shape 13"/>
          <p:cNvSpPr/>
          <p:nvPr/>
        </p:nvSpPr>
        <p:spPr>
          <a:xfrm>
            <a:off x="4572000" y="1280160"/>
            <a:ext cx="4114800" cy="3291840"/>
          </a:xfrm>
          <a:prstGeom prst="roundRect">
            <a:avLst>
              <a:gd name="adj" fmla="val 2222"/>
            </a:avLst>
          </a:prstGeom>
          <a:solidFill>
            <a:srgbClr val="FFFFFF"/>
          </a:solidFill>
          <a:ln w="12700">
            <a:solidFill>
              <a:srgbClr val="E2E8F0"/>
            </a:solidFill>
            <a:prstDash val="solid"/>
          </a:ln>
        </p:spPr>
      </p:sp>
      <p:sp>
        <p:nvSpPr>
          <p:cNvPr id="18" name="Text 14"/>
          <p:cNvSpPr/>
          <p:nvPr/>
        </p:nvSpPr>
        <p:spPr>
          <a:xfrm>
            <a:off x="4754880" y="1417320"/>
            <a:ext cx="374904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Giám sát Dòng chảy Phân bổ &amp; Tỷ lệ Tiếp nhận Lead</a:t>
            </a:r>
            <a:endParaRPr lang="en-US" sz="1000" dirty="0"/>
          </a:p>
        </p:txBody>
      </p:sp>
      <p:sp>
        <p:nvSpPr>
          <p:cNvPr id="19" name="Text 15"/>
          <p:cNvSpPr/>
          <p:nvPr/>
        </p:nvSpPr>
        <p:spPr>
          <a:xfrm>
            <a:off x="4754880" y="1691640"/>
            <a:ext cx="164592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NHÂN VIÊN</a:t>
            </a:r>
            <a:endParaRPr lang="en-US" sz="720" dirty="0"/>
          </a:p>
        </p:txBody>
      </p:sp>
      <p:sp>
        <p:nvSpPr>
          <p:cNvPr id="20" name="Text 16"/>
          <p:cNvSpPr/>
          <p:nvPr/>
        </p:nvSpPr>
        <p:spPr>
          <a:xfrm>
            <a:off x="6400800" y="1691640"/>
            <a:ext cx="128016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LEAD NHẬN</a:t>
            </a:r>
            <a:endParaRPr lang="en-US" sz="720" dirty="0"/>
          </a:p>
        </p:txBody>
      </p:sp>
      <p:sp>
        <p:nvSpPr>
          <p:cNvPr id="21" name="Text 17"/>
          <p:cNvSpPr/>
          <p:nvPr/>
        </p:nvSpPr>
        <p:spPr>
          <a:xfrm>
            <a:off x="7680960" y="1691640"/>
            <a:ext cx="109728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TỶ LỆ NHẬN</a:t>
            </a:r>
            <a:endParaRPr lang="en-US" sz="720" dirty="0"/>
          </a:p>
        </p:txBody>
      </p:sp>
      <p:sp>
        <p:nvSpPr>
          <p:cNvPr id="22" name="Text 18"/>
          <p:cNvSpPr/>
          <p:nvPr/>
        </p:nvSpPr>
        <p:spPr>
          <a:xfrm>
            <a:off x="8778240" y="1691640"/>
            <a:ext cx="137160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QUÁ HẠN / THU HỒI</a:t>
            </a:r>
            <a:endParaRPr lang="en-US" sz="720" dirty="0"/>
          </a:p>
        </p:txBody>
      </p:sp>
      <p:sp>
        <p:nvSpPr>
          <p:cNvPr id="23" name="Text 19"/>
          <p:cNvSpPr/>
          <p:nvPr/>
        </p:nvSpPr>
        <p:spPr>
          <a:xfrm>
            <a:off x="10149840" y="1691640"/>
            <a:ext cx="128016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CHƯA TƯƠNG TÁC</a:t>
            </a:r>
            <a:endParaRPr lang="en-US" sz="720" dirty="0"/>
          </a:p>
        </p:txBody>
      </p:sp>
      <p:sp>
        <p:nvSpPr>
          <p:cNvPr id="24" name="Text 20"/>
          <p:cNvSpPr/>
          <p:nvPr/>
        </p:nvSpPr>
        <p:spPr>
          <a:xfrm>
            <a:off x="11430000" y="1691640"/>
            <a:ext cx="137160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DÒNG CHẢY (FLOW)</a:t>
            </a:r>
            <a:endParaRPr lang="en-US" sz="720" dirty="0"/>
          </a:p>
        </p:txBody>
      </p:sp>
      <p:sp>
        <p:nvSpPr>
          <p:cNvPr id="25" name="Shape 21"/>
          <p:cNvSpPr/>
          <p:nvPr/>
        </p:nvSpPr>
        <p:spPr>
          <a:xfrm>
            <a:off x="4754880" y="1965960"/>
            <a:ext cx="3749040" cy="0"/>
          </a:xfrm>
          <a:prstGeom prst="line">
            <a:avLst/>
          </a:prstGeom>
          <a:noFill/>
          <a:ln w="6350">
            <a:solidFill>
              <a:srgbClr val="E2E8F0"/>
            </a:solidFill>
            <a:prstDash val="solid"/>
          </a:ln>
        </p:spPr>
      </p:sp>
      <p:sp>
        <p:nvSpPr>
          <p:cNvPr id="26" name="Text 22"/>
          <p:cNvSpPr/>
          <p:nvPr/>
        </p:nvSpPr>
        <p:spPr>
          <a:xfrm>
            <a:off x="4754880" y="2057400"/>
            <a:ext cx="1645920" cy="182880"/>
          </a:xfrm>
          <a:prstGeom prst="rect">
            <a:avLst/>
          </a:prstGeom>
          <a:noFill/>
          <a:ln/>
        </p:spPr>
        <p:txBody>
          <a:bodyPr wrap="square" rtlCol="0" anchor="ctr"/>
          <a:lstStyle/>
          <a:p>
            <a:pPr indent="0" marL="0">
              <a:buNone/>
            </a:pPr>
            <a:r>
              <a:rPr lang="en-US" sz="850" b="1" dirty="0">
                <a:solidFill>
                  <a:srgbClr val="0F172A"/>
                </a:solidFill>
                <a:latin typeface="Segoe UI" pitchFamily="34" charset="0"/>
                <a:ea typeface="Segoe UI" pitchFamily="34" charset="-122"/>
                <a:cs typeface="Segoe UI" pitchFamily="34" charset="-120"/>
              </a:rPr>
              <a:t>Đinh Thanh</a:t>
            </a:r>
            <a:endParaRPr lang="en-US" sz="850" dirty="0"/>
          </a:p>
        </p:txBody>
      </p:sp>
      <p:sp>
        <p:nvSpPr>
          <p:cNvPr id="27" name="Text 23"/>
          <p:cNvSpPr/>
          <p:nvPr/>
        </p:nvSpPr>
        <p:spPr>
          <a:xfrm>
            <a:off x="4754880" y="2240280"/>
            <a:ext cx="1645920" cy="137160"/>
          </a:xfrm>
          <a:prstGeom prst="rect">
            <a:avLst/>
          </a:prstGeom>
          <a:noFill/>
          <a:ln/>
        </p:spPr>
        <p:txBody>
          <a:bodyPr wrap="square" rtlCol="0" anchor="ctr"/>
          <a:lstStyle/>
          <a:p>
            <a:pPr indent="0" marL="0">
              <a:buNone/>
            </a:pPr>
            <a:r>
              <a:rPr lang="en-US" sz="720" dirty="0">
                <a:solidFill>
                  <a:srgbClr val="475569"/>
                </a:solidFill>
                <a:latin typeface="Segoe UI" pitchFamily="34" charset="0"/>
                <a:ea typeface="Segoe UI" pitchFamily="34" charset="-122"/>
                <a:cs typeface="Segoe UI" pitchFamily="34" charset="-120"/>
              </a:rPr>
              <a:t>thanhtd.tdt@gmail.com</a:t>
            </a:r>
            <a:endParaRPr lang="en-US" sz="720" dirty="0"/>
          </a:p>
        </p:txBody>
      </p:sp>
      <p:sp>
        <p:nvSpPr>
          <p:cNvPr id="28" name="Text 24"/>
          <p:cNvSpPr/>
          <p:nvPr/>
        </p:nvSpPr>
        <p:spPr>
          <a:xfrm>
            <a:off x="6400800" y="2057400"/>
            <a:ext cx="1280160" cy="320040"/>
          </a:xfrm>
          <a:prstGeom prst="rect">
            <a:avLst/>
          </a:prstGeom>
          <a:noFill/>
          <a:ln/>
        </p:spPr>
        <p:txBody>
          <a:bodyPr wrap="square" rtlCol="0" anchor="ctr"/>
          <a:lstStyle/>
          <a:p>
            <a:pPr indent="0" marL="0">
              <a:buNone/>
            </a:pPr>
            <a:r>
              <a:rPr lang="en-US" sz="800" dirty="0">
                <a:solidFill>
                  <a:srgbClr val="0F172A"/>
                </a:solidFill>
                <a:latin typeface="Segoe UI" pitchFamily="34" charset="0"/>
                <a:ea typeface="Segoe UI" pitchFamily="34" charset="-122"/>
                <a:cs typeface="Segoe UI" pitchFamily="34" charset="-120"/>
              </a:rPr>
              <a:t>17/56 (bỏ qua 39)</a:t>
            </a:r>
            <a:endParaRPr lang="en-US" sz="800" dirty="0"/>
          </a:p>
        </p:txBody>
      </p:sp>
      <p:sp>
        <p:nvSpPr>
          <p:cNvPr id="29" name="Shape 25"/>
          <p:cNvSpPr/>
          <p:nvPr/>
        </p:nvSpPr>
        <p:spPr>
          <a:xfrm>
            <a:off x="7680960" y="2103120"/>
            <a:ext cx="640080" cy="182880"/>
          </a:xfrm>
          <a:prstGeom prst="roundRect">
            <a:avLst>
              <a:gd name="adj" fmla="val 250000"/>
            </a:avLst>
          </a:prstGeom>
          <a:solidFill>
            <a:srgbClr val="FEE2E2"/>
          </a:solidFill>
          <a:ln/>
        </p:spPr>
      </p:sp>
      <p:sp>
        <p:nvSpPr>
          <p:cNvPr id="30" name="Text 26"/>
          <p:cNvSpPr/>
          <p:nvPr/>
        </p:nvSpPr>
        <p:spPr>
          <a:xfrm>
            <a:off x="7680960" y="2103120"/>
            <a:ext cx="640080" cy="182880"/>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30.4%</a:t>
            </a:r>
            <a:endParaRPr lang="en-US" sz="750" dirty="0"/>
          </a:p>
        </p:txBody>
      </p:sp>
      <p:sp>
        <p:nvSpPr>
          <p:cNvPr id="31" name="Shape 27"/>
          <p:cNvSpPr/>
          <p:nvPr/>
        </p:nvSpPr>
        <p:spPr>
          <a:xfrm>
            <a:off x="8778240" y="2103120"/>
            <a:ext cx="822960" cy="182880"/>
          </a:xfrm>
          <a:prstGeom prst="roundRect">
            <a:avLst>
              <a:gd name="adj" fmla="val 250000"/>
            </a:avLst>
          </a:prstGeom>
          <a:solidFill>
            <a:srgbClr val="FEE2E2"/>
          </a:solidFill>
          <a:ln/>
        </p:spPr>
      </p:sp>
      <p:sp>
        <p:nvSpPr>
          <p:cNvPr id="32" name="Text 28"/>
          <p:cNvSpPr/>
          <p:nvPr/>
        </p:nvSpPr>
        <p:spPr>
          <a:xfrm>
            <a:off x="8778240" y="2103120"/>
            <a:ext cx="822960" cy="182880"/>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39 (69.6%)</a:t>
            </a:r>
            <a:endParaRPr lang="en-US" sz="750" dirty="0"/>
          </a:p>
        </p:txBody>
      </p:sp>
      <p:sp>
        <p:nvSpPr>
          <p:cNvPr id="33" name="Shape 29"/>
          <p:cNvSpPr/>
          <p:nvPr/>
        </p:nvSpPr>
        <p:spPr>
          <a:xfrm>
            <a:off x="10149840" y="2103120"/>
            <a:ext cx="457200" cy="182880"/>
          </a:xfrm>
          <a:prstGeom prst="roundRect">
            <a:avLst>
              <a:gd name="adj" fmla="val 250000"/>
            </a:avLst>
          </a:prstGeom>
          <a:solidFill>
            <a:srgbClr val="D1FAE5"/>
          </a:solidFill>
          <a:ln/>
        </p:spPr>
      </p:sp>
      <p:sp>
        <p:nvSpPr>
          <p:cNvPr id="34" name="Text 30"/>
          <p:cNvSpPr/>
          <p:nvPr/>
        </p:nvSpPr>
        <p:spPr>
          <a:xfrm>
            <a:off x="10149840" y="2103120"/>
            <a:ext cx="457200" cy="182880"/>
          </a:xfrm>
          <a:prstGeom prst="rect">
            <a:avLst/>
          </a:prstGeom>
          <a:noFill/>
          <a:ln/>
        </p:spPr>
        <p:txBody>
          <a:bodyPr wrap="square" rtlCol="0" anchor="ctr"/>
          <a:lstStyle/>
          <a:p>
            <a:pPr algn="ctr" indent="0" marL="0">
              <a:buNone/>
            </a:pPr>
            <a:r>
              <a:rPr lang="en-US" sz="750" b="1" dirty="0">
                <a:solidFill>
                  <a:srgbClr val="065F46"/>
                </a:solidFill>
                <a:latin typeface="Segoe UI" pitchFamily="34" charset="0"/>
                <a:ea typeface="Segoe UI" pitchFamily="34" charset="-122"/>
                <a:cs typeface="Segoe UI" pitchFamily="34" charset="-120"/>
              </a:rPr>
              <a:t>2/5</a:t>
            </a:r>
            <a:endParaRPr lang="en-US" sz="750" dirty="0"/>
          </a:p>
        </p:txBody>
      </p:sp>
      <p:sp>
        <p:nvSpPr>
          <p:cNvPr id="35" name="Shape 31"/>
          <p:cNvSpPr/>
          <p:nvPr/>
        </p:nvSpPr>
        <p:spPr>
          <a:xfrm>
            <a:off x="11430000" y="2167128"/>
            <a:ext cx="1097280" cy="73152"/>
          </a:xfrm>
          <a:prstGeom prst="roundRect">
            <a:avLst>
              <a:gd name="adj" fmla="val 625000"/>
            </a:avLst>
          </a:prstGeom>
          <a:solidFill>
            <a:srgbClr val="F1F5F9"/>
          </a:solidFill>
          <a:ln/>
        </p:spPr>
      </p:sp>
      <p:sp>
        <p:nvSpPr>
          <p:cNvPr id="36" name="Shape 32"/>
          <p:cNvSpPr/>
          <p:nvPr/>
        </p:nvSpPr>
        <p:spPr>
          <a:xfrm>
            <a:off x="11430000" y="2167128"/>
            <a:ext cx="658368" cy="73152"/>
          </a:xfrm>
          <a:prstGeom prst="roundRect">
            <a:avLst>
              <a:gd name="adj" fmla="val 625000"/>
            </a:avLst>
          </a:prstGeom>
          <a:solidFill>
            <a:srgbClr val="BD1D2D"/>
          </a:solidFill>
          <a:ln/>
        </p:spPr>
      </p:sp>
      <p:sp>
        <p:nvSpPr>
          <p:cNvPr id="37" name="Shape 33"/>
          <p:cNvSpPr/>
          <p:nvPr/>
        </p:nvSpPr>
        <p:spPr>
          <a:xfrm>
            <a:off x="4754880" y="2606040"/>
            <a:ext cx="3749040" cy="0"/>
          </a:xfrm>
          <a:prstGeom prst="line">
            <a:avLst/>
          </a:prstGeom>
          <a:noFill/>
          <a:ln w="6350">
            <a:solidFill>
              <a:srgbClr val="E2E8F0"/>
            </a:solidFill>
            <a:prstDash val="solid"/>
          </a:ln>
        </p:spPr>
      </p:sp>
      <p:sp>
        <p:nvSpPr>
          <p:cNvPr id="38" name="Text 34"/>
          <p:cNvSpPr/>
          <p:nvPr/>
        </p:nvSpPr>
        <p:spPr>
          <a:xfrm>
            <a:off x="4754880" y="2697480"/>
            <a:ext cx="1645920" cy="182880"/>
          </a:xfrm>
          <a:prstGeom prst="rect">
            <a:avLst/>
          </a:prstGeom>
          <a:noFill/>
          <a:ln/>
        </p:spPr>
        <p:txBody>
          <a:bodyPr wrap="square" rtlCol="0" anchor="ctr"/>
          <a:lstStyle/>
          <a:p>
            <a:pPr indent="0" marL="0">
              <a:buNone/>
            </a:pPr>
            <a:r>
              <a:rPr lang="en-US" sz="850" b="1" dirty="0">
                <a:solidFill>
                  <a:srgbClr val="0F172A"/>
                </a:solidFill>
                <a:latin typeface="Segoe UI" pitchFamily="34" charset="0"/>
                <a:ea typeface="Segoe UI" pitchFamily="34" charset="-122"/>
                <a:cs typeface="Segoe UI" pitchFamily="34" charset="-120"/>
              </a:rPr>
              <a:t>Nguyễn Hải Đăng (Sale)</a:t>
            </a:r>
            <a:endParaRPr lang="en-US" sz="850" dirty="0"/>
          </a:p>
        </p:txBody>
      </p:sp>
      <p:sp>
        <p:nvSpPr>
          <p:cNvPr id="39" name="Text 35"/>
          <p:cNvSpPr/>
          <p:nvPr/>
        </p:nvSpPr>
        <p:spPr>
          <a:xfrm>
            <a:off x="4754880" y="2880360"/>
            <a:ext cx="1645920" cy="137160"/>
          </a:xfrm>
          <a:prstGeom prst="rect">
            <a:avLst/>
          </a:prstGeom>
          <a:noFill/>
          <a:ln/>
        </p:spPr>
        <p:txBody>
          <a:bodyPr wrap="square" rtlCol="0" anchor="ctr"/>
          <a:lstStyle/>
          <a:p>
            <a:pPr indent="0" marL="0">
              <a:buNone/>
            </a:pPr>
            <a:r>
              <a:rPr lang="en-US" sz="720" dirty="0">
                <a:solidFill>
                  <a:srgbClr val="475569"/>
                </a:solidFill>
                <a:latin typeface="Segoe UI" pitchFamily="34" charset="0"/>
                <a:ea typeface="Segoe UI" pitchFamily="34" charset="-122"/>
                <a:cs typeface="Segoe UI" pitchFamily="34" charset="-120"/>
              </a:rPr>
              <a:t>dom.marketing.vn@gmail.com</a:t>
            </a:r>
            <a:endParaRPr lang="en-US" sz="720" dirty="0"/>
          </a:p>
        </p:txBody>
      </p:sp>
      <p:sp>
        <p:nvSpPr>
          <p:cNvPr id="40" name="Text 36"/>
          <p:cNvSpPr/>
          <p:nvPr/>
        </p:nvSpPr>
        <p:spPr>
          <a:xfrm>
            <a:off x="6400800" y="2697480"/>
            <a:ext cx="1280160" cy="320040"/>
          </a:xfrm>
          <a:prstGeom prst="rect">
            <a:avLst/>
          </a:prstGeom>
          <a:noFill/>
          <a:ln/>
        </p:spPr>
        <p:txBody>
          <a:bodyPr wrap="square" rtlCol="0" anchor="ctr"/>
          <a:lstStyle/>
          <a:p>
            <a:pPr indent="0" marL="0">
              <a:buNone/>
            </a:pPr>
            <a:r>
              <a:rPr lang="en-US" sz="800" dirty="0">
                <a:solidFill>
                  <a:srgbClr val="0F172A"/>
                </a:solidFill>
                <a:latin typeface="Segoe UI" pitchFamily="34" charset="0"/>
                <a:ea typeface="Segoe UI" pitchFamily="34" charset="-122"/>
                <a:cs typeface="Segoe UI" pitchFamily="34" charset="-120"/>
              </a:rPr>
              <a:t>14/34 (bỏ qua 20)</a:t>
            </a:r>
            <a:endParaRPr lang="en-US" sz="800" dirty="0"/>
          </a:p>
        </p:txBody>
      </p:sp>
      <p:sp>
        <p:nvSpPr>
          <p:cNvPr id="41" name="Shape 37"/>
          <p:cNvSpPr/>
          <p:nvPr/>
        </p:nvSpPr>
        <p:spPr>
          <a:xfrm>
            <a:off x="7680960" y="2743200"/>
            <a:ext cx="640080" cy="182880"/>
          </a:xfrm>
          <a:prstGeom prst="roundRect">
            <a:avLst>
              <a:gd name="adj" fmla="val 250000"/>
            </a:avLst>
          </a:prstGeom>
          <a:solidFill>
            <a:srgbClr val="FEE2E2"/>
          </a:solidFill>
          <a:ln/>
        </p:spPr>
      </p:sp>
      <p:sp>
        <p:nvSpPr>
          <p:cNvPr id="42" name="Text 38"/>
          <p:cNvSpPr/>
          <p:nvPr/>
        </p:nvSpPr>
        <p:spPr>
          <a:xfrm>
            <a:off x="7680960" y="2743200"/>
            <a:ext cx="640080" cy="182880"/>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41.2%</a:t>
            </a:r>
            <a:endParaRPr lang="en-US" sz="750" dirty="0"/>
          </a:p>
        </p:txBody>
      </p:sp>
      <p:sp>
        <p:nvSpPr>
          <p:cNvPr id="43" name="Shape 39"/>
          <p:cNvSpPr/>
          <p:nvPr/>
        </p:nvSpPr>
        <p:spPr>
          <a:xfrm>
            <a:off x="8778240" y="2743200"/>
            <a:ext cx="822960" cy="182880"/>
          </a:xfrm>
          <a:prstGeom prst="roundRect">
            <a:avLst>
              <a:gd name="adj" fmla="val 250000"/>
            </a:avLst>
          </a:prstGeom>
          <a:solidFill>
            <a:srgbClr val="FEE2E2"/>
          </a:solidFill>
          <a:ln/>
        </p:spPr>
      </p:sp>
      <p:sp>
        <p:nvSpPr>
          <p:cNvPr id="44" name="Text 40"/>
          <p:cNvSpPr/>
          <p:nvPr/>
        </p:nvSpPr>
        <p:spPr>
          <a:xfrm>
            <a:off x="8778240" y="2743200"/>
            <a:ext cx="822960" cy="182880"/>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20 (58.8%)</a:t>
            </a:r>
            <a:endParaRPr lang="en-US" sz="750" dirty="0"/>
          </a:p>
        </p:txBody>
      </p:sp>
      <p:sp>
        <p:nvSpPr>
          <p:cNvPr id="45" name="Shape 41"/>
          <p:cNvSpPr/>
          <p:nvPr/>
        </p:nvSpPr>
        <p:spPr>
          <a:xfrm>
            <a:off x="10149840" y="2743200"/>
            <a:ext cx="457200" cy="182880"/>
          </a:xfrm>
          <a:prstGeom prst="roundRect">
            <a:avLst>
              <a:gd name="adj" fmla="val 250000"/>
            </a:avLst>
          </a:prstGeom>
          <a:solidFill>
            <a:srgbClr val="FEE2E2"/>
          </a:solidFill>
          <a:ln/>
        </p:spPr>
      </p:sp>
      <p:sp>
        <p:nvSpPr>
          <p:cNvPr id="46" name="Text 42"/>
          <p:cNvSpPr/>
          <p:nvPr/>
        </p:nvSpPr>
        <p:spPr>
          <a:xfrm>
            <a:off x="10149840" y="2743200"/>
            <a:ext cx="457200" cy="182880"/>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5/5</a:t>
            </a:r>
            <a:endParaRPr lang="en-US" sz="750" dirty="0"/>
          </a:p>
        </p:txBody>
      </p:sp>
      <p:sp>
        <p:nvSpPr>
          <p:cNvPr id="47" name="Shape 43"/>
          <p:cNvSpPr/>
          <p:nvPr/>
        </p:nvSpPr>
        <p:spPr>
          <a:xfrm>
            <a:off x="11430000" y="2807208"/>
            <a:ext cx="1097280" cy="73152"/>
          </a:xfrm>
          <a:prstGeom prst="roundRect">
            <a:avLst>
              <a:gd name="adj" fmla="val 625000"/>
            </a:avLst>
          </a:prstGeom>
          <a:solidFill>
            <a:srgbClr val="F1F5F9"/>
          </a:solidFill>
          <a:ln/>
        </p:spPr>
      </p:sp>
      <p:sp>
        <p:nvSpPr>
          <p:cNvPr id="48" name="Shape 44"/>
          <p:cNvSpPr/>
          <p:nvPr/>
        </p:nvSpPr>
        <p:spPr>
          <a:xfrm>
            <a:off x="11430000" y="2807208"/>
            <a:ext cx="438912" cy="73152"/>
          </a:xfrm>
          <a:prstGeom prst="roundRect">
            <a:avLst>
              <a:gd name="adj" fmla="val 625000"/>
            </a:avLst>
          </a:prstGeom>
          <a:solidFill>
            <a:srgbClr val="BD1D2D"/>
          </a:solidFill>
          <a:ln/>
        </p:spPr>
      </p:sp>
      <p:sp>
        <p:nvSpPr>
          <p:cNvPr id="49" name="Text 45"/>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18 / 65</a:t>
            </a:r>
            <a:endParaRPr lang="en-US" sz="850" dirty="0"/>
          </a:p>
        </p:txBody>
      </p:sp>
      <p:sp>
        <p:nvSpPr>
          <p:cNvPr id="50" name="Text 46"/>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CHIA LEAD</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Định Tuyến Dự Phòng Khi Bị Chặn Toàn Bộ (Fallback)</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TÌNH HUỐNG GÃY LUỒNG</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Toàn bộ các Sale trong danh sách phân bổ đều bị chặn bởi 5 Protection Gates.</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Hoặc hệ thống không phát hiện bất kỳ ca trực online nào hoạt động.</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GỬI EMAIL KHẨN CẤP</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Kích hoạt cơ chế gửi thông tin lead thô qua Mailer dự phòng.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Gửi trực tiếp đến địa chỉ email khẩn cấp được cấu hình trên Campaign.</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CHUYỂN TIẾP ADMIN DUYỆT</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Lead được chuyển trạng thái sang pending_manual.</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Đưa vào hàng đợi Admin để phê duyệt thủ công và phân phối tay.</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19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CHIA LEAD</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Chống Đói Lead Cho Sale Vắng Mặt</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TÍCH LŨY SKIPPED_CREDIT</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Khi Sale vắng mặt (vacation_mode=1) hoặc nghỉ phép.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đếm số lượt phân bổ bị bỏ lỡ và cộng dồn vào skipped_credit.</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KÍCH HOẠT ƯU TIÊN BÙ</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Khi Sale quay lại hoạt động và điểm danh check-in thành công.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ưu tiên chia lead cho người có skipped_credit cao nhất trước.</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ĐẢM BẢO CÔNG BẰNG</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Triệt tiêu tình trạng dồn dập lead cho Sale online liên tục.</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Cân bằng cơ hội tiếp cận khách hàng tiềm năng cho cả đội ngũ.</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20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PHÂN PHỐI THÔNG MINH</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2: 5 CỔNG KIỂM DUYỆT LEAD</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Thiết lập màng lọc thông minh, giám sát tự động độ sẵn sàng và hiệu năng tương tác của Sale để tối ưu hóa tỷ lệ chuyển đổi lead đầu vào.</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SELFIE CHECK-IN</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Ca ngày bắt buộc điểm danh selfie approved đầu ca để nhận lead; ca đêm/lễ duyệt đặc quyền.</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BACKPRESSURE</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Chốt chặn găm giữ quá 5 lead chưa xử lý, thúc đẩy tương tác phản hồi đầu tiên &lt;15 phút.</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ĐIỂM BÙ CREDIT</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Tích lũy skipped_credit khi Sale đi gặp khách để bù lại lượng lead công bằng khi quay lại.</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21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ĐẶT CỌC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Trình Đặt Cọc &amp; Phê Duyệt Doanh Thu</a:t>
            </a:r>
            <a:endParaRPr lang="en-US" sz="1900" dirty="0"/>
          </a:p>
        </p:txBody>
      </p:sp>
      <p:sp>
        <p:nvSpPr>
          <p:cNvPr id="14" name="Shape 10"/>
          <p:cNvSpPr/>
          <p:nvPr/>
        </p:nvSpPr>
        <p:spPr>
          <a:xfrm>
            <a:off x="731520" y="1280160"/>
            <a:ext cx="1499616" cy="365760"/>
          </a:xfrm>
          <a:prstGeom prst="roundRect">
            <a:avLst>
              <a:gd name="adj" fmla="val 12500"/>
            </a:avLst>
          </a:prstGeom>
          <a:solidFill>
            <a:srgbClr val="E2E8F0"/>
          </a:solidFill>
          <a:ln w="12700">
            <a:solidFill>
              <a:srgbClr val="E2E8F0"/>
            </a:solidFill>
            <a:prstDash val="solid"/>
          </a:ln>
        </p:spPr>
      </p:sp>
      <p:sp>
        <p:nvSpPr>
          <p:cNvPr id="15" name="Text 11"/>
          <p:cNvSpPr/>
          <p:nvPr/>
        </p:nvSpPr>
        <p:spPr>
          <a:xfrm>
            <a:off x="777240"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NHẬN LEAD THÔ</a:t>
            </a:r>
            <a:endParaRPr lang="en-US" sz="750" dirty="0"/>
          </a:p>
        </p:txBody>
      </p:sp>
      <p:sp>
        <p:nvSpPr>
          <p:cNvPr id="16" name="Shape 12"/>
          <p:cNvSpPr/>
          <p:nvPr/>
        </p:nvSpPr>
        <p:spPr>
          <a:xfrm>
            <a:off x="2368296" y="1280160"/>
            <a:ext cx="1499616" cy="365760"/>
          </a:xfrm>
          <a:prstGeom prst="roundRect">
            <a:avLst>
              <a:gd name="adj" fmla="val 12500"/>
            </a:avLst>
          </a:prstGeom>
          <a:solidFill>
            <a:srgbClr val="E2E8F0"/>
          </a:solidFill>
          <a:ln w="12700">
            <a:solidFill>
              <a:srgbClr val="E2E8F0"/>
            </a:solidFill>
            <a:prstDash val="solid"/>
          </a:ln>
        </p:spPr>
      </p:sp>
      <p:sp>
        <p:nvSpPr>
          <p:cNvPr id="17" name="Text 13"/>
          <p:cNvSpPr/>
          <p:nvPr/>
        </p:nvSpPr>
        <p:spPr>
          <a:xfrm>
            <a:off x="2414016"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QUAN TÂM</a:t>
            </a:r>
            <a:endParaRPr lang="en-US" sz="750" dirty="0"/>
          </a:p>
        </p:txBody>
      </p:sp>
      <p:sp>
        <p:nvSpPr>
          <p:cNvPr id="18" name="Shape 14"/>
          <p:cNvSpPr/>
          <p:nvPr/>
        </p:nvSpPr>
        <p:spPr>
          <a:xfrm>
            <a:off x="4005072" y="1280160"/>
            <a:ext cx="1499616" cy="365760"/>
          </a:xfrm>
          <a:prstGeom prst="roundRect">
            <a:avLst>
              <a:gd name="adj" fmla="val 12500"/>
            </a:avLst>
          </a:prstGeom>
          <a:solidFill>
            <a:srgbClr val="E2E8F0"/>
          </a:solidFill>
          <a:ln w="12700">
            <a:solidFill>
              <a:srgbClr val="E2E8F0"/>
            </a:solidFill>
            <a:prstDash val="solid"/>
          </a:ln>
        </p:spPr>
      </p:sp>
      <p:sp>
        <p:nvSpPr>
          <p:cNvPr id="19" name="Text 15"/>
          <p:cNvSpPr/>
          <p:nvPr/>
        </p:nvSpPr>
        <p:spPr>
          <a:xfrm>
            <a:off x="4050792"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ĐÃ GẶP</a:t>
            </a:r>
            <a:endParaRPr lang="en-US" sz="750" dirty="0"/>
          </a:p>
        </p:txBody>
      </p:sp>
      <p:sp>
        <p:nvSpPr>
          <p:cNvPr id="20" name="Shape 16"/>
          <p:cNvSpPr/>
          <p:nvPr/>
        </p:nvSpPr>
        <p:spPr>
          <a:xfrm>
            <a:off x="5641848" y="1280160"/>
            <a:ext cx="1499616" cy="365760"/>
          </a:xfrm>
          <a:prstGeom prst="roundRect">
            <a:avLst>
              <a:gd name="adj" fmla="val 12500"/>
            </a:avLst>
          </a:prstGeom>
          <a:solidFill>
            <a:srgbClr val="BD1D2D"/>
          </a:solidFill>
          <a:ln w="12700">
            <a:solidFill>
              <a:srgbClr val="BD1D2D"/>
            </a:solidFill>
            <a:prstDash val="solid"/>
          </a:ln>
        </p:spPr>
      </p:sp>
      <p:sp>
        <p:nvSpPr>
          <p:cNvPr id="21" name="Text 17"/>
          <p:cNvSpPr/>
          <p:nvPr/>
        </p:nvSpPr>
        <p:spPr>
          <a:xfrm>
            <a:off x="5687568" y="1280160"/>
            <a:ext cx="1408176" cy="365760"/>
          </a:xfrm>
          <a:prstGeom prst="rect">
            <a:avLst/>
          </a:prstGeom>
          <a:noFill/>
          <a:ln/>
        </p:spPr>
        <p:txBody>
          <a:bodyPr wrap="square" rtlCol="0" anchor="ctr"/>
          <a:lstStyle/>
          <a:p>
            <a:pPr algn="ctr" indent="0" marL="0">
              <a:buNone/>
            </a:pPr>
            <a:r>
              <a:rPr lang="en-US" sz="750" b="1" dirty="0">
                <a:solidFill>
                  <a:srgbClr val="FFFFFF"/>
                </a:solidFill>
                <a:latin typeface="Segoe UI" pitchFamily="34" charset="0"/>
                <a:ea typeface="Segoe UI" pitchFamily="34" charset="-122"/>
                <a:cs typeface="Segoe UI" pitchFamily="34" charset="-120"/>
              </a:rPr>
              <a:t>ĐẶT CỌC</a:t>
            </a:r>
            <a:endParaRPr lang="en-US" sz="750" dirty="0"/>
          </a:p>
        </p:txBody>
      </p:sp>
      <p:sp>
        <p:nvSpPr>
          <p:cNvPr id="22" name="Shape 18"/>
          <p:cNvSpPr/>
          <p:nvPr/>
        </p:nvSpPr>
        <p:spPr>
          <a:xfrm>
            <a:off x="7278624" y="1280160"/>
            <a:ext cx="1499616" cy="365760"/>
          </a:xfrm>
          <a:prstGeom prst="roundRect">
            <a:avLst>
              <a:gd name="adj" fmla="val 12500"/>
            </a:avLst>
          </a:prstGeom>
          <a:solidFill>
            <a:srgbClr val="FFFFFF"/>
          </a:solidFill>
          <a:ln w="12700">
            <a:solidFill>
              <a:srgbClr val="E2E8F0"/>
            </a:solidFill>
            <a:prstDash val="solid"/>
          </a:ln>
        </p:spPr>
      </p:sp>
      <p:sp>
        <p:nvSpPr>
          <p:cNvPr id="23" name="Text 19"/>
          <p:cNvSpPr/>
          <p:nvPr/>
        </p:nvSpPr>
        <p:spPr>
          <a:xfrm>
            <a:off x="7324344" y="1280160"/>
            <a:ext cx="1408176" cy="365760"/>
          </a:xfrm>
          <a:prstGeom prst="rect">
            <a:avLst/>
          </a:prstGeom>
          <a:noFill/>
          <a:ln/>
        </p:spPr>
        <p:txBody>
          <a:bodyPr wrap="square" rtlCol="0" anchor="ctr"/>
          <a:lstStyle/>
          <a:p>
            <a:pPr algn="ctr" indent="0" marL="0">
              <a:buNone/>
            </a:pPr>
            <a:r>
              <a:rPr lang="en-US" sz="750" dirty="0">
                <a:solidFill>
                  <a:srgbClr val="0F172A"/>
                </a:solidFill>
                <a:latin typeface="Segoe UI" pitchFamily="34" charset="0"/>
                <a:ea typeface="Segoe UI" pitchFamily="34" charset="-122"/>
                <a:cs typeface="Segoe UI" pitchFamily="34" charset="-120"/>
              </a:rPr>
              <a:t>THÀNH CÔNG</a:t>
            </a:r>
            <a:endParaRPr lang="en-US" sz="750" dirty="0"/>
          </a:p>
        </p:txBody>
      </p:sp>
      <p:sp>
        <p:nvSpPr>
          <p:cNvPr id="24" name="Shape 20"/>
          <p:cNvSpPr/>
          <p:nvPr/>
        </p:nvSpPr>
        <p:spPr>
          <a:xfrm>
            <a:off x="731520" y="1828800"/>
            <a:ext cx="3657600" cy="2743200"/>
          </a:xfrm>
          <a:prstGeom prst="roundRect">
            <a:avLst>
              <a:gd name="adj" fmla="val 1667"/>
            </a:avLst>
          </a:prstGeom>
          <a:solidFill>
            <a:srgbClr val="FFFFFF"/>
          </a:solidFill>
          <a:ln w="12700">
            <a:solidFill>
              <a:srgbClr val="E2E8F0"/>
            </a:solidFill>
            <a:prstDash val="solid"/>
          </a:ln>
        </p:spPr>
      </p:sp>
      <p:sp>
        <p:nvSpPr>
          <p:cNvPr id="25" name="Text 21"/>
          <p:cNvSpPr/>
          <p:nvPr/>
        </p:nvSpPr>
        <p:spPr>
          <a:xfrm>
            <a:off x="914400" y="196596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THỦ TỤC ĐẶT CỌC</a:t>
            </a:r>
            <a:endParaRPr lang="en-US" sz="950" dirty="0"/>
          </a:p>
        </p:txBody>
      </p:sp>
      <p:sp>
        <p:nvSpPr>
          <p:cNvPr id="26" name="Text 22"/>
          <p:cNvSpPr/>
          <p:nvPr/>
        </p:nvSpPr>
        <p:spPr>
          <a:xfrm>
            <a:off x="914400" y="2258568"/>
            <a:ext cx="3291840" cy="217627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tạo phiếu cọc trên App (Mã căn, dự án, giá trị, commission).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Khách hàng chuyển khoản, upload minh chứng UNC lên hệ thống.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Kế toán kiểm tra tiền nổi trong tài khoản ngân hàng và duyệt approved.</a:t>
            </a:r>
            <a:endParaRPr lang="en-US" sz="920" dirty="0"/>
          </a:p>
        </p:txBody>
      </p:sp>
      <p:sp>
        <p:nvSpPr>
          <p:cNvPr id="27" name="Shape 23"/>
          <p:cNvSpPr/>
          <p:nvPr/>
        </p:nvSpPr>
        <p:spPr>
          <a:xfrm>
            <a:off x="4663440" y="1828800"/>
            <a:ext cx="4114800" cy="2743200"/>
          </a:xfrm>
          <a:prstGeom prst="roundRect">
            <a:avLst>
              <a:gd name="adj" fmla="val 2667"/>
            </a:avLst>
          </a:prstGeom>
          <a:solidFill>
            <a:srgbClr val="FFFFFF"/>
          </a:solidFill>
          <a:ln w="12700">
            <a:solidFill>
              <a:srgbClr val="E2E8F0"/>
            </a:solidFill>
            <a:prstDash val="solid"/>
          </a:ln>
        </p:spPr>
      </p:sp>
      <p:sp>
        <p:nvSpPr>
          <p:cNvPr id="28" name="Text 24"/>
          <p:cNvSpPr/>
          <p:nvPr/>
        </p:nvSpPr>
        <p:spPr>
          <a:xfrm>
            <a:off x="4846320" y="1965960"/>
            <a:ext cx="2103120" cy="228600"/>
          </a:xfrm>
          <a:prstGeom prst="rect">
            <a:avLst/>
          </a:prstGeom>
          <a:noFill/>
          <a:ln/>
        </p:spPr>
        <p:txBody>
          <a:bodyPr wrap="square" rtlCol="0" anchor="ctr"/>
          <a:lstStyle/>
          <a:p>
            <a:pPr indent="0" marL="0">
              <a:buNone/>
            </a:pPr>
            <a:r>
              <a:rPr lang="en-US" sz="1050" b="1" dirty="0">
                <a:solidFill>
                  <a:srgbClr val="0F172A"/>
                </a:solidFill>
                <a:latin typeface="Segoe UI" pitchFamily="34" charset="0"/>
                <a:ea typeface="Segoe UI" pitchFamily="34" charset="-122"/>
                <a:cs typeface="Segoe UI" pitchFamily="34" charset="-120"/>
              </a:rPr>
              <a:t>Hiệu suất xử lý Data theo ngày</a:t>
            </a:r>
            <a:endParaRPr lang="en-US" sz="1050" dirty="0"/>
          </a:p>
        </p:txBody>
      </p:sp>
      <p:sp>
        <p:nvSpPr>
          <p:cNvPr id="29" name="Text 25"/>
          <p:cNvSpPr/>
          <p:nvPr/>
        </p:nvSpPr>
        <p:spPr>
          <a:xfrm>
            <a:off x="4846320" y="2194560"/>
            <a:ext cx="2103120" cy="18288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Biểu đồ thể hiện lưu lượng Data đổ về trong tháng này.</a:t>
            </a:r>
            <a:endParaRPr lang="en-US" sz="750" dirty="0"/>
          </a:p>
        </p:txBody>
      </p:sp>
      <p:sp>
        <p:nvSpPr>
          <p:cNvPr id="30" name="Shape 26"/>
          <p:cNvSpPr/>
          <p:nvPr/>
        </p:nvSpPr>
        <p:spPr>
          <a:xfrm>
            <a:off x="6949440" y="1965960"/>
            <a:ext cx="731520" cy="201168"/>
          </a:xfrm>
          <a:prstGeom prst="roundRect">
            <a:avLst>
              <a:gd name="adj" fmla="val 227273"/>
            </a:avLst>
          </a:prstGeom>
          <a:solidFill>
            <a:srgbClr val="FEE2E2"/>
          </a:solidFill>
          <a:ln w="6350">
            <a:solidFill>
              <a:srgbClr val="BD1D2D"/>
            </a:solidFill>
            <a:prstDash val="solid"/>
          </a:ln>
        </p:spPr>
      </p:sp>
      <p:sp>
        <p:nvSpPr>
          <p:cNvPr id="31" name="Text 27"/>
          <p:cNvSpPr/>
          <p:nvPr/>
        </p:nvSpPr>
        <p:spPr>
          <a:xfrm>
            <a:off x="6949440" y="1965960"/>
            <a:ext cx="731520" cy="201168"/>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Theo ngày</a:t>
            </a:r>
            <a:endParaRPr lang="en-US" sz="750" dirty="0"/>
          </a:p>
        </p:txBody>
      </p:sp>
      <p:sp>
        <p:nvSpPr>
          <p:cNvPr id="32" name="Shape 28"/>
          <p:cNvSpPr/>
          <p:nvPr/>
        </p:nvSpPr>
        <p:spPr>
          <a:xfrm>
            <a:off x="7772400" y="1965960"/>
            <a:ext cx="731520" cy="201168"/>
          </a:xfrm>
          <a:prstGeom prst="roundRect">
            <a:avLst>
              <a:gd name="adj" fmla="val 227273"/>
            </a:avLst>
          </a:prstGeom>
          <a:solidFill>
            <a:srgbClr val="F1F5F9"/>
          </a:solidFill>
          <a:ln/>
        </p:spPr>
      </p:sp>
      <p:sp>
        <p:nvSpPr>
          <p:cNvPr id="33" name="Text 29"/>
          <p:cNvSpPr/>
          <p:nvPr/>
        </p:nvSpPr>
        <p:spPr>
          <a:xfrm>
            <a:off x="7772400" y="1965960"/>
            <a:ext cx="731520" cy="201168"/>
          </a:xfrm>
          <a:prstGeom prst="rect">
            <a:avLst/>
          </a:prstGeom>
          <a:noFill/>
          <a:ln/>
        </p:spPr>
        <p:txBody>
          <a:bodyPr wrap="square" rtlCol="0" anchor="ctr"/>
          <a:lstStyle/>
          <a:p>
            <a:pPr algn="ctr" indent="0" marL="0">
              <a:buNone/>
            </a:pPr>
            <a:r>
              <a:rPr lang="en-US" sz="750" dirty="0">
                <a:solidFill>
                  <a:srgbClr val="475569"/>
                </a:solidFill>
                <a:latin typeface="Segoe UI" pitchFamily="34" charset="0"/>
                <a:ea typeface="Segoe UI" pitchFamily="34" charset="-122"/>
                <a:cs typeface="Segoe UI" pitchFamily="34" charset="-120"/>
              </a:rPr>
              <a:t>Theo giờ</a:t>
            </a:r>
            <a:endParaRPr lang="en-US" sz="750" dirty="0"/>
          </a:p>
        </p:txBody>
      </p:sp>
      <p:sp>
        <p:nvSpPr>
          <p:cNvPr id="34" name="Shape 30"/>
          <p:cNvSpPr/>
          <p:nvPr/>
        </p:nvSpPr>
        <p:spPr>
          <a:xfrm>
            <a:off x="5120640" y="4114800"/>
            <a:ext cx="3200400" cy="0"/>
          </a:xfrm>
          <a:prstGeom prst="line">
            <a:avLst/>
          </a:prstGeom>
          <a:noFill/>
          <a:ln w="12700">
            <a:solidFill>
              <a:srgbClr val="E2E8F0"/>
            </a:solidFill>
            <a:prstDash val="solid"/>
          </a:ln>
        </p:spPr>
      </p:sp>
      <p:sp>
        <p:nvSpPr>
          <p:cNvPr id="35" name="Shape 31"/>
          <p:cNvSpPr/>
          <p:nvPr/>
        </p:nvSpPr>
        <p:spPr>
          <a:xfrm>
            <a:off x="5358384" y="3621024"/>
            <a:ext cx="164592" cy="493776"/>
          </a:xfrm>
          <a:prstGeom prst="roundRect">
            <a:avLst>
              <a:gd name="adj" fmla="val 55556"/>
            </a:avLst>
          </a:prstGeom>
          <a:solidFill>
            <a:srgbClr val="BD1D2D"/>
          </a:solidFill>
          <a:ln/>
        </p:spPr>
      </p:sp>
      <p:sp>
        <p:nvSpPr>
          <p:cNvPr id="36" name="Text 32"/>
          <p:cNvSpPr/>
          <p:nvPr/>
        </p:nvSpPr>
        <p:spPr>
          <a:xfrm>
            <a:off x="5266944" y="3419856"/>
            <a:ext cx="347472" cy="182880"/>
          </a:xfrm>
          <a:prstGeom prst="rect">
            <a:avLst/>
          </a:prstGeom>
          <a:noFill/>
          <a:ln/>
        </p:spPr>
        <p:txBody>
          <a:bodyPr wrap="square" rtlCol="0" anchor="ctr"/>
          <a:lstStyle/>
          <a:p>
            <a:pPr algn="ctr" indent="0" marL="0">
              <a:buNone/>
            </a:pPr>
            <a:r>
              <a:rPr lang="en-US" sz="800" b="1" dirty="0">
                <a:solidFill>
                  <a:srgbClr val="0F172A"/>
                </a:solidFill>
                <a:latin typeface="Segoe UI" pitchFamily="34" charset="0"/>
                <a:ea typeface="Segoe UI" pitchFamily="34" charset="-122"/>
                <a:cs typeface="Segoe UI" pitchFamily="34" charset="-120"/>
              </a:rPr>
              <a:t>6</a:t>
            </a:r>
            <a:endParaRPr lang="en-US" sz="800" dirty="0"/>
          </a:p>
        </p:txBody>
      </p:sp>
      <p:sp>
        <p:nvSpPr>
          <p:cNvPr id="37" name="Text 33"/>
          <p:cNvSpPr/>
          <p:nvPr/>
        </p:nvSpPr>
        <p:spPr>
          <a:xfrm>
            <a:off x="5175504" y="4160520"/>
            <a:ext cx="530352" cy="182880"/>
          </a:xfrm>
          <a:prstGeom prst="rect">
            <a:avLst/>
          </a:prstGeom>
          <a:noFill/>
          <a:ln/>
        </p:spPr>
        <p:txBody>
          <a:bodyPr wrap="square" rtlCol="0" anchor="ctr"/>
          <a:lstStyle/>
          <a:p>
            <a:pPr algn="ctr" indent="0" marL="0">
              <a:buNone/>
            </a:pPr>
            <a:r>
              <a:rPr lang="en-US" sz="750" dirty="0">
                <a:solidFill>
                  <a:srgbClr val="475569"/>
                </a:solidFill>
                <a:latin typeface="Segoe UI" pitchFamily="34" charset="0"/>
                <a:ea typeface="Segoe UI" pitchFamily="34" charset="-122"/>
                <a:cs typeface="Segoe UI" pitchFamily="34" charset="-120"/>
              </a:rPr>
              <a:t>18/07</a:t>
            </a:r>
            <a:endParaRPr lang="en-US" sz="750" dirty="0"/>
          </a:p>
        </p:txBody>
      </p:sp>
      <p:sp>
        <p:nvSpPr>
          <p:cNvPr id="38" name="Shape 34"/>
          <p:cNvSpPr/>
          <p:nvPr/>
        </p:nvSpPr>
        <p:spPr>
          <a:xfrm>
            <a:off x="5998464" y="4032504"/>
            <a:ext cx="164592" cy="82296"/>
          </a:xfrm>
          <a:prstGeom prst="roundRect">
            <a:avLst>
              <a:gd name="adj" fmla="val 111111"/>
            </a:avLst>
          </a:prstGeom>
          <a:solidFill>
            <a:srgbClr val="BD1D2D"/>
          </a:solidFill>
          <a:ln/>
        </p:spPr>
      </p:sp>
      <p:sp>
        <p:nvSpPr>
          <p:cNvPr id="39" name="Text 35"/>
          <p:cNvSpPr/>
          <p:nvPr/>
        </p:nvSpPr>
        <p:spPr>
          <a:xfrm>
            <a:off x="5907024" y="3831336"/>
            <a:ext cx="347472" cy="182880"/>
          </a:xfrm>
          <a:prstGeom prst="rect">
            <a:avLst/>
          </a:prstGeom>
          <a:noFill/>
          <a:ln/>
        </p:spPr>
        <p:txBody>
          <a:bodyPr wrap="square" rtlCol="0" anchor="ctr"/>
          <a:lstStyle/>
          <a:p>
            <a:pPr algn="ctr" indent="0" marL="0">
              <a:buNone/>
            </a:pPr>
            <a:r>
              <a:rPr lang="en-US" sz="800" b="1" dirty="0">
                <a:solidFill>
                  <a:srgbClr val="0F172A"/>
                </a:solidFill>
                <a:latin typeface="Segoe UI" pitchFamily="34" charset="0"/>
                <a:ea typeface="Segoe UI" pitchFamily="34" charset="-122"/>
                <a:cs typeface="Segoe UI" pitchFamily="34" charset="-120"/>
              </a:rPr>
              <a:t>1</a:t>
            </a:r>
            <a:endParaRPr lang="en-US" sz="800" dirty="0"/>
          </a:p>
        </p:txBody>
      </p:sp>
      <p:sp>
        <p:nvSpPr>
          <p:cNvPr id="40" name="Text 36"/>
          <p:cNvSpPr/>
          <p:nvPr/>
        </p:nvSpPr>
        <p:spPr>
          <a:xfrm>
            <a:off x="5815584" y="4160520"/>
            <a:ext cx="530352" cy="182880"/>
          </a:xfrm>
          <a:prstGeom prst="rect">
            <a:avLst/>
          </a:prstGeom>
          <a:noFill/>
          <a:ln/>
        </p:spPr>
        <p:txBody>
          <a:bodyPr wrap="square" rtlCol="0" anchor="ctr"/>
          <a:lstStyle/>
          <a:p>
            <a:pPr algn="ctr" indent="0" marL="0">
              <a:buNone/>
            </a:pPr>
            <a:r>
              <a:rPr lang="en-US" sz="750" dirty="0">
                <a:solidFill>
                  <a:srgbClr val="475569"/>
                </a:solidFill>
                <a:latin typeface="Segoe UI" pitchFamily="34" charset="0"/>
                <a:ea typeface="Segoe UI" pitchFamily="34" charset="-122"/>
                <a:cs typeface="Segoe UI" pitchFamily="34" charset="-120"/>
              </a:rPr>
              <a:t>19/07</a:t>
            </a:r>
            <a:endParaRPr lang="en-US" sz="750" dirty="0"/>
          </a:p>
        </p:txBody>
      </p:sp>
      <p:sp>
        <p:nvSpPr>
          <p:cNvPr id="41" name="Shape 37"/>
          <p:cNvSpPr/>
          <p:nvPr/>
        </p:nvSpPr>
        <p:spPr>
          <a:xfrm>
            <a:off x="6638544" y="3538728"/>
            <a:ext cx="164592" cy="576072"/>
          </a:xfrm>
          <a:prstGeom prst="roundRect">
            <a:avLst>
              <a:gd name="adj" fmla="val 55556"/>
            </a:avLst>
          </a:prstGeom>
          <a:solidFill>
            <a:srgbClr val="BD1D2D"/>
          </a:solidFill>
          <a:ln/>
        </p:spPr>
      </p:sp>
      <p:sp>
        <p:nvSpPr>
          <p:cNvPr id="42" name="Text 38"/>
          <p:cNvSpPr/>
          <p:nvPr/>
        </p:nvSpPr>
        <p:spPr>
          <a:xfrm>
            <a:off x="6547104" y="3337560"/>
            <a:ext cx="347472" cy="182880"/>
          </a:xfrm>
          <a:prstGeom prst="rect">
            <a:avLst/>
          </a:prstGeom>
          <a:noFill/>
          <a:ln/>
        </p:spPr>
        <p:txBody>
          <a:bodyPr wrap="square" rtlCol="0" anchor="ctr"/>
          <a:lstStyle/>
          <a:p>
            <a:pPr algn="ctr" indent="0" marL="0">
              <a:buNone/>
            </a:pPr>
            <a:r>
              <a:rPr lang="en-US" sz="800" b="1" dirty="0">
                <a:solidFill>
                  <a:srgbClr val="0F172A"/>
                </a:solidFill>
                <a:latin typeface="Segoe UI" pitchFamily="34" charset="0"/>
                <a:ea typeface="Segoe UI" pitchFamily="34" charset="-122"/>
                <a:cs typeface="Segoe UI" pitchFamily="34" charset="-120"/>
              </a:rPr>
              <a:t>7</a:t>
            </a:r>
            <a:endParaRPr lang="en-US" sz="800" dirty="0"/>
          </a:p>
        </p:txBody>
      </p:sp>
      <p:sp>
        <p:nvSpPr>
          <p:cNvPr id="43" name="Text 39"/>
          <p:cNvSpPr/>
          <p:nvPr/>
        </p:nvSpPr>
        <p:spPr>
          <a:xfrm>
            <a:off x="6455664" y="4160520"/>
            <a:ext cx="530352" cy="182880"/>
          </a:xfrm>
          <a:prstGeom prst="rect">
            <a:avLst/>
          </a:prstGeom>
          <a:noFill/>
          <a:ln/>
        </p:spPr>
        <p:txBody>
          <a:bodyPr wrap="square" rtlCol="0" anchor="ctr"/>
          <a:lstStyle/>
          <a:p>
            <a:pPr algn="ctr" indent="0" marL="0">
              <a:buNone/>
            </a:pPr>
            <a:r>
              <a:rPr lang="en-US" sz="750" dirty="0">
                <a:solidFill>
                  <a:srgbClr val="475569"/>
                </a:solidFill>
                <a:latin typeface="Segoe UI" pitchFamily="34" charset="0"/>
                <a:ea typeface="Segoe UI" pitchFamily="34" charset="-122"/>
                <a:cs typeface="Segoe UI" pitchFamily="34" charset="-120"/>
              </a:rPr>
              <a:t>22/07</a:t>
            </a:r>
            <a:endParaRPr lang="en-US" sz="750" dirty="0"/>
          </a:p>
        </p:txBody>
      </p:sp>
      <p:sp>
        <p:nvSpPr>
          <p:cNvPr id="44" name="Shape 40"/>
          <p:cNvSpPr/>
          <p:nvPr/>
        </p:nvSpPr>
        <p:spPr>
          <a:xfrm>
            <a:off x="7278624" y="2715768"/>
            <a:ext cx="164592" cy="1399032"/>
          </a:xfrm>
          <a:prstGeom prst="roundRect">
            <a:avLst>
              <a:gd name="adj" fmla="val 55556"/>
            </a:avLst>
          </a:prstGeom>
          <a:solidFill>
            <a:srgbClr val="BD1D2D"/>
          </a:solidFill>
          <a:ln/>
        </p:spPr>
      </p:sp>
      <p:sp>
        <p:nvSpPr>
          <p:cNvPr id="45" name="Text 41"/>
          <p:cNvSpPr/>
          <p:nvPr/>
        </p:nvSpPr>
        <p:spPr>
          <a:xfrm>
            <a:off x="7187184" y="2514600"/>
            <a:ext cx="347472" cy="182880"/>
          </a:xfrm>
          <a:prstGeom prst="rect">
            <a:avLst/>
          </a:prstGeom>
          <a:noFill/>
          <a:ln/>
        </p:spPr>
        <p:txBody>
          <a:bodyPr wrap="square" rtlCol="0" anchor="ctr"/>
          <a:lstStyle/>
          <a:p>
            <a:pPr algn="ctr" indent="0" marL="0">
              <a:buNone/>
            </a:pPr>
            <a:r>
              <a:rPr lang="en-US" sz="800" b="1" dirty="0">
                <a:solidFill>
                  <a:srgbClr val="0F172A"/>
                </a:solidFill>
                <a:latin typeface="Segoe UI" pitchFamily="34" charset="0"/>
                <a:ea typeface="Segoe UI" pitchFamily="34" charset="-122"/>
                <a:cs typeface="Segoe UI" pitchFamily="34" charset="-120"/>
              </a:rPr>
              <a:t>17</a:t>
            </a:r>
            <a:endParaRPr lang="en-US" sz="800" dirty="0"/>
          </a:p>
        </p:txBody>
      </p:sp>
      <p:sp>
        <p:nvSpPr>
          <p:cNvPr id="46" name="Text 42"/>
          <p:cNvSpPr/>
          <p:nvPr/>
        </p:nvSpPr>
        <p:spPr>
          <a:xfrm>
            <a:off x="7095744" y="4160520"/>
            <a:ext cx="530352" cy="182880"/>
          </a:xfrm>
          <a:prstGeom prst="rect">
            <a:avLst/>
          </a:prstGeom>
          <a:noFill/>
          <a:ln/>
        </p:spPr>
        <p:txBody>
          <a:bodyPr wrap="square" rtlCol="0" anchor="ctr"/>
          <a:lstStyle/>
          <a:p>
            <a:pPr algn="ctr" indent="0" marL="0">
              <a:buNone/>
            </a:pPr>
            <a:r>
              <a:rPr lang="en-US" sz="750" dirty="0">
                <a:solidFill>
                  <a:srgbClr val="475569"/>
                </a:solidFill>
                <a:latin typeface="Segoe UI" pitchFamily="34" charset="0"/>
                <a:ea typeface="Segoe UI" pitchFamily="34" charset="-122"/>
                <a:cs typeface="Segoe UI" pitchFamily="34" charset="-120"/>
              </a:rPr>
              <a:t>23/07</a:t>
            </a:r>
            <a:endParaRPr lang="en-US" sz="750" dirty="0"/>
          </a:p>
        </p:txBody>
      </p:sp>
      <p:sp>
        <p:nvSpPr>
          <p:cNvPr id="47" name="Shape 43"/>
          <p:cNvSpPr/>
          <p:nvPr/>
        </p:nvSpPr>
        <p:spPr>
          <a:xfrm>
            <a:off x="7918704" y="4032504"/>
            <a:ext cx="164592" cy="82296"/>
          </a:xfrm>
          <a:prstGeom prst="roundRect">
            <a:avLst>
              <a:gd name="adj" fmla="val 111111"/>
            </a:avLst>
          </a:prstGeom>
          <a:solidFill>
            <a:srgbClr val="BD1D2D"/>
          </a:solidFill>
          <a:ln/>
        </p:spPr>
      </p:sp>
      <p:sp>
        <p:nvSpPr>
          <p:cNvPr id="48" name="Text 44"/>
          <p:cNvSpPr/>
          <p:nvPr/>
        </p:nvSpPr>
        <p:spPr>
          <a:xfrm>
            <a:off x="7827264" y="3831336"/>
            <a:ext cx="347472" cy="182880"/>
          </a:xfrm>
          <a:prstGeom prst="rect">
            <a:avLst/>
          </a:prstGeom>
          <a:noFill/>
          <a:ln/>
        </p:spPr>
        <p:txBody>
          <a:bodyPr wrap="square" rtlCol="0" anchor="ctr"/>
          <a:lstStyle/>
          <a:p>
            <a:pPr algn="ctr" indent="0" marL="0">
              <a:buNone/>
            </a:pPr>
            <a:r>
              <a:rPr lang="en-US" sz="800" b="1" dirty="0">
                <a:solidFill>
                  <a:srgbClr val="0F172A"/>
                </a:solidFill>
                <a:latin typeface="Segoe UI" pitchFamily="34" charset="0"/>
                <a:ea typeface="Segoe UI" pitchFamily="34" charset="-122"/>
                <a:cs typeface="Segoe UI" pitchFamily="34" charset="-120"/>
              </a:rPr>
              <a:t>1</a:t>
            </a:r>
            <a:endParaRPr lang="en-US" sz="800" dirty="0"/>
          </a:p>
        </p:txBody>
      </p:sp>
      <p:sp>
        <p:nvSpPr>
          <p:cNvPr id="49" name="Text 45"/>
          <p:cNvSpPr/>
          <p:nvPr/>
        </p:nvSpPr>
        <p:spPr>
          <a:xfrm>
            <a:off x="7735824" y="4160520"/>
            <a:ext cx="530352" cy="182880"/>
          </a:xfrm>
          <a:prstGeom prst="rect">
            <a:avLst/>
          </a:prstGeom>
          <a:noFill/>
          <a:ln/>
        </p:spPr>
        <p:txBody>
          <a:bodyPr wrap="square" rtlCol="0" anchor="ctr"/>
          <a:lstStyle/>
          <a:p>
            <a:pPr algn="ctr" indent="0" marL="0">
              <a:buNone/>
            </a:pPr>
            <a:r>
              <a:rPr lang="en-US" sz="750" dirty="0">
                <a:solidFill>
                  <a:srgbClr val="475569"/>
                </a:solidFill>
                <a:latin typeface="Segoe UI" pitchFamily="34" charset="0"/>
                <a:ea typeface="Segoe UI" pitchFamily="34" charset="-122"/>
                <a:cs typeface="Segoe UI" pitchFamily="34" charset="-120"/>
              </a:rPr>
              <a:t>24/07</a:t>
            </a:r>
            <a:endParaRPr lang="en-US" sz="750" dirty="0"/>
          </a:p>
        </p:txBody>
      </p:sp>
      <p:sp>
        <p:nvSpPr>
          <p:cNvPr id="50" name="Text 4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22 / 65</a:t>
            </a:r>
            <a:endParaRPr lang="en-US" sz="850" dirty="0"/>
          </a:p>
        </p:txBody>
      </p:sp>
      <p:sp>
        <p:nvSpPr>
          <p:cNvPr id="51" name="Text 4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ĐẶT CỌC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Lược Đồ Cấu Trúc deposit_milestones</a:t>
            </a:r>
            <a:endParaRPr lang="en-US" sz="1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50292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TRƯỜNG CSDL</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KIỂU DỮ LIỆU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KHÓA / RÀNG BUỘC</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MÔ TẢ VAI TRÒ</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 AUTO_INCREMENT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PRIMARY KEY</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Mã định danh đợt đóng tiền độc nhất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deposit_id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FOREIGN KEY -&gt; deposits(id)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Liên kết phiếu đặt cọc tương ứng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amount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DECIMAL (15,2)</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NOT NULL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Số tiền phải đóng hoặc thực thu đợt này</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status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ENUM('pending','approved','failed')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DEFAULT 'pending'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Trạng thái phê duyệt chứng từ đóng tiền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invoice_id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FOREIGN KEY -&gt; invoices(id)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Hóa đơn tài chính được sinh tự động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23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BỂ CỌC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Nghiệp Vụ Xử Lý Hủy Đặt Cọc (Bể Cọc)</a:t>
            </a:r>
            <a:endParaRPr lang="en-US" sz="1900" dirty="0"/>
          </a:p>
        </p:txBody>
      </p:sp>
      <p:sp>
        <p:nvSpPr>
          <p:cNvPr id="14" name="Shape 10"/>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5" name="Shape 11"/>
          <p:cNvSpPr/>
          <p:nvPr/>
        </p:nvSpPr>
        <p:spPr>
          <a:xfrm>
            <a:off x="868680" y="1783080"/>
            <a:ext cx="320040" cy="228600"/>
          </a:xfrm>
          <a:prstGeom prst="roundRect">
            <a:avLst>
              <a:gd name="adj" fmla="val 200000"/>
            </a:avLst>
          </a:prstGeom>
          <a:solidFill>
            <a:srgbClr val="FEE2E2"/>
          </a:solidFill>
          <a:ln/>
        </p:spPr>
      </p:sp>
      <p:sp>
        <p:nvSpPr>
          <p:cNvPr id="16" name="Text 12"/>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7" name="Text 13"/>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Yêu cầu hủy cọc</a:t>
            </a:r>
            <a:endParaRPr lang="en-US" sz="1000" dirty="0"/>
          </a:p>
        </p:txBody>
      </p:sp>
      <p:sp>
        <p:nvSpPr>
          <p:cNvPr id="18" name="Text 14"/>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Nhận yêu cầu hủy cọc từ khách hàng, kiểm tra lịch sử milestones đóng tiền.</a:t>
            </a:r>
            <a:endParaRPr lang="en-US" sz="820" dirty="0"/>
          </a:p>
        </p:txBody>
      </p:sp>
      <p:sp>
        <p:nvSpPr>
          <p:cNvPr id="19" name="Shape 15"/>
          <p:cNvSpPr/>
          <p:nvPr/>
        </p:nvSpPr>
        <p:spPr>
          <a:xfrm>
            <a:off x="3054096" y="2697480"/>
            <a:ext cx="109728" cy="182880"/>
          </a:xfrm>
          <a:prstGeom prst="rightArrow">
            <a:avLst/>
          </a:prstGeom>
          <a:solidFill>
            <a:srgbClr val="94A3B8"/>
          </a:solidFill>
          <a:ln w="6350">
            <a:solidFill>
              <a:srgbClr val="E2E8F0"/>
            </a:solidFill>
            <a:prstDash val="solid"/>
          </a:ln>
        </p:spPr>
      </p:sp>
      <p:sp>
        <p:nvSpPr>
          <p:cNvPr id="20" name="Shape 16"/>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1" name="Shape 17"/>
          <p:cNvSpPr/>
          <p:nvPr/>
        </p:nvSpPr>
        <p:spPr>
          <a:xfrm>
            <a:off x="3474720" y="1783080"/>
            <a:ext cx="320040" cy="228600"/>
          </a:xfrm>
          <a:prstGeom prst="roundRect">
            <a:avLst>
              <a:gd name="adj" fmla="val 200000"/>
            </a:avLst>
          </a:prstGeom>
          <a:solidFill>
            <a:srgbClr val="FEE2E2"/>
          </a:solidFill>
          <a:ln/>
        </p:spPr>
      </p:sp>
      <p:sp>
        <p:nvSpPr>
          <p:cNvPr id="22" name="Text 18"/>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3" name="Text 19"/>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Kiểm tra doanh thu</a:t>
            </a:r>
            <a:endParaRPr lang="en-US" sz="1000" dirty="0"/>
          </a:p>
        </p:txBody>
      </p:sp>
      <p:sp>
        <p:nvSpPr>
          <p:cNvPr id="24" name="Text 20"/>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Đối soát số đợt đóng tiền approved. Nếu = 0 -&gt; Hạ cấp; Nếu &gt; 0 -&gt; Giữ nguyên.</a:t>
            </a:r>
            <a:endParaRPr lang="en-US" sz="820" dirty="0"/>
          </a:p>
        </p:txBody>
      </p:sp>
      <p:sp>
        <p:nvSpPr>
          <p:cNvPr id="25" name="Shape 21"/>
          <p:cNvSpPr/>
          <p:nvPr/>
        </p:nvSpPr>
        <p:spPr>
          <a:xfrm>
            <a:off x="5660136" y="2697480"/>
            <a:ext cx="109728" cy="182880"/>
          </a:xfrm>
          <a:prstGeom prst="rightArrow">
            <a:avLst/>
          </a:prstGeom>
          <a:solidFill>
            <a:srgbClr val="94A3B8"/>
          </a:solidFill>
          <a:ln w="6350">
            <a:solidFill>
              <a:srgbClr val="E2E8F0"/>
            </a:solidFill>
            <a:prstDash val="solid"/>
          </a:ln>
        </p:spPr>
      </p:sp>
      <p:sp>
        <p:nvSpPr>
          <p:cNvPr id="26" name="Shape 22"/>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7" name="Shape 23"/>
          <p:cNvSpPr/>
          <p:nvPr/>
        </p:nvSpPr>
        <p:spPr>
          <a:xfrm>
            <a:off x="6080760" y="1783080"/>
            <a:ext cx="320040" cy="228600"/>
          </a:xfrm>
          <a:prstGeom prst="roundRect">
            <a:avLst>
              <a:gd name="adj" fmla="val 200000"/>
            </a:avLst>
          </a:prstGeom>
          <a:solidFill>
            <a:srgbClr val="FEE2E2"/>
          </a:solidFill>
          <a:ln/>
        </p:spPr>
      </p:sp>
      <p:sp>
        <p:nvSpPr>
          <p:cNvPr id="28" name="Text 24"/>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29" name="Text 25"/>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Khóa &amp; Ghi log</a:t>
            </a:r>
            <a:endParaRPr lang="en-US" sz="1000" dirty="0"/>
          </a:p>
        </p:txBody>
      </p:sp>
      <p:sp>
        <p:nvSpPr>
          <p:cNvPr id="30" name="Text 26"/>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Cập nhật trạng thái phiếu cọc, giải phóng căn hộ và ghi nhật ký.</a:t>
            </a:r>
            <a:endParaRPr lang="en-US" sz="8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24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BỂ CỌC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Hủy Cọc Khi Chưa Phát Sinh Doanh Thu</a:t>
            </a:r>
            <a:endParaRPr lang="en-US" sz="1900" dirty="0"/>
          </a:p>
        </p:txBody>
      </p:sp>
      <p:sp>
        <p:nvSpPr>
          <p:cNvPr id="14" name="Shape 10"/>
          <p:cNvSpPr/>
          <p:nvPr/>
        </p:nvSpPr>
        <p:spPr>
          <a:xfrm>
            <a:off x="731520" y="1280160"/>
            <a:ext cx="1499616" cy="365760"/>
          </a:xfrm>
          <a:prstGeom prst="roundRect">
            <a:avLst>
              <a:gd name="adj" fmla="val 12500"/>
            </a:avLst>
          </a:prstGeom>
          <a:solidFill>
            <a:srgbClr val="E2E8F0"/>
          </a:solidFill>
          <a:ln w="12700">
            <a:solidFill>
              <a:srgbClr val="E2E8F0"/>
            </a:solidFill>
            <a:prstDash val="solid"/>
          </a:ln>
        </p:spPr>
      </p:sp>
      <p:sp>
        <p:nvSpPr>
          <p:cNvPr id="15" name="Text 11"/>
          <p:cNvSpPr/>
          <p:nvPr/>
        </p:nvSpPr>
        <p:spPr>
          <a:xfrm>
            <a:off x="777240"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NHẬN LEAD THÔ</a:t>
            </a:r>
            <a:endParaRPr lang="en-US" sz="750" dirty="0"/>
          </a:p>
        </p:txBody>
      </p:sp>
      <p:sp>
        <p:nvSpPr>
          <p:cNvPr id="16" name="Shape 12"/>
          <p:cNvSpPr/>
          <p:nvPr/>
        </p:nvSpPr>
        <p:spPr>
          <a:xfrm>
            <a:off x="2368296" y="1280160"/>
            <a:ext cx="1499616" cy="365760"/>
          </a:xfrm>
          <a:prstGeom prst="roundRect">
            <a:avLst>
              <a:gd name="adj" fmla="val 12500"/>
            </a:avLst>
          </a:prstGeom>
          <a:solidFill>
            <a:srgbClr val="E2E8F0"/>
          </a:solidFill>
          <a:ln w="12700">
            <a:solidFill>
              <a:srgbClr val="E2E8F0"/>
            </a:solidFill>
            <a:prstDash val="solid"/>
          </a:ln>
        </p:spPr>
      </p:sp>
      <p:sp>
        <p:nvSpPr>
          <p:cNvPr id="17" name="Text 13"/>
          <p:cNvSpPr/>
          <p:nvPr/>
        </p:nvSpPr>
        <p:spPr>
          <a:xfrm>
            <a:off x="2414016"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QUAN TÂM</a:t>
            </a:r>
            <a:endParaRPr lang="en-US" sz="750" dirty="0"/>
          </a:p>
        </p:txBody>
      </p:sp>
      <p:sp>
        <p:nvSpPr>
          <p:cNvPr id="18" name="Shape 14"/>
          <p:cNvSpPr/>
          <p:nvPr/>
        </p:nvSpPr>
        <p:spPr>
          <a:xfrm>
            <a:off x="4005072" y="1280160"/>
            <a:ext cx="1499616" cy="365760"/>
          </a:xfrm>
          <a:prstGeom prst="roundRect">
            <a:avLst>
              <a:gd name="adj" fmla="val 12500"/>
            </a:avLst>
          </a:prstGeom>
          <a:solidFill>
            <a:srgbClr val="BD1D2D"/>
          </a:solidFill>
          <a:ln w="12700">
            <a:solidFill>
              <a:srgbClr val="BD1D2D"/>
            </a:solidFill>
            <a:prstDash val="solid"/>
          </a:ln>
        </p:spPr>
      </p:sp>
      <p:sp>
        <p:nvSpPr>
          <p:cNvPr id="19" name="Text 15"/>
          <p:cNvSpPr/>
          <p:nvPr/>
        </p:nvSpPr>
        <p:spPr>
          <a:xfrm>
            <a:off x="4050792" y="1280160"/>
            <a:ext cx="1408176" cy="365760"/>
          </a:xfrm>
          <a:prstGeom prst="rect">
            <a:avLst/>
          </a:prstGeom>
          <a:noFill/>
          <a:ln/>
        </p:spPr>
        <p:txBody>
          <a:bodyPr wrap="square" rtlCol="0" anchor="ctr"/>
          <a:lstStyle/>
          <a:p>
            <a:pPr algn="ctr" indent="0" marL="0">
              <a:buNone/>
            </a:pPr>
            <a:r>
              <a:rPr lang="en-US" sz="750" b="1" dirty="0">
                <a:solidFill>
                  <a:srgbClr val="FFFFFF"/>
                </a:solidFill>
                <a:latin typeface="Segoe UI" pitchFamily="34" charset="0"/>
                <a:ea typeface="Segoe UI" pitchFamily="34" charset="-122"/>
                <a:cs typeface="Segoe UI" pitchFamily="34" charset="-120"/>
              </a:rPr>
              <a:t>ĐÃ GẶP</a:t>
            </a:r>
            <a:endParaRPr lang="en-US" sz="750" dirty="0"/>
          </a:p>
        </p:txBody>
      </p:sp>
      <p:sp>
        <p:nvSpPr>
          <p:cNvPr id="20" name="Shape 16"/>
          <p:cNvSpPr/>
          <p:nvPr/>
        </p:nvSpPr>
        <p:spPr>
          <a:xfrm>
            <a:off x="5641848" y="1280160"/>
            <a:ext cx="1499616" cy="365760"/>
          </a:xfrm>
          <a:prstGeom prst="roundRect">
            <a:avLst>
              <a:gd name="adj" fmla="val 12500"/>
            </a:avLst>
          </a:prstGeom>
          <a:solidFill>
            <a:srgbClr val="FFFFFF"/>
          </a:solidFill>
          <a:ln w="12700">
            <a:solidFill>
              <a:srgbClr val="E2E8F0"/>
            </a:solidFill>
            <a:prstDash val="solid"/>
          </a:ln>
        </p:spPr>
      </p:sp>
      <p:sp>
        <p:nvSpPr>
          <p:cNvPr id="21" name="Text 17"/>
          <p:cNvSpPr/>
          <p:nvPr/>
        </p:nvSpPr>
        <p:spPr>
          <a:xfrm>
            <a:off x="5687568" y="1280160"/>
            <a:ext cx="1408176" cy="365760"/>
          </a:xfrm>
          <a:prstGeom prst="rect">
            <a:avLst/>
          </a:prstGeom>
          <a:noFill/>
          <a:ln/>
        </p:spPr>
        <p:txBody>
          <a:bodyPr wrap="square" rtlCol="0" anchor="ctr"/>
          <a:lstStyle/>
          <a:p>
            <a:pPr algn="ctr" indent="0" marL="0">
              <a:buNone/>
            </a:pPr>
            <a:r>
              <a:rPr lang="en-US" sz="750" dirty="0">
                <a:solidFill>
                  <a:srgbClr val="0F172A"/>
                </a:solidFill>
                <a:latin typeface="Segoe UI" pitchFamily="34" charset="0"/>
                <a:ea typeface="Segoe UI" pitchFamily="34" charset="-122"/>
                <a:cs typeface="Segoe UI" pitchFamily="34" charset="-120"/>
              </a:rPr>
              <a:t>ĐẶT CỌC</a:t>
            </a:r>
            <a:endParaRPr lang="en-US" sz="750" dirty="0"/>
          </a:p>
        </p:txBody>
      </p:sp>
      <p:sp>
        <p:nvSpPr>
          <p:cNvPr id="22" name="Shape 18"/>
          <p:cNvSpPr/>
          <p:nvPr/>
        </p:nvSpPr>
        <p:spPr>
          <a:xfrm>
            <a:off x="7278624" y="1280160"/>
            <a:ext cx="1499616" cy="365760"/>
          </a:xfrm>
          <a:prstGeom prst="roundRect">
            <a:avLst>
              <a:gd name="adj" fmla="val 12500"/>
            </a:avLst>
          </a:prstGeom>
          <a:solidFill>
            <a:srgbClr val="FFFFFF"/>
          </a:solidFill>
          <a:ln w="12700">
            <a:solidFill>
              <a:srgbClr val="E2E8F0"/>
            </a:solidFill>
            <a:prstDash val="solid"/>
          </a:ln>
        </p:spPr>
      </p:sp>
      <p:sp>
        <p:nvSpPr>
          <p:cNvPr id="23" name="Text 19"/>
          <p:cNvSpPr/>
          <p:nvPr/>
        </p:nvSpPr>
        <p:spPr>
          <a:xfrm>
            <a:off x="7324344" y="1280160"/>
            <a:ext cx="1408176" cy="365760"/>
          </a:xfrm>
          <a:prstGeom prst="rect">
            <a:avLst/>
          </a:prstGeom>
          <a:noFill/>
          <a:ln/>
        </p:spPr>
        <p:txBody>
          <a:bodyPr wrap="square" rtlCol="0" anchor="ctr"/>
          <a:lstStyle/>
          <a:p>
            <a:pPr algn="ctr" indent="0" marL="0">
              <a:buNone/>
            </a:pPr>
            <a:r>
              <a:rPr lang="en-US" sz="750" dirty="0">
                <a:solidFill>
                  <a:srgbClr val="0F172A"/>
                </a:solidFill>
                <a:latin typeface="Segoe UI" pitchFamily="34" charset="0"/>
                <a:ea typeface="Segoe UI" pitchFamily="34" charset="-122"/>
                <a:cs typeface="Segoe UI" pitchFamily="34" charset="-120"/>
              </a:rPr>
              <a:t>THÀNH CÔNG</a:t>
            </a:r>
            <a:endParaRPr lang="en-US" sz="750" dirty="0"/>
          </a:p>
        </p:txBody>
      </p:sp>
      <p:sp>
        <p:nvSpPr>
          <p:cNvPr id="24" name="Shape 20"/>
          <p:cNvSpPr/>
          <p:nvPr/>
        </p:nvSpPr>
        <p:spPr>
          <a:xfrm>
            <a:off x="731520" y="1828800"/>
            <a:ext cx="3057754" cy="2651760"/>
          </a:xfrm>
          <a:prstGeom prst="roundRect">
            <a:avLst>
              <a:gd name="adj" fmla="val 2069"/>
            </a:avLst>
          </a:prstGeom>
          <a:solidFill>
            <a:srgbClr val="FFFFFF"/>
          </a:solidFill>
          <a:ln w="25400">
            <a:solidFill>
              <a:srgbClr val="BD1D2D"/>
            </a:solidFill>
            <a:prstDash val="solid"/>
          </a:ln>
        </p:spPr>
      </p:sp>
      <p:sp>
        <p:nvSpPr>
          <p:cNvPr id="25" name="Text 21"/>
          <p:cNvSpPr/>
          <p:nvPr/>
        </p:nvSpPr>
        <p:spPr>
          <a:xfrm>
            <a:off x="868680" y="2103120"/>
            <a:ext cx="2783434" cy="731520"/>
          </a:xfrm>
          <a:prstGeom prst="rect">
            <a:avLst/>
          </a:prstGeom>
          <a:noFill/>
          <a:ln/>
        </p:spPr>
        <p:txBody>
          <a:bodyPr wrap="square" rtlCol="0" anchor="ctr"/>
          <a:lstStyle/>
          <a:p>
            <a:pPr algn="ctr" indent="0" marL="0">
              <a:buNone/>
            </a:pPr>
            <a:r>
              <a:rPr lang="en-US" sz="3400" b="1" dirty="0">
                <a:solidFill>
                  <a:srgbClr val="BD1D2D"/>
                </a:solidFill>
                <a:latin typeface="Segoe UI" pitchFamily="34" charset="0"/>
                <a:ea typeface="Segoe UI" pitchFamily="34" charset="-122"/>
                <a:cs typeface="Segoe UI" pitchFamily="34" charset="-120"/>
              </a:rPr>
              <a:t>Rớt 1 Cấp</a:t>
            </a:r>
            <a:endParaRPr lang="en-US" sz="3400" dirty="0"/>
          </a:p>
        </p:txBody>
      </p:sp>
      <p:sp>
        <p:nvSpPr>
          <p:cNvPr id="26" name="Text 22"/>
          <p:cNvSpPr/>
          <p:nvPr/>
        </p:nvSpPr>
        <p:spPr>
          <a:xfrm>
            <a:off x="868680" y="2926080"/>
            <a:ext cx="2783434"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HẠ TRẠNG THÁI &amp; RỚT NHIỆT</a:t>
            </a:r>
            <a:endParaRPr lang="en-US" sz="950" dirty="0"/>
          </a:p>
        </p:txBody>
      </p:sp>
      <p:sp>
        <p:nvSpPr>
          <p:cNvPr id="27" name="Text 23"/>
          <p:cNvSpPr/>
          <p:nvPr/>
        </p:nvSpPr>
        <p:spPr>
          <a:xfrm>
            <a:off x="868680" y="3291840"/>
            <a:ext cx="2783434" cy="1005840"/>
          </a:xfrm>
          <a:prstGeom prst="rect">
            <a:avLst/>
          </a:prstGeom>
          <a:noFill/>
          <a:ln/>
        </p:spPr>
        <p:txBody>
          <a:bodyPr wrap="square" rtlCol="0" anchor="t"/>
          <a:lstStyle/>
          <a:p>
            <a:pPr algn="ctr" indent="0" marL="0">
              <a:lnSpc>
                <a:spcPts val="1200"/>
              </a:lnSpc>
              <a:buNone/>
            </a:pPr>
            <a:r>
              <a:rPr lang="en-US" sz="850" dirty="0">
                <a:solidFill>
                  <a:srgbClr val="475569"/>
                </a:solidFill>
                <a:latin typeface="Segoe UI" pitchFamily="34" charset="0"/>
                <a:ea typeface="Segoe UI" pitchFamily="34" charset="-122"/>
                <a:cs typeface="Segoe UI" pitchFamily="34" charset="-120"/>
              </a:rPr>
              <a:t>Trạng thái khách hàng bị hạ về Booking hoặc Đã Gặp. Bắt đầu chạy lại đồng hồ bảo mật 3 tháng.</a:t>
            </a:r>
            <a:endParaRPr lang="en-US" sz="850" dirty="0"/>
          </a:p>
        </p:txBody>
      </p:sp>
      <p:sp>
        <p:nvSpPr>
          <p:cNvPr id="28" name="Shape 24"/>
          <p:cNvSpPr/>
          <p:nvPr/>
        </p:nvSpPr>
        <p:spPr>
          <a:xfrm>
            <a:off x="4111142" y="1828800"/>
            <a:ext cx="4667098" cy="2651760"/>
          </a:xfrm>
          <a:prstGeom prst="roundRect">
            <a:avLst>
              <a:gd name="adj" fmla="val 1724"/>
            </a:avLst>
          </a:prstGeom>
          <a:solidFill>
            <a:srgbClr val="FFFFFF"/>
          </a:solidFill>
          <a:ln w="12700">
            <a:solidFill>
              <a:srgbClr val="E2E8F0"/>
            </a:solidFill>
            <a:prstDash val="solid"/>
          </a:ln>
        </p:spPr>
      </p:sp>
      <p:sp>
        <p:nvSpPr>
          <p:cNvPr id="29" name="Text 25"/>
          <p:cNvSpPr/>
          <p:nvPr/>
        </p:nvSpPr>
        <p:spPr>
          <a:xfrm>
            <a:off x="4294022" y="1965960"/>
            <a:ext cx="4301338"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LÝ DO XỬ LÝ HẠ TRẠNG THÁI</a:t>
            </a:r>
            <a:endParaRPr lang="en-US" sz="950" dirty="0"/>
          </a:p>
        </p:txBody>
      </p:sp>
      <p:sp>
        <p:nvSpPr>
          <p:cNvPr id="30" name="Text 26"/>
          <p:cNvSpPr/>
          <p:nvPr/>
        </p:nvSpPr>
        <p:spPr>
          <a:xfrm>
            <a:off x="4294022" y="2258568"/>
            <a:ext cx="4301338" cy="2084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Công ty chưa thực nhận được bất kỳ dòng tiền thực tế nào từ giao dịch.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lead có cơ hội tự động trả về kho dữ liệu chung (Databank) nếu hết hạn, giúp tối ưu nguồn lực Sale khác.</a:t>
            </a:r>
            <a:endParaRPr lang="en-US" sz="9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25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BỂ CỌC</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Hủy Cọc Khi Đã Có Doanh Thu Thực Tế</a:t>
            </a:r>
            <a:endParaRPr lang="en-US" sz="1900" dirty="0"/>
          </a:p>
        </p:txBody>
      </p:sp>
      <p:sp>
        <p:nvSpPr>
          <p:cNvPr id="14" name="Shape 10"/>
          <p:cNvSpPr/>
          <p:nvPr/>
        </p:nvSpPr>
        <p:spPr>
          <a:xfrm>
            <a:off x="731520" y="1280160"/>
            <a:ext cx="1499616" cy="365760"/>
          </a:xfrm>
          <a:prstGeom prst="roundRect">
            <a:avLst>
              <a:gd name="adj" fmla="val 12500"/>
            </a:avLst>
          </a:prstGeom>
          <a:solidFill>
            <a:srgbClr val="E2E8F0"/>
          </a:solidFill>
          <a:ln w="12700">
            <a:solidFill>
              <a:srgbClr val="E2E8F0"/>
            </a:solidFill>
            <a:prstDash val="solid"/>
          </a:ln>
        </p:spPr>
      </p:sp>
      <p:sp>
        <p:nvSpPr>
          <p:cNvPr id="15" name="Text 11"/>
          <p:cNvSpPr/>
          <p:nvPr/>
        </p:nvSpPr>
        <p:spPr>
          <a:xfrm>
            <a:off x="777240"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NHẬN LEAD THÔ</a:t>
            </a:r>
            <a:endParaRPr lang="en-US" sz="750" dirty="0"/>
          </a:p>
        </p:txBody>
      </p:sp>
      <p:sp>
        <p:nvSpPr>
          <p:cNvPr id="16" name="Shape 12"/>
          <p:cNvSpPr/>
          <p:nvPr/>
        </p:nvSpPr>
        <p:spPr>
          <a:xfrm>
            <a:off x="2368296" y="1280160"/>
            <a:ext cx="1499616" cy="365760"/>
          </a:xfrm>
          <a:prstGeom prst="roundRect">
            <a:avLst>
              <a:gd name="adj" fmla="val 12500"/>
            </a:avLst>
          </a:prstGeom>
          <a:solidFill>
            <a:srgbClr val="E2E8F0"/>
          </a:solidFill>
          <a:ln w="12700">
            <a:solidFill>
              <a:srgbClr val="E2E8F0"/>
            </a:solidFill>
            <a:prstDash val="solid"/>
          </a:ln>
        </p:spPr>
      </p:sp>
      <p:sp>
        <p:nvSpPr>
          <p:cNvPr id="17" name="Text 13"/>
          <p:cNvSpPr/>
          <p:nvPr/>
        </p:nvSpPr>
        <p:spPr>
          <a:xfrm>
            <a:off x="2414016"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QUAN TÂM</a:t>
            </a:r>
            <a:endParaRPr lang="en-US" sz="750" dirty="0"/>
          </a:p>
        </p:txBody>
      </p:sp>
      <p:sp>
        <p:nvSpPr>
          <p:cNvPr id="18" name="Shape 14"/>
          <p:cNvSpPr/>
          <p:nvPr/>
        </p:nvSpPr>
        <p:spPr>
          <a:xfrm>
            <a:off x="4005072" y="1280160"/>
            <a:ext cx="1499616" cy="365760"/>
          </a:xfrm>
          <a:prstGeom prst="roundRect">
            <a:avLst>
              <a:gd name="adj" fmla="val 12500"/>
            </a:avLst>
          </a:prstGeom>
          <a:solidFill>
            <a:srgbClr val="E2E8F0"/>
          </a:solidFill>
          <a:ln w="12700">
            <a:solidFill>
              <a:srgbClr val="E2E8F0"/>
            </a:solidFill>
            <a:prstDash val="solid"/>
          </a:ln>
        </p:spPr>
      </p:sp>
      <p:sp>
        <p:nvSpPr>
          <p:cNvPr id="19" name="Text 15"/>
          <p:cNvSpPr/>
          <p:nvPr/>
        </p:nvSpPr>
        <p:spPr>
          <a:xfrm>
            <a:off x="4050792" y="1280160"/>
            <a:ext cx="1408176" cy="365760"/>
          </a:xfrm>
          <a:prstGeom prst="rect">
            <a:avLst/>
          </a:prstGeom>
          <a:noFill/>
          <a:ln/>
        </p:spPr>
        <p:txBody>
          <a:bodyPr wrap="square" rtlCol="0" anchor="ctr"/>
          <a:lstStyle/>
          <a:p>
            <a:pPr algn="ctr" indent="0" marL="0">
              <a:buNone/>
            </a:pPr>
            <a:r>
              <a:rPr lang="en-US" sz="750" dirty="0">
                <a:solidFill>
                  <a:srgbClr val="94A3B8"/>
                </a:solidFill>
                <a:latin typeface="Segoe UI" pitchFamily="34" charset="0"/>
                <a:ea typeface="Segoe UI" pitchFamily="34" charset="-122"/>
                <a:cs typeface="Segoe UI" pitchFamily="34" charset="-120"/>
              </a:rPr>
              <a:t>ĐÃ GẶP</a:t>
            </a:r>
            <a:endParaRPr lang="en-US" sz="750" dirty="0"/>
          </a:p>
        </p:txBody>
      </p:sp>
      <p:sp>
        <p:nvSpPr>
          <p:cNvPr id="20" name="Shape 16"/>
          <p:cNvSpPr/>
          <p:nvPr/>
        </p:nvSpPr>
        <p:spPr>
          <a:xfrm>
            <a:off x="5641848" y="1280160"/>
            <a:ext cx="1499616" cy="365760"/>
          </a:xfrm>
          <a:prstGeom prst="roundRect">
            <a:avLst>
              <a:gd name="adj" fmla="val 12500"/>
            </a:avLst>
          </a:prstGeom>
          <a:solidFill>
            <a:srgbClr val="BD1D2D"/>
          </a:solidFill>
          <a:ln w="12700">
            <a:solidFill>
              <a:srgbClr val="BD1D2D"/>
            </a:solidFill>
            <a:prstDash val="solid"/>
          </a:ln>
        </p:spPr>
      </p:sp>
      <p:sp>
        <p:nvSpPr>
          <p:cNvPr id="21" name="Text 17"/>
          <p:cNvSpPr/>
          <p:nvPr/>
        </p:nvSpPr>
        <p:spPr>
          <a:xfrm>
            <a:off x="5687568" y="1280160"/>
            <a:ext cx="1408176" cy="365760"/>
          </a:xfrm>
          <a:prstGeom prst="rect">
            <a:avLst/>
          </a:prstGeom>
          <a:noFill/>
          <a:ln/>
        </p:spPr>
        <p:txBody>
          <a:bodyPr wrap="square" rtlCol="0" anchor="ctr"/>
          <a:lstStyle/>
          <a:p>
            <a:pPr algn="ctr" indent="0" marL="0">
              <a:buNone/>
            </a:pPr>
            <a:r>
              <a:rPr lang="en-US" sz="750" b="1" dirty="0">
                <a:solidFill>
                  <a:srgbClr val="FFFFFF"/>
                </a:solidFill>
                <a:latin typeface="Segoe UI" pitchFamily="34" charset="0"/>
                <a:ea typeface="Segoe UI" pitchFamily="34" charset="-122"/>
                <a:cs typeface="Segoe UI" pitchFamily="34" charset="-120"/>
              </a:rPr>
              <a:t>ĐẶT CỌC</a:t>
            </a:r>
            <a:endParaRPr lang="en-US" sz="750" dirty="0"/>
          </a:p>
        </p:txBody>
      </p:sp>
      <p:sp>
        <p:nvSpPr>
          <p:cNvPr id="22" name="Shape 18"/>
          <p:cNvSpPr/>
          <p:nvPr/>
        </p:nvSpPr>
        <p:spPr>
          <a:xfrm>
            <a:off x="7278624" y="1280160"/>
            <a:ext cx="1499616" cy="365760"/>
          </a:xfrm>
          <a:prstGeom prst="roundRect">
            <a:avLst>
              <a:gd name="adj" fmla="val 12500"/>
            </a:avLst>
          </a:prstGeom>
          <a:solidFill>
            <a:srgbClr val="FFFFFF"/>
          </a:solidFill>
          <a:ln w="12700">
            <a:solidFill>
              <a:srgbClr val="E2E8F0"/>
            </a:solidFill>
            <a:prstDash val="solid"/>
          </a:ln>
        </p:spPr>
      </p:sp>
      <p:sp>
        <p:nvSpPr>
          <p:cNvPr id="23" name="Text 19"/>
          <p:cNvSpPr/>
          <p:nvPr/>
        </p:nvSpPr>
        <p:spPr>
          <a:xfrm>
            <a:off x="7324344" y="1280160"/>
            <a:ext cx="1408176" cy="365760"/>
          </a:xfrm>
          <a:prstGeom prst="rect">
            <a:avLst/>
          </a:prstGeom>
          <a:noFill/>
          <a:ln/>
        </p:spPr>
        <p:txBody>
          <a:bodyPr wrap="square" rtlCol="0" anchor="ctr"/>
          <a:lstStyle/>
          <a:p>
            <a:pPr algn="ctr" indent="0" marL="0">
              <a:buNone/>
            </a:pPr>
            <a:r>
              <a:rPr lang="en-US" sz="750" dirty="0">
                <a:solidFill>
                  <a:srgbClr val="0F172A"/>
                </a:solidFill>
                <a:latin typeface="Segoe UI" pitchFamily="34" charset="0"/>
                <a:ea typeface="Segoe UI" pitchFamily="34" charset="-122"/>
                <a:cs typeface="Segoe UI" pitchFamily="34" charset="-120"/>
              </a:rPr>
              <a:t>THÀNH CÔNG</a:t>
            </a:r>
            <a:endParaRPr lang="en-US" sz="750" dirty="0"/>
          </a:p>
        </p:txBody>
      </p:sp>
      <p:sp>
        <p:nvSpPr>
          <p:cNvPr id="24" name="Shape 20"/>
          <p:cNvSpPr/>
          <p:nvPr/>
        </p:nvSpPr>
        <p:spPr>
          <a:xfrm>
            <a:off x="731520" y="1828800"/>
            <a:ext cx="3057754" cy="2651760"/>
          </a:xfrm>
          <a:prstGeom prst="roundRect">
            <a:avLst>
              <a:gd name="adj" fmla="val 2069"/>
            </a:avLst>
          </a:prstGeom>
          <a:solidFill>
            <a:srgbClr val="FFFFFF"/>
          </a:solidFill>
          <a:ln w="25400">
            <a:solidFill>
              <a:srgbClr val="BD1D2D"/>
            </a:solidFill>
            <a:prstDash val="solid"/>
          </a:ln>
        </p:spPr>
      </p:sp>
      <p:sp>
        <p:nvSpPr>
          <p:cNvPr id="25" name="Text 21"/>
          <p:cNvSpPr/>
          <p:nvPr/>
        </p:nvSpPr>
        <p:spPr>
          <a:xfrm>
            <a:off x="868680" y="2103120"/>
            <a:ext cx="2783434" cy="731520"/>
          </a:xfrm>
          <a:prstGeom prst="rect">
            <a:avLst/>
          </a:prstGeom>
          <a:noFill/>
          <a:ln/>
        </p:spPr>
        <p:txBody>
          <a:bodyPr wrap="square" rtlCol="0" anchor="ctr"/>
          <a:lstStyle/>
          <a:p>
            <a:pPr algn="ctr" indent="0" marL="0">
              <a:buNone/>
            </a:pPr>
            <a:r>
              <a:rPr lang="en-US" sz="3400" b="1" dirty="0">
                <a:solidFill>
                  <a:srgbClr val="BD1D2D"/>
                </a:solidFill>
                <a:latin typeface="Segoe UI" pitchFamily="34" charset="0"/>
                <a:ea typeface="Segoe UI" pitchFamily="34" charset="-122"/>
                <a:cs typeface="Segoe UI" pitchFamily="34" charset="-120"/>
              </a:rPr>
              <a:t>Giữ Nguyên</a:t>
            </a:r>
            <a:endParaRPr lang="en-US" sz="3400" dirty="0"/>
          </a:p>
        </p:txBody>
      </p:sp>
      <p:sp>
        <p:nvSpPr>
          <p:cNvPr id="26" name="Text 22"/>
          <p:cNvSpPr/>
          <p:nvPr/>
        </p:nvSpPr>
        <p:spPr>
          <a:xfrm>
            <a:off x="868680" y="2926080"/>
            <a:ext cx="2783434"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TRẠNG THÁI ĐẶT CỌC ĐƯỢC GIỮ</a:t>
            </a:r>
            <a:endParaRPr lang="en-US" sz="950" dirty="0"/>
          </a:p>
        </p:txBody>
      </p:sp>
      <p:sp>
        <p:nvSpPr>
          <p:cNvPr id="27" name="Text 23"/>
          <p:cNvSpPr/>
          <p:nvPr/>
        </p:nvSpPr>
        <p:spPr>
          <a:xfrm>
            <a:off x="868680" y="3291840"/>
            <a:ext cx="2783434" cy="1005840"/>
          </a:xfrm>
          <a:prstGeom prst="rect">
            <a:avLst/>
          </a:prstGeom>
          <a:noFill/>
          <a:ln/>
        </p:spPr>
        <p:txBody>
          <a:bodyPr wrap="square" rtlCol="0" anchor="t"/>
          <a:lstStyle/>
          <a:p>
            <a:pPr algn="ctr" indent="0" marL="0">
              <a:lnSpc>
                <a:spcPts val="1200"/>
              </a:lnSpc>
              <a:buNone/>
            </a:pPr>
            <a:r>
              <a:rPr lang="en-US" sz="850" dirty="0">
                <a:solidFill>
                  <a:srgbClr val="475569"/>
                </a:solidFill>
                <a:latin typeface="Segoe UI" pitchFamily="34" charset="0"/>
                <a:ea typeface="Segoe UI" pitchFamily="34" charset="-122"/>
                <a:cs typeface="Segoe UI" pitchFamily="34" charset="-120"/>
              </a:rPr>
              <a:t>Person bắt buộc giữ nguyên trạng thái Đặt Cọc/Khách Hàng. Đồng hồ bảo mật bị khóa, lead không bao giờ trả về kho chung.</a:t>
            </a:r>
            <a:endParaRPr lang="en-US" sz="850" dirty="0"/>
          </a:p>
        </p:txBody>
      </p:sp>
      <p:sp>
        <p:nvSpPr>
          <p:cNvPr id="28" name="Shape 24"/>
          <p:cNvSpPr/>
          <p:nvPr/>
        </p:nvSpPr>
        <p:spPr>
          <a:xfrm>
            <a:off x="4111142" y="1828800"/>
            <a:ext cx="4667098" cy="2651760"/>
          </a:xfrm>
          <a:prstGeom prst="roundRect">
            <a:avLst>
              <a:gd name="adj" fmla="val 1724"/>
            </a:avLst>
          </a:prstGeom>
          <a:solidFill>
            <a:srgbClr val="FFFFFF"/>
          </a:solidFill>
          <a:ln w="12700">
            <a:solidFill>
              <a:srgbClr val="E2E8F0"/>
            </a:solidFill>
            <a:prstDash val="solid"/>
          </a:ln>
        </p:spPr>
      </p:sp>
      <p:sp>
        <p:nvSpPr>
          <p:cNvPr id="29" name="Text 25"/>
          <p:cNvSpPr/>
          <p:nvPr/>
        </p:nvSpPr>
        <p:spPr>
          <a:xfrm>
            <a:off x="4294022" y="1965960"/>
            <a:ext cx="4301338"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LÝ DO XỬ LÝ GIỮ NGUYÊN</a:t>
            </a:r>
            <a:endParaRPr lang="en-US" sz="950" dirty="0"/>
          </a:p>
        </p:txBody>
      </p:sp>
      <p:sp>
        <p:nvSpPr>
          <p:cNvPr id="30" name="Text 26"/>
          <p:cNvSpPr/>
          <p:nvPr/>
        </p:nvSpPr>
        <p:spPr>
          <a:xfrm>
            <a:off x="4294022" y="2258568"/>
            <a:ext cx="4301338" cy="2084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Công ty đã thu được ít nhất một phần phí môi giới (milestone đợt 1 approved).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Xác nhận đây là một khách hàng thực sự. Giữ nguyên chủ sở hữu để tiếp tục chăm sóc bán căn khác hoặc giữ mối quan hệ.</a:t>
            </a:r>
            <a:endParaRPr lang="en-US" sz="9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26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ĐỔI CĂN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Nghiệp Vụ Đổi Căn Hộ Giao Dịch</a:t>
            </a:r>
            <a:endParaRPr lang="en-US" sz="1900" dirty="0"/>
          </a:p>
        </p:txBody>
      </p:sp>
      <p:sp>
        <p:nvSpPr>
          <p:cNvPr id="14" name="Shape 10"/>
          <p:cNvSpPr/>
          <p:nvPr/>
        </p:nvSpPr>
        <p:spPr>
          <a:xfrm>
            <a:off x="731520" y="1371600"/>
            <a:ext cx="2499360" cy="3017520"/>
          </a:xfrm>
          <a:prstGeom prst="roundRect">
            <a:avLst>
              <a:gd name="adj" fmla="val 2195"/>
            </a:avLst>
          </a:prstGeom>
          <a:solidFill>
            <a:srgbClr val="FFFFFF"/>
          </a:solidFill>
          <a:ln w="12700">
            <a:solidFill>
              <a:srgbClr val="E2E8F0"/>
            </a:solidFill>
            <a:prstDash val="solid"/>
          </a:ln>
        </p:spPr>
      </p:sp>
      <p:sp>
        <p:nvSpPr>
          <p:cNvPr id="15" name="Shape 11"/>
          <p:cNvSpPr/>
          <p:nvPr/>
        </p:nvSpPr>
        <p:spPr>
          <a:xfrm>
            <a:off x="3230880" y="1737360"/>
            <a:ext cx="274320" cy="0"/>
          </a:xfrm>
          <a:prstGeom prst="line">
            <a:avLst/>
          </a:prstGeom>
          <a:noFill/>
          <a:ln w="19050">
            <a:solidFill>
              <a:srgbClr val="BD1D2D"/>
            </a:solidFill>
            <a:prstDash val="dash"/>
          </a:ln>
        </p:spPr>
      </p:sp>
      <p:sp>
        <p:nvSpPr>
          <p:cNvPr id="16" name="Shape 12"/>
          <p:cNvSpPr/>
          <p:nvPr/>
        </p:nvSpPr>
        <p:spPr>
          <a:xfrm>
            <a:off x="1798320" y="1554480"/>
            <a:ext cx="365760" cy="365760"/>
          </a:xfrm>
          <a:prstGeom prst="ellipse">
            <a:avLst/>
          </a:prstGeom>
          <a:solidFill>
            <a:srgbClr val="BD1D2D"/>
          </a:solidFill>
          <a:ln w="19050">
            <a:solidFill>
              <a:srgbClr val="FFFFFF"/>
            </a:solidFill>
            <a:prstDash val="solid"/>
          </a:ln>
        </p:spPr>
      </p:sp>
      <p:sp>
        <p:nvSpPr>
          <p:cNvPr id="17" name="Text 13"/>
          <p:cNvSpPr/>
          <p:nvPr/>
        </p:nvSpPr>
        <p:spPr>
          <a:xfrm>
            <a:off x="179832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1</a:t>
            </a:r>
            <a:endParaRPr lang="en-US" sz="950" dirty="0"/>
          </a:p>
        </p:txBody>
      </p:sp>
      <p:sp>
        <p:nvSpPr>
          <p:cNvPr id="18" name="Text 14"/>
          <p:cNvSpPr/>
          <p:nvPr/>
        </p:nvSpPr>
        <p:spPr>
          <a:xfrm>
            <a:off x="82296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Đóng phiếu cọc cũ</a:t>
            </a:r>
            <a:endParaRPr lang="en-US" sz="950" dirty="0"/>
          </a:p>
        </p:txBody>
      </p:sp>
      <p:sp>
        <p:nvSpPr>
          <p:cNvPr id="19" name="Text 15"/>
          <p:cNvSpPr/>
          <p:nvPr/>
        </p:nvSpPr>
        <p:spPr>
          <a:xfrm>
            <a:off x="82296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Hủy phiếu đặt cọc cũ của căn A, ghi nhận lý do đổi căn và khóa hóa đơn.</a:t>
            </a:r>
            <a:endParaRPr lang="en-US" sz="800" dirty="0"/>
          </a:p>
        </p:txBody>
      </p:sp>
      <p:sp>
        <p:nvSpPr>
          <p:cNvPr id="20" name="Shape 16"/>
          <p:cNvSpPr/>
          <p:nvPr/>
        </p:nvSpPr>
        <p:spPr>
          <a:xfrm>
            <a:off x="3505200" y="1371600"/>
            <a:ext cx="2499360" cy="3017520"/>
          </a:xfrm>
          <a:prstGeom prst="roundRect">
            <a:avLst>
              <a:gd name="adj" fmla="val 2195"/>
            </a:avLst>
          </a:prstGeom>
          <a:solidFill>
            <a:srgbClr val="FFFFFF"/>
          </a:solidFill>
          <a:ln w="12700">
            <a:solidFill>
              <a:srgbClr val="E2E8F0"/>
            </a:solidFill>
            <a:prstDash val="solid"/>
          </a:ln>
        </p:spPr>
      </p:sp>
      <p:sp>
        <p:nvSpPr>
          <p:cNvPr id="21" name="Shape 17"/>
          <p:cNvSpPr/>
          <p:nvPr/>
        </p:nvSpPr>
        <p:spPr>
          <a:xfrm>
            <a:off x="6004560" y="1737360"/>
            <a:ext cx="274320" cy="0"/>
          </a:xfrm>
          <a:prstGeom prst="line">
            <a:avLst/>
          </a:prstGeom>
          <a:noFill/>
          <a:ln w="19050">
            <a:solidFill>
              <a:srgbClr val="BD1D2D"/>
            </a:solidFill>
            <a:prstDash val="dash"/>
          </a:ln>
        </p:spPr>
      </p:sp>
      <p:sp>
        <p:nvSpPr>
          <p:cNvPr id="22" name="Shape 18"/>
          <p:cNvSpPr/>
          <p:nvPr/>
        </p:nvSpPr>
        <p:spPr>
          <a:xfrm>
            <a:off x="4572000" y="1554480"/>
            <a:ext cx="365760" cy="365760"/>
          </a:xfrm>
          <a:prstGeom prst="ellipse">
            <a:avLst/>
          </a:prstGeom>
          <a:solidFill>
            <a:srgbClr val="BD1D2D"/>
          </a:solidFill>
          <a:ln w="19050">
            <a:solidFill>
              <a:srgbClr val="FFFFFF"/>
            </a:solidFill>
            <a:prstDash val="solid"/>
          </a:ln>
        </p:spPr>
      </p:sp>
      <p:sp>
        <p:nvSpPr>
          <p:cNvPr id="23" name="Text 19"/>
          <p:cNvSpPr/>
          <p:nvPr/>
        </p:nvSpPr>
        <p:spPr>
          <a:xfrm>
            <a:off x="457200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2</a:t>
            </a:r>
            <a:endParaRPr lang="en-US" sz="950" dirty="0"/>
          </a:p>
        </p:txBody>
      </p:sp>
      <p:sp>
        <p:nvSpPr>
          <p:cNvPr id="24" name="Text 20"/>
          <p:cNvSpPr/>
          <p:nvPr/>
        </p:nvSpPr>
        <p:spPr>
          <a:xfrm>
            <a:off x="359664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Tạo phiếu cọc mới</a:t>
            </a:r>
            <a:endParaRPr lang="en-US" sz="950" dirty="0"/>
          </a:p>
        </p:txBody>
      </p:sp>
      <p:sp>
        <p:nvSpPr>
          <p:cNvPr id="25" name="Text 21"/>
          <p:cNvSpPr/>
          <p:nvPr/>
        </p:nvSpPr>
        <p:spPr>
          <a:xfrm>
            <a:off x="359664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Khởi tạo phiếu đặt cọc mới hoàn toàn cho căn B với các milestone mới.</a:t>
            </a:r>
            <a:endParaRPr lang="en-US" sz="800" dirty="0"/>
          </a:p>
        </p:txBody>
      </p:sp>
      <p:sp>
        <p:nvSpPr>
          <p:cNvPr id="26" name="Shape 22"/>
          <p:cNvSpPr/>
          <p:nvPr/>
        </p:nvSpPr>
        <p:spPr>
          <a:xfrm>
            <a:off x="6278880" y="1371600"/>
            <a:ext cx="2499360" cy="3017520"/>
          </a:xfrm>
          <a:prstGeom prst="roundRect">
            <a:avLst>
              <a:gd name="adj" fmla="val 2195"/>
            </a:avLst>
          </a:prstGeom>
          <a:solidFill>
            <a:srgbClr val="FFFFFF"/>
          </a:solidFill>
          <a:ln w="12700">
            <a:solidFill>
              <a:srgbClr val="E2E8F0"/>
            </a:solidFill>
            <a:prstDash val="solid"/>
          </a:ln>
        </p:spPr>
      </p:sp>
      <p:sp>
        <p:nvSpPr>
          <p:cNvPr id="27" name="Shape 23"/>
          <p:cNvSpPr/>
          <p:nvPr/>
        </p:nvSpPr>
        <p:spPr>
          <a:xfrm>
            <a:off x="7345680" y="1554480"/>
            <a:ext cx="365760" cy="365760"/>
          </a:xfrm>
          <a:prstGeom prst="ellipse">
            <a:avLst/>
          </a:prstGeom>
          <a:solidFill>
            <a:srgbClr val="BD1D2D"/>
          </a:solidFill>
          <a:ln w="19050">
            <a:solidFill>
              <a:srgbClr val="FFFFFF"/>
            </a:solidFill>
            <a:prstDash val="solid"/>
          </a:ln>
        </p:spPr>
      </p:sp>
      <p:sp>
        <p:nvSpPr>
          <p:cNvPr id="28" name="Text 24"/>
          <p:cNvSpPr/>
          <p:nvPr/>
        </p:nvSpPr>
        <p:spPr>
          <a:xfrm>
            <a:off x="734568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3</a:t>
            </a:r>
            <a:endParaRPr lang="en-US" sz="950" dirty="0"/>
          </a:p>
        </p:txBody>
      </p:sp>
      <p:sp>
        <p:nvSpPr>
          <p:cNvPr id="29" name="Text 25"/>
          <p:cNvSpPr/>
          <p:nvPr/>
        </p:nvSpPr>
        <p:spPr>
          <a:xfrm>
            <a:off x="637032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Liên kết audit trail</a:t>
            </a:r>
            <a:endParaRPr lang="en-US" sz="950" dirty="0"/>
          </a:p>
        </p:txBody>
      </p:sp>
      <p:sp>
        <p:nvSpPr>
          <p:cNvPr id="30" name="Text 26"/>
          <p:cNvSpPr/>
          <p:nvPr/>
        </p:nvSpPr>
        <p:spPr>
          <a:xfrm>
            <a:off x="637032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Gắn ghi chú 'Đổi từ căn A' ở phiếu mới phục vụ thanh tra tài chính đối soát chéo.</a:t>
            </a:r>
            <a:endParaRPr lang="en-US" sz="80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27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AUDIT TRAIL</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Hệ Thống Ghi Nhật Ký Kiểm Toán Tài Chính (Audit)</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NHẬT KÝ CHỈNH SỬA</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Toàn bộ các thao tác chỉnh sửa giá bán, chiết khấu đều được ghi log.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Lưu lại định danh Sale/Admin và timestamp thực thi chuẩn xác.</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ĐỐI SOÁT HÓA ĐƠN</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đồng bộ các đợt tiền approved sang bảng kế toán.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Phát hiện và cảnh báo sai lệch giữa báo cáo Sale và dòng tiền nổi.</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KHÓA SỔ DỮ LIỆU</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đứng hoàn toàn quyền sửa đổi của Sale với phiếu đã duyệt.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Chỉ có tài khoản Kế toán trưởng được mở khóa điều chỉnh.</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28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META CAPI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Tín Hiệu Meta Conversion API (CAPI)</a:t>
            </a:r>
            <a:endParaRPr lang="en-US" sz="1900" dirty="0"/>
          </a:p>
        </p:txBody>
      </p:sp>
      <p:sp>
        <p:nvSpPr>
          <p:cNvPr id="14" name="Shape 10"/>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5" name="Shape 11"/>
          <p:cNvSpPr/>
          <p:nvPr/>
        </p:nvSpPr>
        <p:spPr>
          <a:xfrm>
            <a:off x="868680" y="1783080"/>
            <a:ext cx="320040" cy="228600"/>
          </a:xfrm>
          <a:prstGeom prst="roundRect">
            <a:avLst>
              <a:gd name="adj" fmla="val 200000"/>
            </a:avLst>
          </a:prstGeom>
          <a:solidFill>
            <a:srgbClr val="FEE2E2"/>
          </a:solidFill>
          <a:ln/>
        </p:spPr>
      </p:sp>
      <p:sp>
        <p:nvSpPr>
          <p:cNvPr id="16" name="Text 12"/>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7" name="Text 13"/>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Nghiệp vụ CRM</a:t>
            </a:r>
            <a:endParaRPr lang="en-US" sz="1000" dirty="0"/>
          </a:p>
        </p:txBody>
      </p:sp>
      <p:sp>
        <p:nvSpPr>
          <p:cNvPr id="18" name="Text 14"/>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Sale cập nhật trạng thái lead hoặc kế toán duyệt đặt cọc approved.</a:t>
            </a:r>
            <a:endParaRPr lang="en-US" sz="820" dirty="0"/>
          </a:p>
        </p:txBody>
      </p:sp>
      <p:sp>
        <p:nvSpPr>
          <p:cNvPr id="19" name="Shape 15"/>
          <p:cNvSpPr/>
          <p:nvPr/>
        </p:nvSpPr>
        <p:spPr>
          <a:xfrm>
            <a:off x="3054096" y="2697480"/>
            <a:ext cx="109728" cy="182880"/>
          </a:xfrm>
          <a:prstGeom prst="rightArrow">
            <a:avLst/>
          </a:prstGeom>
          <a:solidFill>
            <a:srgbClr val="94A3B8"/>
          </a:solidFill>
          <a:ln w="6350">
            <a:solidFill>
              <a:srgbClr val="E2E8F0"/>
            </a:solidFill>
            <a:prstDash val="solid"/>
          </a:ln>
        </p:spPr>
      </p:sp>
      <p:sp>
        <p:nvSpPr>
          <p:cNvPr id="20" name="Shape 16"/>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1" name="Shape 17"/>
          <p:cNvSpPr/>
          <p:nvPr/>
        </p:nvSpPr>
        <p:spPr>
          <a:xfrm>
            <a:off x="3474720" y="1783080"/>
            <a:ext cx="320040" cy="228600"/>
          </a:xfrm>
          <a:prstGeom prst="roundRect">
            <a:avLst>
              <a:gd name="adj" fmla="val 200000"/>
            </a:avLst>
          </a:prstGeom>
          <a:solidFill>
            <a:srgbClr val="FEE2E2"/>
          </a:solidFill>
          <a:ln/>
        </p:spPr>
      </p:sp>
      <p:sp>
        <p:nvSpPr>
          <p:cNvPr id="22" name="Text 18"/>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3" name="Text 19"/>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Bắn thẳng Meta API</a:t>
            </a:r>
            <a:endParaRPr lang="en-US" sz="1000" dirty="0"/>
          </a:p>
        </p:txBody>
      </p:sp>
      <p:sp>
        <p:nvSpPr>
          <p:cNvPr id="24" name="Text 20"/>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Hệ thống băm SHA256 SĐT/email, gửi sự kiện trực tiếp không qua trung gian.</a:t>
            </a:r>
            <a:endParaRPr lang="en-US" sz="820" dirty="0"/>
          </a:p>
        </p:txBody>
      </p:sp>
      <p:sp>
        <p:nvSpPr>
          <p:cNvPr id="25" name="Shape 21"/>
          <p:cNvSpPr/>
          <p:nvPr/>
        </p:nvSpPr>
        <p:spPr>
          <a:xfrm>
            <a:off x="5660136" y="2697480"/>
            <a:ext cx="109728" cy="182880"/>
          </a:xfrm>
          <a:prstGeom prst="rightArrow">
            <a:avLst/>
          </a:prstGeom>
          <a:solidFill>
            <a:srgbClr val="94A3B8"/>
          </a:solidFill>
          <a:ln w="6350">
            <a:solidFill>
              <a:srgbClr val="E2E8F0"/>
            </a:solidFill>
            <a:prstDash val="solid"/>
          </a:ln>
        </p:spPr>
      </p:sp>
      <p:sp>
        <p:nvSpPr>
          <p:cNvPr id="26" name="Shape 22"/>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7" name="Shape 23"/>
          <p:cNvSpPr/>
          <p:nvPr/>
        </p:nvSpPr>
        <p:spPr>
          <a:xfrm>
            <a:off x="6080760" y="1783080"/>
            <a:ext cx="320040" cy="228600"/>
          </a:xfrm>
          <a:prstGeom prst="roundRect">
            <a:avLst>
              <a:gd name="adj" fmla="val 200000"/>
            </a:avLst>
          </a:prstGeom>
          <a:solidFill>
            <a:srgbClr val="FEE2E2"/>
          </a:solidFill>
          <a:ln/>
        </p:spPr>
      </p:sp>
      <p:sp>
        <p:nvSpPr>
          <p:cNvPr id="28" name="Text 24"/>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29" name="Text 25"/>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Meta Pixel match</a:t>
            </a:r>
            <a:endParaRPr lang="en-US" sz="1000" dirty="0"/>
          </a:p>
        </p:txBody>
      </p:sp>
      <p:sp>
        <p:nvSpPr>
          <p:cNvPr id="30" name="Text 26"/>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Meta đối soát mã lead_id để tối ưu hóa thuật toán phân phối ads.</a:t>
            </a:r>
            <a:endParaRPr lang="en-US" sz="8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29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META CAPI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Tắc Tín Hiệu CAPI Một Chiều (Forward-Only)</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QUY TẮC MỘT CHIỀU</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Tuyệt đối không gửi sự kiện hoàn trả, hạ cấp trạng thái lead về Meta.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Một khi tín hiệu Purchase đã được gửi đi là kết thúc luồng cho lead đó.</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Bảo vệ dữ liệu tối ưu hóa chiến dịch quảng cáo không bị nhiễu loạn.</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LỢI ÍCH THUẬT TOÁN HỌC</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Giúp thuật toán tìm kiếm khách hàng của Meta tập trung vào tệp chuyển đổi thật.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Né tránh nhầm lẫn do các thay đổi trạng thái hậu trường của CRM.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Giảm chi phí quảng cáo (CPA) đáng kể cho các chiến dịch sau.</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30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TÀI CHÍNH &amp; CAPI</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3: TÀI CHÍNH &amp; CAPI</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Bảo vệ dòng tiền thực thu thông qua kế toán đối soát, vết kiểm toán audit trail và connector trực tiếp Meta Conversion API.</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BỂ CỌC PHÂN NHÁNH</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Hủy cọc trước doanh thu hạ cấp trả kho; hủy cọc sau doanh thu giữ nguyên cọc bảo vệ thực thu.</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UNIT SWITCHING</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Hủy cọc cũ và mở cọc mới, gắn định danh link nguồn giữ trọn vẹn vết kiểm toán tài chính.</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CAPI FORWARD-ONLY</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Bắn tín hiệu 1 chiều từ CSDL, chặn gửi sự kiện hoàn trả giúp bảo vệ thuật toán học Meta.</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31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 Hiện Tri Thức AI RAG Truy Xuất</a:t>
            </a:r>
            <a:endParaRPr lang="en-US" sz="1900" dirty="0"/>
          </a:p>
        </p:txBody>
      </p:sp>
      <p:sp>
        <p:nvSpPr>
          <p:cNvPr id="14" name="Shape 10"/>
          <p:cNvSpPr/>
          <p:nvPr/>
        </p:nvSpPr>
        <p:spPr>
          <a:xfrm>
            <a:off x="731520" y="1371600"/>
            <a:ext cx="2499360" cy="3017520"/>
          </a:xfrm>
          <a:prstGeom prst="roundRect">
            <a:avLst>
              <a:gd name="adj" fmla="val 2195"/>
            </a:avLst>
          </a:prstGeom>
          <a:solidFill>
            <a:srgbClr val="FFFFFF"/>
          </a:solidFill>
          <a:ln w="12700">
            <a:solidFill>
              <a:srgbClr val="E2E8F0"/>
            </a:solidFill>
            <a:prstDash val="solid"/>
          </a:ln>
        </p:spPr>
      </p:sp>
      <p:sp>
        <p:nvSpPr>
          <p:cNvPr id="15" name="Shape 11"/>
          <p:cNvSpPr/>
          <p:nvPr/>
        </p:nvSpPr>
        <p:spPr>
          <a:xfrm>
            <a:off x="3230880" y="1737360"/>
            <a:ext cx="274320" cy="0"/>
          </a:xfrm>
          <a:prstGeom prst="line">
            <a:avLst/>
          </a:prstGeom>
          <a:noFill/>
          <a:ln w="19050">
            <a:solidFill>
              <a:srgbClr val="BD1D2D"/>
            </a:solidFill>
            <a:prstDash val="dash"/>
          </a:ln>
        </p:spPr>
      </p:sp>
      <p:sp>
        <p:nvSpPr>
          <p:cNvPr id="16" name="Shape 12"/>
          <p:cNvSpPr/>
          <p:nvPr/>
        </p:nvSpPr>
        <p:spPr>
          <a:xfrm>
            <a:off x="1798320" y="1554480"/>
            <a:ext cx="365760" cy="365760"/>
          </a:xfrm>
          <a:prstGeom prst="ellipse">
            <a:avLst/>
          </a:prstGeom>
          <a:solidFill>
            <a:srgbClr val="BD1D2D"/>
          </a:solidFill>
          <a:ln w="19050">
            <a:solidFill>
              <a:srgbClr val="FFFFFF"/>
            </a:solidFill>
            <a:prstDash val="solid"/>
          </a:ln>
        </p:spPr>
      </p:sp>
      <p:sp>
        <p:nvSpPr>
          <p:cNvPr id="17" name="Text 13"/>
          <p:cNvSpPr/>
          <p:nvPr/>
        </p:nvSpPr>
        <p:spPr>
          <a:xfrm>
            <a:off x="179832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1</a:t>
            </a:r>
            <a:endParaRPr lang="en-US" sz="950" dirty="0"/>
          </a:p>
        </p:txBody>
      </p:sp>
      <p:sp>
        <p:nvSpPr>
          <p:cNvPr id="18" name="Text 14"/>
          <p:cNvSpPr/>
          <p:nvPr/>
        </p:nvSpPr>
        <p:spPr>
          <a:xfrm>
            <a:off x="82296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Nạp tài liệu</a:t>
            </a:r>
            <a:endParaRPr lang="en-US" sz="950" dirty="0"/>
          </a:p>
        </p:txBody>
      </p:sp>
      <p:sp>
        <p:nvSpPr>
          <p:cNvPr id="19" name="Text 15"/>
          <p:cNvSpPr/>
          <p:nvPr/>
        </p:nvSpPr>
        <p:spPr>
          <a:xfrm>
            <a:off x="82296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Quản trị viên đưa tài liệu PDF/Web dự án vào CRM qua AITrainingPanel.</a:t>
            </a:r>
            <a:endParaRPr lang="en-US" sz="800" dirty="0"/>
          </a:p>
        </p:txBody>
      </p:sp>
      <p:sp>
        <p:nvSpPr>
          <p:cNvPr id="20" name="Shape 16"/>
          <p:cNvSpPr/>
          <p:nvPr/>
        </p:nvSpPr>
        <p:spPr>
          <a:xfrm>
            <a:off x="3505200" y="1371600"/>
            <a:ext cx="2499360" cy="3017520"/>
          </a:xfrm>
          <a:prstGeom prst="roundRect">
            <a:avLst>
              <a:gd name="adj" fmla="val 2195"/>
            </a:avLst>
          </a:prstGeom>
          <a:solidFill>
            <a:srgbClr val="FFFFFF"/>
          </a:solidFill>
          <a:ln w="12700">
            <a:solidFill>
              <a:srgbClr val="E2E8F0"/>
            </a:solidFill>
            <a:prstDash val="solid"/>
          </a:ln>
        </p:spPr>
      </p:sp>
      <p:sp>
        <p:nvSpPr>
          <p:cNvPr id="21" name="Shape 17"/>
          <p:cNvSpPr/>
          <p:nvPr/>
        </p:nvSpPr>
        <p:spPr>
          <a:xfrm>
            <a:off x="6004560" y="1737360"/>
            <a:ext cx="274320" cy="0"/>
          </a:xfrm>
          <a:prstGeom prst="line">
            <a:avLst/>
          </a:prstGeom>
          <a:noFill/>
          <a:ln w="19050">
            <a:solidFill>
              <a:srgbClr val="BD1D2D"/>
            </a:solidFill>
            <a:prstDash val="dash"/>
          </a:ln>
        </p:spPr>
      </p:sp>
      <p:sp>
        <p:nvSpPr>
          <p:cNvPr id="22" name="Shape 18"/>
          <p:cNvSpPr/>
          <p:nvPr/>
        </p:nvSpPr>
        <p:spPr>
          <a:xfrm>
            <a:off x="4572000" y="1554480"/>
            <a:ext cx="365760" cy="365760"/>
          </a:xfrm>
          <a:prstGeom prst="ellipse">
            <a:avLst/>
          </a:prstGeom>
          <a:solidFill>
            <a:srgbClr val="BD1D2D"/>
          </a:solidFill>
          <a:ln w="19050">
            <a:solidFill>
              <a:srgbClr val="FFFFFF"/>
            </a:solidFill>
            <a:prstDash val="solid"/>
          </a:ln>
        </p:spPr>
      </p:sp>
      <p:sp>
        <p:nvSpPr>
          <p:cNvPr id="23" name="Text 19"/>
          <p:cNvSpPr/>
          <p:nvPr/>
        </p:nvSpPr>
        <p:spPr>
          <a:xfrm>
            <a:off x="457200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2</a:t>
            </a:r>
            <a:endParaRPr lang="en-US" sz="950" dirty="0"/>
          </a:p>
        </p:txBody>
      </p:sp>
      <p:sp>
        <p:nvSpPr>
          <p:cNvPr id="24" name="Text 20"/>
          <p:cNvSpPr/>
          <p:nvPr/>
        </p:nvSpPr>
        <p:spPr>
          <a:xfrm>
            <a:off x="359664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Chunking &amp; Vector</a:t>
            </a:r>
            <a:endParaRPr lang="en-US" sz="950" dirty="0"/>
          </a:p>
        </p:txBody>
      </p:sp>
      <p:sp>
        <p:nvSpPr>
          <p:cNvPr id="25" name="Text 21"/>
          <p:cNvSpPr/>
          <p:nvPr/>
        </p:nvSpPr>
        <p:spPr>
          <a:xfrm>
            <a:off x="359664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Tách câu theo dấu chấm câu, dùng gemini-embedding-001 sinh vector 768 chiều.</a:t>
            </a:r>
            <a:endParaRPr lang="en-US" sz="800" dirty="0"/>
          </a:p>
        </p:txBody>
      </p:sp>
      <p:sp>
        <p:nvSpPr>
          <p:cNvPr id="26" name="Shape 22"/>
          <p:cNvSpPr/>
          <p:nvPr/>
        </p:nvSpPr>
        <p:spPr>
          <a:xfrm>
            <a:off x="6278880" y="1371600"/>
            <a:ext cx="2499360" cy="3017520"/>
          </a:xfrm>
          <a:prstGeom prst="roundRect">
            <a:avLst>
              <a:gd name="adj" fmla="val 2195"/>
            </a:avLst>
          </a:prstGeom>
          <a:solidFill>
            <a:srgbClr val="FFFFFF"/>
          </a:solidFill>
          <a:ln w="12700">
            <a:solidFill>
              <a:srgbClr val="E2E8F0"/>
            </a:solidFill>
            <a:prstDash val="solid"/>
          </a:ln>
        </p:spPr>
      </p:sp>
      <p:sp>
        <p:nvSpPr>
          <p:cNvPr id="27" name="Shape 23"/>
          <p:cNvSpPr/>
          <p:nvPr/>
        </p:nvSpPr>
        <p:spPr>
          <a:xfrm>
            <a:off x="7345680" y="1554480"/>
            <a:ext cx="365760" cy="365760"/>
          </a:xfrm>
          <a:prstGeom prst="ellipse">
            <a:avLst/>
          </a:prstGeom>
          <a:solidFill>
            <a:srgbClr val="BD1D2D"/>
          </a:solidFill>
          <a:ln w="19050">
            <a:solidFill>
              <a:srgbClr val="FFFFFF"/>
            </a:solidFill>
            <a:prstDash val="solid"/>
          </a:ln>
        </p:spPr>
      </p:sp>
      <p:sp>
        <p:nvSpPr>
          <p:cNvPr id="28" name="Text 24"/>
          <p:cNvSpPr/>
          <p:nvPr/>
        </p:nvSpPr>
        <p:spPr>
          <a:xfrm>
            <a:off x="734568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3</a:t>
            </a:r>
            <a:endParaRPr lang="en-US" sz="950" dirty="0"/>
          </a:p>
        </p:txBody>
      </p:sp>
      <p:sp>
        <p:nvSpPr>
          <p:cNvPr id="29" name="Text 25"/>
          <p:cNvSpPr/>
          <p:nvPr/>
        </p:nvSpPr>
        <p:spPr>
          <a:xfrm>
            <a:off x="637032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Bộ đệm Cache CSDL</a:t>
            </a:r>
            <a:endParaRPr lang="en-US" sz="950" dirty="0"/>
          </a:p>
        </p:txBody>
      </p:sp>
      <p:sp>
        <p:nvSpPr>
          <p:cNvPr id="30" name="Text 26"/>
          <p:cNvSpPr/>
          <p:nvPr/>
        </p:nvSpPr>
        <p:spPr>
          <a:xfrm>
            <a:off x="637032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Lưu trữ vector và text tương ứng vào ai_vector_cache để truy xuất chớp mắt.</a:t>
            </a:r>
            <a:endParaRPr lang="en-US" sz="80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32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Chỉ Số Bộ Đệm Vector Embeddings Cache</a:t>
            </a:r>
            <a:endParaRPr lang="en-US" sz="1900" dirty="0"/>
          </a:p>
        </p:txBody>
      </p:sp>
      <p:sp>
        <p:nvSpPr>
          <p:cNvPr id="14" name="Shape 10"/>
          <p:cNvSpPr/>
          <p:nvPr/>
        </p:nvSpPr>
        <p:spPr>
          <a:xfrm>
            <a:off x="731520" y="1280160"/>
            <a:ext cx="3057754" cy="3200400"/>
          </a:xfrm>
          <a:prstGeom prst="roundRect">
            <a:avLst>
              <a:gd name="adj" fmla="val 1794"/>
            </a:avLst>
          </a:prstGeom>
          <a:solidFill>
            <a:srgbClr val="FFFFFF"/>
          </a:solidFill>
          <a:ln w="25400">
            <a:solidFill>
              <a:srgbClr val="BD1D2D"/>
            </a:solidFill>
            <a:prstDash val="solid"/>
          </a:ln>
        </p:spPr>
      </p:sp>
      <p:sp>
        <p:nvSpPr>
          <p:cNvPr id="15" name="Text 11"/>
          <p:cNvSpPr/>
          <p:nvPr/>
        </p:nvSpPr>
        <p:spPr>
          <a:xfrm>
            <a:off x="868680" y="1554480"/>
            <a:ext cx="2783434" cy="731520"/>
          </a:xfrm>
          <a:prstGeom prst="rect">
            <a:avLst/>
          </a:prstGeom>
          <a:noFill/>
          <a:ln/>
        </p:spPr>
        <p:txBody>
          <a:bodyPr wrap="square" rtlCol="0" anchor="ctr"/>
          <a:lstStyle/>
          <a:p>
            <a:pPr algn="ctr" indent="0" marL="0">
              <a:buNone/>
            </a:pPr>
            <a:r>
              <a:rPr lang="en-US" sz="3400" b="1" dirty="0">
                <a:solidFill>
                  <a:srgbClr val="BD1D2D"/>
                </a:solidFill>
                <a:latin typeface="Segoe UI" pitchFamily="34" charset="0"/>
                <a:ea typeface="Segoe UI" pitchFamily="34" charset="-122"/>
                <a:cs typeface="Segoe UI" pitchFamily="34" charset="-120"/>
              </a:rPr>
              <a:t>90 %</a:t>
            </a:r>
            <a:endParaRPr lang="en-US" sz="3400" dirty="0"/>
          </a:p>
        </p:txBody>
      </p:sp>
      <p:sp>
        <p:nvSpPr>
          <p:cNvPr id="16" name="Text 12"/>
          <p:cNvSpPr/>
          <p:nvPr/>
        </p:nvSpPr>
        <p:spPr>
          <a:xfrm>
            <a:off x="868680" y="2377440"/>
            <a:ext cx="2783434"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TỶ LỆ HIT CACHE CSDL</a:t>
            </a:r>
            <a:endParaRPr lang="en-US" sz="950" dirty="0"/>
          </a:p>
        </p:txBody>
      </p:sp>
      <p:sp>
        <p:nvSpPr>
          <p:cNvPr id="17" name="Text 13"/>
          <p:cNvSpPr/>
          <p:nvPr/>
        </p:nvSpPr>
        <p:spPr>
          <a:xfrm>
            <a:off x="868680" y="2743200"/>
            <a:ext cx="2783434" cy="1554480"/>
          </a:xfrm>
          <a:prstGeom prst="rect">
            <a:avLst/>
          </a:prstGeom>
          <a:noFill/>
          <a:ln/>
        </p:spPr>
        <p:txBody>
          <a:bodyPr wrap="square" rtlCol="0" anchor="t"/>
          <a:lstStyle/>
          <a:p>
            <a:pPr algn="ctr" indent="0" marL="0">
              <a:lnSpc>
                <a:spcPts val="1200"/>
              </a:lnSpc>
              <a:buNone/>
            </a:pPr>
            <a:r>
              <a:rPr lang="en-US" sz="850" dirty="0">
                <a:solidFill>
                  <a:srgbClr val="475569"/>
                </a:solidFill>
                <a:latin typeface="Segoe UI" pitchFamily="34" charset="0"/>
                <a:ea typeface="Segoe UI" pitchFamily="34" charset="-122"/>
                <a:cs typeface="Segoe UI" pitchFamily="34" charset="-120"/>
              </a:rPr>
              <a:t>Tính mã băm MD5 cho chuỗi văn bản và đối soát trước trong bảng ai_vector_cache. Giảm 90% chi phí gọi API ngoài.</a:t>
            </a:r>
            <a:endParaRPr lang="en-US" sz="850" dirty="0"/>
          </a:p>
        </p:txBody>
      </p:sp>
      <p:sp>
        <p:nvSpPr>
          <p:cNvPr id="18" name="Shape 14"/>
          <p:cNvSpPr/>
          <p:nvPr/>
        </p:nvSpPr>
        <p:spPr>
          <a:xfrm>
            <a:off x="4111142" y="1280160"/>
            <a:ext cx="4667098" cy="3200400"/>
          </a:xfrm>
          <a:prstGeom prst="roundRect">
            <a:avLst>
              <a:gd name="adj" fmla="val 1429"/>
            </a:avLst>
          </a:prstGeom>
          <a:solidFill>
            <a:srgbClr val="FFFFFF"/>
          </a:solidFill>
          <a:ln w="12700">
            <a:solidFill>
              <a:srgbClr val="E2E8F0"/>
            </a:solidFill>
            <a:prstDash val="solid"/>
          </a:ln>
        </p:spPr>
      </p:sp>
      <p:sp>
        <p:nvSpPr>
          <p:cNvPr id="19" name="Text 15"/>
          <p:cNvSpPr/>
          <p:nvPr/>
        </p:nvSpPr>
        <p:spPr>
          <a:xfrm>
            <a:off x="4294022" y="1417320"/>
            <a:ext cx="4301338"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ĐẶC TÍNH CẤU TRÚC VECTOR</a:t>
            </a:r>
            <a:endParaRPr lang="en-US" sz="950" dirty="0"/>
          </a:p>
        </p:txBody>
      </p:sp>
      <p:sp>
        <p:nvSpPr>
          <p:cNvPr id="20" name="Text 16"/>
          <p:cNvSpPr/>
          <p:nvPr/>
        </p:nvSpPr>
        <p:spPr>
          <a:xfrm>
            <a:off x="4294022" y="1709928"/>
            <a:ext cx="4301338" cy="263347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Sử dụng vector 768 chiều phản ánh ngữ nghĩa chính xác.</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hiện đối khớp Cosine Similarity trực tiếp bằng hàm PHP với độ trễ &lt;5ms.</a:t>
            </a:r>
            <a:endParaRPr lang="en-US" sz="920" dirty="0"/>
          </a:p>
        </p:txBody>
      </p:sp>
      <p:sp>
        <p:nvSpPr>
          <p:cNvPr id="21" name="Text 1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33 / 65</a:t>
            </a:r>
            <a:endParaRPr lang="en-US" sz="850" dirty="0"/>
          </a:p>
        </p:txBody>
      </p:sp>
      <p:sp>
        <p:nvSpPr>
          <p:cNvPr id="22" name="Text 1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Truy Xuất Ngữ Cảnh Tri Thức AI RAG</a:t>
            </a:r>
            <a:endParaRPr lang="en-US" sz="1900" dirty="0"/>
          </a:p>
        </p:txBody>
      </p:sp>
      <p:sp>
        <p:nvSpPr>
          <p:cNvPr id="14" name="Shape 10"/>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5" name="Shape 11"/>
          <p:cNvSpPr/>
          <p:nvPr/>
        </p:nvSpPr>
        <p:spPr>
          <a:xfrm>
            <a:off x="868680" y="1783080"/>
            <a:ext cx="320040" cy="228600"/>
          </a:xfrm>
          <a:prstGeom prst="roundRect">
            <a:avLst>
              <a:gd name="adj" fmla="val 200000"/>
            </a:avLst>
          </a:prstGeom>
          <a:solidFill>
            <a:srgbClr val="FEE2E2"/>
          </a:solidFill>
          <a:ln/>
        </p:spPr>
      </p:sp>
      <p:sp>
        <p:nvSpPr>
          <p:cNvPr id="16" name="Text 12"/>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7" name="Text 13"/>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Câu hỏi mới</a:t>
            </a:r>
            <a:endParaRPr lang="en-US" sz="1000" dirty="0"/>
          </a:p>
        </p:txBody>
      </p:sp>
      <p:sp>
        <p:nvSpPr>
          <p:cNvPr id="18" name="Text 14"/>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Người dùng nhập câu hỏi hoặc ghi chú lead mới đổ về hệ thống.</a:t>
            </a:r>
            <a:endParaRPr lang="en-US" sz="820" dirty="0"/>
          </a:p>
        </p:txBody>
      </p:sp>
      <p:sp>
        <p:nvSpPr>
          <p:cNvPr id="19" name="Shape 15"/>
          <p:cNvSpPr/>
          <p:nvPr/>
        </p:nvSpPr>
        <p:spPr>
          <a:xfrm>
            <a:off x="3054096" y="2697480"/>
            <a:ext cx="109728" cy="182880"/>
          </a:xfrm>
          <a:prstGeom prst="rightArrow">
            <a:avLst/>
          </a:prstGeom>
          <a:solidFill>
            <a:srgbClr val="94A3B8"/>
          </a:solidFill>
          <a:ln w="6350">
            <a:solidFill>
              <a:srgbClr val="E2E8F0"/>
            </a:solidFill>
            <a:prstDash val="solid"/>
          </a:ln>
        </p:spPr>
      </p:sp>
      <p:sp>
        <p:nvSpPr>
          <p:cNvPr id="20" name="Shape 16"/>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1" name="Shape 17"/>
          <p:cNvSpPr/>
          <p:nvPr/>
        </p:nvSpPr>
        <p:spPr>
          <a:xfrm>
            <a:off x="3474720" y="1783080"/>
            <a:ext cx="320040" cy="228600"/>
          </a:xfrm>
          <a:prstGeom prst="roundRect">
            <a:avLst>
              <a:gd name="adj" fmla="val 200000"/>
            </a:avLst>
          </a:prstGeom>
          <a:solidFill>
            <a:srgbClr val="FEE2E2"/>
          </a:solidFill>
          <a:ln/>
        </p:spPr>
      </p:sp>
      <p:sp>
        <p:nvSpPr>
          <p:cNvPr id="22" name="Text 18"/>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3" name="Text 19"/>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Cosine Match</a:t>
            </a:r>
            <a:endParaRPr lang="en-US" sz="1000" dirty="0"/>
          </a:p>
        </p:txBody>
      </p:sp>
      <p:sp>
        <p:nvSpPr>
          <p:cNvPr id="24" name="Text 20"/>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Đối soát tương đồng ngữ nghĩa trong PHP để tìm 3 đoạn tri thức phù hợp nhất.</a:t>
            </a:r>
            <a:endParaRPr lang="en-US" sz="820" dirty="0"/>
          </a:p>
        </p:txBody>
      </p:sp>
      <p:sp>
        <p:nvSpPr>
          <p:cNvPr id="25" name="Shape 21"/>
          <p:cNvSpPr/>
          <p:nvPr/>
        </p:nvSpPr>
        <p:spPr>
          <a:xfrm>
            <a:off x="5660136" y="2697480"/>
            <a:ext cx="109728" cy="182880"/>
          </a:xfrm>
          <a:prstGeom prst="rightArrow">
            <a:avLst/>
          </a:prstGeom>
          <a:solidFill>
            <a:srgbClr val="94A3B8"/>
          </a:solidFill>
          <a:ln w="6350">
            <a:solidFill>
              <a:srgbClr val="E2E8F0"/>
            </a:solidFill>
            <a:prstDash val="solid"/>
          </a:ln>
        </p:spPr>
      </p:sp>
      <p:sp>
        <p:nvSpPr>
          <p:cNvPr id="26" name="Shape 22"/>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7" name="Shape 23"/>
          <p:cNvSpPr/>
          <p:nvPr/>
        </p:nvSpPr>
        <p:spPr>
          <a:xfrm>
            <a:off x="6080760" y="1783080"/>
            <a:ext cx="320040" cy="228600"/>
          </a:xfrm>
          <a:prstGeom prst="roundRect">
            <a:avLst>
              <a:gd name="adj" fmla="val 200000"/>
            </a:avLst>
          </a:prstGeom>
          <a:solidFill>
            <a:srgbClr val="FEE2E2"/>
          </a:solidFill>
          <a:ln/>
        </p:spPr>
      </p:sp>
      <p:sp>
        <p:nvSpPr>
          <p:cNvPr id="28" name="Text 24"/>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29" name="Text 25"/>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LLM Answer</a:t>
            </a:r>
            <a:endParaRPr lang="en-US" sz="1000" dirty="0"/>
          </a:p>
        </p:txBody>
      </p:sp>
      <p:sp>
        <p:nvSpPr>
          <p:cNvPr id="30" name="Text 26"/>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Nhúng tri thức làm ngữ cảnh và gửi Gemini tạo câu trả lời chuẩn xác.</a:t>
            </a:r>
            <a:endParaRPr lang="en-US" sz="8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34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Tìm Kiếm Ngữ Nghĩa vs Từ Khóa Truyền Thống</a:t>
            </a:r>
            <a:endParaRPr lang="en-US" sz="1900" dirty="0"/>
          </a:p>
        </p:txBody>
      </p:sp>
      <p:sp>
        <p:nvSpPr>
          <p:cNvPr id="14" name="Shape 10"/>
          <p:cNvSpPr/>
          <p:nvPr/>
        </p:nvSpPr>
        <p:spPr>
          <a:xfrm>
            <a:off x="731520" y="1280160"/>
            <a:ext cx="3840480" cy="3200400"/>
          </a:xfrm>
          <a:prstGeom prst="roundRect">
            <a:avLst>
              <a:gd name="adj" fmla="val 1714"/>
            </a:avLst>
          </a:prstGeom>
          <a:solidFill>
            <a:srgbClr val="FFFFFF"/>
          </a:solidFill>
          <a:ln w="22860">
            <a:solidFill>
              <a:srgbClr val="BD1D2D"/>
            </a:solidFill>
            <a:prstDash val="solid"/>
          </a:ln>
        </p:spPr>
      </p:sp>
      <p:sp>
        <p:nvSpPr>
          <p:cNvPr id="15" name="Text 11"/>
          <p:cNvSpPr/>
          <p:nvPr/>
        </p:nvSpPr>
        <p:spPr>
          <a:xfrm>
            <a:off x="914400" y="1417320"/>
            <a:ext cx="347472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TÌM KIẾM TỪ KHÓA TRUYỀN THỐNG</a:t>
            </a:r>
            <a:endParaRPr lang="en-US" sz="950" dirty="0"/>
          </a:p>
        </p:txBody>
      </p:sp>
      <p:sp>
        <p:nvSpPr>
          <p:cNvPr id="16" name="Text 12"/>
          <p:cNvSpPr/>
          <p:nvPr/>
        </p:nvSpPr>
        <p:spPr>
          <a:xfrm>
            <a:off x="914400" y="1737360"/>
            <a:ext cx="3474720" cy="2560320"/>
          </a:xfrm>
          <a:prstGeom prst="rect">
            <a:avLst/>
          </a:prstGeom>
          <a:noFill/>
          <a:ln/>
        </p:spPr>
        <p:txBody>
          <a:bodyPr wrap="square" rtlCol="0" anchor="t"/>
          <a:lstStyle/>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Khớp ký tự chính xác. Bỏ sót từ đồng nghĩa (ví dụ: chung cư vs căn hộ).</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Sai lệch khi người dùng gõ sai chính tả nhẹ.</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Trả về kết quả trống rỗng khi không trùng từ khóa.</a:t>
            </a:r>
            <a:endParaRPr lang="en-US" sz="900" dirty="0"/>
          </a:p>
        </p:txBody>
      </p:sp>
      <p:sp>
        <p:nvSpPr>
          <p:cNvPr id="17" name="Shape 13"/>
          <p:cNvSpPr/>
          <p:nvPr/>
        </p:nvSpPr>
        <p:spPr>
          <a:xfrm>
            <a:off x="4937760" y="1280160"/>
            <a:ext cx="3840480" cy="3200400"/>
          </a:xfrm>
          <a:prstGeom prst="roundRect">
            <a:avLst>
              <a:gd name="adj" fmla="val 1714"/>
            </a:avLst>
          </a:prstGeom>
          <a:solidFill>
            <a:srgbClr val="FFFFFF"/>
          </a:solidFill>
          <a:ln w="22860">
            <a:solidFill>
              <a:srgbClr val="059669"/>
            </a:solidFill>
            <a:prstDash val="solid"/>
          </a:ln>
        </p:spPr>
      </p:sp>
      <p:sp>
        <p:nvSpPr>
          <p:cNvPr id="18" name="Text 14"/>
          <p:cNvSpPr/>
          <p:nvPr/>
        </p:nvSpPr>
        <p:spPr>
          <a:xfrm>
            <a:off x="5120640" y="1417320"/>
            <a:ext cx="3474720" cy="274320"/>
          </a:xfrm>
          <a:prstGeom prst="rect">
            <a:avLst/>
          </a:prstGeom>
          <a:noFill/>
          <a:ln/>
        </p:spPr>
        <p:txBody>
          <a:bodyPr wrap="square" rtlCol="0" anchor="ctr"/>
          <a:lstStyle/>
          <a:p>
            <a:pPr indent="0" marL="0">
              <a:buNone/>
            </a:pPr>
            <a:r>
              <a:rPr lang="en-US" sz="950" b="1" dirty="0">
                <a:solidFill>
                  <a:srgbClr val="059669"/>
                </a:solidFill>
                <a:latin typeface="Segoe UI" pitchFamily="34" charset="0"/>
                <a:ea typeface="Segoe UI" pitchFamily="34" charset="-122"/>
                <a:cs typeface="Segoe UI" pitchFamily="34" charset="-120"/>
              </a:rPr>
              <a:t>TÌM KIẾM NGỮ NGHĨA (VECTOR SEARCH)</a:t>
            </a:r>
            <a:endParaRPr lang="en-US" sz="950" dirty="0"/>
          </a:p>
        </p:txBody>
      </p:sp>
      <p:sp>
        <p:nvSpPr>
          <p:cNvPr id="19" name="Text 15"/>
          <p:cNvSpPr/>
          <p:nvPr/>
        </p:nvSpPr>
        <p:spPr>
          <a:xfrm>
            <a:off x="5120640" y="1737360"/>
            <a:ext cx="3474720" cy="2560320"/>
          </a:xfrm>
          <a:prstGeom prst="rect">
            <a:avLst/>
          </a:prstGeom>
          <a:noFill/>
          <a:ln/>
        </p:spPr>
        <p:txBody>
          <a:bodyPr wrap="square" rtlCol="0" anchor="t"/>
          <a:lstStyle/>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Đối soát khoảng cách vector, hiểu ý nghĩa ẩn sau câu chữ.</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Khắc phục hoàn toàn lỗi viết tắt hoặc viết sai chính tả nhẹ.</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Trích xuất chính xác ngữ cảnh phục vụ LLM sinh câu trả lời.</a:t>
            </a:r>
            <a:endParaRPr lang="en-US" sz="90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35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Giao Diện Admin Huấn Luyện AI (Training Panel)</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TÀI LIỆU ĐẦU VÀO</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Hỗ trợ upload tệp tri thức PDF, Docx và liên kết website dự án.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Quản lý phân loại tri thức theo dự án và khu vực địa lý.</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GIÁM SÁT CHUNKING</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Chia nhỏ văn bản theo ranh giới câu thông minh để giữ ngữ cảnh.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In danh sách các đoạn text kèm mã băm MD5.</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SANDBOX KIỂM THỬ</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Cung cấp bảng test trực tuyến, nhập câu hỏi chẩn đoán chớp mắt.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Hiển thị điểm số tương đồng Cosine của các đoạn tri thức.</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36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Logic Sàng Lọc Lead Tự Động Bằng AI</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QUYẾT ĐỊNH CỦA AI</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AI đọc ghi chú tương tác ban đầu của lead.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Chấm điểm độ tự tin (Confidence Score) từ 0 đến 100%.</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dán nhãn SPAM hoặc VALID dựa trên tri thức dự án.</a:t>
            </a:r>
            <a:endParaRPr lang="en-US" sz="920" dirty="0"/>
          </a:p>
        </p:txBody>
      </p:sp>
      <p:sp>
        <p:nvSpPr>
          <p:cNvPr id="17" name="Shape 13"/>
          <p:cNvSpPr/>
          <p:nvPr/>
        </p:nvSpPr>
        <p:spPr>
          <a:xfrm>
            <a:off x="4572000" y="1280160"/>
            <a:ext cx="3840480" cy="1554480"/>
          </a:xfrm>
          <a:prstGeom prst="roundRect">
            <a:avLst>
              <a:gd name="adj" fmla="val 4706"/>
            </a:avLst>
          </a:prstGeom>
          <a:solidFill>
            <a:srgbClr val="FFFFFF"/>
          </a:solidFill>
          <a:ln w="12700">
            <a:solidFill>
              <a:srgbClr val="E2E8F0"/>
            </a:solidFill>
            <a:prstDash val="solid"/>
          </a:ln>
        </p:spPr>
      </p:sp>
      <p:sp>
        <p:nvSpPr>
          <p:cNvPr id="18" name="Shape 14"/>
          <p:cNvSpPr/>
          <p:nvPr/>
        </p:nvSpPr>
        <p:spPr>
          <a:xfrm>
            <a:off x="4572000" y="1280160"/>
            <a:ext cx="3840480" cy="274320"/>
          </a:xfrm>
          <a:prstGeom prst="rect">
            <a:avLst/>
          </a:prstGeom>
          <a:solidFill>
            <a:srgbClr val="F8FAFC"/>
          </a:solidFill>
          <a:ln/>
        </p:spPr>
      </p:sp>
      <p:sp>
        <p:nvSpPr>
          <p:cNvPr id="19" name="Shape 15"/>
          <p:cNvSpPr/>
          <p:nvPr/>
        </p:nvSpPr>
        <p:spPr>
          <a:xfrm>
            <a:off x="4709160" y="1371600"/>
            <a:ext cx="91440" cy="91440"/>
          </a:xfrm>
          <a:prstGeom prst="ellipse">
            <a:avLst/>
          </a:prstGeom>
          <a:solidFill>
            <a:srgbClr val="3B82F6"/>
          </a:solidFill>
          <a:ln/>
        </p:spPr>
      </p:sp>
      <p:sp>
        <p:nvSpPr>
          <p:cNvPr id="20" name="Text 16"/>
          <p:cNvSpPr/>
          <p:nvPr/>
        </p:nvSpPr>
        <p:spPr>
          <a:xfrm>
            <a:off x="4846320" y="1280160"/>
            <a:ext cx="3474720" cy="274320"/>
          </a:xfrm>
          <a:prstGeom prst="rect">
            <a:avLst/>
          </a:prstGeom>
          <a:noFill/>
          <a:ln/>
        </p:spPr>
        <p:txBody>
          <a:bodyPr wrap="square" rtlCol="0" anchor="ctr"/>
          <a:lstStyle/>
          <a:p>
            <a:pPr indent="0" marL="0">
              <a:buNone/>
            </a:pPr>
            <a:r>
              <a:rPr lang="en-US" sz="800" b="1" dirty="0">
                <a:solidFill>
                  <a:srgbClr val="475569"/>
                </a:solidFill>
                <a:latin typeface="Segoe UI" pitchFamily="34" charset="0"/>
                <a:ea typeface="Segoe UI" pitchFamily="34" charset="-122"/>
                <a:cs typeface="Segoe UI" pitchFamily="34" charset="-120"/>
              </a:rPr>
              <a:t>TICKET: FLAGGED BY AI</a:t>
            </a:r>
            <a:endParaRPr lang="en-US" sz="800" dirty="0"/>
          </a:p>
        </p:txBody>
      </p:sp>
      <p:sp>
        <p:nvSpPr>
          <p:cNvPr id="21" name="Text 17"/>
          <p:cNvSpPr/>
          <p:nvPr/>
        </p:nvSpPr>
        <p:spPr>
          <a:xfrm>
            <a:off x="4709160" y="1645920"/>
            <a:ext cx="3566160" cy="228600"/>
          </a:xfrm>
          <a:prstGeom prst="rect">
            <a:avLst/>
          </a:prstGeom>
          <a:noFill/>
          <a:ln/>
        </p:spPr>
        <p:txBody>
          <a:bodyPr wrap="square" rtlCol="0" anchor="ctr"/>
          <a:lstStyle/>
          <a:p>
            <a:pPr indent="0" marL="0">
              <a:buNone/>
            </a:pPr>
            <a:r>
              <a:rPr lang="en-US" sz="1050" b="1" dirty="0">
                <a:solidFill>
                  <a:srgbClr val="0F172A"/>
                </a:solidFill>
                <a:latin typeface="Segoe UI" pitchFamily="34" charset="0"/>
                <a:ea typeface="Segoe UI" pitchFamily="34" charset="-122"/>
                <a:cs typeface="Segoe UI" pitchFamily="34" charset="-120"/>
              </a:rPr>
              <a:t>Spam User A</a:t>
            </a:r>
            <a:endParaRPr lang="en-US" sz="1050" dirty="0"/>
          </a:p>
        </p:txBody>
      </p:sp>
      <p:sp>
        <p:nvSpPr>
          <p:cNvPr id="22" name="Text 18"/>
          <p:cNvSpPr/>
          <p:nvPr/>
        </p:nvSpPr>
        <p:spPr>
          <a:xfrm>
            <a:off x="4709160" y="1874520"/>
            <a:ext cx="3566160" cy="182880"/>
          </a:xfrm>
          <a:prstGeom prst="rect">
            <a:avLst/>
          </a:prstGeom>
          <a:noFill/>
          <a:ln/>
        </p:spPr>
        <p:txBody>
          <a:bodyPr wrap="square" rtlCol="0" anchor="ctr"/>
          <a:lstStyle/>
          <a:p>
            <a:pPr indent="0" marL="0">
              <a:buNone/>
            </a:pPr>
            <a:r>
              <a:rPr lang="en-US" sz="900" dirty="0">
                <a:solidFill>
                  <a:srgbClr val="475569"/>
                </a:solidFill>
                <a:latin typeface="Segoe UI" pitchFamily="34" charset="0"/>
                <a:ea typeface="Segoe UI" pitchFamily="34" charset="-122"/>
                <a:cs typeface="Segoe UI" pitchFamily="34" charset="-120"/>
              </a:rPr>
              <a:t>0900000000</a:t>
            </a:r>
            <a:endParaRPr lang="en-US" sz="900" dirty="0"/>
          </a:p>
        </p:txBody>
      </p:sp>
      <p:sp>
        <p:nvSpPr>
          <p:cNvPr id="23" name="Shape 19"/>
          <p:cNvSpPr/>
          <p:nvPr/>
        </p:nvSpPr>
        <p:spPr>
          <a:xfrm>
            <a:off x="4709160" y="2148840"/>
            <a:ext cx="822960" cy="201168"/>
          </a:xfrm>
          <a:prstGeom prst="roundRect">
            <a:avLst>
              <a:gd name="adj" fmla="val 227273"/>
            </a:avLst>
          </a:prstGeom>
          <a:solidFill>
            <a:srgbClr val="E0F2FE"/>
          </a:solidFill>
          <a:ln/>
        </p:spPr>
      </p:sp>
      <p:sp>
        <p:nvSpPr>
          <p:cNvPr id="24" name="Text 20"/>
          <p:cNvSpPr/>
          <p:nvPr/>
        </p:nvSpPr>
        <p:spPr>
          <a:xfrm>
            <a:off x="4709160" y="2148840"/>
            <a:ext cx="822960" cy="201168"/>
          </a:xfrm>
          <a:prstGeom prst="rect">
            <a:avLst/>
          </a:prstGeom>
          <a:noFill/>
          <a:ln/>
        </p:spPr>
        <p:txBody>
          <a:bodyPr wrap="square" rtlCol="0" anchor="ctr"/>
          <a:lstStyle/>
          <a:p>
            <a:pPr algn="ctr" indent="0" marL="0">
              <a:buNone/>
            </a:pPr>
            <a:r>
              <a:rPr lang="en-US" sz="750" b="1" dirty="0">
                <a:solidFill>
                  <a:srgbClr val="0369A1"/>
                </a:solidFill>
                <a:latin typeface="Segoe UI" pitchFamily="34" charset="0"/>
                <a:ea typeface="Segoe UI" pitchFamily="34" charset="-122"/>
                <a:cs typeface="Segoe UI" pitchFamily="34" charset="-120"/>
              </a:rPr>
              <a:t>Meta Ads</a:t>
            </a:r>
            <a:endParaRPr lang="en-US" sz="750" dirty="0"/>
          </a:p>
        </p:txBody>
      </p:sp>
      <p:sp>
        <p:nvSpPr>
          <p:cNvPr id="25" name="Shape 21"/>
          <p:cNvSpPr/>
          <p:nvPr/>
        </p:nvSpPr>
        <p:spPr>
          <a:xfrm>
            <a:off x="5623560" y="2148840"/>
            <a:ext cx="731520" cy="201168"/>
          </a:xfrm>
          <a:prstGeom prst="roundRect">
            <a:avLst>
              <a:gd name="adj" fmla="val 227273"/>
            </a:avLst>
          </a:prstGeom>
          <a:solidFill>
            <a:srgbClr val="FEF3C7"/>
          </a:solidFill>
          <a:ln/>
        </p:spPr>
      </p:sp>
      <p:sp>
        <p:nvSpPr>
          <p:cNvPr id="26" name="Text 22"/>
          <p:cNvSpPr/>
          <p:nvPr/>
        </p:nvSpPr>
        <p:spPr>
          <a:xfrm>
            <a:off x="5623560" y="2148840"/>
            <a:ext cx="731520" cy="201168"/>
          </a:xfrm>
          <a:prstGeom prst="rect">
            <a:avLst/>
          </a:prstGeom>
          <a:noFill/>
          <a:ln/>
        </p:spPr>
        <p:txBody>
          <a:bodyPr wrap="square" rtlCol="0" anchor="ctr"/>
          <a:lstStyle/>
          <a:p>
            <a:pPr algn="ctr" indent="0" marL="0">
              <a:buNone/>
            </a:pPr>
            <a:r>
              <a:rPr lang="en-US" sz="750" b="1" dirty="0">
                <a:solidFill>
                  <a:srgbClr val="D97706"/>
                </a:solidFill>
                <a:latin typeface="Segoe UI" pitchFamily="34" charset="0"/>
                <a:ea typeface="Segoe UI" pitchFamily="34" charset="-122"/>
                <a:cs typeface="Segoe UI" pitchFamily="34" charset="-120"/>
              </a:rPr>
              <a:t>SPAM</a:t>
            </a:r>
            <a:endParaRPr lang="en-US" sz="750" dirty="0"/>
          </a:p>
        </p:txBody>
      </p:sp>
      <p:sp>
        <p:nvSpPr>
          <p:cNvPr id="27" name="Shape 23"/>
          <p:cNvSpPr/>
          <p:nvPr/>
        </p:nvSpPr>
        <p:spPr>
          <a:xfrm>
            <a:off x="4572000" y="3017520"/>
            <a:ext cx="3840480" cy="1554480"/>
          </a:xfrm>
          <a:prstGeom prst="roundRect">
            <a:avLst>
              <a:gd name="adj" fmla="val 4706"/>
            </a:avLst>
          </a:prstGeom>
          <a:solidFill>
            <a:srgbClr val="FFFFFF"/>
          </a:solidFill>
          <a:ln w="12700">
            <a:solidFill>
              <a:srgbClr val="E2E8F0"/>
            </a:solidFill>
            <a:prstDash val="solid"/>
          </a:ln>
        </p:spPr>
      </p:sp>
      <p:sp>
        <p:nvSpPr>
          <p:cNvPr id="28" name="Shape 24"/>
          <p:cNvSpPr/>
          <p:nvPr/>
        </p:nvSpPr>
        <p:spPr>
          <a:xfrm>
            <a:off x="4572000" y="3017520"/>
            <a:ext cx="3840480" cy="274320"/>
          </a:xfrm>
          <a:prstGeom prst="rect">
            <a:avLst/>
          </a:prstGeom>
          <a:solidFill>
            <a:srgbClr val="F8FAFC"/>
          </a:solidFill>
          <a:ln/>
        </p:spPr>
      </p:sp>
      <p:sp>
        <p:nvSpPr>
          <p:cNvPr id="29" name="Shape 25"/>
          <p:cNvSpPr/>
          <p:nvPr/>
        </p:nvSpPr>
        <p:spPr>
          <a:xfrm>
            <a:off x="4709160" y="3108960"/>
            <a:ext cx="91440" cy="91440"/>
          </a:xfrm>
          <a:prstGeom prst="ellipse">
            <a:avLst/>
          </a:prstGeom>
          <a:solidFill>
            <a:srgbClr val="3B82F6"/>
          </a:solidFill>
          <a:ln/>
        </p:spPr>
      </p:sp>
      <p:sp>
        <p:nvSpPr>
          <p:cNvPr id="30" name="Text 26"/>
          <p:cNvSpPr/>
          <p:nvPr/>
        </p:nvSpPr>
        <p:spPr>
          <a:xfrm>
            <a:off x="4846320" y="3017520"/>
            <a:ext cx="3474720" cy="274320"/>
          </a:xfrm>
          <a:prstGeom prst="rect">
            <a:avLst/>
          </a:prstGeom>
          <a:noFill/>
          <a:ln/>
        </p:spPr>
        <p:txBody>
          <a:bodyPr wrap="square" rtlCol="0" anchor="ctr"/>
          <a:lstStyle/>
          <a:p>
            <a:pPr indent="0" marL="0">
              <a:buNone/>
            </a:pPr>
            <a:r>
              <a:rPr lang="en-US" sz="800" b="1" dirty="0">
                <a:solidFill>
                  <a:srgbClr val="475569"/>
                </a:solidFill>
                <a:latin typeface="Segoe UI" pitchFamily="34" charset="0"/>
                <a:ea typeface="Segoe UI" pitchFamily="34" charset="-122"/>
                <a:cs typeface="Segoe UI" pitchFamily="34" charset="-120"/>
              </a:rPr>
              <a:t>TICKET: VALID LEAD</a:t>
            </a:r>
            <a:endParaRPr lang="en-US" sz="800" dirty="0"/>
          </a:p>
        </p:txBody>
      </p:sp>
      <p:sp>
        <p:nvSpPr>
          <p:cNvPr id="31" name="Text 27"/>
          <p:cNvSpPr/>
          <p:nvPr/>
        </p:nvSpPr>
        <p:spPr>
          <a:xfrm>
            <a:off x="4709160" y="3383280"/>
            <a:ext cx="3566160" cy="228600"/>
          </a:xfrm>
          <a:prstGeom prst="rect">
            <a:avLst/>
          </a:prstGeom>
          <a:noFill/>
          <a:ln/>
        </p:spPr>
        <p:txBody>
          <a:bodyPr wrap="square" rtlCol="0" anchor="ctr"/>
          <a:lstStyle/>
          <a:p>
            <a:pPr indent="0" marL="0">
              <a:buNone/>
            </a:pPr>
            <a:r>
              <a:rPr lang="en-US" sz="1050" b="1" dirty="0">
                <a:solidFill>
                  <a:srgbClr val="0F172A"/>
                </a:solidFill>
                <a:latin typeface="Segoe UI" pitchFamily="34" charset="0"/>
                <a:ea typeface="Segoe UI" pitchFamily="34" charset="-122"/>
                <a:cs typeface="Segoe UI" pitchFamily="34" charset="-120"/>
              </a:rPr>
              <a:t>Lê Minh Triết</a:t>
            </a:r>
            <a:endParaRPr lang="en-US" sz="1050" dirty="0"/>
          </a:p>
        </p:txBody>
      </p:sp>
      <p:sp>
        <p:nvSpPr>
          <p:cNvPr id="32" name="Text 28"/>
          <p:cNvSpPr/>
          <p:nvPr/>
        </p:nvSpPr>
        <p:spPr>
          <a:xfrm>
            <a:off x="4709160" y="3611880"/>
            <a:ext cx="3566160" cy="182880"/>
          </a:xfrm>
          <a:prstGeom prst="rect">
            <a:avLst/>
          </a:prstGeom>
          <a:noFill/>
          <a:ln/>
        </p:spPr>
        <p:txBody>
          <a:bodyPr wrap="square" rtlCol="0" anchor="ctr"/>
          <a:lstStyle/>
          <a:p>
            <a:pPr indent="0" marL="0">
              <a:buNone/>
            </a:pPr>
            <a:r>
              <a:rPr lang="en-US" sz="900" dirty="0">
                <a:solidFill>
                  <a:srgbClr val="475569"/>
                </a:solidFill>
                <a:latin typeface="Segoe UI" pitchFamily="34" charset="0"/>
                <a:ea typeface="Segoe UI" pitchFamily="34" charset="-122"/>
                <a:cs typeface="Segoe UI" pitchFamily="34" charset="-120"/>
              </a:rPr>
              <a:t>0911222333</a:t>
            </a:r>
            <a:endParaRPr lang="en-US" sz="900" dirty="0"/>
          </a:p>
        </p:txBody>
      </p:sp>
      <p:sp>
        <p:nvSpPr>
          <p:cNvPr id="33" name="Shape 29"/>
          <p:cNvSpPr/>
          <p:nvPr/>
        </p:nvSpPr>
        <p:spPr>
          <a:xfrm>
            <a:off x="4709160" y="3886200"/>
            <a:ext cx="822960" cy="201168"/>
          </a:xfrm>
          <a:prstGeom prst="roundRect">
            <a:avLst>
              <a:gd name="adj" fmla="val 227273"/>
            </a:avLst>
          </a:prstGeom>
          <a:solidFill>
            <a:srgbClr val="E0F2FE"/>
          </a:solidFill>
          <a:ln/>
        </p:spPr>
      </p:sp>
      <p:sp>
        <p:nvSpPr>
          <p:cNvPr id="34" name="Text 30"/>
          <p:cNvSpPr/>
          <p:nvPr/>
        </p:nvSpPr>
        <p:spPr>
          <a:xfrm>
            <a:off x="4709160" y="3886200"/>
            <a:ext cx="822960" cy="201168"/>
          </a:xfrm>
          <a:prstGeom prst="rect">
            <a:avLst/>
          </a:prstGeom>
          <a:noFill/>
          <a:ln/>
        </p:spPr>
        <p:txBody>
          <a:bodyPr wrap="square" rtlCol="0" anchor="ctr"/>
          <a:lstStyle/>
          <a:p>
            <a:pPr algn="ctr" indent="0" marL="0">
              <a:buNone/>
            </a:pPr>
            <a:r>
              <a:rPr lang="en-US" sz="750" b="1" dirty="0">
                <a:solidFill>
                  <a:srgbClr val="0369A1"/>
                </a:solidFill>
                <a:latin typeface="Segoe UI" pitchFamily="34" charset="0"/>
                <a:ea typeface="Segoe UI" pitchFamily="34" charset="-122"/>
                <a:cs typeface="Segoe UI" pitchFamily="34" charset="-120"/>
              </a:rPr>
              <a:t>Google Forms</a:t>
            </a:r>
            <a:endParaRPr lang="en-US" sz="750" dirty="0"/>
          </a:p>
        </p:txBody>
      </p:sp>
      <p:sp>
        <p:nvSpPr>
          <p:cNvPr id="35" name="Shape 31"/>
          <p:cNvSpPr/>
          <p:nvPr/>
        </p:nvSpPr>
        <p:spPr>
          <a:xfrm>
            <a:off x="5623560" y="3886200"/>
            <a:ext cx="731520" cy="201168"/>
          </a:xfrm>
          <a:prstGeom prst="roundRect">
            <a:avLst>
              <a:gd name="adj" fmla="val 227273"/>
            </a:avLst>
          </a:prstGeom>
          <a:solidFill>
            <a:srgbClr val="FEE2E2"/>
          </a:solidFill>
          <a:ln/>
        </p:spPr>
      </p:sp>
      <p:sp>
        <p:nvSpPr>
          <p:cNvPr id="36" name="Text 32"/>
          <p:cNvSpPr/>
          <p:nvPr/>
        </p:nvSpPr>
        <p:spPr>
          <a:xfrm>
            <a:off x="5623560" y="3886200"/>
            <a:ext cx="731520" cy="201168"/>
          </a:xfrm>
          <a:prstGeom prst="rect">
            <a:avLst/>
          </a:prstGeom>
          <a:noFill/>
          <a:ln/>
        </p:spPr>
        <p:txBody>
          <a:bodyPr wrap="square" rtlCol="0" anchor="ctr"/>
          <a:lstStyle/>
          <a:p>
            <a:pPr algn="ctr" indent="0" marL="0">
              <a:buNone/>
            </a:pPr>
            <a:r>
              <a:rPr lang="en-US" sz="750" b="1" dirty="0">
                <a:solidFill>
                  <a:srgbClr val="BD1D2D"/>
                </a:solidFill>
                <a:latin typeface="Segoe UI" pitchFamily="34" charset="0"/>
                <a:ea typeface="Segoe UI" pitchFamily="34" charset="-122"/>
                <a:cs typeface="Segoe UI" pitchFamily="34" charset="-120"/>
              </a:rPr>
              <a:t>VALID</a:t>
            </a:r>
            <a:endParaRPr lang="en-US" sz="750" dirty="0"/>
          </a:p>
        </p:txBody>
      </p:sp>
      <p:sp>
        <p:nvSpPr>
          <p:cNvPr id="37" name="Text 3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37 / 65</a:t>
            </a:r>
            <a:endParaRPr lang="en-US" sz="850" dirty="0"/>
          </a:p>
        </p:txBody>
      </p:sp>
      <p:sp>
        <p:nvSpPr>
          <p:cNvPr id="38" name="Text 3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AI RAG</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Dự Phòng Lỗi Khi Gọi AI (Retry)</a:t>
            </a:r>
            <a:endParaRPr lang="en-US" sz="1900" dirty="0"/>
          </a:p>
        </p:txBody>
      </p:sp>
      <p:sp>
        <p:nvSpPr>
          <p:cNvPr id="14" name="Shape 10"/>
          <p:cNvSpPr/>
          <p:nvPr/>
        </p:nvSpPr>
        <p:spPr>
          <a:xfrm>
            <a:off x="731520" y="1280160"/>
            <a:ext cx="3886200" cy="1508760"/>
          </a:xfrm>
          <a:prstGeom prst="roundRect">
            <a:avLst>
              <a:gd name="adj" fmla="val 3030"/>
            </a:avLst>
          </a:prstGeom>
          <a:solidFill>
            <a:srgbClr val="FFFFFF"/>
          </a:solidFill>
          <a:ln w="12700">
            <a:solidFill>
              <a:srgbClr val="E2E8F0"/>
            </a:solidFill>
            <a:prstDash val="solid"/>
          </a:ln>
        </p:spPr>
      </p:sp>
      <p:sp>
        <p:nvSpPr>
          <p:cNvPr id="15" name="Text 11"/>
          <p:cNvSpPr/>
          <p:nvPr/>
        </p:nvSpPr>
        <p:spPr>
          <a:xfrm>
            <a:off x="914400" y="141732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LỖI RATE LIMIT</a:t>
            </a:r>
            <a:endParaRPr lang="en-US" sz="950" dirty="0"/>
          </a:p>
        </p:txBody>
      </p:sp>
      <p:sp>
        <p:nvSpPr>
          <p:cNvPr id="16" name="Text 12"/>
          <p:cNvSpPr/>
          <p:nvPr/>
        </p:nvSpPr>
        <p:spPr>
          <a:xfrm>
            <a:off x="914400" y="170992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Gặp lỗi 429 khi gọi API quá tải.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tự động hoãn (backoff) và thử lại sau 2 giây.</a:t>
            </a:r>
            <a:endParaRPr lang="en-US" sz="920" dirty="0"/>
          </a:p>
        </p:txBody>
      </p:sp>
      <p:sp>
        <p:nvSpPr>
          <p:cNvPr id="17" name="Shape 13"/>
          <p:cNvSpPr/>
          <p:nvPr/>
        </p:nvSpPr>
        <p:spPr>
          <a:xfrm>
            <a:off x="4892040" y="1280160"/>
            <a:ext cx="3886200" cy="1508760"/>
          </a:xfrm>
          <a:prstGeom prst="roundRect">
            <a:avLst>
              <a:gd name="adj" fmla="val 3030"/>
            </a:avLst>
          </a:prstGeom>
          <a:solidFill>
            <a:srgbClr val="FFFFFF"/>
          </a:solidFill>
          <a:ln w="12700">
            <a:solidFill>
              <a:srgbClr val="E2E8F0"/>
            </a:solidFill>
            <a:prstDash val="solid"/>
          </a:ln>
        </p:spPr>
      </p:sp>
      <p:sp>
        <p:nvSpPr>
          <p:cNvPr id="18" name="Text 14"/>
          <p:cNvSpPr/>
          <p:nvPr/>
        </p:nvSpPr>
        <p:spPr>
          <a:xfrm>
            <a:off x="5074920" y="141732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LỖI CẤU TRÚC JSON</a:t>
            </a:r>
            <a:endParaRPr lang="en-US" sz="950" dirty="0"/>
          </a:p>
        </p:txBody>
      </p:sp>
      <p:sp>
        <p:nvSpPr>
          <p:cNvPr id="19" name="Text 15"/>
          <p:cNvSpPr/>
          <p:nvPr/>
        </p:nvSpPr>
        <p:spPr>
          <a:xfrm>
            <a:off x="5074920" y="170992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Phản hồi từ LLM bị gãy cấu trúc JSON.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Gọi phân tích lại, ép kiểu đầu ra qua JSON Schema.</a:t>
            </a:r>
            <a:endParaRPr lang="en-US" sz="920" dirty="0"/>
          </a:p>
        </p:txBody>
      </p:sp>
      <p:sp>
        <p:nvSpPr>
          <p:cNvPr id="20" name="Shape 16"/>
          <p:cNvSpPr/>
          <p:nvPr/>
        </p:nvSpPr>
        <p:spPr>
          <a:xfrm>
            <a:off x="731520" y="3063240"/>
            <a:ext cx="3886200" cy="1508760"/>
          </a:xfrm>
          <a:prstGeom prst="roundRect">
            <a:avLst>
              <a:gd name="adj" fmla="val 3030"/>
            </a:avLst>
          </a:prstGeom>
          <a:solidFill>
            <a:srgbClr val="FFFFFF"/>
          </a:solidFill>
          <a:ln w="12700">
            <a:solidFill>
              <a:srgbClr val="E2E8F0"/>
            </a:solidFill>
            <a:prstDash val="solid"/>
          </a:ln>
        </p:spPr>
      </p:sp>
      <p:sp>
        <p:nvSpPr>
          <p:cNvPr id="21" name="Text 17"/>
          <p:cNvSpPr/>
          <p:nvPr/>
        </p:nvSpPr>
        <p:spPr>
          <a:xfrm>
            <a:off x="914400" y="320040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LỖI MẤT MẠNG</a:t>
            </a:r>
            <a:endParaRPr lang="en-US" sz="950" dirty="0"/>
          </a:p>
        </p:txBody>
      </p:sp>
      <p:sp>
        <p:nvSpPr>
          <p:cNvPr id="22" name="Text 18"/>
          <p:cNvSpPr/>
          <p:nvPr/>
        </p:nvSpPr>
        <p:spPr>
          <a:xfrm>
            <a:off x="914400" y="349300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Đứt kết nối đến server API Gemini.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Thử lại tối đa 3 lần trước khi đánh dấu lỗi.</a:t>
            </a:r>
            <a:endParaRPr lang="en-US" sz="920" dirty="0"/>
          </a:p>
        </p:txBody>
      </p:sp>
      <p:sp>
        <p:nvSpPr>
          <p:cNvPr id="23" name="Shape 19"/>
          <p:cNvSpPr/>
          <p:nvPr/>
        </p:nvSpPr>
        <p:spPr>
          <a:xfrm>
            <a:off x="4892040" y="3063240"/>
            <a:ext cx="3886200" cy="1508760"/>
          </a:xfrm>
          <a:prstGeom prst="roundRect">
            <a:avLst>
              <a:gd name="adj" fmla="val 3030"/>
            </a:avLst>
          </a:prstGeom>
          <a:solidFill>
            <a:srgbClr val="FFFFFF"/>
          </a:solidFill>
          <a:ln w="12700">
            <a:solidFill>
              <a:srgbClr val="E2E8F0"/>
            </a:solidFill>
            <a:prstDash val="solid"/>
          </a:ln>
        </p:spPr>
      </p:sp>
      <p:sp>
        <p:nvSpPr>
          <p:cNvPr id="24" name="Text 20"/>
          <p:cNvSpPr/>
          <p:nvPr/>
        </p:nvSpPr>
        <p:spPr>
          <a:xfrm>
            <a:off x="5074920" y="320040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DUYỆT THỦ CÔNG</a:t>
            </a:r>
            <a:endParaRPr lang="en-US" sz="950" dirty="0"/>
          </a:p>
        </p:txBody>
      </p:sp>
      <p:sp>
        <p:nvSpPr>
          <p:cNvPr id="25" name="Text 21"/>
          <p:cNvSpPr/>
          <p:nvPr/>
        </p:nvSpPr>
        <p:spPr>
          <a:xfrm>
            <a:off x="5074920" y="349300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Nếu thử lại 3 lần vẫn hỏng.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Đẩy lead vào hàng đợi chờ Admin duyệt tay an toàn.</a:t>
            </a:r>
            <a:endParaRPr lang="en-US" sz="920" dirty="0"/>
          </a:p>
        </p:txBody>
      </p:sp>
      <p:sp>
        <p:nvSpPr>
          <p:cNvPr id="26" name="Text 22"/>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38 / 65</a:t>
            </a:r>
            <a:endParaRPr lang="en-US" sz="850" dirty="0"/>
          </a:p>
        </p:txBody>
      </p:sp>
      <p:sp>
        <p:nvSpPr>
          <p:cNvPr id="27" name="Text 23"/>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TRÍ TUỆ RAG</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4: HỆ THỐNG TRÍ TUỆ RAG</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Nạp tri thức tài liệu dự án, số hóa thông tin căn hộ thông qua Vector Embeddings và thuật toán tìm kiếm tương đồng ngữ nghĩa trong PHP.</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768 CHIỀU VECTOR</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Sử dụng gemini-embedding-001 ánh xạ ngữ nghĩa đoạn văn bản 700 ký tự.</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COSINE SIMILARITY</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So khớp ngữ nghĩa chớp mắt &lt;5ms trong PHP, bỏ qua sự phụ thuộc vào Vector DB ngoài.</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BỘ ĐỆM MD5 CACHE</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Tận dụng bảng CSDL ai_vector_cache lưu vết vector, triệt tiêu 90% chi phí gọi API ngoài.</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39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LIÊN KẾT</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Cấu Trúc Cột Cấu Hình sheet_connections</a:t>
            </a:r>
            <a:endParaRPr lang="en-US" sz="1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603504">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TRƯỜNG CẤU HÌNH</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KIỂU DỮ LIỆU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GIÁ TRỊ VÍ DỤ</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MỤC ĐÍCH SỬ DỤNG</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spreadsheet_id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VARCHAR(128)</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1g3v...Kx4</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Mã định danh duy nhất của Google Sheets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sheet_name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VARCHAR(50)</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'Lead Form'</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Tên cụ thể của thẻ tab cần đồng bộ</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sync_interval_minutes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5</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Chu kỳ thời gian chạy cron quét cập nhật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is_active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TINYINT(1)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Cờ cho phép bật/tắt tạm thời kết nối đồng bộ</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40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LIÊN KẾT</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Tiếp Nhận Webhook Tức Thời Đầu Vào</a:t>
            </a:r>
            <a:endParaRPr lang="en-US" sz="1900" dirty="0"/>
          </a:p>
        </p:txBody>
      </p:sp>
      <p:sp>
        <p:nvSpPr>
          <p:cNvPr id="14" name="Shape 10"/>
          <p:cNvSpPr/>
          <p:nvPr/>
        </p:nvSpPr>
        <p:spPr>
          <a:xfrm>
            <a:off x="731520" y="1280160"/>
            <a:ext cx="1908810" cy="685800"/>
          </a:xfrm>
          <a:prstGeom prst="roundRect">
            <a:avLst>
              <a:gd name="adj" fmla="val 10667"/>
            </a:avLst>
          </a:prstGeom>
          <a:solidFill>
            <a:srgbClr val="FFFFFF"/>
          </a:solidFill>
          <a:ln w="12700">
            <a:solidFill>
              <a:srgbClr val="E2E8F0"/>
            </a:solidFill>
            <a:prstDash val="solid"/>
          </a:ln>
        </p:spPr>
      </p:sp>
      <p:sp>
        <p:nvSpPr>
          <p:cNvPr id="15" name="Text 11"/>
          <p:cNvSpPr/>
          <p:nvPr/>
        </p:nvSpPr>
        <p:spPr>
          <a:xfrm>
            <a:off x="77724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POST</a:t>
            </a:r>
            <a:endParaRPr lang="en-US" sz="1500" dirty="0"/>
          </a:p>
        </p:txBody>
      </p:sp>
      <p:sp>
        <p:nvSpPr>
          <p:cNvPr id="16" name="Text 12"/>
          <p:cNvSpPr/>
          <p:nvPr/>
        </p:nvSpPr>
        <p:spPr>
          <a:xfrm>
            <a:off x="77724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HTTP METHOD</a:t>
            </a:r>
            <a:endParaRPr lang="en-US" sz="700" dirty="0"/>
          </a:p>
        </p:txBody>
      </p:sp>
      <p:sp>
        <p:nvSpPr>
          <p:cNvPr id="17" name="Shape 13"/>
          <p:cNvSpPr/>
          <p:nvPr/>
        </p:nvSpPr>
        <p:spPr>
          <a:xfrm>
            <a:off x="2777490" y="1280160"/>
            <a:ext cx="1908810" cy="685800"/>
          </a:xfrm>
          <a:prstGeom prst="roundRect">
            <a:avLst>
              <a:gd name="adj" fmla="val 10667"/>
            </a:avLst>
          </a:prstGeom>
          <a:solidFill>
            <a:srgbClr val="FFFFFF"/>
          </a:solidFill>
          <a:ln w="12700">
            <a:solidFill>
              <a:srgbClr val="E2E8F0"/>
            </a:solidFill>
            <a:prstDash val="solid"/>
          </a:ln>
        </p:spPr>
      </p:sp>
      <p:sp>
        <p:nvSpPr>
          <p:cNvPr id="18" name="Text 14"/>
          <p:cNvSpPr/>
          <p:nvPr/>
        </p:nvSpPr>
        <p:spPr>
          <a:xfrm>
            <a:off x="282321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JSON</a:t>
            </a:r>
            <a:endParaRPr lang="en-US" sz="1500" dirty="0"/>
          </a:p>
        </p:txBody>
      </p:sp>
      <p:sp>
        <p:nvSpPr>
          <p:cNvPr id="19" name="Text 15"/>
          <p:cNvSpPr/>
          <p:nvPr/>
        </p:nvSpPr>
        <p:spPr>
          <a:xfrm>
            <a:off x="282321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PAYLOAD FORMAT</a:t>
            </a:r>
            <a:endParaRPr lang="en-US" sz="700" dirty="0"/>
          </a:p>
        </p:txBody>
      </p:sp>
      <p:sp>
        <p:nvSpPr>
          <p:cNvPr id="20" name="Shape 16"/>
          <p:cNvSpPr/>
          <p:nvPr/>
        </p:nvSpPr>
        <p:spPr>
          <a:xfrm>
            <a:off x="4823460" y="1280160"/>
            <a:ext cx="1908810" cy="685800"/>
          </a:xfrm>
          <a:prstGeom prst="roundRect">
            <a:avLst>
              <a:gd name="adj" fmla="val 10667"/>
            </a:avLst>
          </a:prstGeom>
          <a:solidFill>
            <a:srgbClr val="FFFFFF"/>
          </a:solidFill>
          <a:ln w="12700">
            <a:solidFill>
              <a:srgbClr val="E2E8F0"/>
            </a:solidFill>
            <a:prstDash val="solid"/>
          </a:ln>
        </p:spPr>
      </p:sp>
      <p:sp>
        <p:nvSpPr>
          <p:cNvPr id="21" name="Text 17"/>
          <p:cNvSpPr/>
          <p:nvPr/>
        </p:nvSpPr>
        <p:spPr>
          <a:xfrm>
            <a:off x="486918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200 OK</a:t>
            </a:r>
            <a:endParaRPr lang="en-US" sz="1500" dirty="0"/>
          </a:p>
        </p:txBody>
      </p:sp>
      <p:sp>
        <p:nvSpPr>
          <p:cNvPr id="22" name="Text 18"/>
          <p:cNvSpPr/>
          <p:nvPr/>
        </p:nvSpPr>
        <p:spPr>
          <a:xfrm>
            <a:off x="486918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RESPONSE CODE</a:t>
            </a:r>
            <a:endParaRPr lang="en-US" sz="700" dirty="0"/>
          </a:p>
        </p:txBody>
      </p:sp>
      <p:sp>
        <p:nvSpPr>
          <p:cNvPr id="23" name="Shape 19"/>
          <p:cNvSpPr/>
          <p:nvPr/>
        </p:nvSpPr>
        <p:spPr>
          <a:xfrm>
            <a:off x="6869430" y="1280160"/>
            <a:ext cx="1908810" cy="685800"/>
          </a:xfrm>
          <a:prstGeom prst="roundRect">
            <a:avLst>
              <a:gd name="adj" fmla="val 10667"/>
            </a:avLst>
          </a:prstGeom>
          <a:solidFill>
            <a:srgbClr val="FFFFFF"/>
          </a:solidFill>
          <a:ln w="12700">
            <a:solidFill>
              <a:srgbClr val="E2E8F0"/>
            </a:solidFill>
            <a:prstDash val="solid"/>
          </a:ln>
        </p:spPr>
      </p:sp>
      <p:sp>
        <p:nvSpPr>
          <p:cNvPr id="24" name="Text 20"/>
          <p:cNvSpPr/>
          <p:nvPr/>
        </p:nvSpPr>
        <p:spPr>
          <a:xfrm>
            <a:off x="691515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&lt; 20ms</a:t>
            </a:r>
            <a:endParaRPr lang="en-US" sz="1500" dirty="0"/>
          </a:p>
        </p:txBody>
      </p:sp>
      <p:sp>
        <p:nvSpPr>
          <p:cNvPr id="25" name="Text 21"/>
          <p:cNvSpPr/>
          <p:nvPr/>
        </p:nvSpPr>
        <p:spPr>
          <a:xfrm>
            <a:off x="691515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QUEUE LATENCY</a:t>
            </a:r>
            <a:endParaRPr lang="en-US" sz="700" dirty="0"/>
          </a:p>
        </p:txBody>
      </p:sp>
      <p:sp>
        <p:nvSpPr>
          <p:cNvPr id="26" name="Shape 22"/>
          <p:cNvSpPr/>
          <p:nvPr/>
        </p:nvSpPr>
        <p:spPr>
          <a:xfrm>
            <a:off x="731520" y="2103120"/>
            <a:ext cx="8046720" cy="2468880"/>
          </a:xfrm>
          <a:prstGeom prst="roundRect">
            <a:avLst>
              <a:gd name="adj" fmla="val 1852"/>
            </a:avLst>
          </a:prstGeom>
          <a:solidFill>
            <a:srgbClr val="FFFFFF"/>
          </a:solidFill>
          <a:ln w="12700">
            <a:solidFill>
              <a:srgbClr val="E2E8F0"/>
            </a:solidFill>
            <a:prstDash val="solid"/>
          </a:ln>
        </p:spPr>
      </p:sp>
      <p:sp>
        <p:nvSpPr>
          <p:cNvPr id="27" name="Text 23"/>
          <p:cNvSpPr/>
          <p:nvPr/>
        </p:nvSpPr>
        <p:spPr>
          <a:xfrm>
            <a:off x="914400" y="2240280"/>
            <a:ext cx="768096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CỔNG TIẾP NHẬN WEBHOOK THÔ</a:t>
            </a:r>
            <a:endParaRPr lang="en-US" sz="950" dirty="0"/>
          </a:p>
        </p:txBody>
      </p:sp>
      <p:sp>
        <p:nvSpPr>
          <p:cNvPr id="28" name="Text 24"/>
          <p:cNvSpPr/>
          <p:nvPr/>
        </p:nvSpPr>
        <p:spPr>
          <a:xfrm>
            <a:off x="914400" y="2532888"/>
            <a:ext cx="7680960" cy="190195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Nhận POST payload trực tiếp từ Facebook Ads Webhook hoặc Landing Page.</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nhận ngay lập tức vào bảng leads thô để đảm bảo an toàn vết giao dịch.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Phản hồi mã HTTP 200 cực nhanh để tránh nghẽn luồng từ Meta Ads.</a:t>
            </a:r>
            <a:endParaRPr lang="en-US" sz="920" dirty="0"/>
          </a:p>
        </p:txBody>
      </p:sp>
      <p:sp>
        <p:nvSpPr>
          <p:cNvPr id="29" name="Text 25"/>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41 / 65</a:t>
            </a:r>
            <a:endParaRPr lang="en-US" sz="850" dirty="0"/>
          </a:p>
        </p:txBody>
      </p:sp>
      <p:sp>
        <p:nvSpPr>
          <p:cNvPr id="30" name="Text 26"/>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LIÊN KẾT</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Đối Soát Chống Lặp Đồng Bộ Hai Chiều</a:t>
            </a:r>
            <a:endParaRPr lang="en-US" sz="1900" dirty="0"/>
          </a:p>
        </p:txBody>
      </p:sp>
      <p:sp>
        <p:nvSpPr>
          <p:cNvPr id="14" name="Shape 10"/>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5" name="Shape 11"/>
          <p:cNvSpPr/>
          <p:nvPr/>
        </p:nvSpPr>
        <p:spPr>
          <a:xfrm>
            <a:off x="868680" y="1783080"/>
            <a:ext cx="320040" cy="228600"/>
          </a:xfrm>
          <a:prstGeom prst="roundRect">
            <a:avLst>
              <a:gd name="adj" fmla="val 200000"/>
            </a:avLst>
          </a:prstGeom>
          <a:solidFill>
            <a:srgbClr val="FEE2E2"/>
          </a:solidFill>
          <a:ln/>
        </p:spPr>
      </p:sp>
      <p:sp>
        <p:nvSpPr>
          <p:cNvPr id="16" name="Text 12"/>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7" name="Text 13"/>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Tính mã băm SHA256</a:t>
            </a:r>
            <a:endParaRPr lang="en-US" sz="1000" dirty="0"/>
          </a:p>
        </p:txBody>
      </p:sp>
      <p:sp>
        <p:nvSpPr>
          <p:cNvPr id="18" name="Text 14"/>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Tính mã băm cho dữ liệu mỗi dòng trên Google Sheets.</a:t>
            </a:r>
            <a:endParaRPr lang="en-US" sz="820" dirty="0"/>
          </a:p>
        </p:txBody>
      </p:sp>
      <p:sp>
        <p:nvSpPr>
          <p:cNvPr id="19" name="Shape 15"/>
          <p:cNvSpPr/>
          <p:nvPr/>
        </p:nvSpPr>
        <p:spPr>
          <a:xfrm>
            <a:off x="3054096" y="2697480"/>
            <a:ext cx="109728" cy="182880"/>
          </a:xfrm>
          <a:prstGeom prst="rightArrow">
            <a:avLst/>
          </a:prstGeom>
          <a:solidFill>
            <a:srgbClr val="94A3B8"/>
          </a:solidFill>
          <a:ln w="6350">
            <a:solidFill>
              <a:srgbClr val="E2E8F0"/>
            </a:solidFill>
            <a:prstDash val="solid"/>
          </a:ln>
        </p:spPr>
      </p:sp>
      <p:sp>
        <p:nvSpPr>
          <p:cNvPr id="20" name="Shape 16"/>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1" name="Shape 17"/>
          <p:cNvSpPr/>
          <p:nvPr/>
        </p:nvSpPr>
        <p:spPr>
          <a:xfrm>
            <a:off x="3474720" y="1783080"/>
            <a:ext cx="320040" cy="228600"/>
          </a:xfrm>
          <a:prstGeom prst="roundRect">
            <a:avLst>
              <a:gd name="adj" fmla="val 200000"/>
            </a:avLst>
          </a:prstGeom>
          <a:solidFill>
            <a:srgbClr val="FEE2E2"/>
          </a:solidFill>
          <a:ln/>
        </p:spPr>
      </p:sp>
      <p:sp>
        <p:nvSpPr>
          <p:cNvPr id="22" name="Text 18"/>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3" name="Text 19"/>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So sánh đối soát</a:t>
            </a:r>
            <a:endParaRPr lang="en-US" sz="1000" dirty="0"/>
          </a:p>
        </p:txBody>
      </p:sp>
      <p:sp>
        <p:nvSpPr>
          <p:cNvPr id="24" name="Text 20"/>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Lưu hash vào sheet_sync_records, chỉ đồng bộ nếu hash mới khác hash cũ.</a:t>
            </a:r>
            <a:endParaRPr lang="en-US" sz="820" dirty="0"/>
          </a:p>
        </p:txBody>
      </p:sp>
      <p:sp>
        <p:nvSpPr>
          <p:cNvPr id="25" name="Shape 21"/>
          <p:cNvSpPr/>
          <p:nvPr/>
        </p:nvSpPr>
        <p:spPr>
          <a:xfrm>
            <a:off x="5660136" y="2697480"/>
            <a:ext cx="109728" cy="182880"/>
          </a:xfrm>
          <a:prstGeom prst="rightArrow">
            <a:avLst/>
          </a:prstGeom>
          <a:solidFill>
            <a:srgbClr val="94A3B8"/>
          </a:solidFill>
          <a:ln w="6350">
            <a:solidFill>
              <a:srgbClr val="E2E8F0"/>
            </a:solidFill>
            <a:prstDash val="solid"/>
          </a:ln>
        </p:spPr>
      </p:sp>
      <p:sp>
        <p:nvSpPr>
          <p:cNvPr id="26" name="Shape 22"/>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7" name="Shape 23"/>
          <p:cNvSpPr/>
          <p:nvPr/>
        </p:nvSpPr>
        <p:spPr>
          <a:xfrm>
            <a:off x="6080760" y="1783080"/>
            <a:ext cx="320040" cy="228600"/>
          </a:xfrm>
          <a:prstGeom prst="roundRect">
            <a:avLst>
              <a:gd name="adj" fmla="val 200000"/>
            </a:avLst>
          </a:prstGeom>
          <a:solidFill>
            <a:srgbClr val="FEE2E2"/>
          </a:solidFill>
          <a:ln/>
        </p:spPr>
      </p:sp>
      <p:sp>
        <p:nvSpPr>
          <p:cNvPr id="28" name="Text 24"/>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29" name="Text 25"/>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Chống lặp vô hạn</a:t>
            </a:r>
            <a:endParaRPr lang="en-US" sz="1000" dirty="0"/>
          </a:p>
        </p:txBody>
      </p:sp>
      <p:sp>
        <p:nvSpPr>
          <p:cNvPr id="30" name="Text 26"/>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Bỏ qua các dòng chỉnh sửa sinh ra từ chính CRM cập nhật lên.</a:t>
            </a:r>
            <a:endParaRPr lang="en-US" sz="8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42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ĐIỀU KHIỂN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 Hình Trung Tâm Điều Khiển Chatbot</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TELEGRAM BOT API</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Kết nối trực tiếp máy chủ Telegram.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Lắng nghe tin nhắn nhóm quản trị qua Webhook bảo mật.</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ZALO OA WEBHOOK</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Nhận sự kiện trò chuyện từ người dùng Zalo OA.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Xác minh chữ ký số số hóa từ Zalo OA gửi về.</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BẢO MẬT CHAT ID</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Chỉ nhận và thực thi tin nhắn đến từ các ID chat đã whitelist.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đứng hoàn toàn hành vi gửi lệnh phá hoại từ bên ngoài.</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43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ĐIỀU KHIỂN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Bảng Mô Phỏng Tập Lệnh Tương Tác Qua Chat</a:t>
            </a:r>
            <a:endParaRPr lang="en-US" sz="1900" dirty="0"/>
          </a:p>
        </p:txBody>
      </p:sp>
      <p:sp>
        <p:nvSpPr>
          <p:cNvPr id="14" name="Shape 10"/>
          <p:cNvSpPr/>
          <p:nvPr/>
        </p:nvSpPr>
        <p:spPr>
          <a:xfrm>
            <a:off x="731520" y="1371600"/>
            <a:ext cx="3840480" cy="1463040"/>
          </a:xfrm>
          <a:prstGeom prst="roundRect">
            <a:avLst>
              <a:gd name="adj" fmla="val 5000"/>
            </a:avLst>
          </a:prstGeom>
          <a:solidFill>
            <a:srgbClr val="F1F5F9"/>
          </a:solidFill>
          <a:ln w="12700">
            <a:solidFill>
              <a:srgbClr val="E2E8F0"/>
            </a:solidFill>
            <a:prstDash val="solid"/>
          </a:ln>
        </p:spPr>
      </p:sp>
      <p:sp>
        <p:nvSpPr>
          <p:cNvPr id="15" name="Text 11"/>
          <p:cNvSpPr/>
          <p:nvPr/>
        </p:nvSpPr>
        <p:spPr>
          <a:xfrm>
            <a:off x="868680" y="1444752"/>
            <a:ext cx="3566160" cy="182880"/>
          </a:xfrm>
          <a:prstGeom prst="rect">
            <a:avLst/>
          </a:prstGeom>
          <a:noFill/>
          <a:ln/>
        </p:spPr>
        <p:txBody>
          <a:bodyPr wrap="square" rtlCol="0" anchor="ctr"/>
          <a:lstStyle/>
          <a:p>
            <a:pPr indent="0" marL="0">
              <a:buNone/>
            </a:pPr>
            <a:r>
              <a:rPr lang="en-US" sz="750" b="1" dirty="0">
                <a:solidFill>
                  <a:srgbClr val="BD1D2D"/>
                </a:solidFill>
                <a:latin typeface="Segoe UI" pitchFamily="34" charset="0"/>
                <a:ea typeface="Segoe UI" pitchFamily="34" charset="-122"/>
                <a:cs typeface="Segoe UI" pitchFamily="34" charset="-120"/>
              </a:rPr>
              <a:t>QUẢN LÝ (TELEGRAM GROUP)</a:t>
            </a:r>
            <a:endParaRPr lang="en-US" sz="750" dirty="0"/>
          </a:p>
        </p:txBody>
      </p:sp>
      <p:sp>
        <p:nvSpPr>
          <p:cNvPr id="16" name="Text 12"/>
          <p:cNvSpPr/>
          <p:nvPr/>
        </p:nvSpPr>
        <p:spPr>
          <a:xfrm>
            <a:off x="868680" y="1600200"/>
            <a:ext cx="3566160" cy="1188720"/>
          </a:xfrm>
          <a:prstGeom prst="rect">
            <a:avLst/>
          </a:prstGeom>
          <a:noFill/>
          <a:ln/>
        </p:spPr>
        <p:txBody>
          <a:bodyPr wrap="square" rtlCol="0" anchor="t"/>
          <a:lstStyle/>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/report</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Yêu cầu xuất báo cáo số liệu lead mới nhận ngày hôm nay.</a:t>
            </a:r>
            <a:endParaRPr lang="en-US" sz="820" dirty="0"/>
          </a:p>
        </p:txBody>
      </p:sp>
      <p:sp>
        <p:nvSpPr>
          <p:cNvPr id="17" name="Shape 13"/>
          <p:cNvSpPr/>
          <p:nvPr/>
        </p:nvSpPr>
        <p:spPr>
          <a:xfrm>
            <a:off x="731520" y="3017520"/>
            <a:ext cx="3840480" cy="1463040"/>
          </a:xfrm>
          <a:prstGeom prst="roundRect">
            <a:avLst>
              <a:gd name="adj" fmla="val 5000"/>
            </a:avLst>
          </a:prstGeom>
          <a:solidFill>
            <a:srgbClr val="F1F5F9"/>
          </a:solidFill>
          <a:ln w="12700">
            <a:solidFill>
              <a:srgbClr val="E2E8F0"/>
            </a:solidFill>
            <a:prstDash val="solid"/>
          </a:ln>
        </p:spPr>
      </p:sp>
      <p:sp>
        <p:nvSpPr>
          <p:cNvPr id="18" name="Text 14"/>
          <p:cNvSpPr/>
          <p:nvPr/>
        </p:nvSpPr>
        <p:spPr>
          <a:xfrm>
            <a:off x="868680" y="3090672"/>
            <a:ext cx="3566160" cy="182880"/>
          </a:xfrm>
          <a:prstGeom prst="rect">
            <a:avLst/>
          </a:prstGeom>
          <a:noFill/>
          <a:ln/>
        </p:spPr>
        <p:txBody>
          <a:bodyPr wrap="square" rtlCol="0" anchor="ctr"/>
          <a:lstStyle/>
          <a:p>
            <a:pPr indent="0" marL="0">
              <a:buNone/>
            </a:pPr>
            <a:r>
              <a:rPr lang="en-US" sz="750" b="1" dirty="0">
                <a:solidFill>
                  <a:srgbClr val="BD1D2D"/>
                </a:solidFill>
                <a:latin typeface="Segoe UI" pitchFamily="34" charset="0"/>
                <a:ea typeface="Segoe UI" pitchFamily="34" charset="-122"/>
                <a:cs typeface="Segoe UI" pitchFamily="34" charset="-120"/>
              </a:rPr>
              <a:t>QUẢN LÝ (TELEGRAM GROUP)</a:t>
            </a:r>
            <a:endParaRPr lang="en-US" sz="750" dirty="0"/>
          </a:p>
        </p:txBody>
      </p:sp>
      <p:sp>
        <p:nvSpPr>
          <p:cNvPr id="19" name="Text 15"/>
          <p:cNvSpPr/>
          <p:nvPr/>
        </p:nvSpPr>
        <p:spPr>
          <a:xfrm>
            <a:off x="868680" y="3246120"/>
            <a:ext cx="3566160" cy="1188720"/>
          </a:xfrm>
          <a:prstGeom prst="rect">
            <a:avLst/>
          </a:prstGeom>
          <a:noFill/>
          <a:ln/>
        </p:spPr>
        <p:txBody>
          <a:bodyPr wrap="square" rtlCol="0" anchor="t"/>
          <a:lstStyle/>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/duyet 105</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Duyệt nhanh phiếu cọc mã số 105 để kế toán khóa giao dịch.</a:t>
            </a:r>
            <a:endParaRPr lang="en-US" sz="820" dirty="0"/>
          </a:p>
        </p:txBody>
      </p:sp>
      <p:sp>
        <p:nvSpPr>
          <p:cNvPr id="20" name="Shape 16"/>
          <p:cNvSpPr/>
          <p:nvPr/>
        </p:nvSpPr>
        <p:spPr>
          <a:xfrm>
            <a:off x="4846320" y="1371600"/>
            <a:ext cx="3840480" cy="3108960"/>
          </a:xfrm>
          <a:prstGeom prst="roundRect">
            <a:avLst>
              <a:gd name="adj" fmla="val 2353"/>
            </a:avLst>
          </a:prstGeom>
          <a:solidFill>
            <a:srgbClr val="D1FAE5"/>
          </a:solidFill>
          <a:ln w="12700">
            <a:solidFill>
              <a:srgbClr val="E2E8F0"/>
            </a:solidFill>
            <a:prstDash val="solid"/>
          </a:ln>
        </p:spPr>
      </p:sp>
      <p:sp>
        <p:nvSpPr>
          <p:cNvPr id="21" name="Text 17"/>
          <p:cNvSpPr/>
          <p:nvPr/>
        </p:nvSpPr>
        <p:spPr>
          <a:xfrm>
            <a:off x="4983480" y="1444752"/>
            <a:ext cx="3566160" cy="182880"/>
          </a:xfrm>
          <a:prstGeom prst="rect">
            <a:avLst/>
          </a:prstGeom>
          <a:noFill/>
          <a:ln/>
        </p:spPr>
        <p:txBody>
          <a:bodyPr wrap="square" rtlCol="0" anchor="ctr"/>
          <a:lstStyle/>
          <a:p>
            <a:pPr indent="0" marL="0">
              <a:buNone/>
            </a:pPr>
            <a:r>
              <a:rPr lang="en-US" sz="750" b="1" dirty="0">
                <a:solidFill>
                  <a:srgbClr val="065F46"/>
                </a:solidFill>
                <a:latin typeface="Segoe UI" pitchFamily="34" charset="0"/>
                <a:ea typeface="Segoe UI" pitchFamily="34" charset="-122"/>
                <a:cs typeface="Segoe UI" pitchFamily="34" charset="-120"/>
              </a:rPr>
              <a:t>RICH LAND CRM BOT</a:t>
            </a:r>
            <a:endParaRPr lang="en-US" sz="750" dirty="0"/>
          </a:p>
        </p:txBody>
      </p:sp>
      <p:sp>
        <p:nvSpPr>
          <p:cNvPr id="22" name="Text 18"/>
          <p:cNvSpPr/>
          <p:nvPr/>
        </p:nvSpPr>
        <p:spPr>
          <a:xfrm>
            <a:off x="4983480" y="1600200"/>
            <a:ext cx="3566160" cy="2834640"/>
          </a:xfrm>
          <a:prstGeom prst="rect">
            <a:avLst/>
          </a:prstGeom>
          <a:noFill/>
          <a:ln/>
        </p:spPr>
        <p:txBody>
          <a:bodyPr wrap="square" rtlCol="0" anchor="t"/>
          <a:lstStyle/>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BÁO CÁO DOANH THU HÔM NAY:</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Lead mới nhận: 45 lead</a:t>
            </a: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Phiếu cọc mới: 5 phiếu</a:t>
            </a: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Đã duyệt: 3 phiếu (Doanh thu: 150tr)</a:t>
            </a: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Đang trực: 12 Sale</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[SUCCESS] Hệ thống vận hành bình thường.</a:t>
            </a:r>
            <a:endParaRPr lang="en-US" sz="8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44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ĐIỀU KHIỂN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Xử Lý Webhook Phía Zalo Bot</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ZALO_WEBHOOK.PHP</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Phân tích cấu trúc sự kiện gửi từ Zalo OA API.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Trích xuất thông tin người gửi, nội dung văn bản lệnh.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Xác minh chữ ký số của Zalo để đảm bảo tin nhắn an toàn.</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LUỒNG PHẢN HỒI ZALO</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Ánh xạ Zalo User ID với tài khoản hệ thống để kiểm tra vai trò.</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thi truy vấn CSDL tương ứng và định dạng kết quả dạng tin nhắn chat.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Gọi API gửi tin nhắn Zalo OA trả kết quả về cho quản trị viên.</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45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ĐIỀU KHIỂN</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Xử Lý Webhook Phía Telegram Bot</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TELEGRAM_WEBHOOK.PHP</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Đăng ký URL webhook bảo mật với máy chủ Telegram API.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Bắt dữ liệu tin nhắn nhóm hoặc tin nhắn trực tiếp với Bot.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Phân tích cú pháp lệnh gạch chéo (slash commands).</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LUỒNG PHẢN HỒI TELEGRAM</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Định dạng kết quả dạng Markdown chất lượng cao để hiển thị đẹp mắt.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Gửi phản hồi kèm các nút bấm tương tác nhanh (Inline Keyboards).</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Hỗ trợ gửi ảnh báo cáo đồ thị trực quan cho Quản lý.</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46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LIÊN KẾT &amp; ĐIỀU KHIỂN</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5: ĐỒNG BỘ &amp; TRUNG TÂM LỆNH CHAT</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Tích hợp đa kênh thời gian thực thông qua đồng bộ bảng tính Google Sheets và bảng lệnh Chatbot Webhooks điều khiển quản trị trên Telegram/Zalo di động.</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MUTEX LOCK &amp; HASH</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Khóa tệp cron_sync.lock và so khớp SHA256 chống lặp ghi đè vô hạn giữa CRM và Sheets.</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WEBHOOK INSTANT</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Tiếp nhận thô và phân loại ngầm lead thô LP/Meta trong &lt;20ms, chặn đứng tỷ lệ trôi thất thoát lead.</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CHAT COMMAND CONSOLE</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Tập lệnh slash commands bảo mật token URL giúp Manager duyệt nhanh cọc/check-in trên di động.</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47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Tách nghẽn: Giao Tiếp Đồng Bộ vs Hàng Đợi</a:t>
            </a:r>
            <a:endParaRPr lang="en-US" sz="1900" dirty="0"/>
          </a:p>
        </p:txBody>
      </p:sp>
      <p:sp>
        <p:nvSpPr>
          <p:cNvPr id="14" name="Shape 10"/>
          <p:cNvSpPr/>
          <p:nvPr/>
        </p:nvSpPr>
        <p:spPr>
          <a:xfrm>
            <a:off x="731520" y="1280160"/>
            <a:ext cx="3840480" cy="3200400"/>
          </a:xfrm>
          <a:prstGeom prst="roundRect">
            <a:avLst>
              <a:gd name="adj" fmla="val 1714"/>
            </a:avLst>
          </a:prstGeom>
          <a:solidFill>
            <a:srgbClr val="FFFFFF"/>
          </a:solidFill>
          <a:ln w="22860">
            <a:solidFill>
              <a:srgbClr val="BD1D2D"/>
            </a:solidFill>
            <a:prstDash val="solid"/>
          </a:ln>
        </p:spPr>
      </p:sp>
      <p:sp>
        <p:nvSpPr>
          <p:cNvPr id="15" name="Text 11"/>
          <p:cNvSpPr/>
          <p:nvPr/>
        </p:nvSpPr>
        <p:spPr>
          <a:xfrm>
            <a:off x="914400" y="1417320"/>
            <a:ext cx="347472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CÁCH GỌI API ĐỒNG BỘ TRUYỀN THỐNG</a:t>
            </a:r>
            <a:endParaRPr lang="en-US" sz="950" dirty="0"/>
          </a:p>
        </p:txBody>
      </p:sp>
      <p:sp>
        <p:nvSpPr>
          <p:cNvPr id="16" name="Text 12"/>
          <p:cNvSpPr/>
          <p:nvPr/>
        </p:nvSpPr>
        <p:spPr>
          <a:xfrm>
            <a:off x="914400" y="1737360"/>
            <a:ext cx="3474720" cy="2560320"/>
          </a:xfrm>
          <a:prstGeom prst="rect">
            <a:avLst/>
          </a:prstGeom>
          <a:noFill/>
          <a:ln/>
        </p:spPr>
        <p:txBody>
          <a:bodyPr wrap="square" rtlCol="0" anchor="t"/>
          <a:lstStyle/>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Bắt tiến trình PHP chờ phản hồi HTTP từ server Zalo/Telegram.</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Thời gian load trang bị kéo dài &gt;5s, dễ timeout mất dữ liệu.</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Cản trở luồng chính, gây thắt nút cổ chai khi lead đổ về nhiều.</a:t>
            </a:r>
            <a:endParaRPr lang="en-US" sz="900" dirty="0"/>
          </a:p>
        </p:txBody>
      </p:sp>
      <p:sp>
        <p:nvSpPr>
          <p:cNvPr id="17" name="Shape 13"/>
          <p:cNvSpPr/>
          <p:nvPr/>
        </p:nvSpPr>
        <p:spPr>
          <a:xfrm>
            <a:off x="4937760" y="1280160"/>
            <a:ext cx="3840480" cy="3200400"/>
          </a:xfrm>
          <a:prstGeom prst="roundRect">
            <a:avLst>
              <a:gd name="adj" fmla="val 1714"/>
            </a:avLst>
          </a:prstGeom>
          <a:solidFill>
            <a:srgbClr val="FFFFFF"/>
          </a:solidFill>
          <a:ln w="22860">
            <a:solidFill>
              <a:srgbClr val="059669"/>
            </a:solidFill>
            <a:prstDash val="solid"/>
          </a:ln>
        </p:spPr>
      </p:sp>
      <p:sp>
        <p:nvSpPr>
          <p:cNvPr id="18" name="Text 14"/>
          <p:cNvSpPr/>
          <p:nvPr/>
        </p:nvSpPr>
        <p:spPr>
          <a:xfrm>
            <a:off x="5120640" y="1417320"/>
            <a:ext cx="3474720" cy="274320"/>
          </a:xfrm>
          <a:prstGeom prst="rect">
            <a:avLst/>
          </a:prstGeom>
          <a:noFill/>
          <a:ln/>
        </p:spPr>
        <p:txBody>
          <a:bodyPr wrap="square" rtlCol="0" anchor="ctr"/>
          <a:lstStyle/>
          <a:p>
            <a:pPr indent="0" marL="0">
              <a:buNone/>
            </a:pPr>
            <a:r>
              <a:rPr lang="en-US" sz="950" b="1" dirty="0">
                <a:solidFill>
                  <a:srgbClr val="059669"/>
                </a:solidFill>
                <a:latin typeface="Segoe UI" pitchFamily="34" charset="0"/>
                <a:ea typeface="Segoe UI" pitchFamily="34" charset="-122"/>
                <a:cs typeface="Segoe UI" pitchFamily="34" charset="-120"/>
              </a:rPr>
              <a:t>GIẢI PHÁP HÀNG ĐỢI BẤT ĐỒNG BỘ</a:t>
            </a:r>
            <a:endParaRPr lang="en-US" sz="950" dirty="0"/>
          </a:p>
        </p:txBody>
      </p:sp>
      <p:sp>
        <p:nvSpPr>
          <p:cNvPr id="19" name="Text 15"/>
          <p:cNvSpPr/>
          <p:nvPr/>
        </p:nvSpPr>
        <p:spPr>
          <a:xfrm>
            <a:off x="5120640" y="1737360"/>
            <a:ext cx="3474720" cy="2560320"/>
          </a:xfrm>
          <a:prstGeom prst="rect">
            <a:avLst/>
          </a:prstGeom>
          <a:noFill/>
          <a:ln/>
        </p:spPr>
        <p:txBody>
          <a:bodyPr wrap="square" rtlCol="0" anchor="t"/>
          <a:lstStyle/>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Lưu payload tin nhắn vào CSDL zalo_queue/telegram_queue.</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Trả kết quả JSON cho đối tác ngay lập tức trong &lt;20ms.</a:t>
            </a:r>
            <a:endParaRPr lang="en-US" sz="900" dirty="0"/>
          </a:p>
          <a:p>
            <a:pPr indent="0" marL="0">
              <a:lnSpc>
                <a:spcPts val="1200"/>
              </a:lnSpc>
              <a:buNone/>
            </a:pPr>
            <a:endParaRPr lang="en-US" sz="900" dirty="0"/>
          </a:p>
          <a:p>
            <a:pPr indent="0" marL="0">
              <a:lnSpc>
                <a:spcPts val="1200"/>
              </a:lnSpc>
              <a:buNone/>
            </a:pPr>
            <a:r>
              <a:rPr lang="en-US" sz="900" dirty="0">
                <a:solidFill>
                  <a:srgbClr val="475569"/>
                </a:solidFill>
                <a:latin typeface="Segoe UI" pitchFamily="34" charset="0"/>
                <a:ea typeface="Segoe UI" pitchFamily="34" charset="-122"/>
                <a:cs typeface="Segoe UI" pitchFamily="34" charset="-120"/>
              </a:rPr>
              <a:t>▪  Worker chạy ngầm độc lập gửi tin và tự động thử lại nếu lỗi.</a:t>
            </a:r>
            <a:endParaRPr lang="en-US" sz="90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48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 Hiện Hàng Đợi Bất Đồng Bộ Hóa</a:t>
            </a:r>
            <a:endParaRPr lang="en-US" sz="1900" dirty="0"/>
          </a:p>
        </p:txBody>
      </p:sp>
      <p:sp>
        <p:nvSpPr>
          <p:cNvPr id="14" name="Shape 10"/>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5" name="Shape 11"/>
          <p:cNvSpPr/>
          <p:nvPr/>
        </p:nvSpPr>
        <p:spPr>
          <a:xfrm>
            <a:off x="868680" y="1783080"/>
            <a:ext cx="320040" cy="228600"/>
          </a:xfrm>
          <a:prstGeom prst="roundRect">
            <a:avLst>
              <a:gd name="adj" fmla="val 200000"/>
            </a:avLst>
          </a:prstGeom>
          <a:solidFill>
            <a:srgbClr val="FEE2E2"/>
          </a:solidFill>
          <a:ln/>
        </p:spPr>
      </p:sp>
      <p:sp>
        <p:nvSpPr>
          <p:cNvPr id="16" name="Text 12"/>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7" name="Text 13"/>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Lưu hàng đợi DB</a:t>
            </a:r>
            <a:endParaRPr lang="en-US" sz="1000" dirty="0"/>
          </a:p>
        </p:txBody>
      </p:sp>
      <p:sp>
        <p:nvSpPr>
          <p:cNvPr id="18" name="Text 14"/>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Hàm Notification gửi tham số sync=false ghi tin nhắn vào zalo/telegram_queue.</a:t>
            </a:r>
            <a:endParaRPr lang="en-US" sz="820" dirty="0"/>
          </a:p>
        </p:txBody>
      </p:sp>
      <p:sp>
        <p:nvSpPr>
          <p:cNvPr id="19" name="Shape 15"/>
          <p:cNvSpPr/>
          <p:nvPr/>
        </p:nvSpPr>
        <p:spPr>
          <a:xfrm>
            <a:off x="3054096" y="2697480"/>
            <a:ext cx="109728" cy="182880"/>
          </a:xfrm>
          <a:prstGeom prst="rightArrow">
            <a:avLst/>
          </a:prstGeom>
          <a:solidFill>
            <a:srgbClr val="94A3B8"/>
          </a:solidFill>
          <a:ln w="6350">
            <a:solidFill>
              <a:srgbClr val="E2E8F0"/>
            </a:solidFill>
            <a:prstDash val="solid"/>
          </a:ln>
        </p:spPr>
      </p:sp>
      <p:sp>
        <p:nvSpPr>
          <p:cNvPr id="20" name="Shape 16"/>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1" name="Shape 17"/>
          <p:cNvSpPr/>
          <p:nvPr/>
        </p:nvSpPr>
        <p:spPr>
          <a:xfrm>
            <a:off x="3474720" y="1783080"/>
            <a:ext cx="320040" cy="228600"/>
          </a:xfrm>
          <a:prstGeom prst="roundRect">
            <a:avLst>
              <a:gd name="adj" fmla="val 200000"/>
            </a:avLst>
          </a:prstGeom>
          <a:solidFill>
            <a:srgbClr val="FEE2E2"/>
          </a:solidFill>
          <a:ln/>
        </p:spPr>
      </p:sp>
      <p:sp>
        <p:nvSpPr>
          <p:cNvPr id="22" name="Text 18"/>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3" name="Text 19"/>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Quét ngầm Worker</a:t>
            </a:r>
            <a:endParaRPr lang="en-US" sz="1000" dirty="0"/>
          </a:p>
        </p:txBody>
      </p:sp>
      <p:sp>
        <p:nvSpPr>
          <p:cNvPr id="24" name="Text 20"/>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Cron job worker chạy ngầm độc lập mỗi phút quét danh sách tin chờ gửi.</a:t>
            </a:r>
            <a:endParaRPr lang="en-US" sz="820" dirty="0"/>
          </a:p>
        </p:txBody>
      </p:sp>
      <p:sp>
        <p:nvSpPr>
          <p:cNvPr id="25" name="Shape 21"/>
          <p:cNvSpPr/>
          <p:nvPr/>
        </p:nvSpPr>
        <p:spPr>
          <a:xfrm>
            <a:off x="5660136" y="2697480"/>
            <a:ext cx="109728" cy="182880"/>
          </a:xfrm>
          <a:prstGeom prst="rightArrow">
            <a:avLst/>
          </a:prstGeom>
          <a:solidFill>
            <a:srgbClr val="94A3B8"/>
          </a:solidFill>
          <a:ln w="6350">
            <a:solidFill>
              <a:srgbClr val="E2E8F0"/>
            </a:solidFill>
            <a:prstDash val="solid"/>
          </a:ln>
        </p:spPr>
      </p:sp>
      <p:sp>
        <p:nvSpPr>
          <p:cNvPr id="26" name="Shape 22"/>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7" name="Shape 23"/>
          <p:cNvSpPr/>
          <p:nvPr/>
        </p:nvSpPr>
        <p:spPr>
          <a:xfrm>
            <a:off x="6080760" y="1783080"/>
            <a:ext cx="320040" cy="228600"/>
          </a:xfrm>
          <a:prstGeom prst="roundRect">
            <a:avLst>
              <a:gd name="adj" fmla="val 200000"/>
            </a:avLst>
          </a:prstGeom>
          <a:solidFill>
            <a:srgbClr val="FEE2E2"/>
          </a:solidFill>
          <a:ln/>
        </p:spPr>
      </p:sp>
      <p:sp>
        <p:nvSpPr>
          <p:cNvPr id="28" name="Text 24"/>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29" name="Text 25"/>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Gửi API ngoài</a:t>
            </a:r>
            <a:endParaRPr lang="en-US" sz="1000" dirty="0"/>
          </a:p>
        </p:txBody>
      </p:sp>
      <p:sp>
        <p:nvSpPr>
          <p:cNvPr id="30" name="Text 26"/>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Gọi cURL ngoài ngầm, tự động thử lại 3 lần nếu mất mạng và dọn logs.</a:t>
            </a:r>
            <a:endParaRPr lang="en-US" sz="82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49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Lược Đồ Bảng Hàng Đợi zalo_queue</a:t>
            </a:r>
            <a:endParaRPr lang="en-US" sz="19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50292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TRƯỜNG CSDL</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KIỂU DỮ LIỆU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RÀNG BUỘC / MẶC ĐỊNH</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VAI TRÒ NGHIỆP VỤ</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 AUTO_INCREMENT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PRIMARY KEY</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Định danh tin nhắn duy nhất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payload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TEXT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NOT NULL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Dữ liệu JSON chứa số điện thoại, nội dung gửi</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status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VARCHAR (20)</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'pending'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Trạng thái hàng đợi: pending, processing, sent, failed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attempts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0</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Số lần đã thử gửi tin nhắn khi gặp lỗi mạng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lead_id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NULL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Liên kết lead để đối soát mốc thời gian nhận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50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Gửi Tin Nhắn Zalo Bất Đồng Bộ</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SENDZALOMESSAGEWRAPPER</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Tiếp nhận thông tin người nhận, nội dung mẫu tin nhắn Zalo OA.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Kiểm tra tham số sync. Nếu false -&gt; Chuyển hướng lưu vào CSDL.</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Trả về kết quả thành công ảo cho luồng chính để tiếp tục chạy.</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TIẾN TRÌNH GỬI THỰC TẾ</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Worker lấy bản ghi từ zalo_queue để thực hiện cuộc gọi Zalo API.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Xử lý các mã phản hồi lỗi từ Zalo (hết hạn Token, sai ID người dùng).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hiện tự động làm mới Access Token của Zalo OA khi hết hạn.</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51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Gửi Tin Nhắn Telegram Bất Đồng Bộ</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SENDTELEGRAMMESSAGEWRAPPER</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Tiếp nhận chat_id nhóm nhận và nội dung tin nhắn Markdown.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nhận vào bảng telegram_queue chỉ trong 1 truy vấn INSERT nhanh.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Giải phóng tiến trình PHP ngay lập tức.</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GỬI VÀ CẬP NHẬT LOG</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Worker gọi API Telegram SendMessage ngầm.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Cập nhật trạng thái sent trong hàng đợi sau khi Telegram phản hồi HTTP 200.</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thông tin nhóm chat quản trị luôn được cập nhật đầy đủ.</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52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Vận Hành Hàng Đợi Chạy Ngầm (Worker)</a:t>
            </a:r>
            <a:endParaRPr lang="en-US" sz="1900" dirty="0"/>
          </a:p>
        </p:txBody>
      </p:sp>
      <p:sp>
        <p:nvSpPr>
          <p:cNvPr id="14" name="Shape 10"/>
          <p:cNvSpPr/>
          <p:nvPr/>
        </p:nvSpPr>
        <p:spPr>
          <a:xfrm>
            <a:off x="731520" y="1280160"/>
            <a:ext cx="2499360" cy="3291840"/>
          </a:xfrm>
          <a:prstGeom prst="roundRect">
            <a:avLst>
              <a:gd name="adj" fmla="val 1829"/>
            </a:avLst>
          </a:prstGeom>
          <a:solidFill>
            <a:srgbClr val="FFFFFF"/>
          </a:solidFill>
          <a:ln w="12700">
            <a:solidFill>
              <a:srgbClr val="E2E8F0"/>
            </a:solidFill>
            <a:prstDash val="solid"/>
          </a:ln>
        </p:spPr>
      </p:sp>
      <p:sp>
        <p:nvSpPr>
          <p:cNvPr id="15" name="Text 11"/>
          <p:cNvSpPr/>
          <p:nvPr/>
        </p:nvSpPr>
        <p:spPr>
          <a:xfrm>
            <a:off x="91440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QUÉT CRON ĐỊNH KỲ</a:t>
            </a:r>
            <a:endParaRPr lang="en-US" sz="950" dirty="0"/>
          </a:p>
        </p:txBody>
      </p:sp>
      <p:sp>
        <p:nvSpPr>
          <p:cNvPr id="16" name="Text 12"/>
          <p:cNvSpPr/>
          <p:nvPr/>
        </p:nvSpPr>
        <p:spPr>
          <a:xfrm>
            <a:off x="91440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Được thiết lập chạy ngầm liên tục mỗi phút để xử lý queue.</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Giới hạn batch size mỗi lần quét để bảo vệ tài nguyên CPU.</a:t>
            </a:r>
            <a:endParaRPr lang="en-US" sz="920" dirty="0"/>
          </a:p>
        </p:txBody>
      </p:sp>
      <p:sp>
        <p:nvSpPr>
          <p:cNvPr id="17" name="Shape 13"/>
          <p:cNvSpPr/>
          <p:nvPr/>
        </p:nvSpPr>
        <p:spPr>
          <a:xfrm>
            <a:off x="3505200" y="1280160"/>
            <a:ext cx="2499360" cy="3291840"/>
          </a:xfrm>
          <a:prstGeom prst="roundRect">
            <a:avLst>
              <a:gd name="adj" fmla="val 1829"/>
            </a:avLst>
          </a:prstGeom>
          <a:solidFill>
            <a:srgbClr val="FFFFFF"/>
          </a:solidFill>
          <a:ln w="12700">
            <a:solidFill>
              <a:srgbClr val="E2E8F0"/>
            </a:solidFill>
            <a:prstDash val="solid"/>
          </a:ln>
        </p:spPr>
      </p:sp>
      <p:sp>
        <p:nvSpPr>
          <p:cNvPr id="18" name="Text 14"/>
          <p:cNvSpPr/>
          <p:nvPr/>
        </p:nvSpPr>
        <p:spPr>
          <a:xfrm>
            <a:off x="368808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TỰ ĐỘNG RETRY LỖI</a:t>
            </a:r>
            <a:endParaRPr lang="en-US" sz="950" dirty="0"/>
          </a:p>
        </p:txBody>
      </p:sp>
      <p:sp>
        <p:nvSpPr>
          <p:cNvPr id="19" name="Text 15"/>
          <p:cNvSpPr/>
          <p:nvPr/>
        </p:nvSpPr>
        <p:spPr>
          <a:xfrm>
            <a:off x="368808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Thử lại tối đa 3 lần khi tin nhắn gặp lỗi ngắt mạng.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giãn cách thời gian giữa các lần thử để tăng tỷ lệ gửi.</a:t>
            </a:r>
            <a:endParaRPr lang="en-US" sz="920" dirty="0"/>
          </a:p>
        </p:txBody>
      </p:sp>
      <p:sp>
        <p:nvSpPr>
          <p:cNvPr id="20" name="Shape 16"/>
          <p:cNvSpPr/>
          <p:nvPr/>
        </p:nvSpPr>
        <p:spPr>
          <a:xfrm>
            <a:off x="6278880" y="1280160"/>
            <a:ext cx="2499360" cy="3291840"/>
          </a:xfrm>
          <a:prstGeom prst="roundRect">
            <a:avLst>
              <a:gd name="adj" fmla="val 1829"/>
            </a:avLst>
          </a:prstGeom>
          <a:solidFill>
            <a:srgbClr val="FFFFFF"/>
          </a:solidFill>
          <a:ln w="12700">
            <a:solidFill>
              <a:srgbClr val="E2E8F0"/>
            </a:solidFill>
            <a:prstDash val="solid"/>
          </a:ln>
        </p:spPr>
      </p:sp>
      <p:sp>
        <p:nvSpPr>
          <p:cNvPr id="21" name="Text 17"/>
          <p:cNvSpPr/>
          <p:nvPr/>
        </p:nvSpPr>
        <p:spPr>
          <a:xfrm>
            <a:off x="6461760" y="1417320"/>
            <a:ext cx="213360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PURGE &amp; DỌN DẸP LOG</a:t>
            </a:r>
            <a:endParaRPr lang="en-US" sz="950" dirty="0"/>
          </a:p>
        </p:txBody>
      </p:sp>
      <p:sp>
        <p:nvSpPr>
          <p:cNvPr id="22" name="Text 18"/>
          <p:cNvSpPr/>
          <p:nvPr/>
        </p:nvSpPr>
        <p:spPr>
          <a:xfrm>
            <a:off x="6461760" y="1709928"/>
            <a:ext cx="213360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purge dọn dẹp các bản ghi sent/failed đã lưu trên 30 ngày.</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Tối ưu bộ nhớ bảng ghi giúp CSDL Staging không bị phình to.</a:t>
            </a:r>
            <a:endParaRPr lang="en-US" sz="920" dirty="0"/>
          </a:p>
        </p:txBody>
      </p:sp>
      <p:sp>
        <p:nvSpPr>
          <p:cNvPr id="23"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53 / 65</a:t>
            </a:r>
            <a:endParaRPr lang="en-US" sz="850" dirty="0"/>
          </a:p>
        </p:txBody>
      </p:sp>
      <p:sp>
        <p:nvSpPr>
          <p:cNvPr id="24"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HÀNG ĐỢI</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Đồng Hồ Bảo Mật &amp; Phản Hồi Real-Time</a:t>
            </a:r>
            <a:endParaRPr lang="en-US" sz="1900" dirty="0"/>
          </a:p>
        </p:txBody>
      </p:sp>
      <p:sp>
        <p:nvSpPr>
          <p:cNvPr id="14" name="Shape 10"/>
          <p:cNvSpPr/>
          <p:nvPr/>
        </p:nvSpPr>
        <p:spPr>
          <a:xfrm>
            <a:off x="731520" y="1280160"/>
            <a:ext cx="3057754" cy="3200400"/>
          </a:xfrm>
          <a:prstGeom prst="roundRect">
            <a:avLst>
              <a:gd name="adj" fmla="val 1794"/>
            </a:avLst>
          </a:prstGeom>
          <a:solidFill>
            <a:srgbClr val="FFFFFF"/>
          </a:solidFill>
          <a:ln w="25400">
            <a:solidFill>
              <a:srgbClr val="BD1D2D"/>
            </a:solidFill>
            <a:prstDash val="solid"/>
          </a:ln>
        </p:spPr>
      </p:sp>
      <p:sp>
        <p:nvSpPr>
          <p:cNvPr id="15" name="Text 11"/>
          <p:cNvSpPr/>
          <p:nvPr/>
        </p:nvSpPr>
        <p:spPr>
          <a:xfrm>
            <a:off x="868680" y="1554480"/>
            <a:ext cx="2783434" cy="731520"/>
          </a:xfrm>
          <a:prstGeom prst="rect">
            <a:avLst/>
          </a:prstGeom>
          <a:noFill/>
          <a:ln/>
        </p:spPr>
        <p:txBody>
          <a:bodyPr wrap="square" rtlCol="0" anchor="ctr"/>
          <a:lstStyle/>
          <a:p>
            <a:pPr algn="ctr" indent="0" marL="0">
              <a:buNone/>
            </a:pPr>
            <a:r>
              <a:rPr lang="en-US" sz="3400" b="1" dirty="0">
                <a:solidFill>
                  <a:srgbClr val="BD1D2D"/>
                </a:solidFill>
                <a:latin typeface="Segoe UI" pitchFamily="34" charset="0"/>
                <a:ea typeface="Segoe UI" pitchFamily="34" charset="-122"/>
                <a:cs typeface="Segoe UI" pitchFamily="34" charset="-120"/>
              </a:rPr>
              <a:t>120s</a:t>
            </a:r>
            <a:endParaRPr lang="en-US" sz="3400" dirty="0"/>
          </a:p>
        </p:txBody>
      </p:sp>
      <p:sp>
        <p:nvSpPr>
          <p:cNvPr id="16" name="Text 12"/>
          <p:cNvSpPr/>
          <p:nvPr/>
        </p:nvSpPr>
        <p:spPr>
          <a:xfrm>
            <a:off x="868680" y="2377440"/>
            <a:ext cx="2783434"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THỜI GIAN PHẢN HỒI KHẨN CẤP</a:t>
            </a:r>
            <a:endParaRPr lang="en-US" sz="950" dirty="0"/>
          </a:p>
        </p:txBody>
      </p:sp>
      <p:sp>
        <p:nvSpPr>
          <p:cNvPr id="17" name="Text 13"/>
          <p:cNvSpPr/>
          <p:nvPr/>
        </p:nvSpPr>
        <p:spPr>
          <a:xfrm>
            <a:off x="868680" y="2743200"/>
            <a:ext cx="2783434" cy="1554480"/>
          </a:xfrm>
          <a:prstGeom prst="rect">
            <a:avLst/>
          </a:prstGeom>
          <a:noFill/>
          <a:ln/>
        </p:spPr>
        <p:txBody>
          <a:bodyPr wrap="square" rtlCol="0" anchor="t"/>
          <a:lstStyle/>
          <a:p>
            <a:pPr algn="ctr" indent="0" marL="0">
              <a:lnSpc>
                <a:spcPts val="1200"/>
              </a:lnSpc>
              <a:buNone/>
            </a:pPr>
            <a:r>
              <a:rPr lang="en-US" sz="850" dirty="0">
                <a:solidFill>
                  <a:srgbClr val="475569"/>
                </a:solidFill>
                <a:latin typeface="Segoe UI" pitchFamily="34" charset="0"/>
                <a:ea typeface="Segoe UI" pitchFamily="34" charset="-122"/>
                <a:cs typeface="Segoe UI" pitchFamily="34" charset="-120"/>
              </a:rPr>
              <a:t>Đồng hồ đếm ngược kích hoạt ngay khi tin nhắn báo lead gửi thành công ngầm. Bắt buộc Sale phải click nhận trong 2p.</a:t>
            </a:r>
            <a:endParaRPr lang="en-US" sz="850" dirty="0"/>
          </a:p>
        </p:txBody>
      </p:sp>
      <p:sp>
        <p:nvSpPr>
          <p:cNvPr id="18" name="Shape 14"/>
          <p:cNvSpPr/>
          <p:nvPr/>
        </p:nvSpPr>
        <p:spPr>
          <a:xfrm>
            <a:off x="4111142" y="1280160"/>
            <a:ext cx="4667098" cy="3200400"/>
          </a:xfrm>
          <a:prstGeom prst="roundRect">
            <a:avLst>
              <a:gd name="adj" fmla="val 1429"/>
            </a:avLst>
          </a:prstGeom>
          <a:solidFill>
            <a:srgbClr val="FFFFFF"/>
          </a:solidFill>
          <a:ln w="12700">
            <a:solidFill>
              <a:srgbClr val="E2E8F0"/>
            </a:solidFill>
            <a:prstDash val="solid"/>
          </a:ln>
        </p:spPr>
      </p:sp>
      <p:sp>
        <p:nvSpPr>
          <p:cNvPr id="19" name="Text 15"/>
          <p:cNvSpPr/>
          <p:nvPr/>
        </p:nvSpPr>
        <p:spPr>
          <a:xfrm>
            <a:off x="4294022" y="1417320"/>
            <a:ext cx="4301338"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CƠ CHẾ BẢO VỆ THỜI GIAN</a:t>
            </a:r>
            <a:endParaRPr lang="en-US" sz="950" dirty="0"/>
          </a:p>
        </p:txBody>
      </p:sp>
      <p:sp>
        <p:nvSpPr>
          <p:cNvPr id="20" name="Text 16"/>
          <p:cNvSpPr/>
          <p:nvPr/>
        </p:nvSpPr>
        <p:spPr>
          <a:xfrm>
            <a:off x="4294022" y="1709928"/>
            <a:ext cx="4301338" cy="263347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Loại bỏ hoàn toàn sai lệch thời gian do trễ kết nối mạng gọi API ngoài.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Nếu quá 120s không tương tác, cron tự động thu hồi (Recall) và chuyển lead cho Sale tiếp theo.</a:t>
            </a:r>
            <a:endParaRPr lang="en-US" sz="920" dirty="0"/>
          </a:p>
        </p:txBody>
      </p:sp>
      <p:sp>
        <p:nvSpPr>
          <p:cNvPr id="21" name="Text 1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54 / 65</a:t>
            </a:r>
            <a:endParaRPr lang="en-US" sz="850" dirty="0"/>
          </a:p>
        </p:txBody>
      </p:sp>
      <p:sp>
        <p:nvSpPr>
          <p:cNvPr id="22" name="Text 1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DEVOPS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Bản Đồ Thành Phần Khung Kiểm Thử Tích Hợp</a:t>
            </a:r>
            <a:endParaRPr lang="en-US" sz="1900" dirty="0"/>
          </a:p>
        </p:txBody>
      </p:sp>
      <p:sp>
        <p:nvSpPr>
          <p:cNvPr id="14" name="Shape 10"/>
          <p:cNvSpPr/>
          <p:nvPr/>
        </p:nvSpPr>
        <p:spPr>
          <a:xfrm>
            <a:off x="731520" y="1280160"/>
            <a:ext cx="3886200" cy="1508760"/>
          </a:xfrm>
          <a:prstGeom prst="roundRect">
            <a:avLst>
              <a:gd name="adj" fmla="val 3030"/>
            </a:avLst>
          </a:prstGeom>
          <a:solidFill>
            <a:srgbClr val="FFFFFF"/>
          </a:solidFill>
          <a:ln w="12700">
            <a:solidFill>
              <a:srgbClr val="E2E8F0"/>
            </a:solidFill>
            <a:prstDash val="solid"/>
          </a:ln>
        </p:spPr>
      </p:sp>
      <p:sp>
        <p:nvSpPr>
          <p:cNvPr id="15" name="Text 11"/>
          <p:cNvSpPr/>
          <p:nvPr/>
        </p:nvSpPr>
        <p:spPr>
          <a:xfrm>
            <a:off x="914400" y="141732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KHỞI TẠO MÔI TRƯỜNG CSDL</a:t>
            </a:r>
            <a:endParaRPr lang="en-US" sz="950" dirty="0"/>
          </a:p>
        </p:txBody>
      </p:sp>
      <p:sp>
        <p:nvSpPr>
          <p:cNvPr id="16" name="Text 12"/>
          <p:cNvSpPr/>
          <p:nvPr/>
        </p:nvSpPr>
        <p:spPr>
          <a:xfrm>
            <a:off x="914400" y="170992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test_bootstrap.php chuẩn bị sẵn kết nối $conn &amp; $pdo.</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Giúp chạy test tức thì mà không cần khai báo lại database.</a:t>
            </a:r>
            <a:endParaRPr lang="en-US" sz="920" dirty="0"/>
          </a:p>
        </p:txBody>
      </p:sp>
      <p:sp>
        <p:nvSpPr>
          <p:cNvPr id="17" name="Shape 13"/>
          <p:cNvSpPr/>
          <p:nvPr/>
        </p:nvSpPr>
        <p:spPr>
          <a:xfrm>
            <a:off x="4892040" y="1280160"/>
            <a:ext cx="3886200" cy="1508760"/>
          </a:xfrm>
          <a:prstGeom prst="roundRect">
            <a:avLst>
              <a:gd name="adj" fmla="val 3030"/>
            </a:avLst>
          </a:prstGeom>
          <a:solidFill>
            <a:srgbClr val="FFFFFF"/>
          </a:solidFill>
          <a:ln w="12700">
            <a:solidFill>
              <a:srgbClr val="E2E8F0"/>
            </a:solidFill>
            <a:prstDash val="solid"/>
          </a:ln>
        </p:spPr>
      </p:sp>
      <p:sp>
        <p:nvSpPr>
          <p:cNvPr id="18" name="Text 14"/>
          <p:cNvSpPr/>
          <p:nvPr/>
        </p:nvSpPr>
        <p:spPr>
          <a:xfrm>
            <a:off x="5074920" y="141732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NẠP SẴN HÀM KIỂM THỬ</a:t>
            </a:r>
            <a:endParaRPr lang="en-US" sz="950" dirty="0"/>
          </a:p>
        </p:txBody>
      </p:sp>
      <p:sp>
        <p:nvSpPr>
          <p:cNvPr id="19" name="Text 15"/>
          <p:cNvSpPr/>
          <p:nvPr/>
        </p:nvSpPr>
        <p:spPr>
          <a:xfrm>
            <a:off x="5074920" y="170992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Tích hợp bộ hàm chẩn đoán: assertTest(), assertDbField().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Xuất báo cáo tóm tắt tổng số ca pass/fail ở cuối trang.</a:t>
            </a:r>
            <a:endParaRPr lang="en-US" sz="920" dirty="0"/>
          </a:p>
        </p:txBody>
      </p:sp>
      <p:sp>
        <p:nvSpPr>
          <p:cNvPr id="20" name="Shape 16"/>
          <p:cNvSpPr/>
          <p:nvPr/>
        </p:nvSpPr>
        <p:spPr>
          <a:xfrm>
            <a:off x="731520" y="3063240"/>
            <a:ext cx="3886200" cy="1508760"/>
          </a:xfrm>
          <a:prstGeom prst="roundRect">
            <a:avLst>
              <a:gd name="adj" fmla="val 3030"/>
            </a:avLst>
          </a:prstGeom>
          <a:solidFill>
            <a:srgbClr val="FFFFFF"/>
          </a:solidFill>
          <a:ln w="12700">
            <a:solidFill>
              <a:srgbClr val="E2E8F0"/>
            </a:solidFill>
            <a:prstDash val="solid"/>
          </a:ln>
        </p:spPr>
      </p:sp>
      <p:sp>
        <p:nvSpPr>
          <p:cNvPr id="21" name="Text 17"/>
          <p:cNvSpPr/>
          <p:nvPr/>
        </p:nvSpPr>
        <p:spPr>
          <a:xfrm>
            <a:off x="914400" y="320040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KIỂM THỬ LOGIC CHIA LEAD</a:t>
            </a:r>
            <a:endParaRPr lang="en-US" sz="950" dirty="0"/>
          </a:p>
        </p:txBody>
      </p:sp>
      <p:sp>
        <p:nvSpPr>
          <p:cNvPr id="22" name="Text 18"/>
          <p:cNvSpPr/>
          <p:nvPr/>
        </p:nvSpPr>
        <p:spPr>
          <a:xfrm>
            <a:off x="914400" y="349300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test_rotation_audit.php mô phỏng roster, check-in, vacation.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khôi phục lại trạng thái cũ sau khi hoàn tất test.</a:t>
            </a:r>
            <a:endParaRPr lang="en-US" sz="920" dirty="0"/>
          </a:p>
        </p:txBody>
      </p:sp>
      <p:sp>
        <p:nvSpPr>
          <p:cNvPr id="23" name="Shape 19"/>
          <p:cNvSpPr/>
          <p:nvPr/>
        </p:nvSpPr>
        <p:spPr>
          <a:xfrm>
            <a:off x="4892040" y="3063240"/>
            <a:ext cx="3886200" cy="1508760"/>
          </a:xfrm>
          <a:prstGeom prst="roundRect">
            <a:avLst>
              <a:gd name="adj" fmla="val 3030"/>
            </a:avLst>
          </a:prstGeom>
          <a:solidFill>
            <a:srgbClr val="FFFFFF"/>
          </a:solidFill>
          <a:ln w="12700">
            <a:solidFill>
              <a:srgbClr val="E2E8F0"/>
            </a:solidFill>
            <a:prstDash val="solid"/>
          </a:ln>
        </p:spPr>
      </p:sp>
      <p:sp>
        <p:nvSpPr>
          <p:cNvPr id="24" name="Text 20"/>
          <p:cNvSpPr/>
          <p:nvPr/>
        </p:nvSpPr>
        <p:spPr>
          <a:xfrm>
            <a:off x="5074920" y="3200400"/>
            <a:ext cx="35204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QUÉT CÚ PHÁP SQL</a:t>
            </a:r>
            <a:endParaRPr lang="en-US" sz="950" dirty="0"/>
          </a:p>
        </p:txBody>
      </p:sp>
      <p:sp>
        <p:nvSpPr>
          <p:cNvPr id="25" name="Text 21"/>
          <p:cNvSpPr/>
          <p:nvPr/>
        </p:nvSpPr>
        <p:spPr>
          <a:xfrm>
            <a:off x="5074920" y="3493008"/>
            <a:ext cx="3520440" cy="94183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Quét tĩnh các tệp tin backend để tìm câu lệnh không an toàn.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đứng lỗi cú pháp truy vấn trước khi deploy lên staging.</a:t>
            </a:r>
            <a:endParaRPr lang="en-US" sz="920" dirty="0"/>
          </a:p>
        </p:txBody>
      </p:sp>
      <p:sp>
        <p:nvSpPr>
          <p:cNvPr id="26" name="Text 22"/>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55 / 65</a:t>
            </a:r>
            <a:endParaRPr lang="en-US" sz="850" dirty="0"/>
          </a:p>
        </p:txBody>
      </p:sp>
      <p:sp>
        <p:nvSpPr>
          <p:cNvPr id="27" name="Text 23"/>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DEVOPS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Môi Trường Kiểm Thử Nhất Quán</a:t>
            </a:r>
            <a:endParaRPr lang="en-US" sz="1900" dirty="0"/>
          </a:p>
        </p:txBody>
      </p:sp>
      <p:sp>
        <p:nvSpPr>
          <p:cNvPr id="14" name="Shape 10"/>
          <p:cNvSpPr/>
          <p:nvPr/>
        </p:nvSpPr>
        <p:spPr>
          <a:xfrm>
            <a:off x="731520" y="1280160"/>
            <a:ext cx="1908810" cy="685800"/>
          </a:xfrm>
          <a:prstGeom prst="roundRect">
            <a:avLst>
              <a:gd name="adj" fmla="val 10667"/>
            </a:avLst>
          </a:prstGeom>
          <a:solidFill>
            <a:srgbClr val="FFFFFF"/>
          </a:solidFill>
          <a:ln w="12700">
            <a:solidFill>
              <a:srgbClr val="E2E8F0"/>
            </a:solidFill>
            <a:prstDash val="solid"/>
          </a:ln>
        </p:spPr>
      </p:sp>
      <p:sp>
        <p:nvSpPr>
          <p:cNvPr id="15" name="Text 11"/>
          <p:cNvSpPr/>
          <p:nvPr/>
        </p:nvSpPr>
        <p:spPr>
          <a:xfrm>
            <a:off x="77724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$conn</a:t>
            </a:r>
            <a:endParaRPr lang="en-US" sz="1500" dirty="0"/>
          </a:p>
        </p:txBody>
      </p:sp>
      <p:sp>
        <p:nvSpPr>
          <p:cNvPr id="16" name="Text 12"/>
          <p:cNvSpPr/>
          <p:nvPr/>
        </p:nvSpPr>
        <p:spPr>
          <a:xfrm>
            <a:off x="77724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MYSQLI GLOBAL</a:t>
            </a:r>
            <a:endParaRPr lang="en-US" sz="700" dirty="0"/>
          </a:p>
        </p:txBody>
      </p:sp>
      <p:sp>
        <p:nvSpPr>
          <p:cNvPr id="17" name="Shape 13"/>
          <p:cNvSpPr/>
          <p:nvPr/>
        </p:nvSpPr>
        <p:spPr>
          <a:xfrm>
            <a:off x="2777490" y="1280160"/>
            <a:ext cx="1908810" cy="685800"/>
          </a:xfrm>
          <a:prstGeom prst="roundRect">
            <a:avLst>
              <a:gd name="adj" fmla="val 10667"/>
            </a:avLst>
          </a:prstGeom>
          <a:solidFill>
            <a:srgbClr val="FFFFFF"/>
          </a:solidFill>
          <a:ln w="12700">
            <a:solidFill>
              <a:srgbClr val="E2E8F0"/>
            </a:solidFill>
            <a:prstDash val="solid"/>
          </a:ln>
        </p:spPr>
      </p:sp>
      <p:sp>
        <p:nvSpPr>
          <p:cNvPr id="18" name="Text 14"/>
          <p:cNvSpPr/>
          <p:nvPr/>
        </p:nvSpPr>
        <p:spPr>
          <a:xfrm>
            <a:off x="282321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$pdo</a:t>
            </a:r>
            <a:endParaRPr lang="en-US" sz="1500" dirty="0"/>
          </a:p>
        </p:txBody>
      </p:sp>
      <p:sp>
        <p:nvSpPr>
          <p:cNvPr id="19" name="Text 15"/>
          <p:cNvSpPr/>
          <p:nvPr/>
        </p:nvSpPr>
        <p:spPr>
          <a:xfrm>
            <a:off x="282321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PDO GLOBAL</a:t>
            </a:r>
            <a:endParaRPr lang="en-US" sz="700" dirty="0"/>
          </a:p>
        </p:txBody>
      </p:sp>
      <p:sp>
        <p:nvSpPr>
          <p:cNvPr id="20" name="Shape 16"/>
          <p:cNvSpPr/>
          <p:nvPr/>
        </p:nvSpPr>
        <p:spPr>
          <a:xfrm>
            <a:off x="4823460" y="1280160"/>
            <a:ext cx="1908810" cy="685800"/>
          </a:xfrm>
          <a:prstGeom prst="roundRect">
            <a:avLst>
              <a:gd name="adj" fmla="val 10667"/>
            </a:avLst>
          </a:prstGeom>
          <a:solidFill>
            <a:srgbClr val="FFFFFF"/>
          </a:solidFill>
          <a:ln w="12700">
            <a:solidFill>
              <a:srgbClr val="E2E8F0"/>
            </a:solidFill>
            <a:prstDash val="solid"/>
          </a:ln>
        </p:spPr>
      </p:sp>
      <p:sp>
        <p:nvSpPr>
          <p:cNvPr id="21" name="Text 17"/>
          <p:cNvSpPr/>
          <p:nvPr/>
        </p:nvSpPr>
        <p:spPr>
          <a:xfrm>
            <a:off x="486918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Mock Sale</a:t>
            </a:r>
            <a:endParaRPr lang="en-US" sz="1500" dirty="0"/>
          </a:p>
        </p:txBody>
      </p:sp>
      <p:sp>
        <p:nvSpPr>
          <p:cNvPr id="22" name="Text 18"/>
          <p:cNvSpPr/>
          <p:nvPr/>
        </p:nvSpPr>
        <p:spPr>
          <a:xfrm>
            <a:off x="486918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CSDL ROW MOCK</a:t>
            </a:r>
            <a:endParaRPr lang="en-US" sz="700" dirty="0"/>
          </a:p>
        </p:txBody>
      </p:sp>
      <p:sp>
        <p:nvSpPr>
          <p:cNvPr id="23" name="Shape 19"/>
          <p:cNvSpPr/>
          <p:nvPr/>
        </p:nvSpPr>
        <p:spPr>
          <a:xfrm>
            <a:off x="6869430" y="1280160"/>
            <a:ext cx="1908810" cy="685800"/>
          </a:xfrm>
          <a:prstGeom prst="roundRect">
            <a:avLst>
              <a:gd name="adj" fmla="val 10667"/>
            </a:avLst>
          </a:prstGeom>
          <a:solidFill>
            <a:srgbClr val="FFFFFF"/>
          </a:solidFill>
          <a:ln w="12700">
            <a:solidFill>
              <a:srgbClr val="E2E8F0"/>
            </a:solidFill>
            <a:prstDash val="solid"/>
          </a:ln>
        </p:spPr>
      </p:sp>
      <p:sp>
        <p:nvSpPr>
          <p:cNvPr id="24" name="Text 20"/>
          <p:cNvSpPr/>
          <p:nvPr/>
        </p:nvSpPr>
        <p:spPr>
          <a:xfrm>
            <a:off x="691515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Auto rollback</a:t>
            </a:r>
            <a:endParaRPr lang="en-US" sz="1500" dirty="0"/>
          </a:p>
        </p:txBody>
      </p:sp>
      <p:sp>
        <p:nvSpPr>
          <p:cNvPr id="25" name="Text 21"/>
          <p:cNvSpPr/>
          <p:nvPr/>
        </p:nvSpPr>
        <p:spPr>
          <a:xfrm>
            <a:off x="691515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DB TRANSACTIONS</a:t>
            </a:r>
            <a:endParaRPr lang="en-US" sz="700" dirty="0"/>
          </a:p>
        </p:txBody>
      </p:sp>
      <p:sp>
        <p:nvSpPr>
          <p:cNvPr id="26" name="Shape 22"/>
          <p:cNvSpPr/>
          <p:nvPr/>
        </p:nvSpPr>
        <p:spPr>
          <a:xfrm>
            <a:off x="731520" y="2103120"/>
            <a:ext cx="8046720" cy="2468880"/>
          </a:xfrm>
          <a:prstGeom prst="roundRect">
            <a:avLst>
              <a:gd name="adj" fmla="val 1852"/>
            </a:avLst>
          </a:prstGeom>
          <a:solidFill>
            <a:srgbClr val="F1F5F9"/>
          </a:solidFill>
          <a:ln w="19050">
            <a:solidFill>
              <a:srgbClr val="E2E8F0"/>
            </a:solidFill>
            <a:prstDash val="solid"/>
          </a:ln>
        </p:spPr>
      </p:sp>
      <p:sp>
        <p:nvSpPr>
          <p:cNvPr id="27" name="Shape 23"/>
          <p:cNvSpPr/>
          <p:nvPr/>
        </p:nvSpPr>
        <p:spPr>
          <a:xfrm>
            <a:off x="731520" y="2103120"/>
            <a:ext cx="8046720" cy="320040"/>
          </a:xfrm>
          <a:prstGeom prst="rect">
            <a:avLst/>
          </a:prstGeom>
          <a:solidFill>
            <a:srgbClr val="FFFFFF"/>
          </a:solidFill>
          <a:ln w="6350">
            <a:solidFill>
              <a:srgbClr val="E2E8F0"/>
            </a:solidFill>
            <a:prstDash val="solid"/>
          </a:ln>
        </p:spPr>
      </p:sp>
      <p:sp>
        <p:nvSpPr>
          <p:cNvPr id="28" name="Shape 24"/>
          <p:cNvSpPr/>
          <p:nvPr/>
        </p:nvSpPr>
        <p:spPr>
          <a:xfrm>
            <a:off x="868680" y="2212848"/>
            <a:ext cx="91440" cy="91440"/>
          </a:xfrm>
          <a:prstGeom prst="ellipse">
            <a:avLst/>
          </a:prstGeom>
          <a:solidFill>
            <a:srgbClr val="EF4444"/>
          </a:solidFill>
          <a:ln/>
        </p:spPr>
      </p:sp>
      <p:sp>
        <p:nvSpPr>
          <p:cNvPr id="29" name="Shape 25"/>
          <p:cNvSpPr/>
          <p:nvPr/>
        </p:nvSpPr>
        <p:spPr>
          <a:xfrm>
            <a:off x="1005840" y="2212848"/>
            <a:ext cx="91440" cy="91440"/>
          </a:xfrm>
          <a:prstGeom prst="ellipse">
            <a:avLst/>
          </a:prstGeom>
          <a:solidFill>
            <a:srgbClr val="F59E0B"/>
          </a:solidFill>
          <a:ln/>
        </p:spPr>
      </p:sp>
      <p:sp>
        <p:nvSpPr>
          <p:cNvPr id="30" name="Shape 26"/>
          <p:cNvSpPr/>
          <p:nvPr/>
        </p:nvSpPr>
        <p:spPr>
          <a:xfrm>
            <a:off x="1143000" y="2212848"/>
            <a:ext cx="91440" cy="91440"/>
          </a:xfrm>
          <a:prstGeom prst="ellipse">
            <a:avLst/>
          </a:prstGeom>
          <a:solidFill>
            <a:srgbClr val="10B981"/>
          </a:solidFill>
          <a:ln/>
        </p:spPr>
      </p:sp>
      <p:sp>
        <p:nvSpPr>
          <p:cNvPr id="31" name="Text 27"/>
          <p:cNvSpPr/>
          <p:nvPr/>
        </p:nvSpPr>
        <p:spPr>
          <a:xfrm>
            <a:off x="1371600" y="2103120"/>
            <a:ext cx="7132320" cy="320040"/>
          </a:xfrm>
          <a:prstGeom prst="rect">
            <a:avLst/>
          </a:prstGeom>
          <a:noFill/>
          <a:ln/>
        </p:spPr>
        <p:txBody>
          <a:bodyPr wrap="square" rtlCol="0" anchor="ctr"/>
          <a:lstStyle/>
          <a:p>
            <a:pPr indent="0" marL="0">
              <a:buNone/>
            </a:pPr>
            <a:r>
              <a:rPr lang="en-US" sz="850" b="1" dirty="0">
                <a:solidFill>
                  <a:srgbClr val="475569"/>
                </a:solidFill>
                <a:latin typeface="Segoe UI" pitchFamily="34" charset="0"/>
                <a:ea typeface="Segoe UI" pitchFamily="34" charset="-122"/>
                <a:cs typeface="Segoe UI" pitchFamily="34" charset="-120"/>
              </a:rPr>
              <a:t>BÁO CÁO THỬ NGHIỆM CA TRỰC</a:t>
            </a:r>
            <a:endParaRPr lang="en-US" sz="850" dirty="0"/>
          </a:p>
        </p:txBody>
      </p:sp>
      <p:sp>
        <p:nvSpPr>
          <p:cNvPr id="32" name="Text 28"/>
          <p:cNvSpPr/>
          <p:nvPr/>
        </p:nvSpPr>
        <p:spPr>
          <a:xfrm>
            <a:off x="914400" y="2560320"/>
            <a:ext cx="7680960" cy="1828800"/>
          </a:xfrm>
          <a:prstGeom prst="rect">
            <a:avLst/>
          </a:prstGeom>
          <a:noFill/>
          <a:ln/>
        </p:spPr>
        <p:txBody>
          <a:bodyPr wrap="square" rtlCol="0" anchor="t"/>
          <a:lstStyle/>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Mô phỏng hành động gán lead ngẫu nhiên cho Sale ca trực ngày.</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Tự động rà soát xem lead có về đúng roster đăng ký hay không.</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Xác thực trạng thái lead đã cập nhật trên cơ sở dữ liệu.</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Tự động xóa sạch dữ liệu ảo, giữ môi trường Staging sạch sẽ.</a:t>
            </a:r>
            <a:endParaRPr lang="en-US" sz="880" dirty="0"/>
          </a:p>
        </p:txBody>
      </p:sp>
      <p:sp>
        <p:nvSpPr>
          <p:cNvPr id="33" name="Text 2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56 / 65</a:t>
            </a:r>
            <a:endParaRPr lang="en-US" sz="850" dirty="0"/>
          </a:p>
        </p:txBody>
      </p:sp>
      <p:sp>
        <p:nvSpPr>
          <p:cNvPr id="34" name="Text 3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DEVOPS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Bộ Công Cụ Chẩn Đoán &amp; Khẳng Định</a:t>
            </a:r>
            <a:endParaRPr lang="en-US" sz="1900" dirty="0"/>
          </a:p>
        </p:txBody>
      </p:sp>
      <p:sp>
        <p:nvSpPr>
          <p:cNvPr id="14" name="Shape 10"/>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ASSERTTEST CHẨN ĐOÁN</a:t>
            </a:r>
            <a:endParaRPr lang="en-US" sz="950" dirty="0"/>
          </a:p>
        </p:txBody>
      </p:sp>
      <p:sp>
        <p:nvSpPr>
          <p:cNvPr id="16" name="Text 12"/>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In ra kết quả kiểm thử trực quan dạng PASS/FAIL trên trình duyệt.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Hiển thị chi tiết giá trị thực tế so với giá trị kỳ vọng khi thất bại.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Thống kê tổng hợp số lượng ca kiểm thử thành công ở cuối trang.</a:t>
            </a:r>
            <a:endParaRPr lang="en-US" sz="920" dirty="0"/>
          </a:p>
        </p:txBody>
      </p:sp>
      <p:sp>
        <p:nvSpPr>
          <p:cNvPr id="17" name="Shape 13"/>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8" name="Text 14"/>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ASSERTDBFIELD KIỂM ĐỐI CHÉO</a:t>
            </a:r>
            <a:endParaRPr lang="en-US" sz="950" dirty="0"/>
          </a:p>
        </p:txBody>
      </p:sp>
      <p:sp>
        <p:nvSpPr>
          <p:cNvPr id="19" name="Text 15"/>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hiện truy vấn nhanh kiểm tra giá trị của một trường cụ thể trong bảng.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Khẳng định dữ liệu đã được cập nhật chính xác vào CSDL sau khi thực thi logic.</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Loại bỏ việc viết thủ công các câu lệnh SELECT kiểm tra dữ liệu.</a:t>
            </a:r>
            <a:endParaRPr lang="en-US" sz="920" dirty="0"/>
          </a:p>
        </p:txBody>
      </p:sp>
      <p:sp>
        <p:nvSpPr>
          <p:cNvPr id="20"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57 / 65</a:t>
            </a:r>
            <a:endParaRPr lang="en-US" sz="850" dirty="0"/>
          </a:p>
        </p:txBody>
      </p:sp>
      <p:sp>
        <p:nvSpPr>
          <p:cNvPr id="21"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DEVOPS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Đối Soát Cấu Trúc Cơ Sở Dữ Liệu Staging</a:t>
            </a:r>
            <a:endParaRPr lang="en-US" sz="1900" dirty="0"/>
          </a:p>
        </p:txBody>
      </p:sp>
      <p:sp>
        <p:nvSpPr>
          <p:cNvPr id="14" name="Shape 10"/>
          <p:cNvSpPr/>
          <p:nvPr/>
        </p:nvSpPr>
        <p:spPr>
          <a:xfrm>
            <a:off x="731520" y="1280160"/>
            <a:ext cx="1908810" cy="685800"/>
          </a:xfrm>
          <a:prstGeom prst="roundRect">
            <a:avLst>
              <a:gd name="adj" fmla="val 10667"/>
            </a:avLst>
          </a:prstGeom>
          <a:solidFill>
            <a:srgbClr val="FFFFFF"/>
          </a:solidFill>
          <a:ln w="12700">
            <a:solidFill>
              <a:srgbClr val="E2E8F0"/>
            </a:solidFill>
            <a:prstDash val="solid"/>
          </a:ln>
        </p:spPr>
      </p:sp>
      <p:sp>
        <p:nvSpPr>
          <p:cNvPr id="15" name="Text 11"/>
          <p:cNvSpPr/>
          <p:nvPr/>
        </p:nvSpPr>
        <p:spPr>
          <a:xfrm>
            <a:off x="77724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exec_db_query</a:t>
            </a:r>
            <a:endParaRPr lang="en-US" sz="1500" dirty="0"/>
          </a:p>
        </p:txBody>
      </p:sp>
      <p:sp>
        <p:nvSpPr>
          <p:cNvPr id="16" name="Text 12"/>
          <p:cNvSpPr/>
          <p:nvPr/>
        </p:nvSpPr>
        <p:spPr>
          <a:xfrm>
            <a:off x="77724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CỔNG TRUY VẤN</a:t>
            </a:r>
            <a:endParaRPr lang="en-US" sz="700" dirty="0"/>
          </a:p>
        </p:txBody>
      </p:sp>
      <p:sp>
        <p:nvSpPr>
          <p:cNvPr id="17" name="Shape 13"/>
          <p:cNvSpPr/>
          <p:nvPr/>
        </p:nvSpPr>
        <p:spPr>
          <a:xfrm>
            <a:off x="2777490" y="1280160"/>
            <a:ext cx="1908810" cy="685800"/>
          </a:xfrm>
          <a:prstGeom prst="roundRect">
            <a:avLst>
              <a:gd name="adj" fmla="val 10667"/>
            </a:avLst>
          </a:prstGeom>
          <a:solidFill>
            <a:srgbClr val="FFFFFF"/>
          </a:solidFill>
          <a:ln w="12700">
            <a:solidFill>
              <a:srgbClr val="E2E8F0"/>
            </a:solidFill>
            <a:prstDash val="solid"/>
          </a:ln>
        </p:spPr>
      </p:sp>
      <p:sp>
        <p:nvSpPr>
          <p:cNvPr id="18" name="Text 14"/>
          <p:cNvSpPr/>
          <p:nvPr/>
        </p:nvSpPr>
        <p:spPr>
          <a:xfrm>
            <a:off x="282321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Rule 8 Check</a:t>
            </a:r>
            <a:endParaRPr lang="en-US" sz="1500" dirty="0"/>
          </a:p>
        </p:txBody>
      </p:sp>
      <p:sp>
        <p:nvSpPr>
          <p:cNvPr id="19" name="Text 15"/>
          <p:cNvSpPr/>
          <p:nvPr/>
        </p:nvSpPr>
        <p:spPr>
          <a:xfrm>
            <a:off x="282321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ĐỐI SOÁT TỪ XA</a:t>
            </a:r>
            <a:endParaRPr lang="en-US" sz="700" dirty="0"/>
          </a:p>
        </p:txBody>
      </p:sp>
      <p:sp>
        <p:nvSpPr>
          <p:cNvPr id="20" name="Shape 16"/>
          <p:cNvSpPr/>
          <p:nvPr/>
        </p:nvSpPr>
        <p:spPr>
          <a:xfrm>
            <a:off x="4823460" y="1280160"/>
            <a:ext cx="1908810" cy="685800"/>
          </a:xfrm>
          <a:prstGeom prst="roundRect">
            <a:avLst>
              <a:gd name="adj" fmla="val 10667"/>
            </a:avLst>
          </a:prstGeom>
          <a:solidFill>
            <a:srgbClr val="FFFFFF"/>
          </a:solidFill>
          <a:ln w="12700">
            <a:solidFill>
              <a:srgbClr val="E2E8F0"/>
            </a:solidFill>
            <a:prstDash val="solid"/>
          </a:ln>
        </p:spPr>
      </p:sp>
      <p:sp>
        <p:nvSpPr>
          <p:cNvPr id="21" name="Text 17"/>
          <p:cNvSpPr/>
          <p:nvPr/>
        </p:nvSpPr>
        <p:spPr>
          <a:xfrm>
            <a:off x="486918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unified_schema</a:t>
            </a:r>
            <a:endParaRPr lang="en-US" sz="1500" dirty="0"/>
          </a:p>
        </p:txBody>
      </p:sp>
      <p:sp>
        <p:nvSpPr>
          <p:cNvPr id="22" name="Text 18"/>
          <p:cNvSpPr/>
          <p:nvPr/>
        </p:nvSpPr>
        <p:spPr>
          <a:xfrm>
            <a:off x="486918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SCHEMA MASTER FILE</a:t>
            </a:r>
            <a:endParaRPr lang="en-US" sz="700" dirty="0"/>
          </a:p>
        </p:txBody>
      </p:sp>
      <p:sp>
        <p:nvSpPr>
          <p:cNvPr id="23" name="Shape 19"/>
          <p:cNvSpPr/>
          <p:nvPr/>
        </p:nvSpPr>
        <p:spPr>
          <a:xfrm>
            <a:off x="6869430" y="1280160"/>
            <a:ext cx="1908810" cy="685800"/>
          </a:xfrm>
          <a:prstGeom prst="roundRect">
            <a:avLst>
              <a:gd name="adj" fmla="val 10667"/>
            </a:avLst>
          </a:prstGeom>
          <a:solidFill>
            <a:srgbClr val="FFFFFF"/>
          </a:solidFill>
          <a:ln w="12700">
            <a:solidFill>
              <a:srgbClr val="E2E8F0"/>
            </a:solidFill>
            <a:prstDash val="solid"/>
          </a:ln>
        </p:spPr>
      </p:sp>
      <p:sp>
        <p:nvSpPr>
          <p:cNvPr id="24" name="Text 20"/>
          <p:cNvSpPr/>
          <p:nvPr/>
        </p:nvSpPr>
        <p:spPr>
          <a:xfrm>
            <a:off x="6915150" y="1353312"/>
            <a:ext cx="1817370" cy="320040"/>
          </a:xfrm>
          <a:prstGeom prst="rect">
            <a:avLst/>
          </a:prstGeom>
          <a:noFill/>
          <a:ln/>
        </p:spPr>
        <p:txBody>
          <a:bodyPr wrap="square" rtlCol="0" anchor="ctr"/>
          <a:lstStyle/>
          <a:p>
            <a:pPr algn="ctr" indent="0" marL="0">
              <a:buNone/>
            </a:pPr>
            <a:r>
              <a:rPr lang="en-US" sz="1500" b="1" dirty="0">
                <a:solidFill>
                  <a:srgbClr val="BD1D2D"/>
                </a:solidFill>
                <a:latin typeface="Segoe UI" pitchFamily="34" charset="0"/>
                <a:ea typeface="Segoe UI" pitchFamily="34" charset="-122"/>
                <a:cs typeface="Segoe UI" pitchFamily="34" charset="-120"/>
              </a:rPr>
              <a:t>0% Schema error</a:t>
            </a:r>
            <a:endParaRPr lang="en-US" sz="1500" dirty="0"/>
          </a:p>
        </p:txBody>
      </p:sp>
      <p:sp>
        <p:nvSpPr>
          <p:cNvPr id="25" name="Text 21"/>
          <p:cNvSpPr/>
          <p:nvPr/>
        </p:nvSpPr>
        <p:spPr>
          <a:xfrm>
            <a:off x="6915150" y="1664208"/>
            <a:ext cx="1817370" cy="228600"/>
          </a:xfrm>
          <a:prstGeom prst="rect">
            <a:avLst/>
          </a:prstGeom>
          <a:noFill/>
          <a:ln/>
        </p:spPr>
        <p:txBody>
          <a:bodyPr wrap="square" rtlCol="0" anchor="ctr"/>
          <a:lstStyle/>
          <a:p>
            <a:pPr algn="ctr" indent="0" marL="0">
              <a:buNone/>
            </a:pPr>
            <a:r>
              <a:rPr lang="en-US" sz="700" b="1" dirty="0">
                <a:solidFill>
                  <a:srgbClr val="0F172A"/>
                </a:solidFill>
                <a:latin typeface="Segoe UI" pitchFamily="34" charset="0"/>
                <a:ea typeface="Segoe UI" pitchFamily="34" charset="-122"/>
                <a:cs typeface="Segoe UI" pitchFamily="34" charset="-120"/>
              </a:rPr>
              <a:t>MỨC SAI SÓT</a:t>
            </a:r>
            <a:endParaRPr lang="en-US" sz="7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31520" y="2103120"/>
          <a:ext cx="8046720" cy="2468880"/>
        </p:xfrm>
        <a:graphic>
          <a:graphicData uri="http://schemas.openxmlformats.org/drawingml/2006/table">
            <a:tbl>
              <a:tblPr/>
              <a:tblGrid>
                <a:gridCol w="2011680"/>
                <a:gridCol w="2011680"/>
                <a:gridCol w="2011680"/>
                <a:gridCol w="2011680"/>
              </a:tblGrid>
              <a:tr h="61722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NHIỆM VỤ ĐỐI SOÁT</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CÔNG CỤ THỰC THI</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MÔ TẢ HÀNH ĐỘNG</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RÀNG BUỘC NGHIỆP VỤ</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6172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Quét schema Staging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exec_db_query.php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Quét trực tiếp cấu trúc bảng thực tế từ xa</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Chạy trước khi deploy code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172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Kiểm tra kiểu dữ liệu</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test_bootstrap.php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So khớp kiểu dữ liệu và độ dài cột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Không có sai lệch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172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Khóa ngoại constraints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MySQL query schema</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Xác thực khóa ngoại bảng cọc và queue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Duy trì tính toàn vẹn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27" name="Text 22"/>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58 / 65</a:t>
            </a:r>
            <a:endParaRPr lang="en-US" sz="850" dirty="0"/>
          </a:p>
        </p:txBody>
      </p:sp>
      <p:sp>
        <p:nvSpPr>
          <p:cNvPr id="28" name="Text 23"/>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DEVOPS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Quét Lỗi Cú Pháp Truy Vấn Tĩnh</a:t>
            </a:r>
            <a:endParaRPr lang="en-US" sz="1900" dirty="0"/>
          </a:p>
        </p:txBody>
      </p:sp>
      <p:sp>
        <p:nvSpPr>
          <p:cNvPr id="14" name="Shape 10"/>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5" name="Text 11"/>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CÔNG CỤ QUÉT SQL SCAN</a:t>
            </a:r>
            <a:endParaRPr lang="en-US" sz="950" dirty="0"/>
          </a:p>
        </p:txBody>
      </p:sp>
      <p:sp>
        <p:nvSpPr>
          <p:cNvPr id="16" name="Text 12"/>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quét toàn bộ mã nguồn PHP để tìm kiếm các từ khóa SQL không hợp lệ.</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Phát hiện các câu lệnh không tương thích với cấu hình chế độ MariaDB Staging.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Tìm ra các truy vấn SQL viết sai cú pháp trước khi chạy thực tế.</a:t>
            </a:r>
            <a:endParaRPr lang="en-US" sz="920" dirty="0"/>
          </a:p>
        </p:txBody>
      </p:sp>
      <p:sp>
        <p:nvSpPr>
          <p:cNvPr id="17" name="Shape 13"/>
          <p:cNvSpPr/>
          <p:nvPr/>
        </p:nvSpPr>
        <p:spPr>
          <a:xfrm>
            <a:off x="4572000" y="1280160"/>
            <a:ext cx="3840480" cy="3291840"/>
          </a:xfrm>
          <a:prstGeom prst="roundRect">
            <a:avLst>
              <a:gd name="adj" fmla="val 1389"/>
            </a:avLst>
          </a:prstGeom>
          <a:solidFill>
            <a:srgbClr val="F1F5F9"/>
          </a:solidFill>
          <a:ln w="19050">
            <a:solidFill>
              <a:srgbClr val="E2E8F0"/>
            </a:solidFill>
            <a:prstDash val="solid"/>
          </a:ln>
        </p:spPr>
      </p:sp>
      <p:sp>
        <p:nvSpPr>
          <p:cNvPr id="18" name="Shape 14"/>
          <p:cNvSpPr/>
          <p:nvPr/>
        </p:nvSpPr>
        <p:spPr>
          <a:xfrm>
            <a:off x="4572000" y="1280160"/>
            <a:ext cx="3840480" cy="320040"/>
          </a:xfrm>
          <a:prstGeom prst="rect">
            <a:avLst/>
          </a:prstGeom>
          <a:solidFill>
            <a:srgbClr val="FFFFFF"/>
          </a:solidFill>
          <a:ln w="6350">
            <a:solidFill>
              <a:srgbClr val="E2E8F0"/>
            </a:solidFill>
            <a:prstDash val="solid"/>
          </a:ln>
        </p:spPr>
      </p:sp>
      <p:sp>
        <p:nvSpPr>
          <p:cNvPr id="19" name="Shape 15"/>
          <p:cNvSpPr/>
          <p:nvPr/>
        </p:nvSpPr>
        <p:spPr>
          <a:xfrm>
            <a:off x="4709160" y="1389888"/>
            <a:ext cx="91440" cy="91440"/>
          </a:xfrm>
          <a:prstGeom prst="ellipse">
            <a:avLst/>
          </a:prstGeom>
          <a:solidFill>
            <a:srgbClr val="EF4444"/>
          </a:solidFill>
          <a:ln/>
        </p:spPr>
      </p:sp>
      <p:sp>
        <p:nvSpPr>
          <p:cNvPr id="20" name="Shape 16"/>
          <p:cNvSpPr/>
          <p:nvPr/>
        </p:nvSpPr>
        <p:spPr>
          <a:xfrm>
            <a:off x="4846320" y="1389888"/>
            <a:ext cx="91440" cy="91440"/>
          </a:xfrm>
          <a:prstGeom prst="ellipse">
            <a:avLst/>
          </a:prstGeom>
          <a:solidFill>
            <a:srgbClr val="F59E0B"/>
          </a:solidFill>
          <a:ln/>
        </p:spPr>
      </p:sp>
      <p:sp>
        <p:nvSpPr>
          <p:cNvPr id="21" name="Shape 17"/>
          <p:cNvSpPr/>
          <p:nvPr/>
        </p:nvSpPr>
        <p:spPr>
          <a:xfrm>
            <a:off x="4983480" y="1389888"/>
            <a:ext cx="91440" cy="91440"/>
          </a:xfrm>
          <a:prstGeom prst="ellipse">
            <a:avLst/>
          </a:prstGeom>
          <a:solidFill>
            <a:srgbClr val="10B981"/>
          </a:solidFill>
          <a:ln/>
        </p:spPr>
      </p:sp>
      <p:sp>
        <p:nvSpPr>
          <p:cNvPr id="22" name="Text 18"/>
          <p:cNvSpPr/>
          <p:nvPr/>
        </p:nvSpPr>
        <p:spPr>
          <a:xfrm>
            <a:off x="5212080" y="1280160"/>
            <a:ext cx="2926080" cy="320040"/>
          </a:xfrm>
          <a:prstGeom prst="rect">
            <a:avLst/>
          </a:prstGeom>
          <a:noFill/>
          <a:ln/>
        </p:spPr>
        <p:txBody>
          <a:bodyPr wrap="square" rtlCol="0" anchor="ctr"/>
          <a:lstStyle/>
          <a:p>
            <a:pPr indent="0" marL="0">
              <a:buNone/>
            </a:pPr>
            <a:r>
              <a:rPr lang="en-US" sz="850" b="1" dirty="0">
                <a:solidFill>
                  <a:srgbClr val="475569"/>
                </a:solidFill>
                <a:latin typeface="Segoe UI" pitchFamily="34" charset="0"/>
                <a:ea typeface="Segoe UI" pitchFamily="34" charset="-122"/>
                <a:cs typeface="Segoe UI" pitchFamily="34" charset="-120"/>
              </a:rPr>
              <a:t>BỘ QUÉT LỖI TỰ ĐỘNG</a:t>
            </a:r>
            <a:endParaRPr lang="en-US" sz="850" dirty="0"/>
          </a:p>
        </p:txBody>
      </p:sp>
      <p:sp>
        <p:nvSpPr>
          <p:cNvPr id="23" name="Text 19"/>
          <p:cNvSpPr/>
          <p:nvPr/>
        </p:nvSpPr>
        <p:spPr>
          <a:xfrm>
            <a:off x="4754880" y="1737360"/>
            <a:ext cx="3474720" cy="2651760"/>
          </a:xfrm>
          <a:prstGeom prst="rect">
            <a:avLst/>
          </a:prstGeom>
          <a:noFill/>
          <a:ln/>
        </p:spPr>
        <p:txBody>
          <a:bodyPr wrap="square" rtlCol="0" anchor="t"/>
          <a:lstStyle/>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Tự động quét cấu trúc câu lệnh trước khi nâng cấp hệ thống.</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Phát hiện sớm các câu lệnh không tương thích với máy chủ chính.</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Cảnh báo nguy cơ bảo mật hoặc rò rỉ dữ liệu thông tin khách hàng.</a:t>
            </a:r>
            <a:endParaRPr lang="en-US" sz="880" dirty="0"/>
          </a:p>
          <a:p>
            <a:pPr indent="0" marL="0">
              <a:lnSpc>
                <a:spcPts val="1300"/>
              </a:lnSpc>
              <a:buNone/>
            </a:pPr>
            <a:endParaRPr lang="en-US" sz="880" dirty="0"/>
          </a:p>
          <a:p>
            <a:pPr indent="0" marL="0">
              <a:lnSpc>
                <a:spcPts val="1300"/>
              </a:lnSpc>
              <a:buNone/>
            </a:pPr>
            <a:r>
              <a:rPr lang="en-US" sz="880" dirty="0">
                <a:solidFill>
                  <a:srgbClr val="0F172A"/>
                </a:solidFill>
                <a:latin typeface="Segoe UI" pitchFamily="34" charset="0"/>
                <a:ea typeface="Segoe UI" pitchFamily="34" charset="-122"/>
                <a:cs typeface="Segoe UI" pitchFamily="34" charset="-120"/>
              </a:rPr>
              <a:t>•  Đảm bảo mã nguồn đạt độ an toàn 100% trước khi vận hành.</a:t>
            </a:r>
            <a:endParaRPr lang="en-US" sz="880" dirty="0"/>
          </a:p>
        </p:txBody>
      </p:sp>
      <p:sp>
        <p:nvSpPr>
          <p:cNvPr id="24"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59 / 65</a:t>
            </a:r>
            <a:endParaRPr lang="en-US" sz="850" dirty="0"/>
          </a:p>
        </p:txBody>
      </p:sp>
      <p:sp>
        <p:nvSpPr>
          <p:cNvPr id="25"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DEVOPS</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Trình Triển Khai Deploy Song Song</a:t>
            </a:r>
            <a:endParaRPr lang="en-US" sz="1900" dirty="0"/>
          </a:p>
        </p:txBody>
      </p:sp>
      <p:sp>
        <p:nvSpPr>
          <p:cNvPr id="14" name="Shape 10"/>
          <p:cNvSpPr/>
          <p:nvPr/>
        </p:nvSpPr>
        <p:spPr>
          <a:xfrm>
            <a:off x="731520" y="1371600"/>
            <a:ext cx="2499360" cy="3017520"/>
          </a:xfrm>
          <a:prstGeom prst="roundRect">
            <a:avLst>
              <a:gd name="adj" fmla="val 2195"/>
            </a:avLst>
          </a:prstGeom>
          <a:solidFill>
            <a:srgbClr val="FFFFFF"/>
          </a:solidFill>
          <a:ln w="12700">
            <a:solidFill>
              <a:srgbClr val="E2E8F0"/>
            </a:solidFill>
            <a:prstDash val="solid"/>
          </a:ln>
        </p:spPr>
      </p:sp>
      <p:sp>
        <p:nvSpPr>
          <p:cNvPr id="15" name="Shape 11"/>
          <p:cNvSpPr/>
          <p:nvPr/>
        </p:nvSpPr>
        <p:spPr>
          <a:xfrm>
            <a:off x="3230880" y="1737360"/>
            <a:ext cx="274320" cy="0"/>
          </a:xfrm>
          <a:prstGeom prst="line">
            <a:avLst/>
          </a:prstGeom>
          <a:noFill/>
          <a:ln w="19050">
            <a:solidFill>
              <a:srgbClr val="BD1D2D"/>
            </a:solidFill>
            <a:prstDash val="dash"/>
          </a:ln>
        </p:spPr>
      </p:sp>
      <p:sp>
        <p:nvSpPr>
          <p:cNvPr id="16" name="Shape 12"/>
          <p:cNvSpPr/>
          <p:nvPr/>
        </p:nvSpPr>
        <p:spPr>
          <a:xfrm>
            <a:off x="1798320" y="1554480"/>
            <a:ext cx="365760" cy="365760"/>
          </a:xfrm>
          <a:prstGeom prst="ellipse">
            <a:avLst/>
          </a:prstGeom>
          <a:solidFill>
            <a:srgbClr val="BD1D2D"/>
          </a:solidFill>
          <a:ln w="19050">
            <a:solidFill>
              <a:srgbClr val="FFFFFF"/>
            </a:solidFill>
            <a:prstDash val="solid"/>
          </a:ln>
        </p:spPr>
      </p:sp>
      <p:sp>
        <p:nvSpPr>
          <p:cNvPr id="17" name="Text 13"/>
          <p:cNvSpPr/>
          <p:nvPr/>
        </p:nvSpPr>
        <p:spPr>
          <a:xfrm>
            <a:off x="179832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1</a:t>
            </a:r>
            <a:endParaRPr lang="en-US" sz="950" dirty="0"/>
          </a:p>
        </p:txBody>
      </p:sp>
      <p:sp>
        <p:nvSpPr>
          <p:cNvPr id="18" name="Text 14"/>
          <p:cNvSpPr/>
          <p:nvPr/>
        </p:nvSpPr>
        <p:spPr>
          <a:xfrm>
            <a:off x="82296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Kích hoạt Deploy</a:t>
            </a:r>
            <a:endParaRPr lang="en-US" sz="950" dirty="0"/>
          </a:p>
        </p:txBody>
      </p:sp>
      <p:sp>
        <p:nvSpPr>
          <p:cNvPr id="19" name="Text 15"/>
          <p:cNvSpPr/>
          <p:nvPr/>
        </p:nvSpPr>
        <p:spPr>
          <a:xfrm>
            <a:off x="82296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Manager gõ lệnh deploy chính thức, khởi chạy script build backend.</a:t>
            </a:r>
            <a:endParaRPr lang="en-US" sz="800" dirty="0"/>
          </a:p>
        </p:txBody>
      </p:sp>
      <p:sp>
        <p:nvSpPr>
          <p:cNvPr id="20" name="Shape 16"/>
          <p:cNvSpPr/>
          <p:nvPr/>
        </p:nvSpPr>
        <p:spPr>
          <a:xfrm>
            <a:off x="3505200" y="1371600"/>
            <a:ext cx="2499360" cy="3017520"/>
          </a:xfrm>
          <a:prstGeom prst="roundRect">
            <a:avLst>
              <a:gd name="adj" fmla="val 2195"/>
            </a:avLst>
          </a:prstGeom>
          <a:solidFill>
            <a:srgbClr val="FFFFFF"/>
          </a:solidFill>
          <a:ln w="12700">
            <a:solidFill>
              <a:srgbClr val="E2E8F0"/>
            </a:solidFill>
            <a:prstDash val="solid"/>
          </a:ln>
        </p:spPr>
      </p:sp>
      <p:sp>
        <p:nvSpPr>
          <p:cNvPr id="21" name="Shape 17"/>
          <p:cNvSpPr/>
          <p:nvPr/>
        </p:nvSpPr>
        <p:spPr>
          <a:xfrm>
            <a:off x="6004560" y="1737360"/>
            <a:ext cx="274320" cy="0"/>
          </a:xfrm>
          <a:prstGeom prst="line">
            <a:avLst/>
          </a:prstGeom>
          <a:noFill/>
          <a:ln w="19050">
            <a:solidFill>
              <a:srgbClr val="BD1D2D"/>
            </a:solidFill>
            <a:prstDash val="dash"/>
          </a:ln>
        </p:spPr>
      </p:sp>
      <p:sp>
        <p:nvSpPr>
          <p:cNvPr id="22" name="Shape 18"/>
          <p:cNvSpPr/>
          <p:nvPr/>
        </p:nvSpPr>
        <p:spPr>
          <a:xfrm>
            <a:off x="4572000" y="1554480"/>
            <a:ext cx="365760" cy="365760"/>
          </a:xfrm>
          <a:prstGeom prst="ellipse">
            <a:avLst/>
          </a:prstGeom>
          <a:solidFill>
            <a:srgbClr val="BD1D2D"/>
          </a:solidFill>
          <a:ln w="19050">
            <a:solidFill>
              <a:srgbClr val="FFFFFF"/>
            </a:solidFill>
            <a:prstDash val="solid"/>
          </a:ln>
        </p:spPr>
      </p:sp>
      <p:sp>
        <p:nvSpPr>
          <p:cNvPr id="23" name="Text 19"/>
          <p:cNvSpPr/>
          <p:nvPr/>
        </p:nvSpPr>
        <p:spPr>
          <a:xfrm>
            <a:off x="457200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2</a:t>
            </a:r>
            <a:endParaRPr lang="en-US" sz="950" dirty="0"/>
          </a:p>
        </p:txBody>
      </p:sp>
      <p:sp>
        <p:nvSpPr>
          <p:cNvPr id="24" name="Text 20"/>
          <p:cNvSpPr/>
          <p:nvPr/>
        </p:nvSpPr>
        <p:spPr>
          <a:xfrm>
            <a:off x="359664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Nâng cấp Staging</a:t>
            </a:r>
            <a:endParaRPr lang="en-US" sz="950" dirty="0"/>
          </a:p>
        </p:txBody>
      </p:sp>
      <p:sp>
        <p:nvSpPr>
          <p:cNvPr id="25" name="Text 21"/>
          <p:cNvSpPr/>
          <p:nvPr/>
        </p:nvSpPr>
        <p:spPr>
          <a:xfrm>
            <a:off x="359664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Build code mới lên server Staging, chạy lệnh di chuyển schema database tự động.</a:t>
            </a:r>
            <a:endParaRPr lang="en-US" sz="800" dirty="0"/>
          </a:p>
        </p:txBody>
      </p:sp>
      <p:sp>
        <p:nvSpPr>
          <p:cNvPr id="26" name="Shape 22"/>
          <p:cNvSpPr/>
          <p:nvPr/>
        </p:nvSpPr>
        <p:spPr>
          <a:xfrm>
            <a:off x="6278880" y="1371600"/>
            <a:ext cx="2499360" cy="3017520"/>
          </a:xfrm>
          <a:prstGeom prst="roundRect">
            <a:avLst>
              <a:gd name="adj" fmla="val 2195"/>
            </a:avLst>
          </a:prstGeom>
          <a:solidFill>
            <a:srgbClr val="FFFFFF"/>
          </a:solidFill>
          <a:ln w="12700">
            <a:solidFill>
              <a:srgbClr val="E2E8F0"/>
            </a:solidFill>
            <a:prstDash val="solid"/>
          </a:ln>
        </p:spPr>
      </p:sp>
      <p:sp>
        <p:nvSpPr>
          <p:cNvPr id="27" name="Shape 23"/>
          <p:cNvSpPr/>
          <p:nvPr/>
        </p:nvSpPr>
        <p:spPr>
          <a:xfrm>
            <a:off x="7345680" y="1554480"/>
            <a:ext cx="365760" cy="365760"/>
          </a:xfrm>
          <a:prstGeom prst="ellipse">
            <a:avLst/>
          </a:prstGeom>
          <a:solidFill>
            <a:srgbClr val="BD1D2D"/>
          </a:solidFill>
          <a:ln w="19050">
            <a:solidFill>
              <a:srgbClr val="FFFFFF"/>
            </a:solidFill>
            <a:prstDash val="solid"/>
          </a:ln>
        </p:spPr>
      </p:sp>
      <p:sp>
        <p:nvSpPr>
          <p:cNvPr id="28" name="Text 24"/>
          <p:cNvSpPr/>
          <p:nvPr/>
        </p:nvSpPr>
        <p:spPr>
          <a:xfrm>
            <a:off x="7345680" y="1554480"/>
            <a:ext cx="365760" cy="36576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3</a:t>
            </a:r>
            <a:endParaRPr lang="en-US" sz="950" dirty="0"/>
          </a:p>
        </p:txBody>
      </p:sp>
      <p:sp>
        <p:nvSpPr>
          <p:cNvPr id="29" name="Text 25"/>
          <p:cNvSpPr/>
          <p:nvPr/>
        </p:nvSpPr>
        <p:spPr>
          <a:xfrm>
            <a:off x="6370320" y="2057400"/>
            <a:ext cx="2316480" cy="274320"/>
          </a:xfrm>
          <a:prstGeom prst="rect">
            <a:avLst/>
          </a:prstGeom>
          <a:noFill/>
          <a:ln/>
        </p:spPr>
        <p:txBody>
          <a:bodyPr wrap="square" rtlCol="0" anchor="ctr"/>
          <a:lstStyle/>
          <a:p>
            <a:pPr algn="ctr" indent="0" marL="0">
              <a:buNone/>
            </a:pPr>
            <a:r>
              <a:rPr lang="en-US" sz="950" b="1" dirty="0">
                <a:solidFill>
                  <a:srgbClr val="0F172A"/>
                </a:solidFill>
                <a:latin typeface="Segoe UI" pitchFamily="34" charset="0"/>
                <a:ea typeface="Segoe UI" pitchFamily="34" charset="-122"/>
                <a:cs typeface="Segoe UI" pitchFamily="34" charset="-120"/>
              </a:rPr>
              <a:t>Git Commit &amp; Push</a:t>
            </a:r>
            <a:endParaRPr lang="en-US" sz="950" dirty="0"/>
          </a:p>
        </p:txBody>
      </p:sp>
      <p:sp>
        <p:nvSpPr>
          <p:cNvPr id="30" name="Text 26"/>
          <p:cNvSpPr/>
          <p:nvPr/>
        </p:nvSpPr>
        <p:spPr>
          <a:xfrm>
            <a:off x="6370320" y="2377440"/>
            <a:ext cx="2316480" cy="1920240"/>
          </a:xfrm>
          <a:prstGeom prst="rect">
            <a:avLst/>
          </a:prstGeom>
          <a:noFill/>
          <a:ln/>
        </p:spPr>
        <p:txBody>
          <a:bodyPr wrap="square" rtlCol="0" anchor="t"/>
          <a:lstStyle/>
          <a:p>
            <a:pPr algn="ctr" indent="0" marL="0">
              <a:lnSpc>
                <a:spcPts val="1000"/>
              </a:lnSpc>
              <a:buNone/>
            </a:pPr>
            <a:r>
              <a:rPr lang="en-US" sz="800" dirty="0">
                <a:solidFill>
                  <a:srgbClr val="475569"/>
                </a:solidFill>
                <a:latin typeface="Segoe UI" pitchFamily="34" charset="0"/>
                <a:ea typeface="Segoe UI" pitchFamily="34" charset="-122"/>
                <a:cs typeface="Segoe UI" pitchFamily="34" charset="-120"/>
              </a:rPr>
              <a:t>Thực hiện add, commit và push lên main branch đồng bộ mã nguồn gốc.</a:t>
            </a:r>
            <a:endParaRPr lang="en-US" sz="800" dirty="0"/>
          </a:p>
        </p:txBody>
      </p:sp>
      <p:sp>
        <p:nvSpPr>
          <p:cNvPr id="31" name="Text 27"/>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60 / 65</a:t>
            </a:r>
            <a:endParaRPr lang="en-US" sz="850" dirty="0"/>
          </a:p>
        </p:txBody>
      </p:sp>
      <p:sp>
        <p:nvSpPr>
          <p:cNvPr id="32" name="Text 28"/>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ln/>
        </p:spPr>
      </p:sp>
      <p:pic>
        <p:nvPicPr>
          <p:cNvPr id="3" name="Image 0" descr="https://rich-land.vercel.app/imgs/logo-rich-land-viet-nam-trang.webp">    </p:cNvPr>
          <p:cNvPicPr>
            <a:picLocks noChangeAspect="1"/>
          </p:cNvPicPr>
          <p:nvPr/>
        </p:nvPicPr>
        <p:blipFill>
          <a:blip r:embed="rId1"/>
          <a:stretch>
            <a:fillRect/>
          </a:stretch>
        </p:blipFill>
        <p:spPr>
          <a:xfrm>
            <a:off x="914400" y="365760"/>
            <a:ext cx="2011680" cy="457200"/>
          </a:xfrm>
          <a:prstGeom prst="rect">
            <a:avLst/>
          </a:prstGeom>
        </p:spPr>
      </p:pic>
      <p:sp>
        <p:nvSpPr>
          <p:cNvPr id="4" name="Text 1"/>
          <p:cNvSpPr/>
          <p:nvPr/>
        </p:nvSpPr>
        <p:spPr>
          <a:xfrm>
            <a:off x="914400" y="1005840"/>
            <a:ext cx="7315200" cy="274320"/>
          </a:xfrm>
          <a:prstGeom prst="rect">
            <a:avLst/>
          </a:prstGeom>
          <a:noFill/>
          <a:ln/>
        </p:spPr>
        <p:txBody>
          <a:bodyPr wrap="square" rtlCol="0" anchor="ctr"/>
          <a:lstStyle/>
          <a:p>
            <a:pPr indent="0" marL="0">
              <a:buNone/>
            </a:pPr>
            <a:r>
              <a:rPr lang="en-US" sz="1300" b="1" dirty="0">
                <a:solidFill>
                  <a:srgbClr val="FFC1C1"/>
                </a:solidFill>
                <a:latin typeface="Segoe UI" pitchFamily="34" charset="0"/>
                <a:ea typeface="Segoe UI" pitchFamily="34" charset="-122"/>
                <a:cs typeface="Segoe UI" pitchFamily="34" charset="-120"/>
              </a:rPr>
              <a:t>ROADMAP</a:t>
            </a:r>
            <a:endParaRPr lang="en-US" sz="1300" dirty="0"/>
          </a:p>
        </p:txBody>
      </p:sp>
      <p:sp>
        <p:nvSpPr>
          <p:cNvPr id="5" name="Text 2"/>
          <p:cNvSpPr/>
          <p:nvPr/>
        </p:nvSpPr>
        <p:spPr>
          <a:xfrm>
            <a:off x="914400" y="137160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LỘ TRÌNH PHÁT TRIỂN &amp; NÂNG CẤP HỆ THỐNG</a:t>
            </a:r>
            <a:endParaRPr lang="en-US" sz="3000" dirty="0"/>
          </a:p>
        </p:txBody>
      </p:sp>
      <p:sp>
        <p:nvSpPr>
          <p:cNvPr id="6" name="Text 3"/>
          <p:cNvSpPr/>
          <p:nvPr/>
        </p:nvSpPr>
        <p:spPr>
          <a:xfrm>
            <a:off x="914400" y="2468880"/>
            <a:ext cx="7315200" cy="548640"/>
          </a:xfrm>
          <a:prstGeom prst="rect">
            <a:avLst/>
          </a:prstGeom>
          <a:noFill/>
          <a:ln/>
        </p:spPr>
        <p:txBody>
          <a:bodyPr wrap="square" rtlCol="0" anchor="t"/>
          <a:lstStyle/>
          <a:p>
            <a:pPr indent="0" marL="0">
              <a:lnSpc>
                <a:spcPts val="1600"/>
              </a:lnSpc>
              <a:buNone/>
            </a:pPr>
            <a:r>
              <a:rPr lang="en-US" sz="1150" dirty="0">
                <a:solidFill>
                  <a:srgbClr val="F1F5F9"/>
                </a:solidFill>
                <a:latin typeface="Segoe UI" pitchFamily="34" charset="0"/>
                <a:ea typeface="Segoe UI" pitchFamily="34" charset="-122"/>
                <a:cs typeface="Segoe UI" pitchFamily="34" charset="-120"/>
              </a:rPr>
              <a:t>Kế hoạch nâng cấp và mở rộng khả năng tối ưu hóa chuyển đổi, tương tác tự động ở quy mô lớn cho Rich Land CRM.</a:t>
            </a:r>
            <a:endParaRPr lang="en-US" sz="1150" dirty="0"/>
          </a:p>
        </p:txBody>
      </p:sp>
      <p:sp>
        <p:nvSpPr>
          <p:cNvPr id="7" name="Shape 4"/>
          <p:cNvSpPr/>
          <p:nvPr/>
        </p:nvSpPr>
        <p:spPr>
          <a:xfrm>
            <a:off x="91440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8" name="Text 5"/>
          <p:cNvSpPr/>
          <p:nvPr/>
        </p:nvSpPr>
        <p:spPr>
          <a:xfrm>
            <a:off x="105156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PHASE 1: HẠ TẦNG</a:t>
            </a:r>
            <a:endParaRPr lang="en-US" sz="950" dirty="0"/>
          </a:p>
        </p:txBody>
      </p:sp>
      <p:sp>
        <p:nvSpPr>
          <p:cNvPr id="9" name="Text 6"/>
          <p:cNvSpPr/>
          <p:nvPr/>
        </p:nvSpPr>
        <p:spPr>
          <a:xfrm>
            <a:off x="105156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Ổn định phân chia lead thông qua 5 Gate bảo mật, check-in selfie và hàng đợi tin nhắn ngầm.</a:t>
            </a:r>
            <a:endParaRPr lang="en-US" sz="850" dirty="0"/>
          </a:p>
        </p:txBody>
      </p:sp>
      <p:sp>
        <p:nvSpPr>
          <p:cNvPr id="10" name="Shape 7"/>
          <p:cNvSpPr/>
          <p:nvPr/>
        </p:nvSpPr>
        <p:spPr>
          <a:xfrm>
            <a:off x="347472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1" name="Text 8"/>
          <p:cNvSpPr/>
          <p:nvPr/>
        </p:nvSpPr>
        <p:spPr>
          <a:xfrm>
            <a:off x="361188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PHASE 2: RAG &amp; CHAT</a:t>
            </a:r>
            <a:endParaRPr lang="en-US" sz="950" dirty="0"/>
          </a:p>
        </p:txBody>
      </p:sp>
      <p:sp>
        <p:nvSpPr>
          <p:cNvPr id="12" name="Text 9"/>
          <p:cNvSpPr/>
          <p:nvPr/>
        </p:nvSpPr>
        <p:spPr>
          <a:xfrm>
            <a:off x="361188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Nạp tri thức tự động bằng Vector, chatbot commands quản lý di động và AI screening.</a:t>
            </a:r>
            <a:endParaRPr lang="en-US" sz="850" dirty="0"/>
          </a:p>
        </p:txBody>
      </p:sp>
      <p:sp>
        <p:nvSpPr>
          <p:cNvPr id="13" name="Shape 10"/>
          <p:cNvSpPr/>
          <p:nvPr/>
        </p:nvSpPr>
        <p:spPr>
          <a:xfrm>
            <a:off x="6035040" y="3108960"/>
            <a:ext cx="2194560" cy="1554480"/>
          </a:xfrm>
          <a:prstGeom prst="roundRect">
            <a:avLst>
              <a:gd name="adj" fmla="val 4706"/>
            </a:avLst>
          </a:prstGeom>
          <a:solidFill>
            <a:srgbClr val="FFFFFF">
              <a:alpha val="8000"/>
            </a:srgbClr>
          </a:solidFill>
          <a:ln w="12700">
            <a:solidFill>
              <a:srgbClr val="FFFFFF">
                <a:alpha val="25000"/>
              </a:srgbClr>
            </a:solidFill>
            <a:prstDash val="solid"/>
          </a:ln>
        </p:spPr>
      </p:sp>
      <p:sp>
        <p:nvSpPr>
          <p:cNvPr id="14" name="Text 11"/>
          <p:cNvSpPr/>
          <p:nvPr/>
        </p:nvSpPr>
        <p:spPr>
          <a:xfrm>
            <a:off x="6172200" y="3246120"/>
            <a:ext cx="1920240" cy="274320"/>
          </a:xfrm>
          <a:prstGeom prst="rect">
            <a:avLst/>
          </a:prstGeom>
          <a:noFill/>
          <a:ln/>
        </p:spPr>
        <p:txBody>
          <a:bodyPr wrap="square" rtlCol="0" anchor="ctr"/>
          <a:lstStyle/>
          <a:p>
            <a:pPr indent="0" marL="0">
              <a:buNone/>
            </a:pPr>
            <a:r>
              <a:rPr lang="en-US" sz="950" b="1" dirty="0">
                <a:solidFill>
                  <a:srgbClr val="FFFFFF"/>
                </a:solidFill>
                <a:latin typeface="Segoe UI" pitchFamily="34" charset="0"/>
                <a:ea typeface="Segoe UI" pitchFamily="34" charset="-122"/>
                <a:cs typeface="Segoe UI" pitchFamily="34" charset="-120"/>
              </a:rPr>
              <a:t>PHASE 3: MỞ RỘNG</a:t>
            </a:r>
            <a:endParaRPr lang="en-US" sz="950" dirty="0"/>
          </a:p>
        </p:txBody>
      </p:sp>
      <p:sp>
        <p:nvSpPr>
          <p:cNvPr id="15" name="Text 12"/>
          <p:cNvSpPr/>
          <p:nvPr/>
        </p:nvSpPr>
        <p:spPr>
          <a:xfrm>
            <a:off x="6172200" y="3520440"/>
            <a:ext cx="1920240" cy="1005840"/>
          </a:xfrm>
          <a:prstGeom prst="rect">
            <a:avLst/>
          </a:prstGeom>
          <a:noFill/>
          <a:ln/>
        </p:spPr>
        <p:txBody>
          <a:bodyPr wrap="square" rtlCol="0" anchor="t"/>
          <a:lstStyle/>
          <a:p>
            <a:pPr indent="0" marL="0">
              <a:lnSpc>
                <a:spcPts val="1200"/>
              </a:lnSpc>
              <a:buNone/>
            </a:pPr>
            <a:r>
              <a:rPr lang="en-US" sz="850" dirty="0">
                <a:solidFill>
                  <a:srgbClr val="F1F5F9"/>
                </a:solidFill>
                <a:latin typeface="Segoe UI" pitchFamily="34" charset="0"/>
                <a:ea typeface="Segoe UI" pitchFamily="34" charset="-122"/>
                <a:cs typeface="Segoe UI" pitchFamily="34" charset="-120"/>
              </a:rPr>
              <a:t>Tích hợp IP Phone, ghi âm cuộc gọi, phân tích Cost Ads sâu (ROAS) đến ad creative cụ thể.</a:t>
            </a:r>
            <a:endParaRPr lang="en-US" sz="850" dirty="0"/>
          </a:p>
        </p:txBody>
      </p:sp>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61 / 65</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TRANG APP</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Giao Diện Danh Sách Khách Hàng Tiềm Năng</a:t>
            </a:r>
            <a:endParaRPr lang="en-US" sz="1900" dirty="0"/>
          </a:p>
        </p:txBody>
      </p:sp>
      <p:pic>
        <p:nvPicPr>
          <p:cNvPr id="14" name="Image 2" descr="C:/Users/LENOVO/.gemini/antigravity-ide/brain/e9c532d6-760d-4225-9cf7-98e98524ed90/app_contacts.png">    </p:cNvPr>
          <p:cNvPicPr>
            <a:picLocks noChangeAspect="1"/>
          </p:cNvPicPr>
          <p:nvPr/>
        </p:nvPicPr>
        <p:blipFill>
          <a:blip r:embed="rId3"/>
          <a:stretch>
            <a:fillRect/>
          </a:stretch>
        </p:blipFill>
        <p:spPr>
          <a:xfrm>
            <a:off x="731520" y="1280160"/>
            <a:ext cx="8046720" cy="3291840"/>
          </a:xfrm>
          <a:prstGeom prst="rect">
            <a:avLst/>
          </a:prstGeom>
        </p:spPr>
      </p:pic>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62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TRANG APP</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Giao Diện Bảng Thông Tin Chi Tiết (Drawer)</a:t>
            </a:r>
            <a:endParaRPr lang="en-US" sz="1900" dirty="0"/>
          </a:p>
        </p:txBody>
      </p:sp>
      <p:sp>
        <p:nvSpPr>
          <p:cNvPr id="14" name="Shape 10"/>
          <p:cNvSpPr/>
          <p:nvPr/>
        </p:nvSpPr>
        <p:spPr>
          <a:xfrm>
            <a:off x="731520" y="1280160"/>
            <a:ext cx="5120640" cy="3291840"/>
          </a:xfrm>
          <a:prstGeom prst="roundRect">
            <a:avLst>
              <a:gd name="adj" fmla="val 1667"/>
            </a:avLst>
          </a:prstGeom>
          <a:solidFill>
            <a:srgbClr val="FFFFFF"/>
          </a:solidFill>
          <a:ln w="12700">
            <a:solidFill>
              <a:srgbClr val="E2E8F0"/>
            </a:solidFill>
            <a:prstDash val="solid"/>
          </a:ln>
        </p:spPr>
      </p:sp>
      <p:sp>
        <p:nvSpPr>
          <p:cNvPr id="15" name="Text 11"/>
          <p:cNvSpPr/>
          <p:nvPr/>
        </p:nvSpPr>
        <p:spPr>
          <a:xfrm>
            <a:off x="914400" y="1417320"/>
            <a:ext cx="32004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Khách hàng tiềm năng (36 liên hệ)</a:t>
            </a:r>
            <a:endParaRPr lang="en-US" sz="1000" dirty="0"/>
          </a:p>
        </p:txBody>
      </p:sp>
      <p:sp>
        <p:nvSpPr>
          <p:cNvPr id="16" name="Shape 12"/>
          <p:cNvSpPr/>
          <p:nvPr/>
        </p:nvSpPr>
        <p:spPr>
          <a:xfrm>
            <a:off x="914400" y="1691640"/>
            <a:ext cx="3200400" cy="237744"/>
          </a:xfrm>
          <a:prstGeom prst="roundRect">
            <a:avLst>
              <a:gd name="adj" fmla="val 57692"/>
            </a:avLst>
          </a:prstGeom>
          <a:solidFill>
            <a:srgbClr val="F8FAFC"/>
          </a:solidFill>
          <a:ln w="12700">
            <a:solidFill>
              <a:srgbClr val="E2E8F0"/>
            </a:solidFill>
            <a:prstDash val="solid"/>
          </a:ln>
        </p:spPr>
      </p:sp>
      <p:sp>
        <p:nvSpPr>
          <p:cNvPr id="17" name="Text 13"/>
          <p:cNvSpPr/>
          <p:nvPr/>
        </p:nvSpPr>
        <p:spPr>
          <a:xfrm>
            <a:off x="1051560" y="1691640"/>
            <a:ext cx="2743200" cy="237744"/>
          </a:xfrm>
          <a:prstGeom prst="rect">
            <a:avLst/>
          </a:prstGeom>
          <a:noFill/>
          <a:ln/>
        </p:spPr>
        <p:txBody>
          <a:bodyPr wrap="square" rtlCol="0" anchor="ctr"/>
          <a:lstStyle/>
          <a:p>
            <a:pPr indent="0" marL="0">
              <a:buNone/>
            </a:pPr>
            <a:r>
              <a:rPr lang="en-US" sz="750" dirty="0">
                <a:solidFill>
                  <a:srgbClr val="94A3B8"/>
                </a:solidFill>
                <a:latin typeface="Segoe UI" pitchFamily="34" charset="0"/>
                <a:ea typeface="Segoe UI" pitchFamily="34" charset="-122"/>
                <a:cs typeface="Segoe UI" pitchFamily="34" charset="-120"/>
              </a:rPr>
              <a:t>Tìm tên, email, điện thoại...</a:t>
            </a:r>
            <a:endParaRPr lang="en-US" sz="750" dirty="0"/>
          </a:p>
        </p:txBody>
      </p:sp>
      <p:sp>
        <p:nvSpPr>
          <p:cNvPr id="18" name="Shape 14"/>
          <p:cNvSpPr/>
          <p:nvPr/>
        </p:nvSpPr>
        <p:spPr>
          <a:xfrm>
            <a:off x="4206240" y="1691640"/>
            <a:ext cx="731520" cy="237744"/>
          </a:xfrm>
          <a:prstGeom prst="roundRect">
            <a:avLst>
              <a:gd name="adj" fmla="val 57692"/>
            </a:avLst>
          </a:prstGeom>
          <a:solidFill>
            <a:srgbClr val="FFFFFF"/>
          </a:solidFill>
          <a:ln w="12700">
            <a:solidFill>
              <a:srgbClr val="E2E8F0"/>
            </a:solidFill>
            <a:prstDash val="solid"/>
          </a:ln>
        </p:spPr>
      </p:sp>
      <p:sp>
        <p:nvSpPr>
          <p:cNvPr id="19" name="Text 15"/>
          <p:cNvSpPr/>
          <p:nvPr/>
        </p:nvSpPr>
        <p:spPr>
          <a:xfrm>
            <a:off x="4206240" y="1691640"/>
            <a:ext cx="731520" cy="237744"/>
          </a:xfrm>
          <a:prstGeom prst="rect">
            <a:avLst/>
          </a:prstGeom>
          <a:noFill/>
          <a:ln/>
        </p:spPr>
        <p:txBody>
          <a:bodyPr wrap="square" rtlCol="0" anchor="ctr"/>
          <a:lstStyle/>
          <a:p>
            <a:pPr algn="ctr" indent="0" marL="0">
              <a:buNone/>
            </a:pPr>
            <a:r>
              <a:rPr lang="en-US" sz="700" b="1" dirty="0">
                <a:solidFill>
                  <a:srgbClr val="475569"/>
                </a:solidFill>
                <a:latin typeface="Segoe UI" pitchFamily="34" charset="0"/>
                <a:ea typeface="Segoe UI" pitchFamily="34" charset="-122"/>
                <a:cs typeface="Segoe UI" pitchFamily="34" charset="-120"/>
              </a:rPr>
              <a:t>Filter / Bộ lọc</a:t>
            </a:r>
            <a:endParaRPr lang="en-US" sz="700" dirty="0"/>
          </a:p>
        </p:txBody>
      </p:sp>
      <p:sp>
        <p:nvSpPr>
          <p:cNvPr id="20" name="Shape 16"/>
          <p:cNvSpPr/>
          <p:nvPr/>
        </p:nvSpPr>
        <p:spPr>
          <a:xfrm>
            <a:off x="5029200" y="1691640"/>
            <a:ext cx="914400" cy="237744"/>
          </a:xfrm>
          <a:prstGeom prst="roundRect">
            <a:avLst>
              <a:gd name="adj" fmla="val 57692"/>
            </a:avLst>
          </a:prstGeom>
          <a:solidFill>
            <a:srgbClr val="FFFFFF"/>
          </a:solidFill>
          <a:ln w="12700">
            <a:solidFill>
              <a:srgbClr val="E2E8F0"/>
            </a:solidFill>
            <a:prstDash val="solid"/>
          </a:ln>
        </p:spPr>
      </p:sp>
      <p:sp>
        <p:nvSpPr>
          <p:cNvPr id="21" name="Text 17"/>
          <p:cNvSpPr/>
          <p:nvPr/>
        </p:nvSpPr>
        <p:spPr>
          <a:xfrm>
            <a:off x="5029200" y="1691640"/>
            <a:ext cx="914400" cy="237744"/>
          </a:xfrm>
          <a:prstGeom prst="rect">
            <a:avLst/>
          </a:prstGeom>
          <a:noFill/>
          <a:ln/>
        </p:spPr>
        <p:txBody>
          <a:bodyPr wrap="square" rtlCol="0" anchor="ctr"/>
          <a:lstStyle/>
          <a:p>
            <a:pPr algn="ctr" indent="0" marL="0">
              <a:buNone/>
            </a:pPr>
            <a:r>
              <a:rPr lang="en-US" sz="700" b="1" dirty="0">
                <a:solidFill>
                  <a:srgbClr val="475569"/>
                </a:solidFill>
                <a:latin typeface="Segoe UI" pitchFamily="34" charset="0"/>
                <a:ea typeface="Segoe UI" pitchFamily="34" charset="-122"/>
                <a:cs typeface="Segoe UI" pitchFamily="34" charset="-120"/>
              </a:rPr>
              <a:t>Sắp xếp: Mới nhất ▾</a:t>
            </a:r>
            <a:endParaRPr lang="en-US" sz="700" dirty="0"/>
          </a:p>
        </p:txBody>
      </p:sp>
      <p:sp>
        <p:nvSpPr>
          <p:cNvPr id="22" name="Text 18"/>
          <p:cNvSpPr/>
          <p:nvPr/>
        </p:nvSpPr>
        <p:spPr>
          <a:xfrm>
            <a:off x="914400" y="2057400"/>
            <a:ext cx="164592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LIÊN HỆ</a:t>
            </a:r>
            <a:endParaRPr lang="en-US" sz="720" dirty="0"/>
          </a:p>
        </p:txBody>
      </p:sp>
      <p:sp>
        <p:nvSpPr>
          <p:cNvPr id="23" name="Text 19"/>
          <p:cNvSpPr/>
          <p:nvPr/>
        </p:nvSpPr>
        <p:spPr>
          <a:xfrm>
            <a:off x="2560320" y="2057400"/>
            <a:ext cx="201168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LIÊN LẠC</a:t>
            </a:r>
            <a:endParaRPr lang="en-US" sz="720" dirty="0"/>
          </a:p>
        </p:txBody>
      </p:sp>
      <p:sp>
        <p:nvSpPr>
          <p:cNvPr id="24" name="Text 20"/>
          <p:cNvSpPr/>
          <p:nvPr/>
        </p:nvSpPr>
        <p:spPr>
          <a:xfrm>
            <a:off x="4572000" y="2057400"/>
            <a:ext cx="128016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TRẠNG THÁI</a:t>
            </a:r>
            <a:endParaRPr lang="en-US" sz="720" dirty="0"/>
          </a:p>
        </p:txBody>
      </p:sp>
      <p:sp>
        <p:nvSpPr>
          <p:cNvPr id="25" name="Text 21"/>
          <p:cNvSpPr/>
          <p:nvPr/>
        </p:nvSpPr>
        <p:spPr>
          <a:xfrm>
            <a:off x="5852160" y="2057400"/>
            <a:ext cx="164592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SALE PHỤ TRÁCH</a:t>
            </a:r>
            <a:endParaRPr lang="en-US" sz="720" dirty="0"/>
          </a:p>
        </p:txBody>
      </p:sp>
      <p:sp>
        <p:nvSpPr>
          <p:cNvPr id="26" name="Text 22"/>
          <p:cNvSpPr/>
          <p:nvPr/>
        </p:nvSpPr>
        <p:spPr>
          <a:xfrm>
            <a:off x="7498080" y="2057400"/>
            <a:ext cx="1280160" cy="182880"/>
          </a:xfrm>
          <a:prstGeom prst="rect">
            <a:avLst/>
          </a:prstGeom>
          <a:noFill/>
          <a:ln/>
        </p:spPr>
        <p:txBody>
          <a:bodyPr wrap="square" rtlCol="0" anchor="ctr"/>
          <a:lstStyle/>
          <a:p>
            <a:pPr indent="0" marL="0">
              <a:buNone/>
            </a:pPr>
            <a:r>
              <a:rPr lang="en-US" sz="720" b="1" dirty="0">
                <a:solidFill>
                  <a:srgbClr val="94A3B8"/>
                </a:solidFill>
                <a:latin typeface="Segoe UI" pitchFamily="34" charset="0"/>
                <a:ea typeface="Segoe UI" pitchFamily="34" charset="-122"/>
                <a:cs typeface="Segoe UI" pitchFamily="34" charset="-120"/>
              </a:rPr>
              <a:t>NGÀY TẠO</a:t>
            </a:r>
            <a:endParaRPr lang="en-US" sz="720" dirty="0"/>
          </a:p>
        </p:txBody>
      </p:sp>
      <p:sp>
        <p:nvSpPr>
          <p:cNvPr id="27" name="Shape 23"/>
          <p:cNvSpPr/>
          <p:nvPr/>
        </p:nvSpPr>
        <p:spPr>
          <a:xfrm>
            <a:off x="914400" y="2286000"/>
            <a:ext cx="4754880" cy="0"/>
          </a:xfrm>
          <a:prstGeom prst="line">
            <a:avLst/>
          </a:prstGeom>
          <a:noFill/>
          <a:ln w="6350">
            <a:solidFill>
              <a:srgbClr val="E2E8F0"/>
            </a:solidFill>
            <a:prstDash val="solid"/>
          </a:ln>
        </p:spPr>
      </p:sp>
      <p:sp>
        <p:nvSpPr>
          <p:cNvPr id="28" name="Shape 24"/>
          <p:cNvSpPr/>
          <p:nvPr/>
        </p:nvSpPr>
        <p:spPr>
          <a:xfrm>
            <a:off x="914400" y="2359152"/>
            <a:ext cx="228600" cy="228600"/>
          </a:xfrm>
          <a:prstGeom prst="ellipse">
            <a:avLst/>
          </a:prstGeom>
          <a:solidFill>
            <a:srgbClr val="FBCFE8"/>
          </a:solidFill>
          <a:ln w="6350">
            <a:solidFill>
              <a:srgbClr val="FFFFFF"/>
            </a:solidFill>
            <a:prstDash val="solid"/>
          </a:ln>
        </p:spPr>
      </p:sp>
      <p:sp>
        <p:nvSpPr>
          <p:cNvPr id="29" name="Text 25"/>
          <p:cNvSpPr/>
          <p:nvPr/>
        </p:nvSpPr>
        <p:spPr>
          <a:xfrm>
            <a:off x="914400" y="2359152"/>
            <a:ext cx="228600" cy="22860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HP</a:t>
            </a:r>
            <a:endParaRPr lang="en-US" sz="720" dirty="0"/>
          </a:p>
        </p:txBody>
      </p:sp>
      <p:sp>
        <p:nvSpPr>
          <p:cNvPr id="30" name="Text 26"/>
          <p:cNvSpPr/>
          <p:nvPr/>
        </p:nvSpPr>
        <p:spPr>
          <a:xfrm>
            <a:off x="1234440" y="2359152"/>
            <a:ext cx="1325880" cy="22860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Huỳnh Trọng Phúc</a:t>
            </a:r>
            <a:endParaRPr lang="en-US" sz="800" dirty="0"/>
          </a:p>
        </p:txBody>
      </p:sp>
      <p:sp>
        <p:nvSpPr>
          <p:cNvPr id="31" name="Text 27"/>
          <p:cNvSpPr/>
          <p:nvPr/>
        </p:nvSpPr>
        <p:spPr>
          <a:xfrm>
            <a:off x="2560320" y="2359152"/>
            <a:ext cx="201168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0985741256</a:t>
            </a:r>
            <a:endParaRPr lang="en-US" sz="800" dirty="0"/>
          </a:p>
        </p:txBody>
      </p:sp>
      <p:sp>
        <p:nvSpPr>
          <p:cNvPr id="32" name="Text 28"/>
          <p:cNvSpPr/>
          <p:nvPr/>
        </p:nvSpPr>
        <p:spPr>
          <a:xfrm>
            <a:off x="2560320" y="2496312"/>
            <a:ext cx="2011680" cy="137160"/>
          </a:xfrm>
          <a:prstGeom prst="rect">
            <a:avLst/>
          </a:prstGeom>
          <a:noFill/>
          <a:ln/>
        </p:spPr>
        <p:txBody>
          <a:bodyPr wrap="square" rtlCol="0" anchor="ctr"/>
          <a:lstStyle/>
          <a:p>
            <a:pPr indent="0" marL="0">
              <a:buNone/>
            </a:pPr>
            <a:r>
              <a:rPr lang="en-US" sz="700" dirty="0">
                <a:solidFill>
                  <a:srgbClr val="475569"/>
                </a:solidFill>
                <a:latin typeface="Segoe UI" pitchFamily="34" charset="0"/>
                <a:ea typeface="Segoe UI" pitchFamily="34" charset="-122"/>
                <a:cs typeface="Segoe UI" pitchFamily="34" charset="-120"/>
              </a:rPr>
              <a:t>turniodev@gmail.com</a:t>
            </a:r>
            <a:endParaRPr lang="en-US" sz="700" dirty="0"/>
          </a:p>
        </p:txBody>
      </p:sp>
      <p:sp>
        <p:nvSpPr>
          <p:cNvPr id="33" name="Shape 29"/>
          <p:cNvSpPr/>
          <p:nvPr/>
        </p:nvSpPr>
        <p:spPr>
          <a:xfrm>
            <a:off x="4572000" y="2404872"/>
            <a:ext cx="731520" cy="182880"/>
          </a:xfrm>
          <a:prstGeom prst="roundRect">
            <a:avLst>
              <a:gd name="adj" fmla="val 250000"/>
            </a:avLst>
          </a:prstGeom>
          <a:solidFill>
            <a:srgbClr val="EFF6FF"/>
          </a:solidFill>
          <a:ln/>
        </p:spPr>
      </p:sp>
      <p:sp>
        <p:nvSpPr>
          <p:cNvPr id="34" name="Text 30"/>
          <p:cNvSpPr/>
          <p:nvPr/>
        </p:nvSpPr>
        <p:spPr>
          <a:xfrm>
            <a:off x="4572000" y="2404872"/>
            <a:ext cx="731520" cy="182880"/>
          </a:xfrm>
          <a:prstGeom prst="rect">
            <a:avLst/>
          </a:prstGeom>
          <a:noFill/>
          <a:ln/>
        </p:spPr>
        <p:txBody>
          <a:bodyPr wrap="square" rtlCol="0" anchor="ctr"/>
          <a:lstStyle/>
          <a:p>
            <a:pPr algn="ctr" indent="0" marL="0">
              <a:buNone/>
            </a:pPr>
            <a:r>
              <a:rPr lang="en-US" sz="720" b="1" dirty="0">
                <a:solidFill>
                  <a:srgbClr val="1D4ED8"/>
                </a:solidFill>
                <a:latin typeface="Segoe UI" pitchFamily="34" charset="0"/>
                <a:ea typeface="Segoe UI" pitchFamily="34" charset="-122"/>
                <a:cs typeface="Segoe UI" pitchFamily="34" charset="-120"/>
              </a:rPr>
              <a:t>Lead mới</a:t>
            </a:r>
            <a:endParaRPr lang="en-US" sz="720" dirty="0"/>
          </a:p>
        </p:txBody>
      </p:sp>
      <p:sp>
        <p:nvSpPr>
          <p:cNvPr id="35" name="Text 31"/>
          <p:cNvSpPr/>
          <p:nvPr/>
        </p:nvSpPr>
        <p:spPr>
          <a:xfrm>
            <a:off x="5852160" y="2359152"/>
            <a:ext cx="164592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Nguyễn Hải Đăng</a:t>
            </a:r>
            <a:endParaRPr lang="en-US" sz="800" dirty="0"/>
          </a:p>
        </p:txBody>
      </p:sp>
      <p:sp>
        <p:nvSpPr>
          <p:cNvPr id="36" name="Text 32"/>
          <p:cNvSpPr/>
          <p:nvPr/>
        </p:nvSpPr>
        <p:spPr>
          <a:xfrm>
            <a:off x="5852160" y="2496312"/>
            <a:ext cx="1645920" cy="137160"/>
          </a:xfrm>
          <a:prstGeom prst="rect">
            <a:avLst/>
          </a:prstGeom>
          <a:noFill/>
          <a:ln/>
        </p:spPr>
        <p:txBody>
          <a:bodyPr wrap="square" rtlCol="0" anchor="ctr"/>
          <a:lstStyle/>
          <a:p>
            <a:pPr indent="0" marL="0">
              <a:buNone/>
            </a:pPr>
            <a:r>
              <a:rPr lang="en-US" sz="680" dirty="0">
                <a:solidFill>
                  <a:srgbClr val="94A3B8"/>
                </a:solidFill>
                <a:latin typeface="Segoe UI" pitchFamily="34" charset="0"/>
                <a:ea typeface="Segoe UI" pitchFamily="34" charset="-122"/>
                <a:cs typeface="Segoe UI" pitchFamily="34" charset="-120"/>
              </a:rPr>
              <a:t>Tương tác: Vài ngày trước</a:t>
            </a:r>
            <a:endParaRPr lang="en-US" sz="680" dirty="0"/>
          </a:p>
        </p:txBody>
      </p:sp>
      <p:sp>
        <p:nvSpPr>
          <p:cNvPr id="37" name="Text 33"/>
          <p:cNvSpPr/>
          <p:nvPr/>
        </p:nvSpPr>
        <p:spPr>
          <a:xfrm>
            <a:off x="7498080" y="2359152"/>
            <a:ext cx="1280160" cy="22860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2026-07-24 16:00:03</a:t>
            </a:r>
            <a:endParaRPr lang="en-US" sz="750" dirty="0"/>
          </a:p>
        </p:txBody>
      </p:sp>
      <p:sp>
        <p:nvSpPr>
          <p:cNvPr id="38" name="Shape 34"/>
          <p:cNvSpPr/>
          <p:nvPr/>
        </p:nvSpPr>
        <p:spPr>
          <a:xfrm>
            <a:off x="914400" y="2823210"/>
            <a:ext cx="4754880" cy="0"/>
          </a:xfrm>
          <a:prstGeom prst="line">
            <a:avLst/>
          </a:prstGeom>
          <a:noFill/>
          <a:ln w="6350">
            <a:solidFill>
              <a:srgbClr val="E2E8F0"/>
            </a:solidFill>
            <a:prstDash val="solid"/>
          </a:ln>
        </p:spPr>
      </p:sp>
      <p:sp>
        <p:nvSpPr>
          <p:cNvPr id="39" name="Shape 35"/>
          <p:cNvSpPr/>
          <p:nvPr/>
        </p:nvSpPr>
        <p:spPr>
          <a:xfrm>
            <a:off x="914400" y="2896362"/>
            <a:ext cx="228600" cy="228600"/>
          </a:xfrm>
          <a:prstGeom prst="ellipse">
            <a:avLst/>
          </a:prstGeom>
          <a:solidFill>
            <a:srgbClr val="FEE2E2"/>
          </a:solidFill>
          <a:ln w="6350">
            <a:solidFill>
              <a:srgbClr val="FFFFFF"/>
            </a:solidFill>
            <a:prstDash val="solid"/>
          </a:ln>
        </p:spPr>
      </p:sp>
      <p:sp>
        <p:nvSpPr>
          <p:cNvPr id="40" name="Text 36"/>
          <p:cNvSpPr/>
          <p:nvPr/>
        </p:nvSpPr>
        <p:spPr>
          <a:xfrm>
            <a:off x="914400" y="2896362"/>
            <a:ext cx="228600" cy="22860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VN</a:t>
            </a:r>
            <a:endParaRPr lang="en-US" sz="720" dirty="0"/>
          </a:p>
        </p:txBody>
      </p:sp>
      <p:sp>
        <p:nvSpPr>
          <p:cNvPr id="41" name="Text 37"/>
          <p:cNvSpPr/>
          <p:nvPr/>
        </p:nvSpPr>
        <p:spPr>
          <a:xfrm>
            <a:off x="1234440" y="2896362"/>
            <a:ext cx="1325880" cy="22860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Võ Hoàng Nam</a:t>
            </a:r>
            <a:endParaRPr lang="en-US" sz="800" dirty="0"/>
          </a:p>
        </p:txBody>
      </p:sp>
      <p:sp>
        <p:nvSpPr>
          <p:cNvPr id="42" name="Text 38"/>
          <p:cNvSpPr/>
          <p:nvPr/>
        </p:nvSpPr>
        <p:spPr>
          <a:xfrm>
            <a:off x="2560320" y="2896362"/>
            <a:ext cx="201168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0978123456</a:t>
            </a:r>
            <a:endParaRPr lang="en-US" sz="800" dirty="0"/>
          </a:p>
        </p:txBody>
      </p:sp>
      <p:sp>
        <p:nvSpPr>
          <p:cNvPr id="43" name="Text 39"/>
          <p:cNvSpPr/>
          <p:nvPr/>
        </p:nvSpPr>
        <p:spPr>
          <a:xfrm>
            <a:off x="2560320" y="3033522"/>
            <a:ext cx="2011680" cy="137160"/>
          </a:xfrm>
          <a:prstGeom prst="rect">
            <a:avLst/>
          </a:prstGeom>
          <a:noFill/>
          <a:ln/>
        </p:spPr>
        <p:txBody>
          <a:bodyPr wrap="square" rtlCol="0" anchor="ctr"/>
          <a:lstStyle/>
          <a:p>
            <a:pPr indent="0" marL="0">
              <a:buNone/>
            </a:pPr>
            <a:r>
              <a:rPr lang="en-US" sz="700" dirty="0">
                <a:solidFill>
                  <a:srgbClr val="475569"/>
                </a:solidFill>
                <a:latin typeface="Segoe UI" pitchFamily="34" charset="0"/>
                <a:ea typeface="Segoe UI" pitchFamily="34" charset="-122"/>
                <a:cs typeface="Segoe UI" pitchFamily="34" charset="-120"/>
              </a:rPr>
              <a:t>hoangnam.v@gmail.com</a:t>
            </a:r>
            <a:endParaRPr lang="en-US" sz="700" dirty="0"/>
          </a:p>
        </p:txBody>
      </p:sp>
      <p:sp>
        <p:nvSpPr>
          <p:cNvPr id="44" name="Shape 40"/>
          <p:cNvSpPr/>
          <p:nvPr/>
        </p:nvSpPr>
        <p:spPr>
          <a:xfrm>
            <a:off x="4572000" y="2942082"/>
            <a:ext cx="731520" cy="182880"/>
          </a:xfrm>
          <a:prstGeom prst="roundRect">
            <a:avLst>
              <a:gd name="adj" fmla="val 250000"/>
            </a:avLst>
          </a:prstGeom>
          <a:solidFill>
            <a:srgbClr val="EFF6FF"/>
          </a:solidFill>
          <a:ln/>
        </p:spPr>
      </p:sp>
      <p:sp>
        <p:nvSpPr>
          <p:cNvPr id="45" name="Text 41"/>
          <p:cNvSpPr/>
          <p:nvPr/>
        </p:nvSpPr>
        <p:spPr>
          <a:xfrm>
            <a:off x="4572000" y="2942082"/>
            <a:ext cx="731520" cy="182880"/>
          </a:xfrm>
          <a:prstGeom prst="rect">
            <a:avLst/>
          </a:prstGeom>
          <a:noFill/>
          <a:ln/>
        </p:spPr>
        <p:txBody>
          <a:bodyPr wrap="square" rtlCol="0" anchor="ctr"/>
          <a:lstStyle/>
          <a:p>
            <a:pPr algn="ctr" indent="0" marL="0">
              <a:buNone/>
            </a:pPr>
            <a:r>
              <a:rPr lang="en-US" sz="720" b="1" dirty="0">
                <a:solidFill>
                  <a:srgbClr val="1D4ED8"/>
                </a:solidFill>
                <a:latin typeface="Segoe UI" pitchFamily="34" charset="0"/>
                <a:ea typeface="Segoe UI" pitchFamily="34" charset="-122"/>
                <a:cs typeface="Segoe UI" pitchFamily="34" charset="-120"/>
              </a:rPr>
              <a:t>Lead mới</a:t>
            </a:r>
            <a:endParaRPr lang="en-US" sz="720" dirty="0"/>
          </a:p>
        </p:txBody>
      </p:sp>
      <p:sp>
        <p:nvSpPr>
          <p:cNvPr id="46" name="Text 42"/>
          <p:cNvSpPr/>
          <p:nvPr/>
        </p:nvSpPr>
        <p:spPr>
          <a:xfrm>
            <a:off x="5852160" y="2896362"/>
            <a:ext cx="164592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Đinh Thanh</a:t>
            </a:r>
            <a:endParaRPr lang="en-US" sz="800" dirty="0"/>
          </a:p>
        </p:txBody>
      </p:sp>
      <p:sp>
        <p:nvSpPr>
          <p:cNvPr id="47" name="Text 43"/>
          <p:cNvSpPr/>
          <p:nvPr/>
        </p:nvSpPr>
        <p:spPr>
          <a:xfrm>
            <a:off x="5852160" y="3033522"/>
            <a:ext cx="1645920" cy="137160"/>
          </a:xfrm>
          <a:prstGeom prst="rect">
            <a:avLst/>
          </a:prstGeom>
          <a:noFill/>
          <a:ln/>
        </p:spPr>
        <p:txBody>
          <a:bodyPr wrap="square" rtlCol="0" anchor="ctr"/>
          <a:lstStyle/>
          <a:p>
            <a:pPr indent="0" marL="0">
              <a:buNone/>
            </a:pPr>
            <a:r>
              <a:rPr lang="en-US" sz="680" dirty="0">
                <a:solidFill>
                  <a:srgbClr val="94A3B8"/>
                </a:solidFill>
                <a:latin typeface="Segoe UI" pitchFamily="34" charset="0"/>
                <a:ea typeface="Segoe UI" pitchFamily="34" charset="-122"/>
                <a:cs typeface="Segoe UI" pitchFamily="34" charset="-120"/>
              </a:rPr>
              <a:t>Tương tác: Vài ngày trước</a:t>
            </a:r>
            <a:endParaRPr lang="en-US" sz="680" dirty="0"/>
          </a:p>
        </p:txBody>
      </p:sp>
      <p:sp>
        <p:nvSpPr>
          <p:cNvPr id="48" name="Text 44"/>
          <p:cNvSpPr/>
          <p:nvPr/>
        </p:nvSpPr>
        <p:spPr>
          <a:xfrm>
            <a:off x="7498080" y="2896362"/>
            <a:ext cx="1280160" cy="22860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2026-07-23 11:08:24</a:t>
            </a:r>
            <a:endParaRPr lang="en-US" sz="750" dirty="0"/>
          </a:p>
        </p:txBody>
      </p:sp>
      <p:sp>
        <p:nvSpPr>
          <p:cNvPr id="49" name="Shape 45"/>
          <p:cNvSpPr/>
          <p:nvPr/>
        </p:nvSpPr>
        <p:spPr>
          <a:xfrm>
            <a:off x="914400" y="3360420"/>
            <a:ext cx="4754880" cy="0"/>
          </a:xfrm>
          <a:prstGeom prst="line">
            <a:avLst/>
          </a:prstGeom>
          <a:noFill/>
          <a:ln w="6350">
            <a:solidFill>
              <a:srgbClr val="E2E8F0"/>
            </a:solidFill>
            <a:prstDash val="solid"/>
          </a:ln>
        </p:spPr>
      </p:sp>
      <p:sp>
        <p:nvSpPr>
          <p:cNvPr id="50" name="Shape 46"/>
          <p:cNvSpPr/>
          <p:nvPr/>
        </p:nvSpPr>
        <p:spPr>
          <a:xfrm>
            <a:off x="914400" y="3433572"/>
            <a:ext cx="228600" cy="228600"/>
          </a:xfrm>
          <a:prstGeom prst="ellipse">
            <a:avLst/>
          </a:prstGeom>
          <a:solidFill>
            <a:srgbClr val="D1FAE5"/>
          </a:solidFill>
          <a:ln w="6350">
            <a:solidFill>
              <a:srgbClr val="FFFFFF"/>
            </a:solidFill>
            <a:prstDash val="solid"/>
          </a:ln>
        </p:spPr>
      </p:sp>
      <p:sp>
        <p:nvSpPr>
          <p:cNvPr id="51" name="Text 47"/>
          <p:cNvSpPr/>
          <p:nvPr/>
        </p:nvSpPr>
        <p:spPr>
          <a:xfrm>
            <a:off x="914400" y="3433572"/>
            <a:ext cx="228600" cy="22860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PH</a:t>
            </a:r>
            <a:endParaRPr lang="en-US" sz="720" dirty="0"/>
          </a:p>
        </p:txBody>
      </p:sp>
      <p:sp>
        <p:nvSpPr>
          <p:cNvPr id="52" name="Text 48"/>
          <p:cNvSpPr/>
          <p:nvPr/>
        </p:nvSpPr>
        <p:spPr>
          <a:xfrm>
            <a:off x="1234440" y="3433572"/>
            <a:ext cx="1325880" cy="22860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Phạm Thu Hà</a:t>
            </a:r>
            <a:endParaRPr lang="en-US" sz="800" dirty="0"/>
          </a:p>
        </p:txBody>
      </p:sp>
      <p:sp>
        <p:nvSpPr>
          <p:cNvPr id="53" name="Text 49"/>
          <p:cNvSpPr/>
          <p:nvPr/>
        </p:nvSpPr>
        <p:spPr>
          <a:xfrm>
            <a:off x="2560320" y="3433572"/>
            <a:ext cx="201168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0901122334</a:t>
            </a:r>
            <a:endParaRPr lang="en-US" sz="800" dirty="0"/>
          </a:p>
        </p:txBody>
      </p:sp>
      <p:sp>
        <p:nvSpPr>
          <p:cNvPr id="54" name="Text 50"/>
          <p:cNvSpPr/>
          <p:nvPr/>
        </p:nvSpPr>
        <p:spPr>
          <a:xfrm>
            <a:off x="2560320" y="3570732"/>
            <a:ext cx="2011680" cy="137160"/>
          </a:xfrm>
          <a:prstGeom prst="rect">
            <a:avLst/>
          </a:prstGeom>
          <a:noFill/>
          <a:ln/>
        </p:spPr>
        <p:txBody>
          <a:bodyPr wrap="square" rtlCol="0" anchor="ctr"/>
          <a:lstStyle/>
          <a:p>
            <a:pPr indent="0" marL="0">
              <a:buNone/>
            </a:pPr>
            <a:r>
              <a:rPr lang="en-US" sz="700" dirty="0">
                <a:solidFill>
                  <a:srgbClr val="475569"/>
                </a:solidFill>
                <a:latin typeface="Segoe UI" pitchFamily="34" charset="0"/>
                <a:ea typeface="Segoe UI" pitchFamily="34" charset="-122"/>
                <a:cs typeface="Segoe UI" pitchFamily="34" charset="-120"/>
              </a:rPr>
              <a:t>thuha.work@gmail.com</a:t>
            </a:r>
            <a:endParaRPr lang="en-US" sz="700" dirty="0"/>
          </a:p>
        </p:txBody>
      </p:sp>
      <p:sp>
        <p:nvSpPr>
          <p:cNvPr id="55" name="Shape 51"/>
          <p:cNvSpPr/>
          <p:nvPr/>
        </p:nvSpPr>
        <p:spPr>
          <a:xfrm>
            <a:off x="4572000" y="3479292"/>
            <a:ext cx="731520" cy="182880"/>
          </a:xfrm>
          <a:prstGeom prst="roundRect">
            <a:avLst>
              <a:gd name="adj" fmla="val 250000"/>
            </a:avLst>
          </a:prstGeom>
          <a:solidFill>
            <a:srgbClr val="EFF6FF"/>
          </a:solidFill>
          <a:ln/>
        </p:spPr>
      </p:sp>
      <p:sp>
        <p:nvSpPr>
          <p:cNvPr id="56" name="Text 52"/>
          <p:cNvSpPr/>
          <p:nvPr/>
        </p:nvSpPr>
        <p:spPr>
          <a:xfrm>
            <a:off x="4572000" y="3479292"/>
            <a:ext cx="731520" cy="182880"/>
          </a:xfrm>
          <a:prstGeom prst="rect">
            <a:avLst/>
          </a:prstGeom>
          <a:noFill/>
          <a:ln/>
        </p:spPr>
        <p:txBody>
          <a:bodyPr wrap="square" rtlCol="0" anchor="ctr"/>
          <a:lstStyle/>
          <a:p>
            <a:pPr algn="ctr" indent="0" marL="0">
              <a:buNone/>
            </a:pPr>
            <a:r>
              <a:rPr lang="en-US" sz="720" b="1" dirty="0">
                <a:solidFill>
                  <a:srgbClr val="1D4ED8"/>
                </a:solidFill>
                <a:latin typeface="Segoe UI" pitchFamily="34" charset="0"/>
                <a:ea typeface="Segoe UI" pitchFamily="34" charset="-122"/>
                <a:cs typeface="Segoe UI" pitchFamily="34" charset="-120"/>
              </a:rPr>
              <a:t>Lead mới</a:t>
            </a:r>
            <a:endParaRPr lang="en-US" sz="720" dirty="0"/>
          </a:p>
        </p:txBody>
      </p:sp>
      <p:sp>
        <p:nvSpPr>
          <p:cNvPr id="57" name="Text 53"/>
          <p:cNvSpPr/>
          <p:nvPr/>
        </p:nvSpPr>
        <p:spPr>
          <a:xfrm>
            <a:off x="5852160" y="3433572"/>
            <a:ext cx="164592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Đinh Thanh</a:t>
            </a:r>
            <a:endParaRPr lang="en-US" sz="800" dirty="0"/>
          </a:p>
        </p:txBody>
      </p:sp>
      <p:sp>
        <p:nvSpPr>
          <p:cNvPr id="58" name="Text 54"/>
          <p:cNvSpPr/>
          <p:nvPr/>
        </p:nvSpPr>
        <p:spPr>
          <a:xfrm>
            <a:off x="5852160" y="3570732"/>
            <a:ext cx="1645920" cy="137160"/>
          </a:xfrm>
          <a:prstGeom prst="rect">
            <a:avLst/>
          </a:prstGeom>
          <a:noFill/>
          <a:ln/>
        </p:spPr>
        <p:txBody>
          <a:bodyPr wrap="square" rtlCol="0" anchor="ctr"/>
          <a:lstStyle/>
          <a:p>
            <a:pPr indent="0" marL="0">
              <a:buNone/>
            </a:pPr>
            <a:r>
              <a:rPr lang="en-US" sz="680" dirty="0">
                <a:solidFill>
                  <a:srgbClr val="94A3B8"/>
                </a:solidFill>
                <a:latin typeface="Segoe UI" pitchFamily="34" charset="0"/>
                <a:ea typeface="Segoe UI" pitchFamily="34" charset="-122"/>
                <a:cs typeface="Segoe UI" pitchFamily="34" charset="-120"/>
              </a:rPr>
              <a:t>Tương tác: Vài ngày trước</a:t>
            </a:r>
            <a:endParaRPr lang="en-US" sz="680" dirty="0"/>
          </a:p>
        </p:txBody>
      </p:sp>
      <p:sp>
        <p:nvSpPr>
          <p:cNvPr id="59" name="Text 55"/>
          <p:cNvSpPr/>
          <p:nvPr/>
        </p:nvSpPr>
        <p:spPr>
          <a:xfrm>
            <a:off x="7498080" y="3433572"/>
            <a:ext cx="1280160" cy="22860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2026-07-23 11:08:20</a:t>
            </a:r>
            <a:endParaRPr lang="en-US" sz="750" dirty="0"/>
          </a:p>
        </p:txBody>
      </p:sp>
      <p:sp>
        <p:nvSpPr>
          <p:cNvPr id="60" name="Shape 56"/>
          <p:cNvSpPr/>
          <p:nvPr/>
        </p:nvSpPr>
        <p:spPr>
          <a:xfrm>
            <a:off x="914400" y="3897630"/>
            <a:ext cx="4754880" cy="0"/>
          </a:xfrm>
          <a:prstGeom prst="line">
            <a:avLst/>
          </a:prstGeom>
          <a:noFill/>
          <a:ln w="6350">
            <a:solidFill>
              <a:srgbClr val="E2E8F0"/>
            </a:solidFill>
            <a:prstDash val="solid"/>
          </a:ln>
        </p:spPr>
      </p:sp>
      <p:sp>
        <p:nvSpPr>
          <p:cNvPr id="61" name="Shape 57"/>
          <p:cNvSpPr/>
          <p:nvPr/>
        </p:nvSpPr>
        <p:spPr>
          <a:xfrm>
            <a:off x="914400" y="3970782"/>
            <a:ext cx="228600" cy="228600"/>
          </a:xfrm>
          <a:prstGeom prst="ellipse">
            <a:avLst/>
          </a:prstGeom>
          <a:solidFill>
            <a:srgbClr val="DBEAFE"/>
          </a:solidFill>
          <a:ln w="6350">
            <a:solidFill>
              <a:srgbClr val="FFFFFF"/>
            </a:solidFill>
            <a:prstDash val="solid"/>
          </a:ln>
        </p:spPr>
      </p:sp>
      <p:sp>
        <p:nvSpPr>
          <p:cNvPr id="62" name="Text 58"/>
          <p:cNvSpPr/>
          <p:nvPr/>
        </p:nvSpPr>
        <p:spPr>
          <a:xfrm>
            <a:off x="914400" y="3970782"/>
            <a:ext cx="228600" cy="228600"/>
          </a:xfrm>
          <a:prstGeom prst="rect">
            <a:avLst/>
          </a:prstGeom>
          <a:noFill/>
          <a:ln/>
        </p:spPr>
        <p:txBody>
          <a:bodyPr wrap="square" rtlCol="0" anchor="ctr"/>
          <a:lstStyle/>
          <a:p>
            <a:pPr algn="ctr" indent="0" marL="0">
              <a:buNone/>
            </a:pPr>
            <a:r>
              <a:rPr lang="en-US" sz="720" b="1" dirty="0">
                <a:solidFill>
                  <a:srgbClr val="0F172A"/>
                </a:solidFill>
                <a:latin typeface="Segoe UI" pitchFamily="34" charset="0"/>
                <a:ea typeface="Segoe UI" pitchFamily="34" charset="-122"/>
                <a:cs typeface="Segoe UI" pitchFamily="34" charset="-120"/>
              </a:rPr>
              <a:t>LT</a:t>
            </a:r>
            <a:endParaRPr lang="en-US" sz="720" dirty="0"/>
          </a:p>
        </p:txBody>
      </p:sp>
      <p:sp>
        <p:nvSpPr>
          <p:cNvPr id="63" name="Text 59"/>
          <p:cNvSpPr/>
          <p:nvPr/>
        </p:nvSpPr>
        <p:spPr>
          <a:xfrm>
            <a:off x="1234440" y="3970782"/>
            <a:ext cx="1325880" cy="22860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Lê Thanh Tùng</a:t>
            </a:r>
            <a:endParaRPr lang="en-US" sz="800" dirty="0"/>
          </a:p>
        </p:txBody>
      </p:sp>
      <p:sp>
        <p:nvSpPr>
          <p:cNvPr id="64" name="Text 60"/>
          <p:cNvSpPr/>
          <p:nvPr/>
        </p:nvSpPr>
        <p:spPr>
          <a:xfrm>
            <a:off x="2560320" y="3970782"/>
            <a:ext cx="201168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0934567812</a:t>
            </a:r>
            <a:endParaRPr lang="en-US" sz="800" dirty="0"/>
          </a:p>
        </p:txBody>
      </p:sp>
      <p:sp>
        <p:nvSpPr>
          <p:cNvPr id="65" name="Text 61"/>
          <p:cNvSpPr/>
          <p:nvPr/>
        </p:nvSpPr>
        <p:spPr>
          <a:xfrm>
            <a:off x="2560320" y="4107942"/>
            <a:ext cx="2011680" cy="137160"/>
          </a:xfrm>
          <a:prstGeom prst="rect">
            <a:avLst/>
          </a:prstGeom>
          <a:noFill/>
          <a:ln/>
        </p:spPr>
        <p:txBody>
          <a:bodyPr wrap="square" rtlCol="0" anchor="ctr"/>
          <a:lstStyle/>
          <a:p>
            <a:pPr indent="0" marL="0">
              <a:buNone/>
            </a:pPr>
            <a:r>
              <a:rPr lang="en-US" sz="700" dirty="0">
                <a:solidFill>
                  <a:srgbClr val="475569"/>
                </a:solidFill>
                <a:latin typeface="Segoe UI" pitchFamily="34" charset="0"/>
                <a:ea typeface="Segoe UI" pitchFamily="34" charset="-122"/>
                <a:cs typeface="Segoe UI" pitchFamily="34" charset="-120"/>
              </a:rPr>
              <a:t>thanh.tung01@gmail.com</a:t>
            </a:r>
            <a:endParaRPr lang="en-US" sz="700" dirty="0"/>
          </a:p>
        </p:txBody>
      </p:sp>
      <p:sp>
        <p:nvSpPr>
          <p:cNvPr id="66" name="Shape 62"/>
          <p:cNvSpPr/>
          <p:nvPr/>
        </p:nvSpPr>
        <p:spPr>
          <a:xfrm>
            <a:off x="4572000" y="4016502"/>
            <a:ext cx="731520" cy="182880"/>
          </a:xfrm>
          <a:prstGeom prst="roundRect">
            <a:avLst>
              <a:gd name="adj" fmla="val 250000"/>
            </a:avLst>
          </a:prstGeom>
          <a:solidFill>
            <a:srgbClr val="EFF6FF"/>
          </a:solidFill>
          <a:ln/>
        </p:spPr>
      </p:sp>
      <p:sp>
        <p:nvSpPr>
          <p:cNvPr id="67" name="Text 63"/>
          <p:cNvSpPr/>
          <p:nvPr/>
        </p:nvSpPr>
        <p:spPr>
          <a:xfrm>
            <a:off x="4572000" y="4016502"/>
            <a:ext cx="731520" cy="182880"/>
          </a:xfrm>
          <a:prstGeom prst="rect">
            <a:avLst/>
          </a:prstGeom>
          <a:noFill/>
          <a:ln/>
        </p:spPr>
        <p:txBody>
          <a:bodyPr wrap="square" rtlCol="0" anchor="ctr"/>
          <a:lstStyle/>
          <a:p>
            <a:pPr algn="ctr" indent="0" marL="0">
              <a:buNone/>
            </a:pPr>
            <a:r>
              <a:rPr lang="en-US" sz="720" b="1" dirty="0">
                <a:solidFill>
                  <a:srgbClr val="1D4ED8"/>
                </a:solidFill>
                <a:latin typeface="Segoe UI" pitchFamily="34" charset="0"/>
                <a:ea typeface="Segoe UI" pitchFamily="34" charset="-122"/>
                <a:cs typeface="Segoe UI" pitchFamily="34" charset="-120"/>
              </a:rPr>
              <a:t>Lead mới</a:t>
            </a:r>
            <a:endParaRPr lang="en-US" sz="720" dirty="0"/>
          </a:p>
        </p:txBody>
      </p:sp>
      <p:sp>
        <p:nvSpPr>
          <p:cNvPr id="68" name="Text 64"/>
          <p:cNvSpPr/>
          <p:nvPr/>
        </p:nvSpPr>
        <p:spPr>
          <a:xfrm>
            <a:off x="5852160" y="3970782"/>
            <a:ext cx="1645920" cy="137160"/>
          </a:xfrm>
          <a:prstGeom prst="rect">
            <a:avLst/>
          </a:prstGeom>
          <a:noFill/>
          <a:ln/>
        </p:spPr>
        <p:txBody>
          <a:bodyPr wrap="square" rtlCol="0" anchor="ctr"/>
          <a:lstStyle/>
          <a:p>
            <a:pPr indent="0" marL="0">
              <a:buNone/>
            </a:pPr>
            <a:r>
              <a:rPr lang="en-US" sz="800" b="1" dirty="0">
                <a:solidFill>
                  <a:srgbClr val="0F172A"/>
                </a:solidFill>
                <a:latin typeface="Segoe UI" pitchFamily="34" charset="0"/>
                <a:ea typeface="Segoe UI" pitchFamily="34" charset="-122"/>
                <a:cs typeface="Segoe UI" pitchFamily="34" charset="-120"/>
              </a:rPr>
              <a:t>Đinh Thanh</a:t>
            </a:r>
            <a:endParaRPr lang="en-US" sz="800" dirty="0"/>
          </a:p>
        </p:txBody>
      </p:sp>
      <p:sp>
        <p:nvSpPr>
          <p:cNvPr id="69" name="Text 65"/>
          <p:cNvSpPr/>
          <p:nvPr/>
        </p:nvSpPr>
        <p:spPr>
          <a:xfrm>
            <a:off x="5852160" y="4107942"/>
            <a:ext cx="1645920" cy="137160"/>
          </a:xfrm>
          <a:prstGeom prst="rect">
            <a:avLst/>
          </a:prstGeom>
          <a:noFill/>
          <a:ln/>
        </p:spPr>
        <p:txBody>
          <a:bodyPr wrap="square" rtlCol="0" anchor="ctr"/>
          <a:lstStyle/>
          <a:p>
            <a:pPr indent="0" marL="0">
              <a:buNone/>
            </a:pPr>
            <a:r>
              <a:rPr lang="en-US" sz="680" dirty="0">
                <a:solidFill>
                  <a:srgbClr val="94A3B8"/>
                </a:solidFill>
                <a:latin typeface="Segoe UI" pitchFamily="34" charset="0"/>
                <a:ea typeface="Segoe UI" pitchFamily="34" charset="-122"/>
                <a:cs typeface="Segoe UI" pitchFamily="34" charset="-120"/>
              </a:rPr>
              <a:t>Tương tác: Vài ngày trước</a:t>
            </a:r>
            <a:endParaRPr lang="en-US" sz="680" dirty="0"/>
          </a:p>
        </p:txBody>
      </p:sp>
      <p:sp>
        <p:nvSpPr>
          <p:cNvPr id="70" name="Text 66"/>
          <p:cNvSpPr/>
          <p:nvPr/>
        </p:nvSpPr>
        <p:spPr>
          <a:xfrm>
            <a:off x="7498080" y="3970782"/>
            <a:ext cx="1280160" cy="228600"/>
          </a:xfrm>
          <a:prstGeom prst="rect">
            <a:avLst/>
          </a:prstGeom>
          <a:noFill/>
          <a:ln/>
        </p:spPr>
        <p:txBody>
          <a:bodyPr wrap="square" rtlCol="0" anchor="ctr"/>
          <a:lstStyle/>
          <a:p>
            <a:pPr indent="0" marL="0">
              <a:buNone/>
            </a:pPr>
            <a:r>
              <a:rPr lang="en-US" sz="750" dirty="0">
                <a:solidFill>
                  <a:srgbClr val="475569"/>
                </a:solidFill>
                <a:latin typeface="Segoe UI" pitchFamily="34" charset="0"/>
                <a:ea typeface="Segoe UI" pitchFamily="34" charset="-122"/>
                <a:cs typeface="Segoe UI" pitchFamily="34" charset="-120"/>
              </a:rPr>
              <a:t>2026-07-23 11:08:17</a:t>
            </a:r>
            <a:endParaRPr lang="en-US" sz="750" dirty="0"/>
          </a:p>
        </p:txBody>
      </p:sp>
      <p:sp>
        <p:nvSpPr>
          <p:cNvPr id="71" name="Shape 67"/>
          <p:cNvSpPr/>
          <p:nvPr/>
        </p:nvSpPr>
        <p:spPr>
          <a:xfrm>
            <a:off x="731520" y="1280160"/>
            <a:ext cx="5120640" cy="3291840"/>
          </a:xfrm>
          <a:prstGeom prst="rect">
            <a:avLst/>
          </a:prstGeom>
          <a:solidFill>
            <a:srgbClr val="000000">
              <a:alpha val="70000"/>
            </a:srgbClr>
          </a:solidFill>
          <a:ln/>
        </p:spPr>
      </p:sp>
      <p:sp>
        <p:nvSpPr>
          <p:cNvPr id="72" name="Shape 68"/>
          <p:cNvSpPr/>
          <p:nvPr/>
        </p:nvSpPr>
        <p:spPr>
          <a:xfrm>
            <a:off x="5852160" y="1280160"/>
            <a:ext cx="2926080" cy="3291840"/>
          </a:xfrm>
          <a:prstGeom prst="rect">
            <a:avLst/>
          </a:prstGeom>
          <a:solidFill>
            <a:srgbClr val="FFFFFF"/>
          </a:solidFill>
          <a:ln w="19050">
            <a:solidFill>
              <a:srgbClr val="E2E8F0"/>
            </a:solidFill>
            <a:prstDash val="solid"/>
          </a:ln>
        </p:spPr>
      </p:sp>
      <p:sp>
        <p:nvSpPr>
          <p:cNvPr id="73" name="Text 69"/>
          <p:cNvSpPr/>
          <p:nvPr/>
        </p:nvSpPr>
        <p:spPr>
          <a:xfrm>
            <a:off x="8046720" y="1417320"/>
            <a:ext cx="640080" cy="228600"/>
          </a:xfrm>
          <a:prstGeom prst="rect">
            <a:avLst/>
          </a:prstGeom>
          <a:noFill/>
          <a:ln/>
        </p:spPr>
        <p:txBody>
          <a:bodyPr wrap="square" rtlCol="0" anchor="ctr"/>
          <a:lstStyle/>
          <a:p>
            <a:pPr algn="r" indent="0" marL="0">
              <a:buNone/>
            </a:pPr>
            <a:r>
              <a:rPr lang="en-US" sz="850" b="1" dirty="0">
                <a:solidFill>
                  <a:srgbClr val="475569"/>
                </a:solidFill>
                <a:latin typeface="Segoe UI" pitchFamily="34" charset="0"/>
                <a:ea typeface="Segoe UI" pitchFamily="34" charset="-122"/>
                <a:cs typeface="Segoe UI" pitchFamily="34" charset="-120"/>
              </a:rPr>
              <a:t>✕ Close</a:t>
            </a:r>
            <a:endParaRPr lang="en-US" sz="850" dirty="0"/>
          </a:p>
        </p:txBody>
      </p:sp>
      <p:sp>
        <p:nvSpPr>
          <p:cNvPr id="74" name="Text 70"/>
          <p:cNvSpPr/>
          <p:nvPr/>
        </p:nvSpPr>
        <p:spPr>
          <a:xfrm>
            <a:off x="6080760" y="1417320"/>
            <a:ext cx="1371600" cy="228600"/>
          </a:xfrm>
          <a:prstGeom prst="rect">
            <a:avLst/>
          </a:prstGeom>
          <a:noFill/>
          <a:ln/>
        </p:spPr>
        <p:txBody>
          <a:bodyPr wrap="square" rtlCol="0" anchor="ctr"/>
          <a:lstStyle/>
          <a:p>
            <a:pPr indent="0" marL="0">
              <a:buNone/>
            </a:pPr>
            <a:r>
              <a:rPr lang="en-US" sz="800" b="1" dirty="0">
                <a:solidFill>
                  <a:srgbClr val="94A3B8"/>
                </a:solidFill>
                <a:latin typeface="Segoe UI" pitchFamily="34" charset="0"/>
                <a:ea typeface="Segoe UI" pitchFamily="34" charset="-122"/>
                <a:cs typeface="Segoe UI" pitchFamily="34" charset="-120"/>
              </a:rPr>
              <a:t>THÔNG TIN CHI TIẾT</a:t>
            </a:r>
            <a:endParaRPr lang="en-US" sz="800" dirty="0"/>
          </a:p>
        </p:txBody>
      </p:sp>
      <p:sp>
        <p:nvSpPr>
          <p:cNvPr id="75" name="Text 71"/>
          <p:cNvSpPr/>
          <p:nvPr/>
        </p:nvSpPr>
        <p:spPr>
          <a:xfrm>
            <a:off x="6080760" y="1691640"/>
            <a:ext cx="2468880" cy="274320"/>
          </a:xfrm>
          <a:prstGeom prst="rect">
            <a:avLst/>
          </a:prstGeom>
          <a:noFill/>
          <a:ln/>
        </p:spPr>
        <p:txBody>
          <a:bodyPr wrap="square" rtlCol="0" anchor="ctr"/>
          <a:lstStyle/>
          <a:p>
            <a:pPr indent="0" marL="0">
              <a:buNone/>
            </a:pPr>
            <a:r>
              <a:rPr lang="en-US" sz="1300" b="1" dirty="0">
                <a:solidFill>
                  <a:srgbClr val="0F172A"/>
                </a:solidFill>
                <a:latin typeface="Segoe UI" pitchFamily="34" charset="0"/>
                <a:ea typeface="Segoe UI" pitchFamily="34" charset="-122"/>
                <a:cs typeface="Segoe UI" pitchFamily="34" charset="-120"/>
              </a:rPr>
              <a:t>Huỳnh Trọng Phúc</a:t>
            </a:r>
            <a:endParaRPr lang="en-US" sz="1300" dirty="0"/>
          </a:p>
        </p:txBody>
      </p:sp>
      <p:sp>
        <p:nvSpPr>
          <p:cNvPr id="76" name="Text 72"/>
          <p:cNvSpPr/>
          <p:nvPr/>
        </p:nvSpPr>
        <p:spPr>
          <a:xfrm>
            <a:off x="6080760" y="1965960"/>
            <a:ext cx="2468880" cy="182880"/>
          </a:xfrm>
          <a:prstGeom prst="rect">
            <a:avLst/>
          </a:prstGeom>
          <a:noFill/>
          <a:ln/>
        </p:spPr>
        <p:txBody>
          <a:bodyPr wrap="square" rtlCol="0" anchor="ctr"/>
          <a:lstStyle/>
          <a:p>
            <a:pPr indent="0" marL="0">
              <a:buNone/>
            </a:pPr>
            <a:r>
              <a:rPr lang="en-US" sz="780" dirty="0">
                <a:solidFill>
                  <a:srgbClr val="475569"/>
                </a:solidFill>
                <a:latin typeface="Segoe UI" pitchFamily="34" charset="0"/>
                <a:ea typeface="Segoe UI" pitchFamily="34" charset="-122"/>
                <a:cs typeface="Segoe UI" pitchFamily="34" charset="-120"/>
              </a:rPr>
              <a:t>0985741256  |  turniodev@gmail.com</a:t>
            </a:r>
            <a:endParaRPr lang="en-US" sz="780" dirty="0"/>
          </a:p>
        </p:txBody>
      </p:sp>
      <p:sp>
        <p:nvSpPr>
          <p:cNvPr id="77" name="Shape 73"/>
          <p:cNvSpPr/>
          <p:nvPr/>
        </p:nvSpPr>
        <p:spPr>
          <a:xfrm>
            <a:off x="6080760" y="2240280"/>
            <a:ext cx="822960" cy="201168"/>
          </a:xfrm>
          <a:prstGeom prst="roundRect">
            <a:avLst>
              <a:gd name="adj" fmla="val 227273"/>
            </a:avLst>
          </a:prstGeom>
          <a:solidFill>
            <a:srgbClr val="EFF6FF"/>
          </a:solidFill>
          <a:ln/>
        </p:spPr>
      </p:sp>
      <p:sp>
        <p:nvSpPr>
          <p:cNvPr id="78" name="Text 74"/>
          <p:cNvSpPr/>
          <p:nvPr/>
        </p:nvSpPr>
        <p:spPr>
          <a:xfrm>
            <a:off x="6080760" y="2240280"/>
            <a:ext cx="822960" cy="201168"/>
          </a:xfrm>
          <a:prstGeom prst="rect">
            <a:avLst/>
          </a:prstGeom>
          <a:noFill/>
          <a:ln/>
        </p:spPr>
        <p:txBody>
          <a:bodyPr wrap="square" rtlCol="0" anchor="ctr"/>
          <a:lstStyle/>
          <a:p>
            <a:pPr algn="ctr" indent="0" marL="0">
              <a:buNone/>
            </a:pPr>
            <a:r>
              <a:rPr lang="en-US" sz="750" b="1" dirty="0">
                <a:solidFill>
                  <a:srgbClr val="1D4ED8"/>
                </a:solidFill>
                <a:latin typeface="Segoe UI" pitchFamily="34" charset="0"/>
                <a:ea typeface="Segoe UI" pitchFamily="34" charset="-122"/>
                <a:cs typeface="Segoe UI" pitchFamily="34" charset="-120"/>
              </a:rPr>
              <a:t>Lead mới</a:t>
            </a:r>
            <a:endParaRPr lang="en-US" sz="750" dirty="0"/>
          </a:p>
        </p:txBody>
      </p:sp>
      <p:sp>
        <p:nvSpPr>
          <p:cNvPr id="79" name="Shape 75"/>
          <p:cNvSpPr/>
          <p:nvPr/>
        </p:nvSpPr>
        <p:spPr>
          <a:xfrm>
            <a:off x="6080760" y="2606040"/>
            <a:ext cx="2468880" cy="256032"/>
          </a:xfrm>
          <a:prstGeom prst="roundRect">
            <a:avLst>
              <a:gd name="adj" fmla="val 71429"/>
            </a:avLst>
          </a:prstGeom>
          <a:solidFill>
            <a:srgbClr val="D1FAE5"/>
          </a:solidFill>
          <a:ln/>
        </p:spPr>
      </p:sp>
      <p:sp>
        <p:nvSpPr>
          <p:cNvPr id="80" name="Text 76"/>
          <p:cNvSpPr/>
          <p:nvPr/>
        </p:nvSpPr>
        <p:spPr>
          <a:xfrm>
            <a:off x="6080760" y="2606040"/>
            <a:ext cx="2468880" cy="256032"/>
          </a:xfrm>
          <a:prstGeom prst="rect">
            <a:avLst/>
          </a:prstGeom>
          <a:noFill/>
          <a:ln/>
        </p:spPr>
        <p:txBody>
          <a:bodyPr wrap="square" rtlCol="0" anchor="ctr"/>
          <a:lstStyle/>
          <a:p>
            <a:pPr algn="ctr" indent="0" marL="0">
              <a:buNone/>
            </a:pPr>
            <a:r>
              <a:rPr lang="en-US" sz="800" b="1" dirty="0">
                <a:solidFill>
                  <a:srgbClr val="065F46"/>
                </a:solidFill>
                <a:latin typeface="Segoe UI" pitchFamily="34" charset="0"/>
                <a:ea typeface="Segoe UI" pitchFamily="34" charset="-122"/>
                <a:cs typeface="Segoe UI" pitchFamily="34" charset="-120"/>
              </a:rPr>
              <a:t>Gọi khách (Zalo OA)</a:t>
            </a:r>
            <a:endParaRPr lang="en-US" sz="800" dirty="0"/>
          </a:p>
        </p:txBody>
      </p:sp>
      <p:sp>
        <p:nvSpPr>
          <p:cNvPr id="81" name="Shape 77"/>
          <p:cNvSpPr/>
          <p:nvPr/>
        </p:nvSpPr>
        <p:spPr>
          <a:xfrm>
            <a:off x="6080760" y="2926080"/>
            <a:ext cx="2468880" cy="256032"/>
          </a:xfrm>
          <a:prstGeom prst="roundRect">
            <a:avLst>
              <a:gd name="adj" fmla="val 71429"/>
            </a:avLst>
          </a:prstGeom>
          <a:solidFill>
            <a:srgbClr val="FEE2E2"/>
          </a:solidFill>
          <a:ln/>
        </p:spPr>
      </p:sp>
      <p:sp>
        <p:nvSpPr>
          <p:cNvPr id="82" name="Text 78"/>
          <p:cNvSpPr/>
          <p:nvPr/>
        </p:nvSpPr>
        <p:spPr>
          <a:xfrm>
            <a:off x="6080760" y="2926080"/>
            <a:ext cx="2468880" cy="256032"/>
          </a:xfrm>
          <a:prstGeom prst="rect">
            <a:avLst/>
          </a:prstGeom>
          <a:noFill/>
          <a:ln/>
        </p:spPr>
        <p:txBody>
          <a:bodyPr wrap="square" rtlCol="0" anchor="ctr"/>
          <a:lstStyle/>
          <a:p>
            <a:pPr algn="ctr" indent="0" marL="0">
              <a:buNone/>
            </a:pPr>
            <a:r>
              <a:rPr lang="en-US" sz="800" b="1" dirty="0">
                <a:solidFill>
                  <a:srgbClr val="BD1D2D"/>
                </a:solidFill>
                <a:latin typeface="Segoe UI" pitchFamily="34" charset="0"/>
                <a:ea typeface="Segoe UI" pitchFamily="34" charset="-122"/>
                <a:cs typeface="Segoe UI" pitchFamily="34" charset="-120"/>
              </a:rPr>
              <a:t>Tạo Phiếu Đặt Cọc</a:t>
            </a:r>
            <a:endParaRPr lang="en-US" sz="800" dirty="0"/>
          </a:p>
        </p:txBody>
      </p:sp>
      <p:sp>
        <p:nvSpPr>
          <p:cNvPr id="83" name="Shape 79"/>
          <p:cNvSpPr/>
          <p:nvPr/>
        </p:nvSpPr>
        <p:spPr>
          <a:xfrm>
            <a:off x="6080760" y="3246120"/>
            <a:ext cx="2468880" cy="256032"/>
          </a:xfrm>
          <a:prstGeom prst="roundRect">
            <a:avLst>
              <a:gd name="adj" fmla="val 71429"/>
            </a:avLst>
          </a:prstGeom>
          <a:solidFill>
            <a:srgbClr val="F1F5F9"/>
          </a:solidFill>
          <a:ln/>
        </p:spPr>
      </p:sp>
      <p:sp>
        <p:nvSpPr>
          <p:cNvPr id="84" name="Text 80"/>
          <p:cNvSpPr/>
          <p:nvPr/>
        </p:nvSpPr>
        <p:spPr>
          <a:xfrm>
            <a:off x="6080760" y="3246120"/>
            <a:ext cx="2468880" cy="256032"/>
          </a:xfrm>
          <a:prstGeom prst="rect">
            <a:avLst/>
          </a:prstGeom>
          <a:noFill/>
          <a:ln/>
        </p:spPr>
        <p:txBody>
          <a:bodyPr wrap="square" rtlCol="0" anchor="ctr"/>
          <a:lstStyle/>
          <a:p>
            <a:pPr algn="ctr" indent="0" marL="0">
              <a:buNone/>
            </a:pPr>
            <a:r>
              <a:rPr lang="en-US" sz="800" b="1" dirty="0">
                <a:solidFill>
                  <a:srgbClr val="0F172A"/>
                </a:solidFill>
                <a:latin typeface="Segoe UI" pitchFamily="34" charset="0"/>
                <a:ea typeface="Segoe UI" pitchFamily="34" charset="-122"/>
                <a:cs typeface="Segoe UI" pitchFamily="34" charset="-120"/>
              </a:rPr>
              <a:t>Thu Hồi Về Kho Chung</a:t>
            </a:r>
            <a:endParaRPr lang="en-US" sz="800" dirty="0"/>
          </a:p>
        </p:txBody>
      </p:sp>
      <p:sp>
        <p:nvSpPr>
          <p:cNvPr id="85" name="Text 81"/>
          <p:cNvSpPr/>
          <p:nvPr/>
        </p:nvSpPr>
        <p:spPr>
          <a:xfrm>
            <a:off x="6080760" y="3703320"/>
            <a:ext cx="2468880" cy="182880"/>
          </a:xfrm>
          <a:prstGeom prst="rect">
            <a:avLst/>
          </a:prstGeom>
          <a:noFill/>
          <a:ln/>
        </p:spPr>
        <p:txBody>
          <a:bodyPr wrap="square" rtlCol="0" anchor="ctr"/>
          <a:lstStyle/>
          <a:p>
            <a:pPr indent="0" marL="0">
              <a:buNone/>
            </a:pPr>
            <a:r>
              <a:rPr lang="en-US" sz="800" b="1" dirty="0">
                <a:solidFill>
                  <a:srgbClr val="94A3B8"/>
                </a:solidFill>
                <a:latin typeface="Segoe UI" pitchFamily="34" charset="0"/>
                <a:ea typeface="Segoe UI" pitchFamily="34" charset="-122"/>
                <a:cs typeface="Segoe UI" pitchFamily="34" charset="-120"/>
              </a:rPr>
              <a:t>NHẬT KÝ HOẠT ĐỘNG (TIMELINE)</a:t>
            </a:r>
            <a:endParaRPr lang="en-US" sz="800" dirty="0"/>
          </a:p>
        </p:txBody>
      </p:sp>
      <p:sp>
        <p:nvSpPr>
          <p:cNvPr id="86" name="Text 82"/>
          <p:cNvSpPr/>
          <p:nvPr/>
        </p:nvSpPr>
        <p:spPr>
          <a:xfrm>
            <a:off x="6080760" y="3977640"/>
            <a:ext cx="914400" cy="137160"/>
          </a:xfrm>
          <a:prstGeom prst="rect">
            <a:avLst/>
          </a:prstGeom>
          <a:noFill/>
          <a:ln/>
        </p:spPr>
        <p:txBody>
          <a:bodyPr wrap="square" rtlCol="0" anchor="ctr"/>
          <a:lstStyle/>
          <a:p>
            <a:pPr indent="0" marL="0">
              <a:buNone/>
            </a:pPr>
            <a:r>
              <a:rPr lang="en-US" sz="720" b="1" dirty="0">
                <a:solidFill>
                  <a:srgbClr val="BD1D2D"/>
                </a:solidFill>
                <a:latin typeface="Segoe UI" pitchFamily="34" charset="0"/>
                <a:ea typeface="Segoe UI" pitchFamily="34" charset="-122"/>
                <a:cs typeface="Segoe UI" pitchFamily="34" charset="-120"/>
              </a:rPr>
              <a:t>24/07 16:00</a:t>
            </a:r>
            <a:endParaRPr lang="en-US" sz="720" dirty="0"/>
          </a:p>
        </p:txBody>
      </p:sp>
      <p:sp>
        <p:nvSpPr>
          <p:cNvPr id="87" name="Text 83"/>
          <p:cNvSpPr/>
          <p:nvPr/>
        </p:nvSpPr>
        <p:spPr>
          <a:xfrm>
            <a:off x="6080760" y="4114800"/>
            <a:ext cx="2468880" cy="228600"/>
          </a:xfrm>
          <a:prstGeom prst="rect">
            <a:avLst/>
          </a:prstGeom>
          <a:noFill/>
          <a:ln/>
        </p:spPr>
        <p:txBody>
          <a:bodyPr wrap="square" rtlCol="0" anchor="ctr"/>
          <a:lstStyle/>
          <a:p>
            <a:pPr indent="0" marL="0">
              <a:buNone/>
            </a:pPr>
            <a:r>
              <a:rPr lang="en-US" sz="720" dirty="0">
                <a:solidFill>
                  <a:srgbClr val="0F172A"/>
                </a:solidFill>
                <a:latin typeface="Segoe UI" pitchFamily="34" charset="0"/>
                <a:ea typeface="Segoe UI" pitchFamily="34" charset="-122"/>
                <a:cs typeface="Segoe UI" pitchFamily="34" charset="-120"/>
              </a:rPr>
              <a:t>Webhook phân phối Lead thành công.</a:t>
            </a:r>
            <a:endParaRPr lang="en-US" sz="720" dirty="0"/>
          </a:p>
        </p:txBody>
      </p:sp>
      <p:sp>
        <p:nvSpPr>
          <p:cNvPr id="88" name="Text 84"/>
          <p:cNvSpPr/>
          <p:nvPr/>
        </p:nvSpPr>
        <p:spPr>
          <a:xfrm>
            <a:off x="6080760" y="4389120"/>
            <a:ext cx="914400" cy="137160"/>
          </a:xfrm>
          <a:prstGeom prst="rect">
            <a:avLst/>
          </a:prstGeom>
          <a:noFill/>
          <a:ln/>
        </p:spPr>
        <p:txBody>
          <a:bodyPr wrap="square" rtlCol="0" anchor="ctr"/>
          <a:lstStyle/>
          <a:p>
            <a:pPr indent="0" marL="0">
              <a:buNone/>
            </a:pPr>
            <a:r>
              <a:rPr lang="en-US" sz="720" b="1" dirty="0">
                <a:solidFill>
                  <a:srgbClr val="BD1D2D"/>
                </a:solidFill>
                <a:latin typeface="Segoe UI" pitchFamily="34" charset="0"/>
                <a:ea typeface="Segoe UI" pitchFamily="34" charset="-122"/>
                <a:cs typeface="Segoe UI" pitchFamily="34" charset="-120"/>
              </a:rPr>
              <a:t>24/07 16:01</a:t>
            </a:r>
            <a:endParaRPr lang="en-US" sz="720" dirty="0"/>
          </a:p>
        </p:txBody>
      </p:sp>
      <p:sp>
        <p:nvSpPr>
          <p:cNvPr id="89" name="Text 85"/>
          <p:cNvSpPr/>
          <p:nvPr/>
        </p:nvSpPr>
        <p:spPr>
          <a:xfrm>
            <a:off x="6080760" y="4526280"/>
            <a:ext cx="2468880" cy="228600"/>
          </a:xfrm>
          <a:prstGeom prst="rect">
            <a:avLst/>
          </a:prstGeom>
          <a:noFill/>
          <a:ln/>
        </p:spPr>
        <p:txBody>
          <a:bodyPr wrap="square" rtlCol="0" anchor="ctr"/>
          <a:lstStyle/>
          <a:p>
            <a:pPr indent="0" marL="0">
              <a:buNone/>
            </a:pPr>
            <a:r>
              <a:rPr lang="en-US" sz="720" dirty="0">
                <a:solidFill>
                  <a:srgbClr val="0F172A"/>
                </a:solidFill>
                <a:latin typeface="Segoe UI" pitchFamily="34" charset="0"/>
                <a:ea typeface="Segoe UI" pitchFamily="34" charset="-122"/>
                <a:cs typeface="Segoe UI" pitchFamily="34" charset="-120"/>
              </a:rPr>
              <a:t>Sale Nguyễn Hải Đăng tiếp nhận Lead.</a:t>
            </a:r>
            <a:endParaRPr lang="en-US" sz="720" dirty="0"/>
          </a:p>
        </p:txBody>
      </p:sp>
      <p:sp>
        <p:nvSpPr>
          <p:cNvPr id="90" name="Text 86"/>
          <p:cNvSpPr/>
          <p:nvPr/>
        </p:nvSpPr>
        <p:spPr>
          <a:xfrm>
            <a:off x="6080760" y="4800600"/>
            <a:ext cx="914400" cy="137160"/>
          </a:xfrm>
          <a:prstGeom prst="rect">
            <a:avLst/>
          </a:prstGeom>
          <a:noFill/>
          <a:ln/>
        </p:spPr>
        <p:txBody>
          <a:bodyPr wrap="square" rtlCol="0" anchor="ctr"/>
          <a:lstStyle/>
          <a:p>
            <a:pPr indent="0" marL="0">
              <a:buNone/>
            </a:pPr>
            <a:r>
              <a:rPr lang="en-US" sz="720" b="1" dirty="0">
                <a:solidFill>
                  <a:srgbClr val="BD1D2D"/>
                </a:solidFill>
                <a:latin typeface="Segoe UI" pitchFamily="34" charset="0"/>
                <a:ea typeface="Segoe UI" pitchFamily="34" charset="-122"/>
                <a:cs typeface="Segoe UI" pitchFamily="34" charset="-120"/>
              </a:rPr>
              <a:t>24/07 16:05</a:t>
            </a:r>
            <a:endParaRPr lang="en-US" sz="720" dirty="0"/>
          </a:p>
        </p:txBody>
      </p:sp>
      <p:sp>
        <p:nvSpPr>
          <p:cNvPr id="91" name="Text 87"/>
          <p:cNvSpPr/>
          <p:nvPr/>
        </p:nvSpPr>
        <p:spPr>
          <a:xfrm>
            <a:off x="6080760" y="4937760"/>
            <a:ext cx="2468880" cy="228600"/>
          </a:xfrm>
          <a:prstGeom prst="rect">
            <a:avLst/>
          </a:prstGeom>
          <a:noFill/>
          <a:ln/>
        </p:spPr>
        <p:txBody>
          <a:bodyPr wrap="square" rtlCol="0" anchor="ctr"/>
          <a:lstStyle/>
          <a:p>
            <a:pPr indent="0" marL="0">
              <a:buNone/>
            </a:pPr>
            <a:r>
              <a:rPr lang="en-US" sz="720" dirty="0">
                <a:solidFill>
                  <a:srgbClr val="0F172A"/>
                </a:solidFill>
                <a:latin typeface="Segoe UI" pitchFamily="34" charset="0"/>
                <a:ea typeface="Segoe UI" pitchFamily="34" charset="-122"/>
                <a:cs typeface="Segoe UI" pitchFamily="34" charset="-120"/>
              </a:rPr>
              <a:t>Đã gửi tin nhắn Zalo chào mừng tự động.</a:t>
            </a:r>
            <a:endParaRPr lang="en-US" sz="720" dirty="0"/>
          </a:p>
        </p:txBody>
      </p:sp>
      <p:sp>
        <p:nvSpPr>
          <p:cNvPr id="92" name="Text 88"/>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63 / 65</a:t>
            </a:r>
            <a:endParaRPr lang="en-US" sz="850" dirty="0"/>
          </a:p>
        </p:txBody>
      </p:sp>
      <p:sp>
        <p:nvSpPr>
          <p:cNvPr id="93" name="Text 89"/>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TRANG APP</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Giao Diện Bàn Làm Việc (Workspace) &amp; Ca Trực</a:t>
            </a:r>
            <a:endParaRPr lang="en-US" sz="1900" dirty="0"/>
          </a:p>
        </p:txBody>
      </p:sp>
      <p:pic>
        <p:nvPicPr>
          <p:cNvPr id="14" name="Image 2" descr="C:/Users/LENOVO/.gemini/antigravity-ide/brain/e9c532d6-760d-4225-9cf7-98e98524ed90/app_workspace.png">    </p:cNvPr>
          <p:cNvPicPr>
            <a:picLocks noChangeAspect="1"/>
          </p:cNvPicPr>
          <p:nvPr/>
        </p:nvPicPr>
        <p:blipFill>
          <a:blip r:embed="rId3"/>
          <a:stretch>
            <a:fillRect/>
          </a:stretch>
        </p:blipFill>
        <p:spPr>
          <a:xfrm>
            <a:off x="731520" y="1280160"/>
            <a:ext cx="8046720" cy="3291840"/>
          </a:xfrm>
          <a:prstGeom prst="rect">
            <a:avLst/>
          </a:prstGeom>
        </p:spPr>
      </p:pic>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64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pic>
        <p:nvPicPr>
          <p:cNvPr id="3" name="Image 0" descr="https://domation.net/imgs/ICON.png">    </p:cNvPr>
          <p:cNvPicPr>
            <a:picLocks noChangeAspect="1"/>
          </p:cNvPicPr>
          <p:nvPr/>
        </p:nvPicPr>
        <p:blipFill>
          <a:blip r:embed="rId1"/>
          <a:stretch>
            <a:fillRect/>
          </a:stretch>
        </p:blipFill>
        <p:spPr>
          <a:xfrm>
            <a:off x="137160" y="137160"/>
            <a:ext cx="274320" cy="274320"/>
          </a:xfrm>
          <a:prstGeom prst="rect">
            <a:avLst/>
          </a:prstGeom>
        </p:spPr>
      </p:pic>
      <p:sp>
        <p:nvSpPr>
          <p:cNvPr id="4" name="Shape 1"/>
          <p:cNvSpPr/>
          <p:nvPr/>
        </p:nvSpPr>
        <p:spPr>
          <a:xfrm>
            <a:off x="164592" y="731520"/>
            <a:ext cx="219456" cy="219456"/>
          </a:xfrm>
          <a:prstGeom prst="roundRect">
            <a:avLst>
              <a:gd name="adj" fmla="val 208333"/>
            </a:avLst>
          </a:prstGeom>
          <a:solidFill>
            <a:srgbClr val="3B82F6"/>
          </a:solidFill>
          <a:ln w="12700">
            <a:solidFill>
              <a:srgbClr val="FFFFFF"/>
            </a:solidFill>
            <a:prstDash val="solid"/>
          </a:ln>
        </p:spPr>
      </p:sp>
      <p:sp>
        <p:nvSpPr>
          <p:cNvPr id="5" name="Shape 2"/>
          <p:cNvSpPr/>
          <p:nvPr/>
        </p:nvSpPr>
        <p:spPr>
          <a:xfrm>
            <a:off x="164592" y="1188720"/>
            <a:ext cx="219456" cy="219456"/>
          </a:xfrm>
          <a:prstGeom prst="roundRect">
            <a:avLst>
              <a:gd name="adj" fmla="val 208333"/>
            </a:avLst>
          </a:prstGeom>
          <a:solidFill>
            <a:srgbClr val="10B981"/>
          </a:solidFill>
          <a:ln w="12700">
            <a:solidFill>
              <a:srgbClr val="FFFFFF"/>
            </a:solidFill>
            <a:prstDash val="solid"/>
          </a:ln>
        </p:spPr>
      </p:sp>
      <p:sp>
        <p:nvSpPr>
          <p:cNvPr id="6" name="Shape 3"/>
          <p:cNvSpPr/>
          <p:nvPr/>
        </p:nvSpPr>
        <p:spPr>
          <a:xfrm>
            <a:off x="164592" y="1645920"/>
            <a:ext cx="219456" cy="219456"/>
          </a:xfrm>
          <a:prstGeom prst="roundRect">
            <a:avLst>
              <a:gd name="adj" fmla="val 208333"/>
            </a:avLst>
          </a:prstGeom>
          <a:solidFill>
            <a:srgbClr val="8B5CF6"/>
          </a:solidFill>
          <a:ln w="12700">
            <a:solidFill>
              <a:srgbClr val="FFFFFF"/>
            </a:solidFill>
            <a:prstDash val="solid"/>
          </a:ln>
        </p:spPr>
      </p:sp>
      <p:sp>
        <p:nvSpPr>
          <p:cNvPr id="7" name="Shape 4"/>
          <p:cNvSpPr/>
          <p:nvPr/>
        </p:nvSpPr>
        <p:spPr>
          <a:xfrm>
            <a:off x="164592" y="2103120"/>
            <a:ext cx="219456" cy="219456"/>
          </a:xfrm>
          <a:prstGeom prst="roundRect">
            <a:avLst>
              <a:gd name="adj" fmla="val 208333"/>
            </a:avLst>
          </a:prstGeom>
          <a:solidFill>
            <a:srgbClr val="EC4899"/>
          </a:solidFill>
          <a:ln w="12700">
            <a:solidFill>
              <a:srgbClr val="FFFFFF"/>
            </a:solidFill>
            <a:prstDash val="solid"/>
          </a:ln>
        </p:spPr>
      </p:sp>
      <p:sp>
        <p:nvSpPr>
          <p:cNvPr id="8" name="Shape 5"/>
          <p:cNvSpPr/>
          <p:nvPr/>
        </p:nvSpPr>
        <p:spPr>
          <a:xfrm>
            <a:off x="164592" y="2560320"/>
            <a:ext cx="219456" cy="219456"/>
          </a:xfrm>
          <a:prstGeom prst="roundRect">
            <a:avLst>
              <a:gd name="adj" fmla="val 208333"/>
            </a:avLst>
          </a:prstGeom>
          <a:solidFill>
            <a:srgbClr val="F59E0B"/>
          </a:solidFill>
          <a:ln w="12700">
            <a:solidFill>
              <a:srgbClr val="FFFFFF"/>
            </a:solidFill>
            <a:prstDash val="solid"/>
          </a:ln>
        </p:spPr>
      </p:sp>
      <p:sp>
        <p:nvSpPr>
          <p:cNvPr id="9" name="Shape 6"/>
          <p:cNvSpPr/>
          <p:nvPr/>
        </p:nvSpPr>
        <p:spPr>
          <a:xfrm>
            <a:off x="164592" y="3017520"/>
            <a:ext cx="219456" cy="219456"/>
          </a:xfrm>
          <a:prstGeom prst="roundRect">
            <a:avLst>
              <a:gd name="adj" fmla="val 208333"/>
            </a:avLst>
          </a:prstGeom>
          <a:solidFill>
            <a:srgbClr val="BD1D2D"/>
          </a:solidFill>
          <a:ln w="12700">
            <a:solidFill>
              <a:srgbClr val="FFFFFF"/>
            </a:solidFill>
            <a:prstDash val="solid"/>
          </a:ln>
        </p:spPr>
      </p:sp>
      <p:sp>
        <p:nvSpPr>
          <p:cNvPr id="10" name="Shape 7"/>
          <p:cNvSpPr/>
          <p:nvPr/>
        </p:nvSpPr>
        <p:spPr>
          <a:xfrm>
            <a:off x="548640" y="0"/>
            <a:ext cx="8595360" cy="548640"/>
          </a:xfrm>
          <a:prstGeom prst="rect">
            <a:avLst/>
          </a:prstGeom>
          <a:solidFill>
            <a:srgbClr val="BD1D2D"/>
          </a:solidFill>
          <a:ln w="12700">
            <a:solidFill>
              <a:srgbClr val="BD1D2D"/>
            </a:solidFill>
            <a:prstDash val="solid"/>
          </a:ln>
        </p:spPr>
      </p:sp>
      <p:sp>
        <p:nvSpPr>
          <p:cNvPr id="11" name="Text 8"/>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FFC1C1"/>
                </a:solidFill>
                <a:latin typeface="Segoe UI" pitchFamily="34" charset="0"/>
                <a:ea typeface="Segoe UI" pitchFamily="34" charset="-122"/>
                <a:cs typeface="Segoe UI" pitchFamily="34" charset="-120"/>
              </a:rPr>
              <a:t>RICH LAND CRM   /   TRANG APP</a:t>
            </a:r>
            <a:endParaRPr lang="en-US" sz="850" dirty="0"/>
          </a:p>
        </p:txBody>
      </p:sp>
      <p:pic>
        <p:nvPicPr>
          <p:cNvPr id="12" name="Image 1" descr="https://rich-land.vercel.app/imgs/logo-rich-land-viet-nam-trang.webp">    </p:cNvPr>
          <p:cNvPicPr>
            <a:picLocks noChangeAspect="1"/>
          </p:cNvPicPr>
          <p:nvPr/>
        </p:nvPicPr>
        <p:blipFill>
          <a:blip r:embed="rId2"/>
          <a:stretch>
            <a:fillRect/>
          </a:stretch>
        </p:blipFill>
        <p:spPr>
          <a:xfrm>
            <a:off x="7315200" y="91440"/>
            <a:ext cx="1645920" cy="365760"/>
          </a:xfrm>
          <a:prstGeom prst="rect">
            <a:avLst/>
          </a:prstGeom>
        </p:spPr>
      </p:pic>
      <p:sp>
        <p:nvSpPr>
          <p:cNvPr id="13" name="Text 9"/>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Giao Diện Huấn Luyện Tri Thức AI (AITraining)</a:t>
            </a:r>
            <a:endParaRPr lang="en-US" sz="1900" dirty="0"/>
          </a:p>
        </p:txBody>
      </p:sp>
      <p:pic>
        <p:nvPicPr>
          <p:cNvPr id="14" name="Image 2" descr="C:/Users/LENOVO/.gemini/antigravity-ide/brain/e9c532d6-760d-4225-9cf7-98e98524ed90/app_ai_training.png">    </p:cNvPr>
          <p:cNvPicPr>
            <a:picLocks noChangeAspect="1"/>
          </p:cNvPicPr>
          <p:nvPr/>
        </p:nvPicPr>
        <p:blipFill>
          <a:blip r:embed="rId3"/>
          <a:stretch>
            <a:fillRect/>
          </a:stretch>
        </p:blipFill>
        <p:spPr>
          <a:xfrm>
            <a:off x="731520" y="1280160"/>
            <a:ext cx="8046720" cy="3291840"/>
          </a:xfrm>
          <a:prstGeom prst="rect">
            <a:avLst/>
          </a:prstGeom>
        </p:spPr>
      </p:pic>
      <p:sp>
        <p:nvSpPr>
          <p:cNvPr id="15" name="Text 1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65 / 65</a:t>
            </a:r>
            <a:endParaRPr lang="en-US" sz="850" dirty="0"/>
          </a:p>
        </p:txBody>
      </p:sp>
      <p:sp>
        <p:nvSpPr>
          <p:cNvPr id="16" name="Text 1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ĐƠN VỊ THỰC HIỆN: DOMATION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2026-07-26T14:10:09Z</dcterms:created>
  <dcterms:modified xsi:type="dcterms:W3CDTF">2026-07-26T14:10:09Z</dcterms:modified>
</cp:coreProperties>
</file>