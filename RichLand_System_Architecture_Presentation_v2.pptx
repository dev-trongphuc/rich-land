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2.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Hạn mức nhận tối đa</c:v>
                </c:pt>
              </c:strCache>
            </c:strRef>
          </c:tx>
          <c:spPr>
            <a:solidFill>
              <a:srgbClr val="BD1D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Mức Giờ</c:v>
                  </c:pt>
                  <c:pt idx="1">
                    <c:v>Mức Ngày</c:v>
                  </c:pt>
                  <c:pt idx="2">
                    <c:v>Mức Tháng</c:v>
                  </c:pt>
                </c:lvl>
              </c:multiLvlStrCache>
            </c:multiLvlStrRef>
          </c:cat>
          <c:val>
            <c:numRef>
              <c:f>Sheet1!$B$2:$B$4</c:f>
              <c:numCache>
                <c:formatCode>General</c:formatCode>
                <c:ptCount val="3"/>
                <c:pt idx="0">
                  <c:v>3</c:v>
                </c:pt>
                <c:pt idx="1">
                  <c:v>20</c:v>
                </c:pt>
                <c:pt idx="2">
                  <c:v>300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Phiếu cọc tạo</c:v>
                </c:pt>
              </c:strCache>
            </c:strRef>
          </c:tx>
          <c:spPr>
            <a:solidFill>
              <a:srgbClr val="BD1D2D"/>
            </a:solidFill>
            <a:ln w="25400" cap="flat">
              <a:solidFill>
                <a:srgbClr val="BD1D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BD1D2D"/>
              </a:solidFill>
              <a:ln w="9525" cap="flat">
                <a:solidFill>
                  <a:srgbClr val="BD1D2D"/>
                </a:solidFill>
                <a:prstDash val="solid"/>
                <a:round/>
              </a:ln>
              <a:effectLst/>
            </c:spPr>
          </c:marker>
          <c:cat>
            <c:multiLvlStrRef>
              <c:f>Sheet1!$A$2:$A$7</c:f>
              <c:multiLvlStrCache>
                <c:ptCount val="6"/>
                <c:lvl>
                  <c:pt idx="0">
                    <c:v>T1</c:v>
                  </c:pt>
                  <c:pt idx="1">
                    <c:v>T2</c:v>
                  </c:pt>
                  <c:pt idx="2">
                    <c:v>T3</c:v>
                  </c:pt>
                  <c:pt idx="3">
                    <c:v>T4</c:v>
                  </c:pt>
                  <c:pt idx="4">
                    <c:v>T5</c:v>
                  </c:pt>
                  <c:pt idx="5">
                    <c:v>T6</c:v>
                  </c:pt>
                </c:lvl>
              </c:multiLvlStrCache>
            </c:multiLvlStrRef>
          </c:cat>
          <c:val>
            <c:numRef>
              <c:f>Sheet1!$B$2:$B$7</c:f>
              <c:numCache>
                <c:formatCode>General</c:formatCode>
                <c:ptCount val="6"/>
                <c:pt idx="0">
                  <c:v>20</c:v>
                </c:pt>
                <c:pt idx="1">
                  <c:v>30</c:v>
                </c:pt>
                <c:pt idx="2">
                  <c:v>25</c:v>
                </c:pt>
                <c:pt idx="3">
                  <c:v>45</c:v>
                </c:pt>
                <c:pt idx="4">
                  <c:v>50</c:v>
                </c:pt>
                <c:pt idx="5">
                  <c:v>40</c:v>
                </c:pt>
              </c:numCache>
            </c:numRef>
          </c:val>
          <c:smooth val="0"/>
        </c:ser>
        <c:ser>
          <c:idx val="1"/>
          <c:order val="1"/>
          <c:tx>
            <c:strRef>
              <c:f>Sheet1!$C$1</c:f>
              <c:strCache>
                <c:ptCount val="1"/>
                <c:pt idx="0">
                  <c:v>Phiếu cọc duyệt</c:v>
                </c:pt>
              </c:strCache>
            </c:strRef>
          </c:tx>
          <c:spPr>
            <a:solidFill>
              <a:srgbClr val="065F46"/>
            </a:solidFill>
            <a:ln w="25400" cap="flat">
              <a:solidFill>
                <a:srgbClr val="065F4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065F46"/>
              </a:solidFill>
              <a:ln w="9525" cap="flat">
                <a:solidFill>
                  <a:srgbClr val="065F46"/>
                </a:solidFill>
                <a:prstDash val="solid"/>
                <a:round/>
              </a:ln>
              <a:effectLst/>
            </c:spPr>
          </c:marker>
          <c:cat>
            <c:multiLvlStrRef>
              <c:f>Sheet1!$A$2:$A$7</c:f>
              <c:multiLvlStrCache>
                <c:ptCount val="6"/>
                <c:lvl>
                  <c:pt idx="0">
                    <c:v>T1</c:v>
                  </c:pt>
                  <c:pt idx="1">
                    <c:v>T2</c:v>
                  </c:pt>
                  <c:pt idx="2">
                    <c:v>T3</c:v>
                  </c:pt>
                  <c:pt idx="3">
                    <c:v>T4</c:v>
                  </c:pt>
                  <c:pt idx="4">
                    <c:v>T5</c:v>
                  </c:pt>
                  <c:pt idx="5">
                    <c:v>T6</c:v>
                  </c:pt>
                </c:lvl>
              </c:multiLvlStrCache>
            </c:multiLvlStrRef>
          </c:cat>
          <c:val>
            <c:numRef>
              <c:f>Sheet1!$C$2:$C$7</c:f>
              <c:numCache>
                <c:formatCode>General</c:formatCode>
                <c:ptCount val="6"/>
                <c:pt idx="0">
                  <c:v>15</c:v>
                </c:pt>
                <c:pt idx="1">
                  <c:v>25</c:v>
                </c:pt>
                <c:pt idx="2">
                  <c:v>20</c:v>
                </c:pt>
                <c:pt idx="3">
                  <c:v>40</c:v>
                </c:pt>
                <c:pt idx="4">
                  <c:v>48</c:v>
                </c:pt>
                <c:pt idx="5">
                  <c:v>38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BD1D2D"/>
        </a:solidFill>
      </p:bgPr>
    </p:bg>
    <p:spTree>
      <p:nvGrpSpPr>
        <p:cNvPr id="1" name=""/>
        <p:cNvGrpSpPr/>
        <p:nvPr/>
      </p:nvGrpSpPr>
      <p:grpSpPr>
        <a:xfrm>
          <a:off x="0" y="0"/>
          <a:ext cx="0" cy="0"/>
          <a:chOff x="0" y="0"/>
          <a:chExt cx="0" cy="0"/>
        </a:xfrm>
      </p:grpSpPr>
      <p:sp>
        <p:nvSpPr>
          <p:cNvPr id="2" name="Shape 0"/>
          <p:cNvSpPr/>
          <p:nvPr/>
        </p:nvSpPr>
        <p:spPr>
          <a:xfrm>
            <a:off x="0" y="0"/>
            <a:ext cx="182880" cy="5143500"/>
          </a:xfrm>
          <a:prstGeom prst="rect">
            <a:avLst/>
          </a:prstGeom>
          <a:solidFill>
            <a:srgbClr val="FFFFFF"/>
          </a:solidFill>
          <a:ln/>
        </p:spPr>
      </p:sp>
      <p:sp>
        <p:nvSpPr>
          <p:cNvPr id="3" name="Text 1"/>
          <p:cNvSpPr/>
          <p:nvPr/>
        </p:nvSpPr>
        <p:spPr>
          <a:xfrm>
            <a:off x="731520" y="1463040"/>
            <a:ext cx="7772400" cy="365760"/>
          </a:xfrm>
          <a:prstGeom prst="rect">
            <a:avLst/>
          </a:prstGeom>
          <a:noFill/>
          <a:ln/>
        </p:spPr>
        <p:txBody>
          <a:bodyPr wrap="square" rtlCol="0" anchor="ctr"/>
          <a:lstStyle/>
          <a:p>
            <a:pPr indent="0" marL="0">
              <a:buNone/>
            </a:pPr>
            <a:r>
              <a:rPr lang="en-US" sz="1300" b="1" dirty="0">
                <a:solidFill>
                  <a:srgbClr val="FFC1C1"/>
                </a:solidFill>
                <a:latin typeface="Segoe UI" pitchFamily="34" charset="0"/>
                <a:ea typeface="Segoe UI" pitchFamily="34" charset="-122"/>
                <a:cs typeface="Segoe UI" pitchFamily="34" charset="-120"/>
              </a:rPr>
              <a:t>RICH LAND CRM SYSTEM ARCHITECTURE</a:t>
            </a:r>
            <a:endParaRPr lang="en-US" sz="1300" dirty="0"/>
          </a:p>
        </p:txBody>
      </p:sp>
      <p:sp>
        <p:nvSpPr>
          <p:cNvPr id="4" name="Text 2"/>
          <p:cNvSpPr/>
          <p:nvPr/>
        </p:nvSpPr>
        <p:spPr>
          <a:xfrm>
            <a:off x="731520" y="1920240"/>
            <a:ext cx="7772400" cy="1097280"/>
          </a:xfrm>
          <a:prstGeom prst="rect">
            <a:avLst/>
          </a:prstGeom>
          <a:noFill/>
          <a:ln/>
        </p:spPr>
        <p:txBody>
          <a:bodyPr wrap="square" rtlCol="0" anchor="ctr"/>
          <a:lstStyle/>
          <a:p>
            <a:pPr indent="0" marL="0">
              <a:buNone/>
            </a:pPr>
            <a:r>
              <a:rPr lang="en-US" sz="3200" b="1" dirty="0">
                <a:solidFill>
                  <a:srgbClr val="FFFFFF"/>
                </a:solidFill>
                <a:latin typeface="Segoe UI" pitchFamily="34" charset="0"/>
                <a:ea typeface="Segoe UI" pitchFamily="34" charset="-122"/>
                <a:cs typeface="Segoe UI" pitchFamily="34" charset="-120"/>
              </a:rPr>
              <a:t>KIẾN TRÚC HỆ THỐNG &amp; LUỒNG HOẠT ĐỘNG LÕI</a:t>
            </a:r>
            <a:endParaRPr lang="en-US" sz="3200" dirty="0"/>
          </a:p>
        </p:txBody>
      </p:sp>
      <p:sp>
        <p:nvSpPr>
          <p:cNvPr id="5" name="Text 3"/>
          <p:cNvSpPr/>
          <p:nvPr/>
        </p:nvSpPr>
        <p:spPr>
          <a:xfrm>
            <a:off x="731520" y="3108960"/>
            <a:ext cx="7315200" cy="548640"/>
          </a:xfrm>
          <a:prstGeom prst="rect">
            <a:avLst/>
          </a:prstGeom>
          <a:noFill/>
          <a:ln/>
        </p:spPr>
        <p:txBody>
          <a:bodyPr wrap="square" rtlCol="0" anchor="ctr"/>
          <a:lstStyle/>
          <a:p>
            <a:pPr indent="0" marL="0">
              <a:buNone/>
            </a:pPr>
            <a:r>
              <a:rPr lang="en-US" sz="1100" dirty="0">
                <a:solidFill>
                  <a:srgbClr val="F1F5F9"/>
                </a:solidFill>
                <a:latin typeface="Segoe UI" pitchFamily="34" charset="0"/>
                <a:ea typeface="Segoe UI" pitchFamily="34" charset="-122"/>
                <a:cs typeface="Segoe UI" pitchFamily="34" charset="-120"/>
              </a:rPr>
              <a:t>Báo cáo phân tích chuyên sâu về hạ tầng lead, 5 cổng duyệt, quy tắc giao dịch và hàng đợi bất đồng bộ.</a:t>
            </a:r>
            <a:endParaRPr lang="en-US" sz="1100" dirty="0"/>
          </a:p>
        </p:txBody>
      </p:sp>
      <p:sp>
        <p:nvSpPr>
          <p:cNvPr id="6" name="Text 4"/>
          <p:cNvSpPr/>
          <p:nvPr/>
        </p:nvSpPr>
        <p:spPr>
          <a:xfrm>
            <a:off x="731520" y="4114800"/>
            <a:ext cx="7315200" cy="274320"/>
          </a:xfrm>
          <a:prstGeom prst="rect">
            <a:avLst/>
          </a:prstGeom>
          <a:noFill/>
          <a:ln/>
        </p:spPr>
        <p:txBody>
          <a:bodyPr wrap="square" rtlCol="0" anchor="ctr"/>
          <a:lstStyle/>
          <a:p>
            <a:pPr indent="0" marL="0">
              <a:buNone/>
            </a:pPr>
            <a:r>
              <a:rPr lang="en-US" sz="900" b="1" dirty="0">
                <a:solidFill>
                  <a:srgbClr val="FFC1C1"/>
                </a:solidFill>
                <a:latin typeface="Segoe UI" pitchFamily="34" charset="0"/>
                <a:ea typeface="Segoe UI" pitchFamily="34" charset="-122"/>
                <a:cs typeface="Segoe UI" pitchFamily="34" charset="-120"/>
              </a:rPr>
              <a:t>PHIÊN BẢN HỆ THỐNG V1.9.0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BD1D2D"/>
        </a:solidFill>
      </p:bgPr>
    </p:bg>
    <p:spTree>
      <p:nvGrpSpPr>
        <p:cNvPr id="1" name=""/>
        <p:cNvGrpSpPr/>
        <p:nvPr/>
      </p:nvGrpSpPr>
      <p:grpSpPr>
        <a:xfrm>
          <a:off x="0" y="0"/>
          <a:ext cx="0" cy="0"/>
          <a:chOff x="0" y="0"/>
          <a:chExt cx="0" cy="0"/>
        </a:xfrm>
      </p:grpSpPr>
      <p:sp>
        <p:nvSpPr>
          <p:cNvPr id="2" name="Text 0"/>
          <p:cNvSpPr/>
          <p:nvPr/>
        </p:nvSpPr>
        <p:spPr>
          <a:xfrm>
            <a:off x="914400" y="914400"/>
            <a:ext cx="7315200" cy="274320"/>
          </a:xfrm>
          <a:prstGeom prst="rect">
            <a:avLst/>
          </a:prstGeom>
          <a:noFill/>
          <a:ln/>
        </p:spPr>
        <p:txBody>
          <a:bodyPr wrap="square" rtlCol="0" anchor="ctr"/>
          <a:lstStyle/>
          <a:p>
            <a:pPr indent="0" marL="0">
              <a:buNone/>
            </a:pPr>
            <a:r>
              <a:rPr lang="en-US" sz="1300" b="1" dirty="0">
                <a:solidFill>
                  <a:srgbClr val="FFC1C1"/>
                </a:solidFill>
                <a:latin typeface="Segoe UI" pitchFamily="34" charset="0"/>
                <a:ea typeface="Segoe UI" pitchFamily="34" charset="-122"/>
                <a:cs typeface="Segoe UI" pitchFamily="34" charset="-120"/>
              </a:rPr>
              <a:t>MỤC LỤC</a:t>
            </a:r>
            <a:endParaRPr lang="en-US" sz="1300" dirty="0"/>
          </a:p>
        </p:txBody>
      </p:sp>
      <p:sp>
        <p:nvSpPr>
          <p:cNvPr id="3" name="Text 1"/>
          <p:cNvSpPr/>
          <p:nvPr/>
        </p:nvSpPr>
        <p:spPr>
          <a:xfrm>
            <a:off x="914400" y="1280160"/>
            <a:ext cx="7315200" cy="91440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MỤC LỤC &amp; ĐỊNH HƯỚNG BÁO CÁO</a:t>
            </a:r>
            <a:endParaRPr lang="en-US" sz="3000" dirty="0"/>
          </a:p>
        </p:txBody>
      </p:sp>
      <p:sp>
        <p:nvSpPr>
          <p:cNvPr id="4" name="Text 2"/>
          <p:cNvSpPr/>
          <p:nvPr/>
        </p:nvSpPr>
        <p:spPr>
          <a:xfrm>
            <a:off x="914400" y="2377440"/>
            <a:ext cx="7315200" cy="548640"/>
          </a:xfrm>
          <a:prstGeom prst="rect">
            <a:avLst/>
          </a:prstGeom>
          <a:noFill/>
          <a:ln/>
        </p:spPr>
        <p:txBody>
          <a:bodyPr wrap="square" rtlCol="0" anchor="t"/>
          <a:lstStyle/>
          <a:p>
            <a:pPr indent="0" marL="0">
              <a:lnSpc>
                <a:spcPts val="1600"/>
              </a:lnSpc>
              <a:buNone/>
            </a:pPr>
            <a:r>
              <a:rPr lang="en-US" sz="1150" dirty="0">
                <a:solidFill>
                  <a:srgbClr val="F1F5F9"/>
                </a:solidFill>
                <a:latin typeface="Segoe UI" pitchFamily="34" charset="0"/>
                <a:ea typeface="Segoe UI" pitchFamily="34" charset="-122"/>
                <a:cs typeface="Segoe UI" pitchFamily="34" charset="-120"/>
              </a:rPr>
              <a:t>Sơ đồ chi tiết thiết kế 6 chương phân tích toàn bộ cấu trúc định tuyến API, thuật toán Protection Gates, quy trình thanh toán đặt cọc và DevOps.</a:t>
            </a:r>
            <a:endParaRPr lang="en-US" sz="1150" dirty="0"/>
          </a:p>
        </p:txBody>
      </p:sp>
      <p:sp>
        <p:nvSpPr>
          <p:cNvPr id="5" name="Shape 3"/>
          <p:cNvSpPr/>
          <p:nvPr/>
        </p:nvSpPr>
        <p:spPr>
          <a:xfrm>
            <a:off x="914400" y="3017520"/>
            <a:ext cx="2194560" cy="1554480"/>
          </a:xfrm>
          <a:prstGeom prst="roundRect">
            <a:avLst>
              <a:gd name="adj" fmla="val 4706"/>
            </a:avLst>
          </a:prstGeom>
          <a:solidFill>
            <a:srgbClr val="9C1523"/>
          </a:solidFill>
          <a:ln w="12700">
            <a:solidFill>
              <a:srgbClr val="C92A3A"/>
            </a:solidFill>
            <a:prstDash val="solid"/>
          </a:ln>
        </p:spPr>
      </p:sp>
      <p:sp>
        <p:nvSpPr>
          <p:cNvPr id="6" name="Text 4"/>
          <p:cNvSpPr/>
          <p:nvPr/>
        </p:nvSpPr>
        <p:spPr>
          <a:xfrm>
            <a:off x="105156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CẤU TRÚC 1 &amp; 2</a:t>
            </a:r>
            <a:endParaRPr lang="en-US" sz="950" dirty="0"/>
          </a:p>
        </p:txBody>
      </p:sp>
      <p:sp>
        <p:nvSpPr>
          <p:cNvPr id="7" name="Text 5"/>
          <p:cNvSpPr/>
          <p:nvPr/>
        </p:nvSpPr>
        <p:spPr>
          <a:xfrm>
            <a:off x="105156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Hạ tầng định tuyến API, requireAuth, normal roles và cơ chế Protection Gates chia lead.</a:t>
            </a:r>
            <a:endParaRPr lang="en-US" sz="850" dirty="0"/>
          </a:p>
        </p:txBody>
      </p:sp>
      <p:sp>
        <p:nvSpPr>
          <p:cNvPr id="8" name="Shape 6"/>
          <p:cNvSpPr/>
          <p:nvPr/>
        </p:nvSpPr>
        <p:spPr>
          <a:xfrm>
            <a:off x="3474720" y="3017520"/>
            <a:ext cx="2194560" cy="1554480"/>
          </a:xfrm>
          <a:prstGeom prst="roundRect">
            <a:avLst>
              <a:gd name="adj" fmla="val 4706"/>
            </a:avLst>
          </a:prstGeom>
          <a:solidFill>
            <a:srgbClr val="9C1523"/>
          </a:solidFill>
          <a:ln w="12700">
            <a:solidFill>
              <a:srgbClr val="C92A3A"/>
            </a:solidFill>
            <a:prstDash val="solid"/>
          </a:ln>
        </p:spPr>
      </p:sp>
      <p:sp>
        <p:nvSpPr>
          <p:cNvPr id="9" name="Text 7"/>
          <p:cNvSpPr/>
          <p:nvPr/>
        </p:nvSpPr>
        <p:spPr>
          <a:xfrm>
            <a:off x="361188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CẤU TRÚC 3 &amp; 4</a:t>
            </a:r>
            <a:endParaRPr lang="en-US" sz="950" dirty="0"/>
          </a:p>
        </p:txBody>
      </p:sp>
      <p:sp>
        <p:nvSpPr>
          <p:cNvPr id="10" name="Text 8"/>
          <p:cNvSpPr/>
          <p:nvPr/>
        </p:nvSpPr>
        <p:spPr>
          <a:xfrm>
            <a:off x="361188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Quy tắc đặt cọc, đổi căn giao dịch, Meta CAPI và tri thức AI Vector RAG.</a:t>
            </a:r>
            <a:endParaRPr lang="en-US" sz="850" dirty="0"/>
          </a:p>
        </p:txBody>
      </p:sp>
      <p:sp>
        <p:nvSpPr>
          <p:cNvPr id="11" name="Shape 9"/>
          <p:cNvSpPr/>
          <p:nvPr/>
        </p:nvSpPr>
        <p:spPr>
          <a:xfrm>
            <a:off x="6035040" y="3017520"/>
            <a:ext cx="2194560" cy="1554480"/>
          </a:xfrm>
          <a:prstGeom prst="roundRect">
            <a:avLst>
              <a:gd name="adj" fmla="val 4706"/>
            </a:avLst>
          </a:prstGeom>
          <a:solidFill>
            <a:srgbClr val="9C1523"/>
          </a:solidFill>
          <a:ln w="12700">
            <a:solidFill>
              <a:srgbClr val="C92A3A"/>
            </a:solidFill>
            <a:prstDash val="solid"/>
          </a:ln>
        </p:spPr>
      </p:sp>
      <p:sp>
        <p:nvSpPr>
          <p:cNvPr id="12" name="Text 10"/>
          <p:cNvSpPr/>
          <p:nvPr/>
        </p:nvSpPr>
        <p:spPr>
          <a:xfrm>
            <a:off x="617220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CẤU TRÚC 5 &amp; 6</a:t>
            </a:r>
            <a:endParaRPr lang="en-US" sz="950" dirty="0"/>
          </a:p>
        </p:txBody>
      </p:sp>
      <p:sp>
        <p:nvSpPr>
          <p:cNvPr id="13" name="Text 11"/>
          <p:cNvSpPr/>
          <p:nvPr/>
        </p:nvSpPr>
        <p:spPr>
          <a:xfrm>
            <a:off x="617220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Đồng bộ Sheets 2 chiều, chatbot webhooks console và hàng đợi DevOps.</a:t>
            </a:r>
            <a:endParaRPr lang="en-US" sz="850" dirty="0"/>
          </a:p>
        </p:txBody>
      </p:sp>
      <p:sp>
        <p:nvSpPr>
          <p:cNvPr id="14" name="Text 1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 / 60</a:t>
            </a:r>
            <a:endParaRPr lang="en-US" sz="850" dirty="0"/>
          </a:p>
        </p:txBody>
      </p:sp>
      <p:sp>
        <p:nvSpPr>
          <p:cNvPr id="15" name="Text 1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TỔNG QUAN</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Tóm Tắt Tổng Quan Chỉ Số Hệ Thống</a:t>
            </a:r>
            <a:endParaRPr lang="en-US" sz="1900" dirty="0"/>
          </a:p>
        </p:txBody>
      </p:sp>
      <p:sp>
        <p:nvSpPr>
          <p:cNvPr id="15" name="Shape 13"/>
          <p:cNvSpPr/>
          <p:nvPr/>
        </p:nvSpPr>
        <p:spPr>
          <a:xfrm>
            <a:off x="731520" y="1280160"/>
            <a:ext cx="2468880" cy="3291840"/>
          </a:xfrm>
          <a:prstGeom prst="roundRect">
            <a:avLst>
              <a:gd name="adj" fmla="val 2222"/>
            </a:avLst>
          </a:prstGeom>
          <a:solidFill>
            <a:srgbClr val="FFFFFF"/>
          </a:solidFill>
          <a:ln w="12700">
            <a:solidFill>
              <a:srgbClr val="E2E8F0"/>
            </a:solidFill>
            <a:prstDash val="solid"/>
          </a:ln>
        </p:spPr>
      </p:sp>
      <p:sp>
        <p:nvSpPr>
          <p:cNvPr id="16" name="Text 14"/>
          <p:cNvSpPr/>
          <p:nvPr/>
        </p:nvSpPr>
        <p:spPr>
          <a:xfrm>
            <a:off x="914400" y="1417320"/>
            <a:ext cx="2103120" cy="457200"/>
          </a:xfrm>
          <a:prstGeom prst="rect">
            <a:avLst/>
          </a:prstGeom>
          <a:noFill/>
          <a:ln/>
        </p:spPr>
        <p:txBody>
          <a:bodyPr wrap="square" rtlCol="0" anchor="ctr"/>
          <a:lstStyle/>
          <a:p>
            <a:pPr indent="0" marL="0">
              <a:buNone/>
            </a:pPr>
            <a:r>
              <a:rPr lang="en-US" sz="2600" b="1" dirty="0">
                <a:solidFill>
                  <a:srgbClr val="BD1D2D"/>
                </a:solidFill>
                <a:latin typeface="Segoe UI" pitchFamily="34" charset="0"/>
                <a:ea typeface="Segoe UI" pitchFamily="34" charset="-122"/>
                <a:cs typeface="Segoe UI" pitchFamily="34" charset="-120"/>
              </a:rPr>
              <a:t>&lt; 50ms</a:t>
            </a:r>
            <a:endParaRPr lang="en-US" sz="2600" dirty="0"/>
          </a:p>
        </p:txBody>
      </p:sp>
      <p:sp>
        <p:nvSpPr>
          <p:cNvPr id="17" name="Text 15"/>
          <p:cNvSpPr/>
          <p:nvPr/>
        </p:nvSpPr>
        <p:spPr>
          <a:xfrm>
            <a:off x="914400" y="1874520"/>
            <a:ext cx="2103120" cy="228600"/>
          </a:xfrm>
          <a:prstGeom prst="rect">
            <a:avLst/>
          </a:prstGeom>
          <a:noFill/>
          <a:ln/>
        </p:spPr>
        <p:txBody>
          <a:bodyPr wrap="square" rtlCol="0" anchor="t"/>
          <a:lstStyle/>
          <a:p>
            <a:pPr indent="0" marL="0">
              <a:buNone/>
            </a:pPr>
            <a:r>
              <a:rPr lang="en-US" sz="900" b="1" dirty="0">
                <a:solidFill>
                  <a:srgbClr val="0F172A"/>
                </a:solidFill>
                <a:latin typeface="Segoe UI" pitchFamily="34" charset="0"/>
                <a:ea typeface="Segoe UI" pitchFamily="34" charset="-122"/>
                <a:cs typeface="Segoe UI" pitchFamily="34" charset="-120"/>
              </a:rPr>
              <a:t>THỜI GIAN CHIA LEAD</a:t>
            </a:r>
            <a:endParaRPr lang="en-US" sz="900" dirty="0"/>
          </a:p>
        </p:txBody>
      </p:sp>
      <p:sp>
        <p:nvSpPr>
          <p:cNvPr id="18" name="Text 16"/>
          <p:cNvSpPr/>
          <p:nvPr/>
        </p:nvSpPr>
        <p:spPr>
          <a:xfrm>
            <a:off x="914400" y="2103120"/>
            <a:ext cx="2103120" cy="2377440"/>
          </a:xfrm>
          <a:prstGeom prst="rect">
            <a:avLst/>
          </a:prstGeom>
          <a:noFill/>
          <a:ln/>
        </p:spPr>
        <p:txBody>
          <a:bodyPr wrap="square" rtlCol="0" anchor="t"/>
          <a:lstStyle/>
          <a:p>
            <a:pPr indent="0" marL="0">
              <a:lnSpc>
                <a:spcPts val="1100"/>
              </a:lnSpc>
              <a:buNone/>
            </a:pPr>
            <a:r>
              <a:rPr lang="en-US" sz="800" dirty="0">
                <a:solidFill>
                  <a:srgbClr val="475569"/>
                </a:solidFill>
                <a:latin typeface="Segoe UI" pitchFamily="34" charset="0"/>
                <a:ea typeface="Segoe UI" pitchFamily="34" charset="-122"/>
                <a:cs typeface="Segoe UI" pitchFamily="34" charset="-120"/>
              </a:rPr>
              <a:t>Lead mới được phân bổ tức thời xuống máy của Sale qua 5 Gate bảo mật trong nháy mắt.</a:t>
            </a:r>
            <a:endParaRPr lang="en-US" sz="800" dirty="0"/>
          </a:p>
        </p:txBody>
      </p:sp>
      <p:sp>
        <p:nvSpPr>
          <p:cNvPr id="19" name="Shape 17"/>
          <p:cNvSpPr/>
          <p:nvPr/>
        </p:nvSpPr>
        <p:spPr>
          <a:xfrm>
            <a:off x="3520440" y="1280160"/>
            <a:ext cx="2468880" cy="3291840"/>
          </a:xfrm>
          <a:prstGeom prst="roundRect">
            <a:avLst>
              <a:gd name="adj" fmla="val 2222"/>
            </a:avLst>
          </a:prstGeom>
          <a:solidFill>
            <a:srgbClr val="FFFFFF"/>
          </a:solidFill>
          <a:ln w="12700">
            <a:solidFill>
              <a:srgbClr val="E2E8F0"/>
            </a:solidFill>
            <a:prstDash val="solid"/>
          </a:ln>
        </p:spPr>
      </p:sp>
      <p:sp>
        <p:nvSpPr>
          <p:cNvPr id="20" name="Text 18"/>
          <p:cNvSpPr/>
          <p:nvPr/>
        </p:nvSpPr>
        <p:spPr>
          <a:xfrm>
            <a:off x="3703320" y="1417320"/>
            <a:ext cx="2103120" cy="457200"/>
          </a:xfrm>
          <a:prstGeom prst="rect">
            <a:avLst/>
          </a:prstGeom>
          <a:noFill/>
          <a:ln/>
        </p:spPr>
        <p:txBody>
          <a:bodyPr wrap="square" rtlCol="0" anchor="ctr"/>
          <a:lstStyle/>
          <a:p>
            <a:pPr indent="0" marL="0">
              <a:buNone/>
            </a:pPr>
            <a:r>
              <a:rPr lang="en-US" sz="2600" b="1" dirty="0">
                <a:solidFill>
                  <a:srgbClr val="BD1D2D"/>
                </a:solidFill>
                <a:latin typeface="Segoe UI" pitchFamily="34" charset="0"/>
                <a:ea typeface="Segoe UI" pitchFamily="34" charset="-122"/>
                <a:cs typeface="Segoe UI" pitchFamily="34" charset="-120"/>
              </a:rPr>
              <a:t>99.9 %</a:t>
            </a:r>
            <a:endParaRPr lang="en-US" sz="2600" dirty="0"/>
          </a:p>
        </p:txBody>
      </p:sp>
      <p:sp>
        <p:nvSpPr>
          <p:cNvPr id="21" name="Text 19"/>
          <p:cNvSpPr/>
          <p:nvPr/>
        </p:nvSpPr>
        <p:spPr>
          <a:xfrm>
            <a:off x="3703320" y="1874520"/>
            <a:ext cx="2103120" cy="228600"/>
          </a:xfrm>
          <a:prstGeom prst="rect">
            <a:avLst/>
          </a:prstGeom>
          <a:noFill/>
          <a:ln/>
        </p:spPr>
        <p:txBody>
          <a:bodyPr wrap="square" rtlCol="0" anchor="t"/>
          <a:lstStyle/>
          <a:p>
            <a:pPr indent="0" marL="0">
              <a:buNone/>
            </a:pPr>
            <a:r>
              <a:rPr lang="en-US" sz="900" b="1" dirty="0">
                <a:solidFill>
                  <a:srgbClr val="0F172A"/>
                </a:solidFill>
                <a:latin typeface="Segoe UI" pitchFamily="34" charset="0"/>
                <a:ea typeface="Segoe UI" pitchFamily="34" charset="-122"/>
                <a:cs typeface="Segoe UI" pitchFamily="34" charset="-120"/>
              </a:rPr>
              <a:t>ĐỘ TIN CẬY HÀNG ĐỢI</a:t>
            </a:r>
            <a:endParaRPr lang="en-US" sz="900" dirty="0"/>
          </a:p>
        </p:txBody>
      </p:sp>
      <p:sp>
        <p:nvSpPr>
          <p:cNvPr id="22" name="Text 20"/>
          <p:cNvSpPr/>
          <p:nvPr/>
        </p:nvSpPr>
        <p:spPr>
          <a:xfrm>
            <a:off x="3703320" y="2103120"/>
            <a:ext cx="2103120" cy="2377440"/>
          </a:xfrm>
          <a:prstGeom prst="rect">
            <a:avLst/>
          </a:prstGeom>
          <a:noFill/>
          <a:ln/>
        </p:spPr>
        <p:txBody>
          <a:bodyPr wrap="square" rtlCol="0" anchor="t"/>
          <a:lstStyle/>
          <a:p>
            <a:pPr indent="0" marL="0">
              <a:lnSpc>
                <a:spcPts val="1100"/>
              </a:lnSpc>
              <a:buNone/>
            </a:pPr>
            <a:r>
              <a:rPr lang="en-US" sz="800" dirty="0">
                <a:solidFill>
                  <a:srgbClr val="475569"/>
                </a:solidFill>
                <a:latin typeface="Segoe UI" pitchFamily="34" charset="0"/>
                <a:ea typeface="Segoe UI" pitchFamily="34" charset="-122"/>
                <a:cs typeface="Segoe UI" pitchFamily="34" charset="-120"/>
              </a:rPr>
              <a:t>Các yêu cầu gửi cURL bên thứ ba (Zalo OA, Telegram) được bất đồng bộ hóa 100% tránh nghẽn.</a:t>
            </a:r>
            <a:endParaRPr lang="en-US" sz="800" dirty="0"/>
          </a:p>
        </p:txBody>
      </p:sp>
      <p:sp>
        <p:nvSpPr>
          <p:cNvPr id="23" name="Shape 21"/>
          <p:cNvSpPr/>
          <p:nvPr/>
        </p:nvSpPr>
        <p:spPr>
          <a:xfrm>
            <a:off x="6309360" y="1280160"/>
            <a:ext cx="2468880" cy="3291840"/>
          </a:xfrm>
          <a:prstGeom prst="roundRect">
            <a:avLst>
              <a:gd name="adj" fmla="val 2222"/>
            </a:avLst>
          </a:prstGeom>
          <a:solidFill>
            <a:srgbClr val="FFFFFF"/>
          </a:solidFill>
          <a:ln w="12700">
            <a:solidFill>
              <a:srgbClr val="E2E8F0"/>
            </a:solidFill>
            <a:prstDash val="solid"/>
          </a:ln>
        </p:spPr>
      </p:sp>
      <p:sp>
        <p:nvSpPr>
          <p:cNvPr id="24" name="Text 22"/>
          <p:cNvSpPr/>
          <p:nvPr/>
        </p:nvSpPr>
        <p:spPr>
          <a:xfrm>
            <a:off x="6492240" y="1417320"/>
            <a:ext cx="2103120" cy="457200"/>
          </a:xfrm>
          <a:prstGeom prst="rect">
            <a:avLst/>
          </a:prstGeom>
          <a:noFill/>
          <a:ln/>
        </p:spPr>
        <p:txBody>
          <a:bodyPr wrap="square" rtlCol="0" anchor="ctr"/>
          <a:lstStyle/>
          <a:p>
            <a:pPr indent="0" marL="0">
              <a:buNone/>
            </a:pPr>
            <a:r>
              <a:rPr lang="en-US" sz="2600" b="1" dirty="0">
                <a:solidFill>
                  <a:srgbClr val="BD1D2D"/>
                </a:solidFill>
                <a:latin typeface="Segoe UI" pitchFamily="34" charset="0"/>
                <a:ea typeface="Segoe UI" pitchFamily="34" charset="-122"/>
                <a:cs typeface="Segoe UI" pitchFamily="34" charset="-120"/>
              </a:rPr>
              <a:t>100 %</a:t>
            </a:r>
            <a:endParaRPr lang="en-US" sz="2600" dirty="0"/>
          </a:p>
        </p:txBody>
      </p:sp>
      <p:sp>
        <p:nvSpPr>
          <p:cNvPr id="25" name="Text 23"/>
          <p:cNvSpPr/>
          <p:nvPr/>
        </p:nvSpPr>
        <p:spPr>
          <a:xfrm>
            <a:off x="6492240" y="1874520"/>
            <a:ext cx="2103120" cy="228600"/>
          </a:xfrm>
          <a:prstGeom prst="rect">
            <a:avLst/>
          </a:prstGeom>
          <a:noFill/>
          <a:ln/>
        </p:spPr>
        <p:txBody>
          <a:bodyPr wrap="square" rtlCol="0" anchor="t"/>
          <a:lstStyle/>
          <a:p>
            <a:pPr indent="0" marL="0">
              <a:buNone/>
            </a:pPr>
            <a:r>
              <a:rPr lang="en-US" sz="900" b="1" dirty="0">
                <a:solidFill>
                  <a:srgbClr val="0F172A"/>
                </a:solidFill>
                <a:latin typeface="Segoe UI" pitchFamily="34" charset="0"/>
                <a:ea typeface="Segoe UI" pitchFamily="34" charset="-122"/>
                <a:cs typeface="Segoe UI" pitchFamily="34" charset="-120"/>
              </a:rPr>
              <a:t>VẾT KIỂM TOÁN</a:t>
            </a:r>
            <a:endParaRPr lang="en-US" sz="900" dirty="0"/>
          </a:p>
        </p:txBody>
      </p:sp>
      <p:sp>
        <p:nvSpPr>
          <p:cNvPr id="26" name="Text 24"/>
          <p:cNvSpPr/>
          <p:nvPr/>
        </p:nvSpPr>
        <p:spPr>
          <a:xfrm>
            <a:off x="6492240" y="2103120"/>
            <a:ext cx="2103120" cy="2377440"/>
          </a:xfrm>
          <a:prstGeom prst="rect">
            <a:avLst/>
          </a:prstGeom>
          <a:noFill/>
          <a:ln/>
        </p:spPr>
        <p:txBody>
          <a:bodyPr wrap="square" rtlCol="0" anchor="t"/>
          <a:lstStyle/>
          <a:p>
            <a:pPr indent="0" marL="0">
              <a:lnSpc>
                <a:spcPts val="1100"/>
              </a:lnSpc>
              <a:buNone/>
            </a:pPr>
            <a:r>
              <a:rPr lang="en-US" sz="800" dirty="0">
                <a:solidFill>
                  <a:srgbClr val="475569"/>
                </a:solidFill>
                <a:latin typeface="Segoe UI" pitchFamily="34" charset="0"/>
                <a:ea typeface="Segoe UI" pitchFamily="34" charset="-122"/>
                <a:cs typeface="Segoe UI" pitchFamily="34" charset="-120"/>
              </a:rPr>
              <a:t>Toàn bộ dòng tiền đặt cọc, đợt thu milestones, thay đổi chủ lead đều được ký số ghi log bảo mật.</a:t>
            </a:r>
            <a:endParaRPr lang="en-US" sz="800" dirty="0"/>
          </a:p>
        </p:txBody>
      </p:sp>
      <p:sp>
        <p:nvSpPr>
          <p:cNvPr id="27" name="Text 25"/>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 / 60</a:t>
            </a:r>
            <a:endParaRPr lang="en-US" sz="850" dirty="0"/>
          </a:p>
        </p:txBody>
      </p:sp>
      <p:sp>
        <p:nvSpPr>
          <p:cNvPr id="28" name="Text 26"/>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KIẾN TRÚC</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Luồng Kết Nối Kiến Trúc Client - Server</a:t>
            </a:r>
            <a:endParaRPr lang="en-US" sz="1900" dirty="0"/>
          </a:p>
        </p:txBody>
      </p:sp>
      <p:sp>
        <p:nvSpPr>
          <p:cNvPr id="15" name="Shape 13"/>
          <p:cNvSpPr/>
          <p:nvPr/>
        </p:nvSpPr>
        <p:spPr>
          <a:xfrm>
            <a:off x="731520" y="1371600"/>
            <a:ext cx="2499360" cy="3017520"/>
          </a:xfrm>
          <a:prstGeom prst="roundRect">
            <a:avLst>
              <a:gd name="adj" fmla="val 2195"/>
            </a:avLst>
          </a:prstGeom>
          <a:solidFill>
            <a:srgbClr val="FFFFFF"/>
          </a:solidFill>
          <a:ln w="12700">
            <a:solidFill>
              <a:srgbClr val="E2E8F0"/>
            </a:solidFill>
            <a:prstDash val="solid"/>
          </a:ln>
        </p:spPr>
      </p:sp>
      <p:sp>
        <p:nvSpPr>
          <p:cNvPr id="16" name="Shape 14"/>
          <p:cNvSpPr/>
          <p:nvPr/>
        </p:nvSpPr>
        <p:spPr>
          <a:xfrm>
            <a:off x="3230880" y="1737360"/>
            <a:ext cx="274320" cy="0"/>
          </a:xfrm>
          <a:prstGeom prst="line">
            <a:avLst/>
          </a:prstGeom>
          <a:noFill/>
          <a:ln w="19050">
            <a:solidFill>
              <a:srgbClr val="BD1D2D"/>
            </a:solidFill>
            <a:prstDash val="dash"/>
          </a:ln>
        </p:spPr>
      </p:sp>
      <p:sp>
        <p:nvSpPr>
          <p:cNvPr id="17" name="Shape 15"/>
          <p:cNvSpPr/>
          <p:nvPr/>
        </p:nvSpPr>
        <p:spPr>
          <a:xfrm>
            <a:off x="1798320" y="1554480"/>
            <a:ext cx="365760" cy="365760"/>
          </a:xfrm>
          <a:prstGeom prst="ellipse">
            <a:avLst/>
          </a:prstGeom>
          <a:solidFill>
            <a:srgbClr val="BD1D2D"/>
          </a:solidFill>
          <a:ln w="19050">
            <a:solidFill>
              <a:srgbClr val="FFFFFF"/>
            </a:solidFill>
            <a:prstDash val="solid"/>
          </a:ln>
        </p:spPr>
      </p:sp>
      <p:sp>
        <p:nvSpPr>
          <p:cNvPr id="18" name="Text 16"/>
          <p:cNvSpPr/>
          <p:nvPr/>
        </p:nvSpPr>
        <p:spPr>
          <a:xfrm>
            <a:off x="179832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1</a:t>
            </a:r>
            <a:endParaRPr lang="en-US" sz="950" dirty="0"/>
          </a:p>
        </p:txBody>
      </p:sp>
      <p:sp>
        <p:nvSpPr>
          <p:cNvPr id="19" name="Text 17"/>
          <p:cNvSpPr/>
          <p:nvPr/>
        </p:nvSpPr>
        <p:spPr>
          <a:xfrm>
            <a:off x="82296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Vite Frontend React</a:t>
            </a:r>
            <a:endParaRPr lang="en-US" sz="950" dirty="0"/>
          </a:p>
        </p:txBody>
      </p:sp>
      <p:sp>
        <p:nvSpPr>
          <p:cNvPr id="20" name="Text 18"/>
          <p:cNvSpPr/>
          <p:nvPr/>
        </p:nvSpPr>
        <p:spPr>
          <a:xfrm>
            <a:off x="82296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SPA gửi yêu cầu API thông qua Axios Client, tự động nạp JWT token bảo mật.</a:t>
            </a:r>
            <a:endParaRPr lang="en-US" sz="800" dirty="0"/>
          </a:p>
        </p:txBody>
      </p:sp>
      <p:sp>
        <p:nvSpPr>
          <p:cNvPr id="21" name="Shape 19"/>
          <p:cNvSpPr/>
          <p:nvPr/>
        </p:nvSpPr>
        <p:spPr>
          <a:xfrm>
            <a:off x="3505200" y="1371600"/>
            <a:ext cx="2499360" cy="3017520"/>
          </a:xfrm>
          <a:prstGeom prst="roundRect">
            <a:avLst>
              <a:gd name="adj" fmla="val 2195"/>
            </a:avLst>
          </a:prstGeom>
          <a:solidFill>
            <a:srgbClr val="FFFFFF"/>
          </a:solidFill>
          <a:ln w="12700">
            <a:solidFill>
              <a:srgbClr val="E2E8F0"/>
            </a:solidFill>
            <a:prstDash val="solid"/>
          </a:ln>
        </p:spPr>
      </p:sp>
      <p:sp>
        <p:nvSpPr>
          <p:cNvPr id="22" name="Shape 20"/>
          <p:cNvSpPr/>
          <p:nvPr/>
        </p:nvSpPr>
        <p:spPr>
          <a:xfrm>
            <a:off x="6004560" y="1737360"/>
            <a:ext cx="274320" cy="0"/>
          </a:xfrm>
          <a:prstGeom prst="line">
            <a:avLst/>
          </a:prstGeom>
          <a:noFill/>
          <a:ln w="19050">
            <a:solidFill>
              <a:srgbClr val="BD1D2D"/>
            </a:solidFill>
            <a:prstDash val="dash"/>
          </a:ln>
        </p:spPr>
      </p:sp>
      <p:sp>
        <p:nvSpPr>
          <p:cNvPr id="23" name="Shape 21"/>
          <p:cNvSpPr/>
          <p:nvPr/>
        </p:nvSpPr>
        <p:spPr>
          <a:xfrm>
            <a:off x="4572000" y="1554480"/>
            <a:ext cx="365760" cy="365760"/>
          </a:xfrm>
          <a:prstGeom prst="ellipse">
            <a:avLst/>
          </a:prstGeom>
          <a:solidFill>
            <a:srgbClr val="BD1D2D"/>
          </a:solidFill>
          <a:ln w="19050">
            <a:solidFill>
              <a:srgbClr val="FFFFFF"/>
            </a:solidFill>
            <a:prstDash val="solid"/>
          </a:ln>
        </p:spPr>
      </p:sp>
      <p:sp>
        <p:nvSpPr>
          <p:cNvPr id="24" name="Text 22"/>
          <p:cNvSpPr/>
          <p:nvPr/>
        </p:nvSpPr>
        <p:spPr>
          <a:xfrm>
            <a:off x="457200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2</a:t>
            </a:r>
            <a:endParaRPr lang="en-US" sz="950" dirty="0"/>
          </a:p>
        </p:txBody>
      </p:sp>
      <p:sp>
        <p:nvSpPr>
          <p:cNvPr id="25" name="Text 23"/>
          <p:cNvSpPr/>
          <p:nvPr/>
        </p:nvSpPr>
        <p:spPr>
          <a:xfrm>
            <a:off x="359664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index.php API Router</a:t>
            </a:r>
            <a:endParaRPr lang="en-US" sz="950" dirty="0"/>
          </a:p>
        </p:txBody>
      </p:sp>
      <p:sp>
        <p:nvSpPr>
          <p:cNvPr id="26" name="Text 24"/>
          <p:cNvSpPr/>
          <p:nvPr/>
        </p:nvSpPr>
        <p:spPr>
          <a:xfrm>
            <a:off x="359664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Cổng định tuyến Backend duy nhất, xử lý CORS, bắt lỗi và phân loại action.</a:t>
            </a:r>
            <a:endParaRPr lang="en-US" sz="800" dirty="0"/>
          </a:p>
        </p:txBody>
      </p:sp>
      <p:sp>
        <p:nvSpPr>
          <p:cNvPr id="27" name="Shape 25"/>
          <p:cNvSpPr/>
          <p:nvPr/>
        </p:nvSpPr>
        <p:spPr>
          <a:xfrm>
            <a:off x="6278880" y="1371600"/>
            <a:ext cx="2499360" cy="3017520"/>
          </a:xfrm>
          <a:prstGeom prst="roundRect">
            <a:avLst>
              <a:gd name="adj" fmla="val 2195"/>
            </a:avLst>
          </a:prstGeom>
          <a:solidFill>
            <a:srgbClr val="FFFFFF"/>
          </a:solidFill>
          <a:ln w="12700">
            <a:solidFill>
              <a:srgbClr val="E2E8F0"/>
            </a:solidFill>
            <a:prstDash val="solid"/>
          </a:ln>
        </p:spPr>
      </p:sp>
      <p:sp>
        <p:nvSpPr>
          <p:cNvPr id="28" name="Shape 26"/>
          <p:cNvSpPr/>
          <p:nvPr/>
        </p:nvSpPr>
        <p:spPr>
          <a:xfrm>
            <a:off x="7345680" y="1554480"/>
            <a:ext cx="365760" cy="365760"/>
          </a:xfrm>
          <a:prstGeom prst="ellipse">
            <a:avLst/>
          </a:prstGeom>
          <a:solidFill>
            <a:srgbClr val="BD1D2D"/>
          </a:solidFill>
          <a:ln w="19050">
            <a:solidFill>
              <a:srgbClr val="FFFFFF"/>
            </a:solidFill>
            <a:prstDash val="solid"/>
          </a:ln>
        </p:spPr>
      </p:sp>
      <p:sp>
        <p:nvSpPr>
          <p:cNvPr id="29" name="Text 27"/>
          <p:cNvSpPr/>
          <p:nvPr/>
        </p:nvSpPr>
        <p:spPr>
          <a:xfrm>
            <a:off x="734568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3</a:t>
            </a:r>
            <a:endParaRPr lang="en-US" sz="950" dirty="0"/>
          </a:p>
        </p:txBody>
      </p:sp>
      <p:sp>
        <p:nvSpPr>
          <p:cNvPr id="30" name="Text 28"/>
          <p:cNvSpPr/>
          <p:nvPr/>
        </p:nvSpPr>
        <p:spPr>
          <a:xfrm>
            <a:off x="637032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MariaDB CSDL</a:t>
            </a:r>
            <a:endParaRPr lang="en-US" sz="950" dirty="0"/>
          </a:p>
        </p:txBody>
      </p:sp>
      <p:sp>
        <p:nvSpPr>
          <p:cNvPr id="31" name="Text 29"/>
          <p:cNvSpPr/>
          <p:nvPr/>
        </p:nvSpPr>
        <p:spPr>
          <a:xfrm>
            <a:off x="637032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Quản lý truy vấn quan hệ, khóa ngoại bảng ghi và views tương thích ngược.</a:t>
            </a:r>
            <a:endParaRPr lang="en-US" sz="80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KIẾN TRÚC</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Cấu Trúc Định Tuyến &amp; Giữ DOM AppTabs</a:t>
            </a:r>
            <a:endParaRPr lang="en-US" sz="1900" dirty="0"/>
          </a:p>
        </p:txBody>
      </p:sp>
      <p:sp>
        <p:nvSpPr>
          <p:cNvPr id="15" name="Shape 13"/>
          <p:cNvSpPr/>
          <p:nvPr/>
        </p:nvSpPr>
        <p:spPr>
          <a:xfrm>
            <a:off x="731520" y="1280160"/>
            <a:ext cx="3840480" cy="3200400"/>
          </a:xfrm>
          <a:prstGeom prst="roundRect">
            <a:avLst>
              <a:gd name="adj" fmla="val 1714"/>
            </a:avLst>
          </a:prstGeom>
          <a:solidFill>
            <a:srgbClr val="FFFFFF"/>
          </a:solidFill>
          <a:ln w="22860">
            <a:solidFill>
              <a:srgbClr val="BD1D2D"/>
            </a:solidFill>
            <a:prstDash val="solid"/>
          </a:ln>
        </p:spPr>
      </p:sp>
      <p:sp>
        <p:nvSpPr>
          <p:cNvPr id="16" name="Text 14"/>
          <p:cNvSpPr/>
          <p:nvPr/>
        </p:nvSpPr>
        <p:spPr>
          <a:xfrm>
            <a:off x="914400" y="1417320"/>
            <a:ext cx="3474720" cy="274320"/>
          </a:xfrm>
          <a:prstGeom prst="rect">
            <a:avLst/>
          </a:prstGeom>
          <a:noFill/>
          <a:ln/>
        </p:spPr>
        <p:txBody>
          <a:bodyPr wrap="square" rtlCol="0" anchor="ctr"/>
          <a:lstStyle/>
          <a:p>
            <a:pPr indent="0" marL="0">
              <a:buNone/>
            </a:pPr>
            <a:r>
              <a:rPr lang="en-US" sz="950" b="1" dirty="0">
                <a:solidFill>
                  <a:srgbClr val="BD1D2D"/>
                </a:solidFill>
                <a:latin typeface="Segoe UI" pitchFamily="34" charset="0"/>
                <a:ea typeface="Segoe UI" pitchFamily="34" charset="-122"/>
                <a:cs typeface="Segoe UI" pitchFamily="34" charset="-120"/>
              </a:rPr>
              <a:t>CÁCH ĐỊNH TUYẾN THÔNG THƯỜNG</a:t>
            </a:r>
            <a:endParaRPr lang="en-US" sz="950" dirty="0"/>
          </a:p>
        </p:txBody>
      </p:sp>
      <p:sp>
        <p:nvSpPr>
          <p:cNvPr id="17" name="Text 15"/>
          <p:cNvSpPr/>
          <p:nvPr/>
        </p:nvSpPr>
        <p:spPr>
          <a:xfrm>
            <a:off x="914400" y="1737360"/>
            <a:ext cx="3474720" cy="2560320"/>
          </a:xfrm>
          <a:prstGeom prst="rect">
            <a:avLst/>
          </a:prstGeom>
          <a:noFill/>
          <a:ln/>
        </p:spPr>
        <p:txBody>
          <a:bodyPr wrap="square" rtlCol="0" anchor="t"/>
          <a:lstStyle/>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Unmount các component khi đổi trang.</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Mất toàn bộ state, bộ lọc dữ liệu khi chuyển tab.</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Bắt buộc gọi lại API kéo dữ liệu từ đầu gây trễ mạng.</a:t>
            </a:r>
            <a:endParaRPr lang="en-US" sz="900" dirty="0"/>
          </a:p>
        </p:txBody>
      </p:sp>
      <p:sp>
        <p:nvSpPr>
          <p:cNvPr id="18" name="Shape 16"/>
          <p:cNvSpPr/>
          <p:nvPr/>
        </p:nvSpPr>
        <p:spPr>
          <a:xfrm>
            <a:off x="4937760" y="1280160"/>
            <a:ext cx="3840480" cy="3200400"/>
          </a:xfrm>
          <a:prstGeom prst="roundRect">
            <a:avLst>
              <a:gd name="adj" fmla="val 1714"/>
            </a:avLst>
          </a:prstGeom>
          <a:solidFill>
            <a:srgbClr val="FFFFFF"/>
          </a:solidFill>
          <a:ln w="22860">
            <a:solidFill>
              <a:srgbClr val="059669"/>
            </a:solidFill>
            <a:prstDash val="solid"/>
          </a:ln>
        </p:spPr>
      </p:sp>
      <p:sp>
        <p:nvSpPr>
          <p:cNvPr id="19" name="Text 17"/>
          <p:cNvSpPr/>
          <p:nvPr/>
        </p:nvSpPr>
        <p:spPr>
          <a:xfrm>
            <a:off x="5120640" y="1417320"/>
            <a:ext cx="3474720" cy="274320"/>
          </a:xfrm>
          <a:prstGeom prst="rect">
            <a:avLst/>
          </a:prstGeom>
          <a:noFill/>
          <a:ln/>
        </p:spPr>
        <p:txBody>
          <a:bodyPr wrap="square" rtlCol="0" anchor="ctr"/>
          <a:lstStyle/>
          <a:p>
            <a:pPr indent="0" marL="0">
              <a:buNone/>
            </a:pPr>
            <a:r>
              <a:rPr lang="en-US" sz="950" b="1" dirty="0">
                <a:solidFill>
                  <a:srgbClr val="059669"/>
                </a:solidFill>
                <a:latin typeface="Segoe UI" pitchFamily="34" charset="0"/>
                <a:ea typeface="Segoe UI" pitchFamily="34" charset="-122"/>
                <a:cs typeface="Segoe UI" pitchFamily="34" charset="-120"/>
              </a:rPr>
              <a:t>GIẢI PHÁP GIỮ DOM APPTABS</a:t>
            </a:r>
            <a:endParaRPr lang="en-US" sz="950" dirty="0"/>
          </a:p>
        </p:txBody>
      </p:sp>
      <p:sp>
        <p:nvSpPr>
          <p:cNvPr id="20" name="Text 18"/>
          <p:cNvSpPr/>
          <p:nvPr/>
        </p:nvSpPr>
        <p:spPr>
          <a:xfrm>
            <a:off x="5120640" y="1737360"/>
            <a:ext cx="3474720" cy="2560320"/>
          </a:xfrm>
          <a:prstGeom prst="rect">
            <a:avLst/>
          </a:prstGeom>
          <a:noFill/>
          <a:ln/>
        </p:spPr>
        <p:txBody>
          <a:bodyPr wrap="square" rtlCol="0" anchor="t"/>
          <a:lstStyle/>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Ẩn/hiện thẻ DOM thay vì gỡ bỏ hoàn toàn.</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Giữ trọn vẹn state lọc và vị trí cuộn trang của Sale.</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Giảm tải 80% số lần gọi API tải lại trang không cần thiết.</a:t>
            </a:r>
            <a:endParaRPr lang="en-US" sz="90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BACKEND</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Cổng API Router Backend index.php</a:t>
            </a:r>
            <a:endParaRPr lang="en-US" sz="1900" dirty="0"/>
          </a:p>
        </p:txBody>
      </p:sp>
      <p:sp>
        <p:nvSpPr>
          <p:cNvPr id="15" name="Shape 13"/>
          <p:cNvSpPr/>
          <p:nvPr/>
        </p:nvSpPr>
        <p:spPr>
          <a:xfrm>
            <a:off x="731520" y="1280160"/>
            <a:ext cx="365760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2918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CƠ CHẾ ROUTE QUA ACTION</a:t>
            </a:r>
            <a:endParaRPr lang="en-US" sz="950" dirty="0"/>
          </a:p>
        </p:txBody>
      </p:sp>
      <p:sp>
        <p:nvSpPr>
          <p:cNvPr id="17" name="Text 15"/>
          <p:cNvSpPr/>
          <p:nvPr/>
        </p:nvSpPr>
        <p:spPr>
          <a:xfrm>
            <a:off x="914400" y="1709928"/>
            <a:ext cx="329184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Mọi yêu cầu HTTP đổ về tệp backend/index.php duy nhất.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Phân loại luồng xử lý dựa trên tham số query action.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Quản lý CORS tập trung, chặn các truy cập ngoài danh sách cho phép.</a:t>
            </a:r>
            <a:endParaRPr lang="en-US" sz="920" dirty="0"/>
          </a:p>
        </p:txBody>
      </p:sp>
      <p:sp>
        <p:nvSpPr>
          <p:cNvPr id="18" name="Shape 16"/>
          <p:cNvSpPr/>
          <p:nvPr/>
        </p:nvSpPr>
        <p:spPr>
          <a:xfrm>
            <a:off x="4572000" y="1280160"/>
            <a:ext cx="3840480" cy="3291840"/>
          </a:xfrm>
          <a:prstGeom prst="roundRect">
            <a:avLst>
              <a:gd name="adj" fmla="val 1389"/>
            </a:avLst>
          </a:prstGeom>
          <a:solidFill>
            <a:srgbClr val="1E293B"/>
          </a:solidFill>
          <a:ln w="19050">
            <a:solidFill>
              <a:srgbClr val="334155"/>
            </a:solidFill>
            <a:prstDash val="solid"/>
          </a:ln>
        </p:spPr>
      </p:sp>
      <p:sp>
        <p:nvSpPr>
          <p:cNvPr id="19" name="Shape 17"/>
          <p:cNvSpPr/>
          <p:nvPr/>
        </p:nvSpPr>
        <p:spPr>
          <a:xfrm>
            <a:off x="4572000" y="1280160"/>
            <a:ext cx="3840480" cy="320040"/>
          </a:xfrm>
          <a:prstGeom prst="rect">
            <a:avLst/>
          </a:prstGeom>
          <a:solidFill>
            <a:srgbClr val="0F172A"/>
          </a:solidFill>
          <a:ln/>
        </p:spPr>
      </p:sp>
      <p:sp>
        <p:nvSpPr>
          <p:cNvPr id="20" name="Shape 18"/>
          <p:cNvSpPr/>
          <p:nvPr/>
        </p:nvSpPr>
        <p:spPr>
          <a:xfrm>
            <a:off x="4709160" y="1389888"/>
            <a:ext cx="91440" cy="91440"/>
          </a:xfrm>
          <a:prstGeom prst="ellipse">
            <a:avLst/>
          </a:prstGeom>
          <a:solidFill>
            <a:srgbClr val="EF4444"/>
          </a:solidFill>
          <a:ln/>
        </p:spPr>
      </p:sp>
      <p:sp>
        <p:nvSpPr>
          <p:cNvPr id="21" name="Shape 19"/>
          <p:cNvSpPr/>
          <p:nvPr/>
        </p:nvSpPr>
        <p:spPr>
          <a:xfrm>
            <a:off x="4846320" y="1389888"/>
            <a:ext cx="91440" cy="91440"/>
          </a:xfrm>
          <a:prstGeom prst="ellipse">
            <a:avLst/>
          </a:prstGeom>
          <a:solidFill>
            <a:srgbClr val="F59E0B"/>
          </a:solidFill>
          <a:ln/>
        </p:spPr>
      </p:sp>
      <p:sp>
        <p:nvSpPr>
          <p:cNvPr id="22" name="Shape 20"/>
          <p:cNvSpPr/>
          <p:nvPr/>
        </p:nvSpPr>
        <p:spPr>
          <a:xfrm>
            <a:off x="4983480" y="1389888"/>
            <a:ext cx="91440" cy="91440"/>
          </a:xfrm>
          <a:prstGeom prst="ellipse">
            <a:avLst/>
          </a:prstGeom>
          <a:solidFill>
            <a:srgbClr val="10B981"/>
          </a:solidFill>
          <a:ln/>
        </p:spPr>
      </p:sp>
      <p:sp>
        <p:nvSpPr>
          <p:cNvPr id="23" name="Text 21"/>
          <p:cNvSpPr/>
          <p:nvPr/>
        </p:nvSpPr>
        <p:spPr>
          <a:xfrm>
            <a:off x="5212080" y="1280160"/>
            <a:ext cx="2926080" cy="320040"/>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index.php</a:t>
            </a:r>
            <a:endParaRPr lang="en-US" sz="800" dirty="0"/>
          </a:p>
        </p:txBody>
      </p:sp>
      <p:sp>
        <p:nvSpPr>
          <p:cNvPr id="24" name="Text 22"/>
          <p:cNvSpPr/>
          <p:nvPr/>
        </p:nvSpPr>
        <p:spPr>
          <a:xfrm>
            <a:off x="4709160" y="1691640"/>
            <a:ext cx="3566160" cy="2788920"/>
          </a:xfrm>
          <a:prstGeom prst="rect">
            <a:avLst/>
          </a:prstGeom>
          <a:noFill/>
          <a:ln/>
        </p:spPr>
        <p:txBody>
          <a:bodyPr wrap="square" rtlCol="0" anchor="t"/>
          <a:lstStyle/>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1 |  &lt;?php</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2 |  require_once 'bootstrap.php';</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3 |  $action = $_GET['action'] ?? '';</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4 |  switch($action) {</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5 |    case 'lead_create':</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6 |      requireAuth(['sales', 'admin']);</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7 |      handleLeadCreate($conn);</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8 |      break;</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9 |    default:</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10 |      sendResponse(404, 'Action not found');</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11 |  }</a:t>
            </a:r>
            <a:endParaRPr lang="en-US" sz="820" dirty="0"/>
          </a:p>
        </p:txBody>
      </p:sp>
      <p:sp>
        <p:nvSpPr>
          <p:cNvPr id="25" name="Text 23"/>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6 / 60</a:t>
            </a:r>
            <a:endParaRPr lang="en-US" sz="850" dirty="0"/>
          </a:p>
        </p:txBody>
      </p:sp>
      <p:sp>
        <p:nvSpPr>
          <p:cNvPr id="26" name="Text 24"/>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XÁC THỰC</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Cơ Chế Xác Thực Người Dùng JWT</a:t>
            </a:r>
            <a:endParaRPr lang="en-US" sz="1900" dirty="0"/>
          </a:p>
        </p:txBody>
      </p:sp>
      <p:sp>
        <p:nvSpPr>
          <p:cNvPr id="15" name="Shape 13"/>
          <p:cNvSpPr/>
          <p:nvPr/>
        </p:nvSpPr>
        <p:spPr>
          <a:xfrm>
            <a:off x="731520" y="1280160"/>
            <a:ext cx="365760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2918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REQUIREAUTH MIDDLEWARE</a:t>
            </a:r>
            <a:endParaRPr lang="en-US" sz="950" dirty="0"/>
          </a:p>
        </p:txBody>
      </p:sp>
      <p:sp>
        <p:nvSpPr>
          <p:cNvPr id="17" name="Text 15"/>
          <p:cNvSpPr/>
          <p:nvPr/>
        </p:nvSpPr>
        <p:spPr>
          <a:xfrm>
            <a:off x="914400" y="1709928"/>
            <a:ext cx="329184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Trích xuất Bearer Token từ tiêu đề Authorization.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Hỗ trợ lấy token từ query string cho các tiến trình kiểm thử nhanh.</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Giải mã cấu trúc token để lấy định danh user và thời gian hết hạn.</a:t>
            </a:r>
            <a:endParaRPr lang="en-US" sz="920" dirty="0"/>
          </a:p>
        </p:txBody>
      </p:sp>
      <p:sp>
        <p:nvSpPr>
          <p:cNvPr id="18" name="Shape 16"/>
          <p:cNvSpPr/>
          <p:nvPr/>
        </p:nvSpPr>
        <p:spPr>
          <a:xfrm>
            <a:off x="4572000" y="1280160"/>
            <a:ext cx="3840480" cy="3291840"/>
          </a:xfrm>
          <a:prstGeom prst="roundRect">
            <a:avLst>
              <a:gd name="adj" fmla="val 1389"/>
            </a:avLst>
          </a:prstGeom>
          <a:solidFill>
            <a:srgbClr val="1E293B"/>
          </a:solidFill>
          <a:ln w="19050">
            <a:solidFill>
              <a:srgbClr val="334155"/>
            </a:solidFill>
            <a:prstDash val="solid"/>
          </a:ln>
        </p:spPr>
      </p:sp>
      <p:sp>
        <p:nvSpPr>
          <p:cNvPr id="19" name="Shape 17"/>
          <p:cNvSpPr/>
          <p:nvPr/>
        </p:nvSpPr>
        <p:spPr>
          <a:xfrm>
            <a:off x="4572000" y="1280160"/>
            <a:ext cx="3840480" cy="320040"/>
          </a:xfrm>
          <a:prstGeom prst="rect">
            <a:avLst/>
          </a:prstGeom>
          <a:solidFill>
            <a:srgbClr val="0F172A"/>
          </a:solidFill>
          <a:ln/>
        </p:spPr>
      </p:sp>
      <p:sp>
        <p:nvSpPr>
          <p:cNvPr id="20" name="Shape 18"/>
          <p:cNvSpPr/>
          <p:nvPr/>
        </p:nvSpPr>
        <p:spPr>
          <a:xfrm>
            <a:off x="4709160" y="1389888"/>
            <a:ext cx="91440" cy="91440"/>
          </a:xfrm>
          <a:prstGeom prst="ellipse">
            <a:avLst/>
          </a:prstGeom>
          <a:solidFill>
            <a:srgbClr val="EF4444"/>
          </a:solidFill>
          <a:ln/>
        </p:spPr>
      </p:sp>
      <p:sp>
        <p:nvSpPr>
          <p:cNvPr id="21" name="Shape 19"/>
          <p:cNvSpPr/>
          <p:nvPr/>
        </p:nvSpPr>
        <p:spPr>
          <a:xfrm>
            <a:off x="4846320" y="1389888"/>
            <a:ext cx="91440" cy="91440"/>
          </a:xfrm>
          <a:prstGeom prst="ellipse">
            <a:avLst/>
          </a:prstGeom>
          <a:solidFill>
            <a:srgbClr val="F59E0B"/>
          </a:solidFill>
          <a:ln/>
        </p:spPr>
      </p:sp>
      <p:sp>
        <p:nvSpPr>
          <p:cNvPr id="22" name="Shape 20"/>
          <p:cNvSpPr/>
          <p:nvPr/>
        </p:nvSpPr>
        <p:spPr>
          <a:xfrm>
            <a:off x="4983480" y="1389888"/>
            <a:ext cx="91440" cy="91440"/>
          </a:xfrm>
          <a:prstGeom prst="ellipse">
            <a:avLst/>
          </a:prstGeom>
          <a:solidFill>
            <a:srgbClr val="10B981"/>
          </a:solidFill>
          <a:ln/>
        </p:spPr>
      </p:sp>
      <p:sp>
        <p:nvSpPr>
          <p:cNvPr id="23" name="Text 21"/>
          <p:cNvSpPr/>
          <p:nvPr/>
        </p:nvSpPr>
        <p:spPr>
          <a:xfrm>
            <a:off x="5212080" y="1280160"/>
            <a:ext cx="2926080" cy="320040"/>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auth_helper.php</a:t>
            </a:r>
            <a:endParaRPr lang="en-US" sz="800" dirty="0"/>
          </a:p>
        </p:txBody>
      </p:sp>
      <p:sp>
        <p:nvSpPr>
          <p:cNvPr id="24" name="Text 22"/>
          <p:cNvSpPr/>
          <p:nvPr/>
        </p:nvSpPr>
        <p:spPr>
          <a:xfrm>
            <a:off x="4709160" y="1691640"/>
            <a:ext cx="3566160" cy="2788920"/>
          </a:xfrm>
          <a:prstGeom prst="rect">
            <a:avLst/>
          </a:prstGeom>
          <a:noFill/>
          <a:ln/>
        </p:spPr>
        <p:txBody>
          <a:bodyPr wrap="square" rtlCol="0" anchor="t"/>
          <a:lstStyle/>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1 |  function requireAuth($allowedRoles = []) {</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2 |    $headers = getallheaders();</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3 |    $auth = $headers['Authorization'] ?? '';</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4 |    $token = str_replace('Bearer ', '', $auth);</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5 |    $decoded = JWT::decode($token, SECRET_KEY);</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6 |    if (!in_array($decoded-&gt;role, $allowedRoles)) {</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7 |      sendResponse(403, 'Permission Denied');</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8 |    }</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9 |    return $decoded;</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10 |  }</a:t>
            </a:r>
            <a:endParaRPr lang="en-US" sz="820" dirty="0"/>
          </a:p>
        </p:txBody>
      </p:sp>
      <p:sp>
        <p:nvSpPr>
          <p:cNvPr id="25" name="Text 23"/>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7 / 60</a:t>
            </a:r>
            <a:endParaRPr lang="en-US" sz="850" dirty="0"/>
          </a:p>
        </p:txBody>
      </p:sp>
      <p:sp>
        <p:nvSpPr>
          <p:cNvPr id="26" name="Text 24"/>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XÁC THỰC</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Ánh Xạ Chuẩn Hóa Quyền Hạn requireAuth</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8046720" cy="3017520"/>
        </p:xfrm>
        <a:graphic>
          <a:graphicData uri="http://schemas.openxmlformats.org/drawingml/2006/table">
            <a:tbl>
              <a:tblPr/>
              <a:tblGrid>
                <a:gridCol w="2011680"/>
                <a:gridCol w="2011680"/>
                <a:gridCol w="2011680"/>
                <a:gridCol w="2011680"/>
              </a:tblGrid>
              <a:tr h="754380">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DỮ LIỆU FRONTEND TRUYỀN</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CSDL BACKEND YÊU CẦU</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HÀNH ĐỘNG CHUẨN HÓA</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LÝ DO KỸ THUẬT</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r>
              <a:tr h="75438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role = 'sale'</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role = 'sales'</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Thay đổi ký tự cuối thêm 's'</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Đồng bộ phân quyền trong các Controller PHP</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5438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id = 1004</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user_id = 1004</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Sao chép giá trị khóa chính</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Tương thích các logic lọc quan hệ bảng ghi cũ</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75438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name = 'Thanh'</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full_name = 'Thanh'</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Ánh xạ key name nếu thiếu</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Ngăn chặn cảnh báo Undefined Index làm gãy JSON</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16" name="Text 13"/>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8 / 60</a:t>
            </a:r>
            <a:endParaRPr lang="en-US" sz="850" dirty="0"/>
          </a:p>
        </p:txBody>
      </p:sp>
      <p:sp>
        <p:nvSpPr>
          <p:cNvPr id="17" name="Text 14"/>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BẢO MẬT</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Cô Lập Dữ Liệu Đa Khách Thuê (Multi-Tenant)</a:t>
            </a:r>
            <a:endParaRPr lang="en-US" sz="1900" dirty="0"/>
          </a:p>
        </p:txBody>
      </p:sp>
      <p:sp>
        <p:nvSpPr>
          <p:cNvPr id="15" name="Shape 13"/>
          <p:cNvSpPr/>
          <p:nvPr/>
        </p:nvSpPr>
        <p:spPr>
          <a:xfrm>
            <a:off x="731520" y="1280160"/>
            <a:ext cx="2499360" cy="3291840"/>
          </a:xfrm>
          <a:prstGeom prst="roundRect">
            <a:avLst>
              <a:gd name="adj" fmla="val 1829"/>
            </a:avLst>
          </a:prstGeom>
          <a:solidFill>
            <a:srgbClr val="FFFFFF"/>
          </a:solidFill>
          <a:ln w="12700">
            <a:solidFill>
              <a:srgbClr val="E2E8F0"/>
            </a:solidFill>
            <a:prstDash val="solid"/>
          </a:ln>
        </p:spPr>
      </p:sp>
      <p:sp>
        <p:nvSpPr>
          <p:cNvPr id="16" name="Text 14"/>
          <p:cNvSpPr/>
          <p:nvPr/>
        </p:nvSpPr>
        <p:spPr>
          <a:xfrm>
            <a:off x="91440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LỌC TENANT_ID SCOPING</a:t>
            </a:r>
            <a:endParaRPr lang="en-US" sz="950" dirty="0"/>
          </a:p>
        </p:txBody>
      </p:sp>
      <p:sp>
        <p:nvSpPr>
          <p:cNvPr id="17" name="Text 15"/>
          <p:cNvSpPr/>
          <p:nvPr/>
        </p:nvSpPr>
        <p:spPr>
          <a:xfrm>
            <a:off x="91440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Mọi bảng ghi liên kết KHTN, user, config đều chứa trường tenant_id.</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Backend tự động tiêm clause WHERE tenant_id = ? vào tất cả truy vấn SQL SQL.</a:t>
            </a:r>
            <a:endParaRPr lang="en-US" sz="920" dirty="0"/>
          </a:p>
        </p:txBody>
      </p:sp>
      <p:sp>
        <p:nvSpPr>
          <p:cNvPr id="18" name="Shape 16"/>
          <p:cNvSpPr/>
          <p:nvPr/>
        </p:nvSpPr>
        <p:spPr>
          <a:xfrm>
            <a:off x="3505200" y="1280160"/>
            <a:ext cx="2499360" cy="3291840"/>
          </a:xfrm>
          <a:prstGeom prst="roundRect">
            <a:avLst>
              <a:gd name="adj" fmla="val 1829"/>
            </a:avLst>
          </a:prstGeom>
          <a:solidFill>
            <a:srgbClr val="FFFFFF"/>
          </a:solidFill>
          <a:ln w="12700">
            <a:solidFill>
              <a:srgbClr val="E2E8F0"/>
            </a:solidFill>
            <a:prstDash val="solid"/>
          </a:ln>
        </p:spPr>
      </p:sp>
      <p:sp>
        <p:nvSpPr>
          <p:cNvPr id="19" name="Text 17"/>
          <p:cNvSpPr/>
          <p:nvPr/>
        </p:nvSpPr>
        <p:spPr>
          <a:xfrm>
            <a:off x="368808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NGĂN CHẶN TRUY CẬP CHÉO</a:t>
            </a:r>
            <a:endParaRPr lang="en-US" sz="950" dirty="0"/>
          </a:p>
        </p:txBody>
      </p:sp>
      <p:sp>
        <p:nvSpPr>
          <p:cNvPr id="20" name="Text 18"/>
          <p:cNvSpPr/>
          <p:nvPr/>
        </p:nvSpPr>
        <p:spPr>
          <a:xfrm>
            <a:off x="368808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Kiểm duyệt dữ liệu đầu vào chặn đứng hành vi chỉnh sửa param ID chéo tenant.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Trả lỗi 403 Forbidden ngay lập tức cho các action vi phạm ranh giới.</a:t>
            </a:r>
            <a:endParaRPr lang="en-US" sz="920" dirty="0"/>
          </a:p>
        </p:txBody>
      </p:sp>
      <p:sp>
        <p:nvSpPr>
          <p:cNvPr id="21" name="Shape 19"/>
          <p:cNvSpPr/>
          <p:nvPr/>
        </p:nvSpPr>
        <p:spPr>
          <a:xfrm>
            <a:off x="6278880" y="1280160"/>
            <a:ext cx="2499360" cy="3291840"/>
          </a:xfrm>
          <a:prstGeom prst="roundRect">
            <a:avLst>
              <a:gd name="adj" fmla="val 1829"/>
            </a:avLst>
          </a:prstGeom>
          <a:solidFill>
            <a:srgbClr val="FFFFFF"/>
          </a:solidFill>
          <a:ln w="12700">
            <a:solidFill>
              <a:srgbClr val="E2E8F0"/>
            </a:solidFill>
            <a:prstDash val="solid"/>
          </a:ln>
        </p:spPr>
      </p:sp>
      <p:sp>
        <p:nvSpPr>
          <p:cNvPr id="22" name="Text 20"/>
          <p:cNvSpPr/>
          <p:nvPr/>
        </p:nvSpPr>
        <p:spPr>
          <a:xfrm>
            <a:off x="646176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HẠ TẦNG DÙNG CHUNG</a:t>
            </a:r>
            <a:endParaRPr lang="en-US" sz="950" dirty="0"/>
          </a:p>
        </p:txBody>
      </p:sp>
      <p:sp>
        <p:nvSpPr>
          <p:cNvPr id="23" name="Text 21"/>
          <p:cNvSpPr/>
          <p:nvPr/>
        </p:nvSpPr>
        <p:spPr>
          <a:xfrm>
            <a:off x="646176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Các tenant chia sẻ chung Schema và CSDL MySQL giúp tiết kiệm chi phí.</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Sử dụng chỉ mục để phân tách dữ liệu nhanh chóng mà không cần nhiều CSDL.</a:t>
            </a:r>
            <a:endParaRPr lang="en-US" sz="920" dirty="0"/>
          </a:p>
        </p:txBody>
      </p:sp>
      <p:sp>
        <p:nvSpPr>
          <p:cNvPr id="24" name="Text 2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9 / 60</a:t>
            </a:r>
            <a:endParaRPr lang="en-US" sz="850" dirty="0"/>
          </a:p>
        </p:txBody>
      </p:sp>
      <p:sp>
        <p:nvSpPr>
          <p:cNvPr id="25" name="Text 2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BD1D2D"/>
        </a:solidFill>
      </p:bgPr>
    </p:bg>
    <p:spTree>
      <p:nvGrpSpPr>
        <p:cNvPr id="1" name=""/>
        <p:cNvGrpSpPr/>
        <p:nvPr/>
      </p:nvGrpSpPr>
      <p:grpSpPr>
        <a:xfrm>
          <a:off x="0" y="0"/>
          <a:ext cx="0" cy="0"/>
          <a:chOff x="0" y="0"/>
          <a:chExt cx="0" cy="0"/>
        </a:xfrm>
      </p:grpSpPr>
      <p:sp>
        <p:nvSpPr>
          <p:cNvPr id="2" name="Text 0"/>
          <p:cNvSpPr/>
          <p:nvPr/>
        </p:nvSpPr>
        <p:spPr>
          <a:xfrm>
            <a:off x="914400" y="914400"/>
            <a:ext cx="7315200" cy="274320"/>
          </a:xfrm>
          <a:prstGeom prst="rect">
            <a:avLst/>
          </a:prstGeom>
          <a:noFill/>
          <a:ln/>
        </p:spPr>
        <p:txBody>
          <a:bodyPr wrap="square" rtlCol="0" anchor="ctr"/>
          <a:lstStyle/>
          <a:p>
            <a:pPr indent="0" marL="0">
              <a:buNone/>
            </a:pPr>
            <a:r>
              <a:rPr lang="en-US" sz="1300" b="1" dirty="0">
                <a:solidFill>
                  <a:srgbClr val="FFC1C1"/>
                </a:solidFill>
                <a:latin typeface="Segoe UI" pitchFamily="34" charset="0"/>
                <a:ea typeface="Segoe UI" pitchFamily="34" charset="-122"/>
                <a:cs typeface="Segoe UI" pitchFamily="34" charset="-120"/>
              </a:rPr>
              <a:t>KIẾN TRÚC LÕI</a:t>
            </a:r>
            <a:endParaRPr lang="en-US" sz="1300" dirty="0"/>
          </a:p>
        </p:txBody>
      </p:sp>
      <p:sp>
        <p:nvSpPr>
          <p:cNvPr id="3" name="Text 1"/>
          <p:cNvSpPr/>
          <p:nvPr/>
        </p:nvSpPr>
        <p:spPr>
          <a:xfrm>
            <a:off x="914400" y="1280160"/>
            <a:ext cx="7315200" cy="91440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KẾT LUẬN CHƯƠNG 1: KIẾN TRÚC &amp; ĐỊNH TUYẾN</a:t>
            </a:r>
            <a:endParaRPr lang="en-US" sz="3000" dirty="0"/>
          </a:p>
        </p:txBody>
      </p:sp>
      <p:sp>
        <p:nvSpPr>
          <p:cNvPr id="4" name="Text 2"/>
          <p:cNvSpPr/>
          <p:nvPr/>
        </p:nvSpPr>
        <p:spPr>
          <a:xfrm>
            <a:off x="914400" y="2377440"/>
            <a:ext cx="7315200" cy="548640"/>
          </a:xfrm>
          <a:prstGeom prst="rect">
            <a:avLst/>
          </a:prstGeom>
          <a:noFill/>
          <a:ln/>
        </p:spPr>
        <p:txBody>
          <a:bodyPr wrap="square" rtlCol="0" anchor="t"/>
          <a:lstStyle/>
          <a:p>
            <a:pPr indent="0" marL="0">
              <a:lnSpc>
                <a:spcPts val="1600"/>
              </a:lnSpc>
              <a:buNone/>
            </a:pPr>
            <a:r>
              <a:rPr lang="en-US" sz="1150" dirty="0">
                <a:solidFill>
                  <a:srgbClr val="F1F5F9"/>
                </a:solidFill>
                <a:latin typeface="Segoe UI" pitchFamily="34" charset="0"/>
                <a:ea typeface="Segoe UI" pitchFamily="34" charset="-122"/>
                <a:cs typeface="Segoe UI" pitchFamily="34" charset="-120"/>
              </a:rPr>
              <a:t>Dựng nền tảng API PHP Router an toàn tuyệt đối với cơ chế bảo mật ba lớp và tăng tốc độ SPA bằng AppTabs giữ nguyên DOM.</a:t>
            </a:r>
            <a:endParaRPr lang="en-US" sz="1150" dirty="0"/>
          </a:p>
        </p:txBody>
      </p:sp>
      <p:sp>
        <p:nvSpPr>
          <p:cNvPr id="5" name="Shape 3"/>
          <p:cNvSpPr/>
          <p:nvPr/>
        </p:nvSpPr>
        <p:spPr>
          <a:xfrm>
            <a:off x="914400" y="3017520"/>
            <a:ext cx="2194560" cy="1554480"/>
          </a:xfrm>
          <a:prstGeom prst="roundRect">
            <a:avLst>
              <a:gd name="adj" fmla="val 4706"/>
            </a:avLst>
          </a:prstGeom>
          <a:solidFill>
            <a:srgbClr val="9C1523"/>
          </a:solidFill>
          <a:ln w="12700">
            <a:solidFill>
              <a:srgbClr val="C92A3A"/>
            </a:solidFill>
            <a:prstDash val="solid"/>
          </a:ln>
        </p:spPr>
      </p:sp>
      <p:sp>
        <p:nvSpPr>
          <p:cNvPr id="6" name="Text 4"/>
          <p:cNvSpPr/>
          <p:nvPr/>
        </p:nvSpPr>
        <p:spPr>
          <a:xfrm>
            <a:off x="105156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BẢO MẬT 3 LỚP</a:t>
            </a:r>
            <a:endParaRPr lang="en-US" sz="950" dirty="0"/>
          </a:p>
        </p:txBody>
      </p:sp>
      <p:sp>
        <p:nvSpPr>
          <p:cNvPr id="7" name="Text 5"/>
          <p:cNvSpPr/>
          <p:nvPr/>
        </p:nvSpPr>
        <p:spPr>
          <a:xfrm>
            <a:off x="105156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Kết hợp CORS whitelist -&gt; requireAuth xác thực JWT -&gt; tenant_id cô lập CSDL tuyệt đối.</a:t>
            </a:r>
            <a:endParaRPr lang="en-US" sz="850" dirty="0"/>
          </a:p>
        </p:txBody>
      </p:sp>
      <p:sp>
        <p:nvSpPr>
          <p:cNvPr id="8" name="Shape 6"/>
          <p:cNvSpPr/>
          <p:nvPr/>
        </p:nvSpPr>
        <p:spPr>
          <a:xfrm>
            <a:off x="3474720" y="3017520"/>
            <a:ext cx="2194560" cy="1554480"/>
          </a:xfrm>
          <a:prstGeom prst="roundRect">
            <a:avLst>
              <a:gd name="adj" fmla="val 4706"/>
            </a:avLst>
          </a:prstGeom>
          <a:solidFill>
            <a:srgbClr val="9C1523"/>
          </a:solidFill>
          <a:ln w="12700">
            <a:solidFill>
              <a:srgbClr val="C92A3A"/>
            </a:solidFill>
            <a:prstDash val="solid"/>
          </a:ln>
        </p:spPr>
      </p:sp>
      <p:sp>
        <p:nvSpPr>
          <p:cNvPr id="9" name="Text 7"/>
          <p:cNvSpPr/>
          <p:nvPr/>
        </p:nvSpPr>
        <p:spPr>
          <a:xfrm>
            <a:off x="361188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APPTABS CACHE</a:t>
            </a:r>
            <a:endParaRPr lang="en-US" sz="950" dirty="0"/>
          </a:p>
        </p:txBody>
      </p:sp>
      <p:sp>
        <p:nvSpPr>
          <p:cNvPr id="10" name="Text 8"/>
          <p:cNvSpPr/>
          <p:nvPr/>
        </p:nvSpPr>
        <p:spPr>
          <a:xfrm>
            <a:off x="361188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Không unmount component, bảo vệ bộ lọc và trạng thái client, tối ưu 80% tài nguyên CPU.</a:t>
            </a:r>
            <a:endParaRPr lang="en-US" sz="850" dirty="0"/>
          </a:p>
        </p:txBody>
      </p:sp>
      <p:sp>
        <p:nvSpPr>
          <p:cNvPr id="11" name="Shape 9"/>
          <p:cNvSpPr/>
          <p:nvPr/>
        </p:nvSpPr>
        <p:spPr>
          <a:xfrm>
            <a:off x="6035040" y="3017520"/>
            <a:ext cx="2194560" cy="1554480"/>
          </a:xfrm>
          <a:prstGeom prst="roundRect">
            <a:avLst>
              <a:gd name="adj" fmla="val 4706"/>
            </a:avLst>
          </a:prstGeom>
          <a:solidFill>
            <a:srgbClr val="9C1523"/>
          </a:solidFill>
          <a:ln w="12700">
            <a:solidFill>
              <a:srgbClr val="C92A3A"/>
            </a:solidFill>
            <a:prstDash val="solid"/>
          </a:ln>
        </p:spPr>
      </p:sp>
      <p:sp>
        <p:nvSpPr>
          <p:cNvPr id="12" name="Text 10"/>
          <p:cNvSpPr/>
          <p:nvPr/>
        </p:nvSpPr>
        <p:spPr>
          <a:xfrm>
            <a:off x="617220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CHUẨN HÓA VAI</a:t>
            </a:r>
            <a:endParaRPr lang="en-US" sz="950" dirty="0"/>
          </a:p>
        </p:txBody>
      </p:sp>
      <p:sp>
        <p:nvSpPr>
          <p:cNvPr id="13" name="Text 11"/>
          <p:cNvSpPr/>
          <p:nvPr/>
        </p:nvSpPr>
        <p:spPr>
          <a:xfrm>
            <a:off x="617220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Tự động dịch role, user_id và full_name để triệt tiêu lỗi Notice PHP làm gãy luồng API.</a:t>
            </a:r>
            <a:endParaRPr lang="en-US" sz="850" dirty="0"/>
          </a:p>
        </p:txBody>
      </p:sp>
      <p:sp>
        <p:nvSpPr>
          <p:cNvPr id="14" name="Text 1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10 / 60</a:t>
            </a:r>
            <a:endParaRPr lang="en-US" sz="850" dirty="0"/>
          </a:p>
        </p:txBody>
      </p:sp>
      <p:sp>
        <p:nvSpPr>
          <p:cNvPr id="15" name="Text 1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CHIA LEAD</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Tiến Trình Xử Lý Lead Đầu Vào</a:t>
            </a:r>
            <a:endParaRPr lang="en-US" sz="1900" dirty="0"/>
          </a:p>
        </p:txBody>
      </p:sp>
      <p:sp>
        <p:nvSpPr>
          <p:cNvPr id="15" name="Shape 13"/>
          <p:cNvSpPr/>
          <p:nvPr/>
        </p:nvSpPr>
        <p:spPr>
          <a:xfrm>
            <a:off x="731520" y="1280160"/>
            <a:ext cx="1805940" cy="1645920"/>
          </a:xfrm>
          <a:prstGeom prst="roundRect">
            <a:avLst>
              <a:gd name="adj" fmla="val 3333"/>
            </a:avLst>
          </a:prstGeom>
          <a:solidFill>
            <a:srgbClr val="FFFFFF"/>
          </a:solidFill>
          <a:ln w="12700">
            <a:solidFill>
              <a:srgbClr val="E2E8F0"/>
            </a:solidFill>
            <a:prstDash val="solid"/>
          </a:ln>
        </p:spPr>
      </p:sp>
      <p:sp>
        <p:nvSpPr>
          <p:cNvPr id="16" name="Shape 14"/>
          <p:cNvSpPr/>
          <p:nvPr/>
        </p:nvSpPr>
        <p:spPr>
          <a:xfrm>
            <a:off x="2537460" y="1645920"/>
            <a:ext cx="274320" cy="0"/>
          </a:xfrm>
          <a:prstGeom prst="line">
            <a:avLst/>
          </a:prstGeom>
          <a:noFill/>
          <a:ln w="19050">
            <a:solidFill>
              <a:srgbClr val="BD1D2D"/>
            </a:solidFill>
            <a:prstDash val="dash"/>
          </a:ln>
        </p:spPr>
      </p:sp>
      <p:sp>
        <p:nvSpPr>
          <p:cNvPr id="17" name="Shape 15"/>
          <p:cNvSpPr/>
          <p:nvPr/>
        </p:nvSpPr>
        <p:spPr>
          <a:xfrm>
            <a:off x="1451610" y="1463040"/>
            <a:ext cx="365760" cy="365760"/>
          </a:xfrm>
          <a:prstGeom prst="ellipse">
            <a:avLst/>
          </a:prstGeom>
          <a:solidFill>
            <a:srgbClr val="BD1D2D"/>
          </a:solidFill>
          <a:ln w="19050">
            <a:solidFill>
              <a:srgbClr val="FFFFFF"/>
            </a:solidFill>
            <a:prstDash val="solid"/>
          </a:ln>
        </p:spPr>
      </p:sp>
      <p:sp>
        <p:nvSpPr>
          <p:cNvPr id="18" name="Text 16"/>
          <p:cNvSpPr/>
          <p:nvPr/>
        </p:nvSpPr>
        <p:spPr>
          <a:xfrm>
            <a:off x="1451610" y="146304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1</a:t>
            </a:r>
            <a:endParaRPr lang="en-US" sz="950" dirty="0"/>
          </a:p>
        </p:txBody>
      </p:sp>
      <p:sp>
        <p:nvSpPr>
          <p:cNvPr id="19" name="Text 17"/>
          <p:cNvSpPr/>
          <p:nvPr/>
        </p:nvSpPr>
        <p:spPr>
          <a:xfrm>
            <a:off x="822960" y="1965960"/>
            <a:ext cx="162306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Webhook nhận</a:t>
            </a:r>
            <a:endParaRPr lang="en-US" sz="950" dirty="0"/>
          </a:p>
        </p:txBody>
      </p:sp>
      <p:sp>
        <p:nvSpPr>
          <p:cNvPr id="20" name="Text 18"/>
          <p:cNvSpPr/>
          <p:nvPr/>
        </p:nvSpPr>
        <p:spPr>
          <a:xfrm>
            <a:off x="822960" y="2286000"/>
            <a:ext cx="1623060" cy="5486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POST lead thô từ Facebook/LP, normalize SĐT.</a:t>
            </a:r>
            <a:endParaRPr lang="en-US" sz="800" dirty="0"/>
          </a:p>
        </p:txBody>
      </p:sp>
      <p:sp>
        <p:nvSpPr>
          <p:cNvPr id="21" name="Shape 19"/>
          <p:cNvSpPr/>
          <p:nvPr/>
        </p:nvSpPr>
        <p:spPr>
          <a:xfrm>
            <a:off x="2811780" y="1280160"/>
            <a:ext cx="1805940" cy="1645920"/>
          </a:xfrm>
          <a:prstGeom prst="roundRect">
            <a:avLst>
              <a:gd name="adj" fmla="val 3333"/>
            </a:avLst>
          </a:prstGeom>
          <a:solidFill>
            <a:srgbClr val="FFFFFF"/>
          </a:solidFill>
          <a:ln w="12700">
            <a:solidFill>
              <a:srgbClr val="E2E8F0"/>
            </a:solidFill>
            <a:prstDash val="solid"/>
          </a:ln>
        </p:spPr>
      </p:sp>
      <p:sp>
        <p:nvSpPr>
          <p:cNvPr id="22" name="Shape 20"/>
          <p:cNvSpPr/>
          <p:nvPr/>
        </p:nvSpPr>
        <p:spPr>
          <a:xfrm>
            <a:off x="4617720" y="1645920"/>
            <a:ext cx="274320" cy="0"/>
          </a:xfrm>
          <a:prstGeom prst="line">
            <a:avLst/>
          </a:prstGeom>
          <a:noFill/>
          <a:ln w="19050">
            <a:solidFill>
              <a:srgbClr val="BD1D2D"/>
            </a:solidFill>
            <a:prstDash val="dash"/>
          </a:ln>
        </p:spPr>
      </p:sp>
      <p:sp>
        <p:nvSpPr>
          <p:cNvPr id="23" name="Shape 21"/>
          <p:cNvSpPr/>
          <p:nvPr/>
        </p:nvSpPr>
        <p:spPr>
          <a:xfrm>
            <a:off x="3531870" y="1463040"/>
            <a:ext cx="365760" cy="365760"/>
          </a:xfrm>
          <a:prstGeom prst="ellipse">
            <a:avLst/>
          </a:prstGeom>
          <a:solidFill>
            <a:srgbClr val="BD1D2D"/>
          </a:solidFill>
          <a:ln w="19050">
            <a:solidFill>
              <a:srgbClr val="FFFFFF"/>
            </a:solidFill>
            <a:prstDash val="solid"/>
          </a:ln>
        </p:spPr>
      </p:sp>
      <p:sp>
        <p:nvSpPr>
          <p:cNvPr id="24" name="Text 22"/>
          <p:cNvSpPr/>
          <p:nvPr/>
        </p:nvSpPr>
        <p:spPr>
          <a:xfrm>
            <a:off x="3531870" y="146304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2</a:t>
            </a:r>
            <a:endParaRPr lang="en-US" sz="950" dirty="0"/>
          </a:p>
        </p:txBody>
      </p:sp>
      <p:sp>
        <p:nvSpPr>
          <p:cNvPr id="25" name="Text 23"/>
          <p:cNvSpPr/>
          <p:nvPr/>
        </p:nvSpPr>
        <p:spPr>
          <a:xfrm>
            <a:off x="2903220" y="1965960"/>
            <a:ext cx="162306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Persons Check</a:t>
            </a:r>
            <a:endParaRPr lang="en-US" sz="950" dirty="0"/>
          </a:p>
        </p:txBody>
      </p:sp>
      <p:sp>
        <p:nvSpPr>
          <p:cNvPr id="26" name="Text 24"/>
          <p:cNvSpPr/>
          <p:nvPr/>
        </p:nvSpPr>
        <p:spPr>
          <a:xfrm>
            <a:off x="2903220" y="2286000"/>
            <a:ext cx="1623060" cy="5486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Tìm kiếm SĐT cũ, giữ nguyên chủ cũ nếu trùng.</a:t>
            </a:r>
            <a:endParaRPr lang="en-US" sz="800" dirty="0"/>
          </a:p>
        </p:txBody>
      </p:sp>
      <p:sp>
        <p:nvSpPr>
          <p:cNvPr id="27" name="Shape 25"/>
          <p:cNvSpPr/>
          <p:nvPr/>
        </p:nvSpPr>
        <p:spPr>
          <a:xfrm>
            <a:off x="4892040" y="1280160"/>
            <a:ext cx="1805940" cy="1645920"/>
          </a:xfrm>
          <a:prstGeom prst="roundRect">
            <a:avLst>
              <a:gd name="adj" fmla="val 3333"/>
            </a:avLst>
          </a:prstGeom>
          <a:solidFill>
            <a:srgbClr val="FFFFFF"/>
          </a:solidFill>
          <a:ln w="12700">
            <a:solidFill>
              <a:srgbClr val="E2E8F0"/>
            </a:solidFill>
            <a:prstDash val="solid"/>
          </a:ln>
        </p:spPr>
      </p:sp>
      <p:sp>
        <p:nvSpPr>
          <p:cNvPr id="28" name="Shape 26"/>
          <p:cNvSpPr/>
          <p:nvPr/>
        </p:nvSpPr>
        <p:spPr>
          <a:xfrm>
            <a:off x="6697980" y="1645920"/>
            <a:ext cx="274320" cy="0"/>
          </a:xfrm>
          <a:prstGeom prst="line">
            <a:avLst/>
          </a:prstGeom>
          <a:noFill/>
          <a:ln w="19050">
            <a:solidFill>
              <a:srgbClr val="BD1D2D"/>
            </a:solidFill>
            <a:prstDash val="dash"/>
          </a:ln>
        </p:spPr>
      </p:sp>
      <p:sp>
        <p:nvSpPr>
          <p:cNvPr id="29" name="Shape 27"/>
          <p:cNvSpPr/>
          <p:nvPr/>
        </p:nvSpPr>
        <p:spPr>
          <a:xfrm>
            <a:off x="5612130" y="1463040"/>
            <a:ext cx="365760" cy="365760"/>
          </a:xfrm>
          <a:prstGeom prst="ellipse">
            <a:avLst/>
          </a:prstGeom>
          <a:solidFill>
            <a:srgbClr val="BD1D2D"/>
          </a:solidFill>
          <a:ln w="19050">
            <a:solidFill>
              <a:srgbClr val="FFFFFF"/>
            </a:solidFill>
            <a:prstDash val="solid"/>
          </a:ln>
        </p:spPr>
      </p:sp>
      <p:sp>
        <p:nvSpPr>
          <p:cNvPr id="30" name="Text 28"/>
          <p:cNvSpPr/>
          <p:nvPr/>
        </p:nvSpPr>
        <p:spPr>
          <a:xfrm>
            <a:off x="5612130" y="146304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3</a:t>
            </a:r>
            <a:endParaRPr lang="en-US" sz="950" dirty="0"/>
          </a:p>
        </p:txBody>
      </p:sp>
      <p:sp>
        <p:nvSpPr>
          <p:cNvPr id="31" name="Text 29"/>
          <p:cNvSpPr/>
          <p:nvPr/>
        </p:nvSpPr>
        <p:spPr>
          <a:xfrm>
            <a:off x="4983480" y="1965960"/>
            <a:ext cx="162306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getNext Sale</a:t>
            </a:r>
            <a:endParaRPr lang="en-US" sz="950" dirty="0"/>
          </a:p>
        </p:txBody>
      </p:sp>
      <p:sp>
        <p:nvSpPr>
          <p:cNvPr id="32" name="Text 30"/>
          <p:cNvSpPr/>
          <p:nvPr/>
        </p:nvSpPr>
        <p:spPr>
          <a:xfrm>
            <a:off x="4983480" y="2286000"/>
            <a:ext cx="1623060" cy="5486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Xoay vòng Sale hợp lệ qua Roster ca trực.</a:t>
            </a:r>
            <a:endParaRPr lang="en-US" sz="800" dirty="0"/>
          </a:p>
        </p:txBody>
      </p:sp>
      <p:sp>
        <p:nvSpPr>
          <p:cNvPr id="33" name="Shape 31"/>
          <p:cNvSpPr/>
          <p:nvPr/>
        </p:nvSpPr>
        <p:spPr>
          <a:xfrm>
            <a:off x="6972300" y="1280160"/>
            <a:ext cx="1805940" cy="1645920"/>
          </a:xfrm>
          <a:prstGeom prst="roundRect">
            <a:avLst>
              <a:gd name="adj" fmla="val 3333"/>
            </a:avLst>
          </a:prstGeom>
          <a:solidFill>
            <a:srgbClr val="FFFFFF"/>
          </a:solidFill>
          <a:ln w="12700">
            <a:solidFill>
              <a:srgbClr val="E2E8F0"/>
            </a:solidFill>
            <a:prstDash val="solid"/>
          </a:ln>
        </p:spPr>
      </p:sp>
      <p:sp>
        <p:nvSpPr>
          <p:cNvPr id="34" name="Shape 32"/>
          <p:cNvSpPr/>
          <p:nvPr/>
        </p:nvSpPr>
        <p:spPr>
          <a:xfrm>
            <a:off x="7692390" y="1463040"/>
            <a:ext cx="365760" cy="365760"/>
          </a:xfrm>
          <a:prstGeom prst="ellipse">
            <a:avLst/>
          </a:prstGeom>
          <a:solidFill>
            <a:srgbClr val="BD1D2D"/>
          </a:solidFill>
          <a:ln w="19050">
            <a:solidFill>
              <a:srgbClr val="FFFFFF"/>
            </a:solidFill>
            <a:prstDash val="solid"/>
          </a:ln>
        </p:spPr>
      </p:sp>
      <p:sp>
        <p:nvSpPr>
          <p:cNvPr id="35" name="Text 33"/>
          <p:cNvSpPr/>
          <p:nvPr/>
        </p:nvSpPr>
        <p:spPr>
          <a:xfrm>
            <a:off x="7692390" y="146304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4</a:t>
            </a:r>
            <a:endParaRPr lang="en-US" sz="950" dirty="0"/>
          </a:p>
        </p:txBody>
      </p:sp>
      <p:sp>
        <p:nvSpPr>
          <p:cNvPr id="36" name="Text 34"/>
          <p:cNvSpPr/>
          <p:nvPr/>
        </p:nvSpPr>
        <p:spPr>
          <a:xfrm>
            <a:off x="7063740" y="1965960"/>
            <a:ext cx="162306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Gán lead</a:t>
            </a:r>
            <a:endParaRPr lang="en-US" sz="950" dirty="0"/>
          </a:p>
        </p:txBody>
      </p:sp>
      <p:sp>
        <p:nvSpPr>
          <p:cNvPr id="37" name="Text 35"/>
          <p:cNvSpPr/>
          <p:nvPr/>
        </p:nvSpPr>
        <p:spPr>
          <a:xfrm>
            <a:off x="7063740" y="2286000"/>
            <a:ext cx="1623060" cy="5486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Chuyển trạng thái assigned, đếm ngược 120s.</a:t>
            </a:r>
            <a:endParaRPr lang="en-US" sz="800" dirty="0"/>
          </a:p>
        </p:txBody>
      </p:sp>
      <p:sp>
        <p:nvSpPr>
          <p:cNvPr id="38" name="Shape 36"/>
          <p:cNvSpPr/>
          <p:nvPr/>
        </p:nvSpPr>
        <p:spPr>
          <a:xfrm>
            <a:off x="731520" y="3200400"/>
            <a:ext cx="3840480" cy="1280160"/>
          </a:xfrm>
          <a:prstGeom prst="roundRect">
            <a:avLst>
              <a:gd name="adj" fmla="val 5714"/>
            </a:avLst>
          </a:prstGeom>
          <a:solidFill>
            <a:srgbClr val="FFFFFF"/>
          </a:solidFill>
          <a:ln w="12700">
            <a:solidFill>
              <a:srgbClr val="E2E8F0"/>
            </a:solidFill>
            <a:prstDash val="solid"/>
          </a:ln>
        </p:spPr>
      </p:sp>
      <p:sp>
        <p:nvSpPr>
          <p:cNvPr id="39" name="Shape 37"/>
          <p:cNvSpPr/>
          <p:nvPr/>
        </p:nvSpPr>
        <p:spPr>
          <a:xfrm>
            <a:off x="731520" y="3200400"/>
            <a:ext cx="3840480" cy="274320"/>
          </a:xfrm>
          <a:prstGeom prst="rect">
            <a:avLst/>
          </a:prstGeom>
          <a:solidFill>
            <a:srgbClr val="F8FAFC"/>
          </a:solidFill>
          <a:ln/>
        </p:spPr>
      </p:sp>
      <p:sp>
        <p:nvSpPr>
          <p:cNvPr id="40" name="Shape 38"/>
          <p:cNvSpPr/>
          <p:nvPr/>
        </p:nvSpPr>
        <p:spPr>
          <a:xfrm>
            <a:off x="868680" y="3291840"/>
            <a:ext cx="91440" cy="91440"/>
          </a:xfrm>
          <a:prstGeom prst="ellipse">
            <a:avLst/>
          </a:prstGeom>
          <a:solidFill>
            <a:srgbClr val="3B82F6"/>
          </a:solidFill>
          <a:ln/>
        </p:spPr>
      </p:sp>
      <p:sp>
        <p:nvSpPr>
          <p:cNvPr id="41" name="Text 39"/>
          <p:cNvSpPr/>
          <p:nvPr/>
        </p:nvSpPr>
        <p:spPr>
          <a:xfrm>
            <a:off x="1005840" y="3200400"/>
            <a:ext cx="3474720" cy="274320"/>
          </a:xfrm>
          <a:prstGeom prst="rect">
            <a:avLst/>
          </a:prstGeom>
          <a:noFill/>
          <a:ln/>
        </p:spPr>
        <p:txBody>
          <a:bodyPr wrap="square" rtlCol="0" anchor="ctr"/>
          <a:lstStyle/>
          <a:p>
            <a:pPr indent="0" marL="0">
              <a:buNone/>
            </a:pPr>
            <a:r>
              <a:rPr lang="en-US" sz="800" b="1" dirty="0">
                <a:solidFill>
                  <a:srgbClr val="475569"/>
                </a:solidFill>
                <a:latin typeface="Segoe UI" pitchFamily="34" charset="0"/>
                <a:ea typeface="Segoe UI" pitchFamily="34" charset="-122"/>
                <a:cs typeface="Segoe UI" pitchFamily="34" charset="-120"/>
              </a:rPr>
              <a:t>TICKET: ASSIGNED</a:t>
            </a:r>
            <a:endParaRPr lang="en-US" sz="800" dirty="0"/>
          </a:p>
        </p:txBody>
      </p:sp>
      <p:sp>
        <p:nvSpPr>
          <p:cNvPr id="42" name="Text 40"/>
          <p:cNvSpPr/>
          <p:nvPr/>
        </p:nvSpPr>
        <p:spPr>
          <a:xfrm>
            <a:off x="868680" y="3566160"/>
            <a:ext cx="35661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Nguyễn Văn An</a:t>
            </a:r>
            <a:endParaRPr lang="en-US" sz="1050" dirty="0"/>
          </a:p>
        </p:txBody>
      </p:sp>
      <p:sp>
        <p:nvSpPr>
          <p:cNvPr id="43" name="Text 41"/>
          <p:cNvSpPr/>
          <p:nvPr/>
        </p:nvSpPr>
        <p:spPr>
          <a:xfrm>
            <a:off x="868680" y="3794760"/>
            <a:ext cx="3566160" cy="18288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0912345678</a:t>
            </a:r>
            <a:endParaRPr lang="en-US" sz="900" dirty="0"/>
          </a:p>
        </p:txBody>
      </p:sp>
      <p:sp>
        <p:nvSpPr>
          <p:cNvPr id="44" name="Shape 42"/>
          <p:cNvSpPr/>
          <p:nvPr/>
        </p:nvSpPr>
        <p:spPr>
          <a:xfrm>
            <a:off x="868680" y="4069080"/>
            <a:ext cx="822960" cy="201168"/>
          </a:xfrm>
          <a:prstGeom prst="roundRect">
            <a:avLst>
              <a:gd name="adj" fmla="val 227273"/>
            </a:avLst>
          </a:prstGeom>
          <a:solidFill>
            <a:srgbClr val="E0F2FE"/>
          </a:solidFill>
          <a:ln/>
        </p:spPr>
      </p:sp>
      <p:sp>
        <p:nvSpPr>
          <p:cNvPr id="45" name="Text 43"/>
          <p:cNvSpPr/>
          <p:nvPr/>
        </p:nvSpPr>
        <p:spPr>
          <a:xfrm>
            <a:off x="868680" y="4069080"/>
            <a:ext cx="822960" cy="201168"/>
          </a:xfrm>
          <a:prstGeom prst="rect">
            <a:avLst/>
          </a:prstGeom>
          <a:noFill/>
          <a:ln/>
        </p:spPr>
        <p:txBody>
          <a:bodyPr wrap="square" rtlCol="0" anchor="ctr"/>
          <a:lstStyle/>
          <a:p>
            <a:pPr algn="ctr" indent="0" marL="0">
              <a:buNone/>
            </a:pPr>
            <a:r>
              <a:rPr lang="en-US" sz="750" b="1" dirty="0">
                <a:solidFill>
                  <a:srgbClr val="0369A1"/>
                </a:solidFill>
                <a:latin typeface="Segoe UI" pitchFamily="34" charset="0"/>
                <a:ea typeface="Segoe UI" pitchFamily="34" charset="-122"/>
                <a:cs typeface="Segoe UI" pitchFamily="34" charset="-120"/>
              </a:rPr>
              <a:t>Facebook Ads</a:t>
            </a:r>
            <a:endParaRPr lang="en-US" sz="750" dirty="0"/>
          </a:p>
        </p:txBody>
      </p:sp>
      <p:sp>
        <p:nvSpPr>
          <p:cNvPr id="46" name="Shape 44"/>
          <p:cNvSpPr/>
          <p:nvPr/>
        </p:nvSpPr>
        <p:spPr>
          <a:xfrm>
            <a:off x="1783080" y="4069080"/>
            <a:ext cx="731520" cy="201168"/>
          </a:xfrm>
          <a:prstGeom prst="roundRect">
            <a:avLst>
              <a:gd name="adj" fmla="val 227273"/>
            </a:avLst>
          </a:prstGeom>
          <a:solidFill>
            <a:srgbClr val="FEE2E2"/>
          </a:solidFill>
          <a:ln/>
        </p:spPr>
      </p:sp>
      <p:sp>
        <p:nvSpPr>
          <p:cNvPr id="47" name="Text 45"/>
          <p:cNvSpPr/>
          <p:nvPr/>
        </p:nvSpPr>
        <p:spPr>
          <a:xfrm>
            <a:off x="1783080" y="4069080"/>
            <a:ext cx="731520" cy="201168"/>
          </a:xfrm>
          <a:prstGeom prst="rect">
            <a:avLst/>
          </a:prstGeom>
          <a:noFill/>
          <a:ln/>
        </p:spPr>
        <p:txBody>
          <a:bodyPr wrap="square" rtlCol="0" anchor="ctr"/>
          <a:lstStyle/>
          <a:p>
            <a:pPr algn="ctr" indent="0" marL="0">
              <a:buNone/>
            </a:pPr>
            <a:r>
              <a:rPr lang="en-US" sz="750" b="1" dirty="0">
                <a:solidFill>
                  <a:srgbClr val="BD1D2D"/>
                </a:solidFill>
                <a:latin typeface="Segoe UI" pitchFamily="34" charset="0"/>
                <a:ea typeface="Segoe UI" pitchFamily="34" charset="-122"/>
                <a:cs typeface="Segoe UI" pitchFamily="34" charset="-120"/>
              </a:rPr>
              <a:t>HOT</a:t>
            </a:r>
            <a:endParaRPr lang="en-US" sz="750" dirty="0"/>
          </a:p>
        </p:txBody>
      </p:sp>
      <p:sp>
        <p:nvSpPr>
          <p:cNvPr id="48" name="Shape 46"/>
          <p:cNvSpPr/>
          <p:nvPr/>
        </p:nvSpPr>
        <p:spPr>
          <a:xfrm>
            <a:off x="4937760" y="3200400"/>
            <a:ext cx="3840480" cy="1280160"/>
          </a:xfrm>
          <a:prstGeom prst="roundRect">
            <a:avLst>
              <a:gd name="adj" fmla="val 5714"/>
            </a:avLst>
          </a:prstGeom>
          <a:solidFill>
            <a:srgbClr val="FFFFFF"/>
          </a:solidFill>
          <a:ln w="12700">
            <a:solidFill>
              <a:srgbClr val="E2E8F0"/>
            </a:solidFill>
            <a:prstDash val="solid"/>
          </a:ln>
        </p:spPr>
      </p:sp>
      <p:sp>
        <p:nvSpPr>
          <p:cNvPr id="49" name="Shape 47"/>
          <p:cNvSpPr/>
          <p:nvPr/>
        </p:nvSpPr>
        <p:spPr>
          <a:xfrm>
            <a:off x="4937760" y="3200400"/>
            <a:ext cx="3840480" cy="274320"/>
          </a:xfrm>
          <a:prstGeom prst="rect">
            <a:avLst/>
          </a:prstGeom>
          <a:solidFill>
            <a:srgbClr val="F8FAFC"/>
          </a:solidFill>
          <a:ln/>
        </p:spPr>
      </p:sp>
      <p:sp>
        <p:nvSpPr>
          <p:cNvPr id="50" name="Shape 48"/>
          <p:cNvSpPr/>
          <p:nvPr/>
        </p:nvSpPr>
        <p:spPr>
          <a:xfrm>
            <a:off x="5074920" y="3291840"/>
            <a:ext cx="91440" cy="91440"/>
          </a:xfrm>
          <a:prstGeom prst="ellipse">
            <a:avLst/>
          </a:prstGeom>
          <a:solidFill>
            <a:srgbClr val="3B82F6"/>
          </a:solidFill>
          <a:ln/>
        </p:spPr>
      </p:sp>
      <p:sp>
        <p:nvSpPr>
          <p:cNvPr id="51" name="Text 49"/>
          <p:cNvSpPr/>
          <p:nvPr/>
        </p:nvSpPr>
        <p:spPr>
          <a:xfrm>
            <a:off x="5212080" y="3200400"/>
            <a:ext cx="3474720" cy="274320"/>
          </a:xfrm>
          <a:prstGeom prst="rect">
            <a:avLst/>
          </a:prstGeom>
          <a:noFill/>
          <a:ln/>
        </p:spPr>
        <p:txBody>
          <a:bodyPr wrap="square" rtlCol="0" anchor="ctr"/>
          <a:lstStyle/>
          <a:p>
            <a:pPr indent="0" marL="0">
              <a:buNone/>
            </a:pPr>
            <a:r>
              <a:rPr lang="en-US" sz="800" b="1" dirty="0">
                <a:solidFill>
                  <a:srgbClr val="475569"/>
                </a:solidFill>
                <a:latin typeface="Segoe UI" pitchFamily="34" charset="0"/>
                <a:ea typeface="Segoe UI" pitchFamily="34" charset="-122"/>
                <a:cs typeface="Segoe UI" pitchFamily="34" charset="-120"/>
              </a:rPr>
              <a:t>TICKET: DUPLICATE</a:t>
            </a:r>
            <a:endParaRPr lang="en-US" sz="800" dirty="0"/>
          </a:p>
        </p:txBody>
      </p:sp>
      <p:sp>
        <p:nvSpPr>
          <p:cNvPr id="52" name="Text 50"/>
          <p:cNvSpPr/>
          <p:nvPr/>
        </p:nvSpPr>
        <p:spPr>
          <a:xfrm>
            <a:off x="5074920" y="3566160"/>
            <a:ext cx="35661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Phạm Thị Bình</a:t>
            </a:r>
            <a:endParaRPr lang="en-US" sz="1050" dirty="0"/>
          </a:p>
        </p:txBody>
      </p:sp>
      <p:sp>
        <p:nvSpPr>
          <p:cNvPr id="53" name="Text 51"/>
          <p:cNvSpPr/>
          <p:nvPr/>
        </p:nvSpPr>
        <p:spPr>
          <a:xfrm>
            <a:off x="5074920" y="3794760"/>
            <a:ext cx="3566160" cy="18288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0987654321</a:t>
            </a:r>
            <a:endParaRPr lang="en-US" sz="900" dirty="0"/>
          </a:p>
        </p:txBody>
      </p:sp>
      <p:sp>
        <p:nvSpPr>
          <p:cNvPr id="54" name="Shape 52"/>
          <p:cNvSpPr/>
          <p:nvPr/>
        </p:nvSpPr>
        <p:spPr>
          <a:xfrm>
            <a:off x="5074920" y="4069080"/>
            <a:ext cx="822960" cy="201168"/>
          </a:xfrm>
          <a:prstGeom prst="roundRect">
            <a:avLst>
              <a:gd name="adj" fmla="val 227273"/>
            </a:avLst>
          </a:prstGeom>
          <a:solidFill>
            <a:srgbClr val="E0F2FE"/>
          </a:solidFill>
          <a:ln/>
        </p:spPr>
      </p:sp>
      <p:sp>
        <p:nvSpPr>
          <p:cNvPr id="55" name="Text 53"/>
          <p:cNvSpPr/>
          <p:nvPr/>
        </p:nvSpPr>
        <p:spPr>
          <a:xfrm>
            <a:off x="5074920" y="4069080"/>
            <a:ext cx="822960" cy="201168"/>
          </a:xfrm>
          <a:prstGeom prst="rect">
            <a:avLst/>
          </a:prstGeom>
          <a:noFill/>
          <a:ln/>
        </p:spPr>
        <p:txBody>
          <a:bodyPr wrap="square" rtlCol="0" anchor="ctr"/>
          <a:lstStyle/>
          <a:p>
            <a:pPr algn="ctr" indent="0" marL="0">
              <a:buNone/>
            </a:pPr>
            <a:r>
              <a:rPr lang="en-US" sz="750" b="1" dirty="0">
                <a:solidFill>
                  <a:srgbClr val="0369A1"/>
                </a:solidFill>
                <a:latin typeface="Segoe UI" pitchFamily="34" charset="0"/>
                <a:ea typeface="Segoe UI" pitchFamily="34" charset="-122"/>
                <a:cs typeface="Segoe UI" pitchFamily="34" charset="-120"/>
              </a:rPr>
              <a:t>Landing Page</a:t>
            </a:r>
            <a:endParaRPr lang="en-US" sz="750" dirty="0"/>
          </a:p>
        </p:txBody>
      </p:sp>
      <p:sp>
        <p:nvSpPr>
          <p:cNvPr id="56" name="Shape 54"/>
          <p:cNvSpPr/>
          <p:nvPr/>
        </p:nvSpPr>
        <p:spPr>
          <a:xfrm>
            <a:off x="5989320" y="4069080"/>
            <a:ext cx="731520" cy="201168"/>
          </a:xfrm>
          <a:prstGeom prst="roundRect">
            <a:avLst>
              <a:gd name="adj" fmla="val 227273"/>
            </a:avLst>
          </a:prstGeom>
          <a:solidFill>
            <a:srgbClr val="FEF3C7"/>
          </a:solidFill>
          <a:ln/>
        </p:spPr>
      </p:sp>
      <p:sp>
        <p:nvSpPr>
          <p:cNvPr id="57" name="Text 55"/>
          <p:cNvSpPr/>
          <p:nvPr/>
        </p:nvSpPr>
        <p:spPr>
          <a:xfrm>
            <a:off x="5989320" y="4069080"/>
            <a:ext cx="731520" cy="201168"/>
          </a:xfrm>
          <a:prstGeom prst="rect">
            <a:avLst/>
          </a:prstGeom>
          <a:noFill/>
          <a:ln/>
        </p:spPr>
        <p:txBody>
          <a:bodyPr wrap="square" rtlCol="0" anchor="ctr"/>
          <a:lstStyle/>
          <a:p>
            <a:pPr algn="ctr" indent="0" marL="0">
              <a:buNone/>
            </a:pPr>
            <a:r>
              <a:rPr lang="en-US" sz="750" b="1" dirty="0">
                <a:solidFill>
                  <a:srgbClr val="D97706"/>
                </a:solidFill>
                <a:latin typeface="Segoe UI" pitchFamily="34" charset="0"/>
                <a:ea typeface="Segoe UI" pitchFamily="34" charset="-122"/>
                <a:cs typeface="Segoe UI" pitchFamily="34" charset="-120"/>
              </a:rPr>
              <a:t>WARM</a:t>
            </a:r>
            <a:endParaRPr lang="en-US" sz="750" dirty="0"/>
          </a:p>
        </p:txBody>
      </p:sp>
      <p:sp>
        <p:nvSpPr>
          <p:cNvPr id="58" name="Text 56"/>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11 / 60</a:t>
            </a:r>
            <a:endParaRPr lang="en-US" sz="850" dirty="0"/>
          </a:p>
        </p:txBody>
      </p:sp>
      <p:sp>
        <p:nvSpPr>
          <p:cNvPr id="59" name="Text 57"/>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CHIA LEAD</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Vòng Lặp Phân Phối Tròn getNextConsultant</a:t>
            </a:r>
            <a:endParaRPr lang="en-US" sz="1900" dirty="0"/>
          </a:p>
        </p:txBody>
      </p:sp>
      <p:sp>
        <p:nvSpPr>
          <p:cNvPr id="15" name="Shape 13"/>
          <p:cNvSpPr/>
          <p:nvPr/>
        </p:nvSpPr>
        <p:spPr>
          <a:xfrm>
            <a:off x="731520" y="1645920"/>
            <a:ext cx="2286000" cy="2286000"/>
          </a:xfrm>
          <a:prstGeom prst="roundRect">
            <a:avLst>
              <a:gd name="adj" fmla="val 2000"/>
            </a:avLst>
          </a:prstGeom>
          <a:solidFill>
            <a:srgbClr val="FFFFFF"/>
          </a:solidFill>
          <a:ln w="12700">
            <a:solidFill>
              <a:srgbClr val="E2E8F0"/>
            </a:solidFill>
            <a:prstDash val="solid"/>
          </a:ln>
        </p:spPr>
      </p:sp>
      <p:sp>
        <p:nvSpPr>
          <p:cNvPr id="16" name="Shape 14"/>
          <p:cNvSpPr/>
          <p:nvPr/>
        </p:nvSpPr>
        <p:spPr>
          <a:xfrm>
            <a:off x="868680" y="1783080"/>
            <a:ext cx="320040" cy="228600"/>
          </a:xfrm>
          <a:prstGeom prst="roundRect">
            <a:avLst>
              <a:gd name="adj" fmla="val 200000"/>
            </a:avLst>
          </a:prstGeom>
          <a:solidFill>
            <a:srgbClr val="FEE2E2"/>
          </a:solidFill>
          <a:ln/>
        </p:spPr>
      </p:sp>
      <p:sp>
        <p:nvSpPr>
          <p:cNvPr id="17" name="Text 15"/>
          <p:cNvSpPr/>
          <p:nvPr/>
        </p:nvSpPr>
        <p:spPr>
          <a:xfrm>
            <a:off x="86868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1</a:t>
            </a:r>
            <a:endParaRPr lang="en-US" sz="900" dirty="0"/>
          </a:p>
        </p:txBody>
      </p:sp>
      <p:sp>
        <p:nvSpPr>
          <p:cNvPr id="18" name="Text 16"/>
          <p:cNvSpPr/>
          <p:nvPr/>
        </p:nvSpPr>
        <p:spPr>
          <a:xfrm>
            <a:off x="128016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Lấy Sale cuối</a:t>
            </a:r>
            <a:endParaRPr lang="en-US" sz="1000" dirty="0"/>
          </a:p>
        </p:txBody>
      </p:sp>
      <p:sp>
        <p:nvSpPr>
          <p:cNvPr id="19" name="Text 17"/>
          <p:cNvSpPr/>
          <p:nvPr/>
        </p:nvSpPr>
        <p:spPr>
          <a:xfrm>
            <a:off x="86868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Đọc id Sale nhận lead gần nhất từ distribution_rounds.</a:t>
            </a:r>
            <a:endParaRPr lang="en-US" sz="820" dirty="0"/>
          </a:p>
        </p:txBody>
      </p:sp>
      <p:sp>
        <p:nvSpPr>
          <p:cNvPr id="20" name="Shape 18"/>
          <p:cNvSpPr/>
          <p:nvPr/>
        </p:nvSpPr>
        <p:spPr>
          <a:xfrm>
            <a:off x="3054096" y="2697480"/>
            <a:ext cx="109728" cy="182880"/>
          </a:xfrm>
          <a:prstGeom prst="rightArrow">
            <a:avLst/>
          </a:prstGeom>
          <a:solidFill>
            <a:srgbClr val="94A3B8"/>
          </a:solidFill>
          <a:ln w="6350">
            <a:solidFill>
              <a:srgbClr val="E2E8F0"/>
            </a:solidFill>
            <a:prstDash val="solid"/>
          </a:ln>
        </p:spPr>
      </p:sp>
      <p:sp>
        <p:nvSpPr>
          <p:cNvPr id="21" name="Shape 19"/>
          <p:cNvSpPr/>
          <p:nvPr/>
        </p:nvSpPr>
        <p:spPr>
          <a:xfrm>
            <a:off x="3337560" y="1645920"/>
            <a:ext cx="2286000" cy="2286000"/>
          </a:xfrm>
          <a:prstGeom prst="roundRect">
            <a:avLst>
              <a:gd name="adj" fmla="val 2000"/>
            </a:avLst>
          </a:prstGeom>
          <a:solidFill>
            <a:srgbClr val="FFFFFF"/>
          </a:solidFill>
          <a:ln w="12700">
            <a:solidFill>
              <a:srgbClr val="E2E8F0"/>
            </a:solidFill>
            <a:prstDash val="solid"/>
          </a:ln>
        </p:spPr>
      </p:sp>
      <p:sp>
        <p:nvSpPr>
          <p:cNvPr id="22" name="Shape 20"/>
          <p:cNvSpPr/>
          <p:nvPr/>
        </p:nvSpPr>
        <p:spPr>
          <a:xfrm>
            <a:off x="3474720" y="1783080"/>
            <a:ext cx="320040" cy="228600"/>
          </a:xfrm>
          <a:prstGeom prst="roundRect">
            <a:avLst>
              <a:gd name="adj" fmla="val 200000"/>
            </a:avLst>
          </a:prstGeom>
          <a:solidFill>
            <a:srgbClr val="FEE2E2"/>
          </a:solidFill>
          <a:ln/>
        </p:spPr>
      </p:sp>
      <p:sp>
        <p:nvSpPr>
          <p:cNvPr id="23" name="Text 21"/>
          <p:cNvSpPr/>
          <p:nvPr/>
        </p:nvSpPr>
        <p:spPr>
          <a:xfrm>
            <a:off x="347472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2</a:t>
            </a:r>
            <a:endParaRPr lang="en-US" sz="900" dirty="0"/>
          </a:p>
        </p:txBody>
      </p:sp>
      <p:sp>
        <p:nvSpPr>
          <p:cNvPr id="24" name="Text 22"/>
          <p:cNvSpPr/>
          <p:nvPr/>
        </p:nvSpPr>
        <p:spPr>
          <a:xfrm>
            <a:off x="388620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Tăng vị trí +1</a:t>
            </a:r>
            <a:endParaRPr lang="en-US" sz="1000" dirty="0"/>
          </a:p>
        </p:txBody>
      </p:sp>
      <p:sp>
        <p:nvSpPr>
          <p:cNvPr id="25" name="Text 23"/>
          <p:cNvSpPr/>
          <p:nvPr/>
        </p:nvSpPr>
        <p:spPr>
          <a:xfrm>
            <a:off x="347472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Xoay chỉ mục sang người tiếp theo, tìm trong CSDL.</a:t>
            </a:r>
            <a:endParaRPr lang="en-US" sz="820" dirty="0"/>
          </a:p>
        </p:txBody>
      </p:sp>
      <p:sp>
        <p:nvSpPr>
          <p:cNvPr id="26" name="Shape 24"/>
          <p:cNvSpPr/>
          <p:nvPr/>
        </p:nvSpPr>
        <p:spPr>
          <a:xfrm>
            <a:off x="5660136" y="2697480"/>
            <a:ext cx="109728" cy="182880"/>
          </a:xfrm>
          <a:prstGeom prst="rightArrow">
            <a:avLst/>
          </a:prstGeom>
          <a:solidFill>
            <a:srgbClr val="94A3B8"/>
          </a:solidFill>
          <a:ln w="6350">
            <a:solidFill>
              <a:srgbClr val="E2E8F0"/>
            </a:solidFill>
            <a:prstDash val="solid"/>
          </a:ln>
        </p:spPr>
      </p:sp>
      <p:sp>
        <p:nvSpPr>
          <p:cNvPr id="27" name="Shape 25"/>
          <p:cNvSpPr/>
          <p:nvPr/>
        </p:nvSpPr>
        <p:spPr>
          <a:xfrm>
            <a:off x="5943600" y="1645920"/>
            <a:ext cx="2286000" cy="2286000"/>
          </a:xfrm>
          <a:prstGeom prst="roundRect">
            <a:avLst>
              <a:gd name="adj" fmla="val 2000"/>
            </a:avLst>
          </a:prstGeom>
          <a:solidFill>
            <a:srgbClr val="FFFFFF"/>
          </a:solidFill>
          <a:ln w="12700">
            <a:solidFill>
              <a:srgbClr val="E2E8F0"/>
            </a:solidFill>
            <a:prstDash val="solid"/>
          </a:ln>
        </p:spPr>
      </p:sp>
      <p:sp>
        <p:nvSpPr>
          <p:cNvPr id="28" name="Shape 26"/>
          <p:cNvSpPr/>
          <p:nvPr/>
        </p:nvSpPr>
        <p:spPr>
          <a:xfrm>
            <a:off x="6080760" y="1783080"/>
            <a:ext cx="320040" cy="228600"/>
          </a:xfrm>
          <a:prstGeom prst="roundRect">
            <a:avLst>
              <a:gd name="adj" fmla="val 200000"/>
            </a:avLst>
          </a:prstGeom>
          <a:solidFill>
            <a:srgbClr val="FEE2E2"/>
          </a:solidFill>
          <a:ln/>
        </p:spPr>
      </p:sp>
      <p:sp>
        <p:nvSpPr>
          <p:cNvPr id="29" name="Text 27"/>
          <p:cNvSpPr/>
          <p:nvPr/>
        </p:nvSpPr>
        <p:spPr>
          <a:xfrm>
            <a:off x="608076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3</a:t>
            </a:r>
            <a:endParaRPr lang="en-US" sz="900" dirty="0"/>
          </a:p>
        </p:txBody>
      </p:sp>
      <p:sp>
        <p:nvSpPr>
          <p:cNvPr id="30" name="Text 28"/>
          <p:cNvSpPr/>
          <p:nvPr/>
        </p:nvSpPr>
        <p:spPr>
          <a:xfrm>
            <a:off x="649224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Cập nhật khóa</a:t>
            </a:r>
            <a:endParaRPr lang="en-US" sz="1000" dirty="0"/>
          </a:p>
        </p:txBody>
      </p:sp>
      <p:sp>
        <p:nvSpPr>
          <p:cNvPr id="31" name="Text 29"/>
          <p:cNvSpPr/>
          <p:nvPr/>
        </p:nvSpPr>
        <p:spPr>
          <a:xfrm>
            <a:off x="608076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Ghi nhận Sale ID mới vào rounds làm mốc cho lần sau.</a:t>
            </a:r>
            <a:endParaRPr lang="en-US" sz="82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12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5 GATES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Gate 1: Dự Án &amp; Roster Chiến Dịch</a:t>
            </a:r>
            <a:endParaRPr lang="en-US" sz="1900" dirty="0"/>
          </a:p>
        </p:txBody>
      </p:sp>
      <p:sp>
        <p:nvSpPr>
          <p:cNvPr id="15" name="Shape 13"/>
          <p:cNvSpPr/>
          <p:nvPr/>
        </p:nvSpPr>
        <p:spPr>
          <a:xfrm>
            <a:off x="731520" y="1280160"/>
            <a:ext cx="384048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PHÂN LOẠI THEO DỰ ÁN</a:t>
            </a:r>
            <a:endParaRPr lang="en-US" sz="950" dirty="0"/>
          </a:p>
        </p:txBody>
      </p:sp>
      <p:sp>
        <p:nvSpPr>
          <p:cNvPr id="17" name="Text 15"/>
          <p:cNvSpPr/>
          <p:nvPr/>
        </p:nvSpPr>
        <p:spPr>
          <a:xfrm>
            <a:off x="9144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Quét từ khóa chiến dịch hoặc ghi chú lead để nhận diện dự án phù hợp.</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Dự án được quản lý trong bảng projects trạng thái đang hoạt động.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Nếu nhận diện được dự án: Bắt buộc đi qua cổng Roster.</a:t>
            </a:r>
            <a:endParaRPr lang="en-US" sz="920" dirty="0"/>
          </a:p>
        </p:txBody>
      </p:sp>
      <p:sp>
        <p:nvSpPr>
          <p:cNvPr id="18" name="Shape 16"/>
          <p:cNvSpPr/>
          <p:nvPr/>
        </p:nvSpPr>
        <p:spPr>
          <a:xfrm>
            <a:off x="4846320" y="1280160"/>
            <a:ext cx="3840480" cy="3291840"/>
          </a:xfrm>
          <a:prstGeom prst="roundRect">
            <a:avLst>
              <a:gd name="adj" fmla="val 1389"/>
            </a:avLst>
          </a:prstGeom>
          <a:solidFill>
            <a:srgbClr val="FFFFFF"/>
          </a:solidFill>
          <a:ln w="12700">
            <a:solidFill>
              <a:srgbClr val="E2E8F0"/>
            </a:solidFill>
            <a:prstDash val="solid"/>
          </a:ln>
        </p:spPr>
      </p:sp>
      <p:sp>
        <p:nvSpPr>
          <p:cNvPr id="19" name="Text 17"/>
          <p:cNvSpPr/>
          <p:nvPr/>
        </p:nvSpPr>
        <p:spPr>
          <a:xfrm>
            <a:off x="50292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PROJECT ROSTER CHECK</a:t>
            </a:r>
            <a:endParaRPr lang="en-US" sz="950" dirty="0"/>
          </a:p>
        </p:txBody>
      </p:sp>
      <p:sp>
        <p:nvSpPr>
          <p:cNvPr id="20" name="Text 18"/>
          <p:cNvSpPr/>
          <p:nvPr/>
        </p:nvSpPr>
        <p:spPr>
          <a:xfrm>
            <a:off x="50292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Tra cứu bảng project_roster để tìm danh sách Sale được cấp quyền.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Chỉ chia lead dự án cho Sale nằm trong roster đăng ký của dự án đó.</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Chặn chia lead nhầm cho Sale chưa được đào tạo dự án tương ứng.</a:t>
            </a:r>
            <a:endParaRPr lang="en-US" sz="92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13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5 GATES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Gate 2: Điểm Danh Selfie &amp; Check-in Ca Trực</a:t>
            </a:r>
            <a:endParaRPr lang="en-US" sz="1900" dirty="0"/>
          </a:p>
        </p:txBody>
      </p:sp>
      <p:sp>
        <p:nvSpPr>
          <p:cNvPr id="15" name="Shape 13"/>
          <p:cNvSpPr/>
          <p:nvPr/>
        </p:nvSpPr>
        <p:spPr>
          <a:xfrm>
            <a:off x="731520" y="1280160"/>
            <a:ext cx="365760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2918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RÀO CHẮN CHECK-IN</a:t>
            </a:r>
            <a:endParaRPr lang="en-US" sz="950" dirty="0"/>
          </a:p>
        </p:txBody>
      </p:sp>
      <p:sp>
        <p:nvSpPr>
          <p:cNvPr id="17" name="Text 15"/>
          <p:cNvSpPr/>
          <p:nvPr/>
        </p:nvSpPr>
        <p:spPr>
          <a:xfrm>
            <a:off x="914400" y="1709928"/>
            <a:ext cx="329184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Sale ca trực ngày bắt buộc chụp ảnh selfie check-in approved.</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Chưa approved check-in sẽ bị Gate chặn không nhận lead.</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Tự động bỏ qua check-in với ca trực đêm (night_shift) đã duyệt.</a:t>
            </a:r>
            <a:endParaRPr lang="en-US" sz="920" dirty="0"/>
          </a:p>
        </p:txBody>
      </p:sp>
      <p:sp>
        <p:nvSpPr>
          <p:cNvPr id="18" name="Shape 16"/>
          <p:cNvSpPr/>
          <p:nvPr/>
        </p:nvSpPr>
        <p:spPr>
          <a:xfrm>
            <a:off x="4572000" y="1280160"/>
            <a:ext cx="1828800" cy="1554480"/>
          </a:xfrm>
          <a:prstGeom prst="roundRect">
            <a:avLst>
              <a:gd name="adj" fmla="val 4706"/>
            </a:avLst>
          </a:prstGeom>
          <a:solidFill>
            <a:srgbClr val="FFFFFF"/>
          </a:solidFill>
          <a:ln w="12700">
            <a:solidFill>
              <a:srgbClr val="E2E8F0"/>
            </a:solidFill>
            <a:prstDash val="solid"/>
          </a:ln>
        </p:spPr>
      </p:sp>
      <p:sp>
        <p:nvSpPr>
          <p:cNvPr id="19" name="Shape 17"/>
          <p:cNvSpPr/>
          <p:nvPr/>
        </p:nvSpPr>
        <p:spPr>
          <a:xfrm>
            <a:off x="4709160" y="1417320"/>
            <a:ext cx="411480" cy="411480"/>
          </a:xfrm>
          <a:prstGeom prst="ellipse">
            <a:avLst/>
          </a:prstGeom>
          <a:solidFill>
            <a:srgbClr val="F1F5F9"/>
          </a:solidFill>
          <a:ln w="12700">
            <a:solidFill>
              <a:srgbClr val="E2E8F0"/>
            </a:solidFill>
            <a:prstDash val="solid"/>
          </a:ln>
        </p:spPr>
      </p:sp>
      <p:sp>
        <p:nvSpPr>
          <p:cNvPr id="20" name="Text 18"/>
          <p:cNvSpPr/>
          <p:nvPr/>
        </p:nvSpPr>
        <p:spPr>
          <a:xfrm>
            <a:off x="4709160" y="141732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N</a:t>
            </a:r>
            <a:endParaRPr lang="en-US" sz="1200" dirty="0"/>
          </a:p>
        </p:txBody>
      </p:sp>
      <p:sp>
        <p:nvSpPr>
          <p:cNvPr id="21" name="Text 19"/>
          <p:cNvSpPr/>
          <p:nvPr/>
        </p:nvSpPr>
        <p:spPr>
          <a:xfrm>
            <a:off x="5212080" y="141732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Nguyễn Sale A</a:t>
            </a:r>
            <a:endParaRPr lang="en-US" sz="1000" dirty="0"/>
          </a:p>
        </p:txBody>
      </p:sp>
      <p:sp>
        <p:nvSpPr>
          <p:cNvPr id="22" name="Shape 20"/>
          <p:cNvSpPr/>
          <p:nvPr/>
        </p:nvSpPr>
        <p:spPr>
          <a:xfrm>
            <a:off x="5212080" y="1645920"/>
            <a:ext cx="822960" cy="182880"/>
          </a:xfrm>
          <a:prstGeom prst="roundRect">
            <a:avLst>
              <a:gd name="adj" fmla="val 250000"/>
            </a:avLst>
          </a:prstGeom>
          <a:solidFill>
            <a:srgbClr val="D1FAE5"/>
          </a:solidFill>
          <a:ln/>
        </p:spPr>
      </p:sp>
      <p:sp>
        <p:nvSpPr>
          <p:cNvPr id="23" name="Text 21"/>
          <p:cNvSpPr/>
          <p:nvPr/>
        </p:nvSpPr>
        <p:spPr>
          <a:xfrm>
            <a:off x="5212080" y="1645920"/>
            <a:ext cx="822960" cy="182880"/>
          </a:xfrm>
          <a:prstGeom prst="rect">
            <a:avLst/>
          </a:prstGeom>
          <a:noFill/>
          <a:ln/>
        </p:spPr>
        <p:txBody>
          <a:bodyPr wrap="square" rtlCol="0" anchor="ctr"/>
          <a:lstStyle/>
          <a:p>
            <a:pPr algn="ctr" indent="0" marL="0">
              <a:buNone/>
            </a:pPr>
            <a:r>
              <a:rPr lang="en-US" sz="720" b="1" dirty="0">
                <a:solidFill>
                  <a:srgbClr val="065F46"/>
                </a:solidFill>
                <a:latin typeface="Segoe UI" pitchFamily="34" charset="0"/>
                <a:ea typeface="Segoe UI" pitchFamily="34" charset="-122"/>
                <a:cs typeface="Segoe UI" pitchFamily="34" charset="-120"/>
              </a:rPr>
              <a:t>ACTIVE</a:t>
            </a:r>
            <a:endParaRPr lang="en-US" sz="720" dirty="0"/>
          </a:p>
        </p:txBody>
      </p:sp>
      <p:sp>
        <p:nvSpPr>
          <p:cNvPr id="24" name="Text 22"/>
          <p:cNvSpPr/>
          <p:nvPr/>
        </p:nvSpPr>
        <p:spPr>
          <a:xfrm>
            <a:off x="4709160" y="193852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8/20 Leads</a:t>
            </a:r>
            <a:endParaRPr lang="en-US" sz="750" dirty="0"/>
          </a:p>
        </p:txBody>
      </p:sp>
      <p:sp>
        <p:nvSpPr>
          <p:cNvPr id="25" name="Shape 23"/>
          <p:cNvSpPr/>
          <p:nvPr/>
        </p:nvSpPr>
        <p:spPr>
          <a:xfrm>
            <a:off x="4709160" y="2121408"/>
            <a:ext cx="1554480" cy="73152"/>
          </a:xfrm>
          <a:prstGeom prst="roundRect">
            <a:avLst>
              <a:gd name="adj" fmla="val 625000"/>
            </a:avLst>
          </a:prstGeom>
          <a:solidFill>
            <a:srgbClr val="F1F5F9"/>
          </a:solidFill>
          <a:ln/>
        </p:spPr>
      </p:sp>
      <p:sp>
        <p:nvSpPr>
          <p:cNvPr id="26" name="Shape 24"/>
          <p:cNvSpPr/>
          <p:nvPr/>
        </p:nvSpPr>
        <p:spPr>
          <a:xfrm>
            <a:off x="4709160" y="2121408"/>
            <a:ext cx="621792" cy="73152"/>
          </a:xfrm>
          <a:prstGeom prst="roundRect">
            <a:avLst>
              <a:gd name="adj" fmla="val 625000"/>
            </a:avLst>
          </a:prstGeom>
          <a:solidFill>
            <a:srgbClr val="3B82F6"/>
          </a:solidFill>
          <a:ln/>
        </p:spPr>
      </p:sp>
      <p:sp>
        <p:nvSpPr>
          <p:cNvPr id="27" name="Shape 25"/>
          <p:cNvSpPr/>
          <p:nvPr/>
        </p:nvSpPr>
        <p:spPr>
          <a:xfrm>
            <a:off x="6583680" y="1280160"/>
            <a:ext cx="1828800" cy="1554480"/>
          </a:xfrm>
          <a:prstGeom prst="roundRect">
            <a:avLst>
              <a:gd name="adj" fmla="val 4706"/>
            </a:avLst>
          </a:prstGeom>
          <a:solidFill>
            <a:srgbClr val="FFFFFF"/>
          </a:solidFill>
          <a:ln w="12700">
            <a:solidFill>
              <a:srgbClr val="E2E8F0"/>
            </a:solidFill>
            <a:prstDash val="solid"/>
          </a:ln>
        </p:spPr>
      </p:sp>
      <p:sp>
        <p:nvSpPr>
          <p:cNvPr id="28" name="Shape 26"/>
          <p:cNvSpPr/>
          <p:nvPr/>
        </p:nvSpPr>
        <p:spPr>
          <a:xfrm>
            <a:off x="6720840" y="1417320"/>
            <a:ext cx="411480" cy="411480"/>
          </a:xfrm>
          <a:prstGeom prst="ellipse">
            <a:avLst/>
          </a:prstGeom>
          <a:solidFill>
            <a:srgbClr val="F1F5F9"/>
          </a:solidFill>
          <a:ln w="12700">
            <a:solidFill>
              <a:srgbClr val="E2E8F0"/>
            </a:solidFill>
            <a:prstDash val="solid"/>
          </a:ln>
        </p:spPr>
      </p:sp>
      <p:sp>
        <p:nvSpPr>
          <p:cNvPr id="29" name="Text 27"/>
          <p:cNvSpPr/>
          <p:nvPr/>
        </p:nvSpPr>
        <p:spPr>
          <a:xfrm>
            <a:off x="6720840" y="141732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T</a:t>
            </a:r>
            <a:endParaRPr lang="en-US" sz="1200" dirty="0"/>
          </a:p>
        </p:txBody>
      </p:sp>
      <p:sp>
        <p:nvSpPr>
          <p:cNvPr id="30" name="Text 28"/>
          <p:cNvSpPr/>
          <p:nvPr/>
        </p:nvSpPr>
        <p:spPr>
          <a:xfrm>
            <a:off x="7223760" y="141732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Trần Sale B</a:t>
            </a:r>
            <a:endParaRPr lang="en-US" sz="1000" dirty="0"/>
          </a:p>
        </p:txBody>
      </p:sp>
      <p:sp>
        <p:nvSpPr>
          <p:cNvPr id="31" name="Shape 29"/>
          <p:cNvSpPr/>
          <p:nvPr/>
        </p:nvSpPr>
        <p:spPr>
          <a:xfrm>
            <a:off x="7223760" y="1645920"/>
            <a:ext cx="822960" cy="182880"/>
          </a:xfrm>
          <a:prstGeom prst="roundRect">
            <a:avLst>
              <a:gd name="adj" fmla="val 250000"/>
            </a:avLst>
          </a:prstGeom>
          <a:solidFill>
            <a:srgbClr val="D1FAE5"/>
          </a:solidFill>
          <a:ln/>
        </p:spPr>
      </p:sp>
      <p:sp>
        <p:nvSpPr>
          <p:cNvPr id="32" name="Text 30"/>
          <p:cNvSpPr/>
          <p:nvPr/>
        </p:nvSpPr>
        <p:spPr>
          <a:xfrm>
            <a:off x="7223760" y="1645920"/>
            <a:ext cx="822960" cy="182880"/>
          </a:xfrm>
          <a:prstGeom prst="rect">
            <a:avLst/>
          </a:prstGeom>
          <a:noFill/>
          <a:ln/>
        </p:spPr>
        <p:txBody>
          <a:bodyPr wrap="square" rtlCol="0" anchor="ctr"/>
          <a:lstStyle/>
          <a:p>
            <a:pPr algn="ctr" indent="0" marL="0">
              <a:buNone/>
            </a:pPr>
            <a:r>
              <a:rPr lang="en-US" sz="720" b="1" dirty="0">
                <a:solidFill>
                  <a:srgbClr val="065F46"/>
                </a:solidFill>
                <a:latin typeface="Segoe UI" pitchFamily="34" charset="0"/>
                <a:ea typeface="Segoe UI" pitchFamily="34" charset="-122"/>
                <a:cs typeface="Segoe UI" pitchFamily="34" charset="-120"/>
              </a:rPr>
              <a:t>ACTIVE</a:t>
            </a:r>
            <a:endParaRPr lang="en-US" sz="720" dirty="0"/>
          </a:p>
        </p:txBody>
      </p:sp>
      <p:sp>
        <p:nvSpPr>
          <p:cNvPr id="33" name="Text 31"/>
          <p:cNvSpPr/>
          <p:nvPr/>
        </p:nvSpPr>
        <p:spPr>
          <a:xfrm>
            <a:off x="6720840" y="193852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19/20 Leads</a:t>
            </a:r>
            <a:endParaRPr lang="en-US" sz="750" dirty="0"/>
          </a:p>
        </p:txBody>
      </p:sp>
      <p:sp>
        <p:nvSpPr>
          <p:cNvPr id="34" name="Shape 32"/>
          <p:cNvSpPr/>
          <p:nvPr/>
        </p:nvSpPr>
        <p:spPr>
          <a:xfrm>
            <a:off x="6720840" y="2121408"/>
            <a:ext cx="1554480" cy="73152"/>
          </a:xfrm>
          <a:prstGeom prst="roundRect">
            <a:avLst>
              <a:gd name="adj" fmla="val 625000"/>
            </a:avLst>
          </a:prstGeom>
          <a:solidFill>
            <a:srgbClr val="F1F5F9"/>
          </a:solidFill>
          <a:ln/>
        </p:spPr>
      </p:sp>
      <p:sp>
        <p:nvSpPr>
          <p:cNvPr id="35" name="Shape 33"/>
          <p:cNvSpPr/>
          <p:nvPr/>
        </p:nvSpPr>
        <p:spPr>
          <a:xfrm>
            <a:off x="6720840" y="2121408"/>
            <a:ext cx="1476756" cy="73152"/>
          </a:xfrm>
          <a:prstGeom prst="roundRect">
            <a:avLst>
              <a:gd name="adj" fmla="val 625000"/>
            </a:avLst>
          </a:prstGeom>
          <a:solidFill>
            <a:srgbClr val="3B82F6"/>
          </a:solidFill>
          <a:ln/>
        </p:spPr>
      </p:sp>
      <p:sp>
        <p:nvSpPr>
          <p:cNvPr id="36" name="Shape 34"/>
          <p:cNvSpPr/>
          <p:nvPr/>
        </p:nvSpPr>
        <p:spPr>
          <a:xfrm>
            <a:off x="4572000" y="3017520"/>
            <a:ext cx="1828800" cy="1554480"/>
          </a:xfrm>
          <a:prstGeom prst="roundRect">
            <a:avLst>
              <a:gd name="adj" fmla="val 4706"/>
            </a:avLst>
          </a:prstGeom>
          <a:solidFill>
            <a:srgbClr val="FFFFFF"/>
          </a:solidFill>
          <a:ln w="12700">
            <a:solidFill>
              <a:srgbClr val="E2E8F0"/>
            </a:solidFill>
            <a:prstDash val="solid"/>
          </a:ln>
        </p:spPr>
      </p:sp>
      <p:sp>
        <p:nvSpPr>
          <p:cNvPr id="37" name="Shape 35"/>
          <p:cNvSpPr/>
          <p:nvPr/>
        </p:nvSpPr>
        <p:spPr>
          <a:xfrm>
            <a:off x="4709160" y="3154680"/>
            <a:ext cx="411480" cy="411480"/>
          </a:xfrm>
          <a:prstGeom prst="ellipse">
            <a:avLst/>
          </a:prstGeom>
          <a:solidFill>
            <a:srgbClr val="F1F5F9"/>
          </a:solidFill>
          <a:ln w="12700">
            <a:solidFill>
              <a:srgbClr val="E2E8F0"/>
            </a:solidFill>
            <a:prstDash val="solid"/>
          </a:ln>
        </p:spPr>
      </p:sp>
      <p:sp>
        <p:nvSpPr>
          <p:cNvPr id="38" name="Text 36"/>
          <p:cNvSpPr/>
          <p:nvPr/>
        </p:nvSpPr>
        <p:spPr>
          <a:xfrm>
            <a:off x="4709160" y="315468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L</a:t>
            </a:r>
            <a:endParaRPr lang="en-US" sz="1200" dirty="0"/>
          </a:p>
        </p:txBody>
      </p:sp>
      <p:sp>
        <p:nvSpPr>
          <p:cNvPr id="39" name="Text 37"/>
          <p:cNvSpPr/>
          <p:nvPr/>
        </p:nvSpPr>
        <p:spPr>
          <a:xfrm>
            <a:off x="5212080" y="315468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Lê Sale C</a:t>
            </a:r>
            <a:endParaRPr lang="en-US" sz="1000" dirty="0"/>
          </a:p>
        </p:txBody>
      </p:sp>
      <p:sp>
        <p:nvSpPr>
          <p:cNvPr id="40" name="Shape 38"/>
          <p:cNvSpPr/>
          <p:nvPr/>
        </p:nvSpPr>
        <p:spPr>
          <a:xfrm>
            <a:off x="5212080" y="3383280"/>
            <a:ext cx="822960" cy="182880"/>
          </a:xfrm>
          <a:prstGeom prst="roundRect">
            <a:avLst>
              <a:gd name="adj" fmla="val 250000"/>
            </a:avLst>
          </a:prstGeom>
          <a:solidFill>
            <a:srgbClr val="E2E8F0"/>
          </a:solidFill>
          <a:ln/>
        </p:spPr>
      </p:sp>
      <p:sp>
        <p:nvSpPr>
          <p:cNvPr id="41" name="Text 39"/>
          <p:cNvSpPr/>
          <p:nvPr/>
        </p:nvSpPr>
        <p:spPr>
          <a:xfrm>
            <a:off x="5212080" y="3383280"/>
            <a:ext cx="822960" cy="182880"/>
          </a:xfrm>
          <a:prstGeom prst="rect">
            <a:avLst/>
          </a:prstGeom>
          <a:noFill/>
          <a:ln/>
        </p:spPr>
        <p:txBody>
          <a:bodyPr wrap="square" rtlCol="0" anchor="ctr"/>
          <a:lstStyle/>
          <a:p>
            <a:pPr algn="ctr" indent="0" marL="0">
              <a:buNone/>
            </a:pPr>
            <a:r>
              <a:rPr lang="en-US" sz="720" b="1" dirty="0">
                <a:solidFill>
                  <a:srgbClr val="475569"/>
                </a:solidFill>
                <a:latin typeface="Segoe UI" pitchFamily="34" charset="0"/>
                <a:ea typeface="Segoe UI" pitchFamily="34" charset="-122"/>
                <a:cs typeface="Segoe UI" pitchFamily="34" charset="-120"/>
              </a:rPr>
              <a:t>UNCHECKED</a:t>
            </a:r>
            <a:endParaRPr lang="en-US" sz="720" dirty="0"/>
          </a:p>
        </p:txBody>
      </p:sp>
      <p:sp>
        <p:nvSpPr>
          <p:cNvPr id="42" name="Text 40"/>
          <p:cNvSpPr/>
          <p:nvPr/>
        </p:nvSpPr>
        <p:spPr>
          <a:xfrm>
            <a:off x="4709160" y="367588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0/20 Leads</a:t>
            </a:r>
            <a:endParaRPr lang="en-US" sz="750" dirty="0"/>
          </a:p>
        </p:txBody>
      </p:sp>
      <p:sp>
        <p:nvSpPr>
          <p:cNvPr id="43" name="Shape 41"/>
          <p:cNvSpPr/>
          <p:nvPr/>
        </p:nvSpPr>
        <p:spPr>
          <a:xfrm>
            <a:off x="4709160" y="3858768"/>
            <a:ext cx="1554480" cy="73152"/>
          </a:xfrm>
          <a:prstGeom prst="roundRect">
            <a:avLst>
              <a:gd name="adj" fmla="val 625000"/>
            </a:avLst>
          </a:prstGeom>
          <a:solidFill>
            <a:srgbClr val="F1F5F9"/>
          </a:solidFill>
          <a:ln/>
        </p:spPr>
      </p:sp>
      <p:sp>
        <p:nvSpPr>
          <p:cNvPr id="44" name="Shape 42"/>
          <p:cNvSpPr/>
          <p:nvPr/>
        </p:nvSpPr>
        <p:spPr>
          <a:xfrm>
            <a:off x="6583680" y="3017520"/>
            <a:ext cx="1828800" cy="1554480"/>
          </a:xfrm>
          <a:prstGeom prst="roundRect">
            <a:avLst>
              <a:gd name="adj" fmla="val 4706"/>
            </a:avLst>
          </a:prstGeom>
          <a:solidFill>
            <a:srgbClr val="FFFFFF"/>
          </a:solidFill>
          <a:ln w="12700">
            <a:solidFill>
              <a:srgbClr val="E2E8F0"/>
            </a:solidFill>
            <a:prstDash val="solid"/>
          </a:ln>
        </p:spPr>
      </p:sp>
      <p:sp>
        <p:nvSpPr>
          <p:cNvPr id="45" name="Shape 43"/>
          <p:cNvSpPr/>
          <p:nvPr/>
        </p:nvSpPr>
        <p:spPr>
          <a:xfrm>
            <a:off x="6720840" y="3154680"/>
            <a:ext cx="411480" cy="411480"/>
          </a:xfrm>
          <a:prstGeom prst="ellipse">
            <a:avLst/>
          </a:prstGeom>
          <a:solidFill>
            <a:srgbClr val="F1F5F9"/>
          </a:solidFill>
          <a:ln w="12700">
            <a:solidFill>
              <a:srgbClr val="E2E8F0"/>
            </a:solidFill>
            <a:prstDash val="solid"/>
          </a:ln>
        </p:spPr>
      </p:sp>
      <p:sp>
        <p:nvSpPr>
          <p:cNvPr id="46" name="Text 44"/>
          <p:cNvSpPr/>
          <p:nvPr/>
        </p:nvSpPr>
        <p:spPr>
          <a:xfrm>
            <a:off x="6720840" y="315468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P</a:t>
            </a:r>
            <a:endParaRPr lang="en-US" sz="1200" dirty="0"/>
          </a:p>
        </p:txBody>
      </p:sp>
      <p:sp>
        <p:nvSpPr>
          <p:cNvPr id="47" name="Text 45"/>
          <p:cNvSpPr/>
          <p:nvPr/>
        </p:nvSpPr>
        <p:spPr>
          <a:xfrm>
            <a:off x="7223760" y="315468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Phạm Ca Đêm</a:t>
            </a:r>
            <a:endParaRPr lang="en-US" sz="1000" dirty="0"/>
          </a:p>
        </p:txBody>
      </p:sp>
      <p:sp>
        <p:nvSpPr>
          <p:cNvPr id="48" name="Shape 46"/>
          <p:cNvSpPr/>
          <p:nvPr/>
        </p:nvSpPr>
        <p:spPr>
          <a:xfrm>
            <a:off x="7223760" y="3383280"/>
            <a:ext cx="822960" cy="182880"/>
          </a:xfrm>
          <a:prstGeom prst="roundRect">
            <a:avLst>
              <a:gd name="adj" fmla="val 250000"/>
            </a:avLst>
          </a:prstGeom>
          <a:solidFill>
            <a:srgbClr val="E2E8F0"/>
          </a:solidFill>
          <a:ln/>
        </p:spPr>
      </p:sp>
      <p:sp>
        <p:nvSpPr>
          <p:cNvPr id="49" name="Text 47"/>
          <p:cNvSpPr/>
          <p:nvPr/>
        </p:nvSpPr>
        <p:spPr>
          <a:xfrm>
            <a:off x="7223760" y="3383280"/>
            <a:ext cx="822960" cy="182880"/>
          </a:xfrm>
          <a:prstGeom prst="rect">
            <a:avLst/>
          </a:prstGeom>
          <a:noFill/>
          <a:ln/>
        </p:spPr>
        <p:txBody>
          <a:bodyPr wrap="square" rtlCol="0" anchor="ctr"/>
          <a:lstStyle/>
          <a:p>
            <a:pPr algn="ctr" indent="0" marL="0">
              <a:buNone/>
            </a:pPr>
            <a:r>
              <a:rPr lang="en-US" sz="720" b="1" dirty="0">
                <a:solidFill>
                  <a:srgbClr val="475569"/>
                </a:solidFill>
                <a:latin typeface="Segoe UI" pitchFamily="34" charset="0"/>
                <a:ea typeface="Segoe UI" pitchFamily="34" charset="-122"/>
                <a:cs typeface="Segoe UI" pitchFamily="34" charset="-120"/>
              </a:rPr>
              <a:t>NIGHT SHIFT</a:t>
            </a:r>
            <a:endParaRPr lang="en-US" sz="720" dirty="0"/>
          </a:p>
        </p:txBody>
      </p:sp>
      <p:sp>
        <p:nvSpPr>
          <p:cNvPr id="50" name="Text 48"/>
          <p:cNvSpPr/>
          <p:nvPr/>
        </p:nvSpPr>
        <p:spPr>
          <a:xfrm>
            <a:off x="6720840" y="367588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5/20 Leads</a:t>
            </a:r>
            <a:endParaRPr lang="en-US" sz="750" dirty="0"/>
          </a:p>
        </p:txBody>
      </p:sp>
      <p:sp>
        <p:nvSpPr>
          <p:cNvPr id="51" name="Shape 49"/>
          <p:cNvSpPr/>
          <p:nvPr/>
        </p:nvSpPr>
        <p:spPr>
          <a:xfrm>
            <a:off x="6720840" y="3858768"/>
            <a:ext cx="1554480" cy="73152"/>
          </a:xfrm>
          <a:prstGeom prst="roundRect">
            <a:avLst>
              <a:gd name="adj" fmla="val 625000"/>
            </a:avLst>
          </a:prstGeom>
          <a:solidFill>
            <a:srgbClr val="F1F5F9"/>
          </a:solidFill>
          <a:ln/>
        </p:spPr>
      </p:sp>
      <p:sp>
        <p:nvSpPr>
          <p:cNvPr id="52" name="Shape 50"/>
          <p:cNvSpPr/>
          <p:nvPr/>
        </p:nvSpPr>
        <p:spPr>
          <a:xfrm>
            <a:off x="6720840" y="3858768"/>
            <a:ext cx="388620" cy="73152"/>
          </a:xfrm>
          <a:prstGeom prst="roundRect">
            <a:avLst>
              <a:gd name="adj" fmla="val 625000"/>
            </a:avLst>
          </a:prstGeom>
          <a:solidFill>
            <a:srgbClr val="3B82F6"/>
          </a:solidFill>
          <a:ln/>
        </p:spPr>
      </p:sp>
      <p:sp>
        <p:nvSpPr>
          <p:cNvPr id="53" name="Text 51"/>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14 / 60</a:t>
            </a:r>
            <a:endParaRPr lang="en-US" sz="850" dirty="0"/>
          </a:p>
        </p:txBody>
      </p:sp>
      <p:sp>
        <p:nvSpPr>
          <p:cNvPr id="54" name="Text 52"/>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5 GATES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Gate 3: Trạng Thế Sale &amp; Nghỉ Phép</a:t>
            </a:r>
            <a:endParaRPr lang="en-US" sz="1900" dirty="0"/>
          </a:p>
        </p:txBody>
      </p:sp>
      <p:sp>
        <p:nvSpPr>
          <p:cNvPr id="15" name="Shape 13"/>
          <p:cNvSpPr/>
          <p:nvPr/>
        </p:nvSpPr>
        <p:spPr>
          <a:xfrm>
            <a:off x="731520" y="1280160"/>
            <a:ext cx="365760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2918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VACATION MODE &amp; LEAVE</a:t>
            </a:r>
            <a:endParaRPr lang="en-US" sz="950" dirty="0"/>
          </a:p>
        </p:txBody>
      </p:sp>
      <p:sp>
        <p:nvSpPr>
          <p:cNvPr id="17" name="Text 15"/>
          <p:cNvSpPr/>
          <p:nvPr/>
        </p:nvSpPr>
        <p:spPr>
          <a:xfrm>
            <a:off x="914400" y="1709928"/>
            <a:ext cx="329184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Sale có thể bật chế độ tạm vắng (vacation_mode = 1) trên App.</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Quét bảng leave_schedules tìm các lịch nghỉ phép đã đăng ký.</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Sale vắng mặt hoặc đi gặp khách sẽ được tự động bỏ qua chia lead.</a:t>
            </a:r>
            <a:endParaRPr lang="en-US" sz="920" dirty="0"/>
          </a:p>
        </p:txBody>
      </p:sp>
      <p:sp>
        <p:nvSpPr>
          <p:cNvPr id="18" name="Shape 16"/>
          <p:cNvSpPr/>
          <p:nvPr/>
        </p:nvSpPr>
        <p:spPr>
          <a:xfrm>
            <a:off x="4572000" y="1280160"/>
            <a:ext cx="1828800" cy="1554480"/>
          </a:xfrm>
          <a:prstGeom prst="roundRect">
            <a:avLst>
              <a:gd name="adj" fmla="val 4706"/>
            </a:avLst>
          </a:prstGeom>
          <a:solidFill>
            <a:srgbClr val="FFFFFF"/>
          </a:solidFill>
          <a:ln w="12700">
            <a:solidFill>
              <a:srgbClr val="E2E8F0"/>
            </a:solidFill>
            <a:prstDash val="solid"/>
          </a:ln>
        </p:spPr>
      </p:sp>
      <p:sp>
        <p:nvSpPr>
          <p:cNvPr id="19" name="Shape 17"/>
          <p:cNvSpPr/>
          <p:nvPr/>
        </p:nvSpPr>
        <p:spPr>
          <a:xfrm>
            <a:off x="4709160" y="1417320"/>
            <a:ext cx="411480" cy="411480"/>
          </a:xfrm>
          <a:prstGeom prst="ellipse">
            <a:avLst/>
          </a:prstGeom>
          <a:solidFill>
            <a:srgbClr val="F1F5F9"/>
          </a:solidFill>
          <a:ln w="12700">
            <a:solidFill>
              <a:srgbClr val="E2E8F0"/>
            </a:solidFill>
            <a:prstDash val="solid"/>
          </a:ln>
        </p:spPr>
      </p:sp>
      <p:sp>
        <p:nvSpPr>
          <p:cNvPr id="20" name="Text 18"/>
          <p:cNvSpPr/>
          <p:nvPr/>
        </p:nvSpPr>
        <p:spPr>
          <a:xfrm>
            <a:off x="4709160" y="141732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H</a:t>
            </a:r>
            <a:endParaRPr lang="en-US" sz="1200" dirty="0"/>
          </a:p>
        </p:txBody>
      </p:sp>
      <p:sp>
        <p:nvSpPr>
          <p:cNvPr id="21" name="Text 19"/>
          <p:cNvSpPr/>
          <p:nvPr/>
        </p:nvSpPr>
        <p:spPr>
          <a:xfrm>
            <a:off x="5212080" y="141732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Hoàng Sale D</a:t>
            </a:r>
            <a:endParaRPr lang="en-US" sz="1000" dirty="0"/>
          </a:p>
        </p:txBody>
      </p:sp>
      <p:sp>
        <p:nvSpPr>
          <p:cNvPr id="22" name="Shape 20"/>
          <p:cNvSpPr/>
          <p:nvPr/>
        </p:nvSpPr>
        <p:spPr>
          <a:xfrm>
            <a:off x="5212080" y="1645920"/>
            <a:ext cx="822960" cy="182880"/>
          </a:xfrm>
          <a:prstGeom prst="roundRect">
            <a:avLst>
              <a:gd name="adj" fmla="val 250000"/>
            </a:avLst>
          </a:prstGeom>
          <a:solidFill>
            <a:srgbClr val="FEE2E2"/>
          </a:solidFill>
          <a:ln/>
        </p:spPr>
      </p:sp>
      <p:sp>
        <p:nvSpPr>
          <p:cNvPr id="23" name="Text 21"/>
          <p:cNvSpPr/>
          <p:nvPr/>
        </p:nvSpPr>
        <p:spPr>
          <a:xfrm>
            <a:off x="5212080" y="1645920"/>
            <a:ext cx="822960" cy="182880"/>
          </a:xfrm>
          <a:prstGeom prst="rect">
            <a:avLst/>
          </a:prstGeom>
          <a:noFill/>
          <a:ln/>
        </p:spPr>
        <p:txBody>
          <a:bodyPr wrap="square" rtlCol="0" anchor="ctr"/>
          <a:lstStyle/>
          <a:p>
            <a:pPr algn="ctr" indent="0" marL="0">
              <a:buNone/>
            </a:pPr>
            <a:r>
              <a:rPr lang="en-US" sz="720" b="1" dirty="0">
                <a:solidFill>
                  <a:srgbClr val="BD1D2D"/>
                </a:solidFill>
                <a:latin typeface="Segoe UI" pitchFamily="34" charset="0"/>
                <a:ea typeface="Segoe UI" pitchFamily="34" charset="-122"/>
                <a:cs typeface="Segoe UI" pitchFamily="34" charset="-120"/>
              </a:rPr>
              <a:t>VACATION</a:t>
            </a:r>
            <a:endParaRPr lang="en-US" sz="720" dirty="0"/>
          </a:p>
        </p:txBody>
      </p:sp>
      <p:sp>
        <p:nvSpPr>
          <p:cNvPr id="24" name="Text 22"/>
          <p:cNvSpPr/>
          <p:nvPr/>
        </p:nvSpPr>
        <p:spPr>
          <a:xfrm>
            <a:off x="4709160" y="193852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12/20 Leads</a:t>
            </a:r>
            <a:endParaRPr lang="en-US" sz="750" dirty="0"/>
          </a:p>
        </p:txBody>
      </p:sp>
      <p:sp>
        <p:nvSpPr>
          <p:cNvPr id="25" name="Shape 23"/>
          <p:cNvSpPr/>
          <p:nvPr/>
        </p:nvSpPr>
        <p:spPr>
          <a:xfrm>
            <a:off x="4709160" y="2121408"/>
            <a:ext cx="1554480" cy="73152"/>
          </a:xfrm>
          <a:prstGeom prst="roundRect">
            <a:avLst>
              <a:gd name="adj" fmla="val 625000"/>
            </a:avLst>
          </a:prstGeom>
          <a:solidFill>
            <a:srgbClr val="F1F5F9"/>
          </a:solidFill>
          <a:ln/>
        </p:spPr>
      </p:sp>
      <p:sp>
        <p:nvSpPr>
          <p:cNvPr id="26" name="Shape 24"/>
          <p:cNvSpPr/>
          <p:nvPr/>
        </p:nvSpPr>
        <p:spPr>
          <a:xfrm>
            <a:off x="4709160" y="2121408"/>
            <a:ext cx="932688" cy="73152"/>
          </a:xfrm>
          <a:prstGeom prst="roundRect">
            <a:avLst>
              <a:gd name="adj" fmla="val 625000"/>
            </a:avLst>
          </a:prstGeom>
          <a:solidFill>
            <a:srgbClr val="3B82F6"/>
          </a:solidFill>
          <a:ln/>
        </p:spPr>
      </p:sp>
      <p:sp>
        <p:nvSpPr>
          <p:cNvPr id="27" name="Shape 25"/>
          <p:cNvSpPr/>
          <p:nvPr/>
        </p:nvSpPr>
        <p:spPr>
          <a:xfrm>
            <a:off x="6583680" y="1280160"/>
            <a:ext cx="1828800" cy="1554480"/>
          </a:xfrm>
          <a:prstGeom prst="roundRect">
            <a:avLst>
              <a:gd name="adj" fmla="val 4706"/>
            </a:avLst>
          </a:prstGeom>
          <a:solidFill>
            <a:srgbClr val="FFFFFF"/>
          </a:solidFill>
          <a:ln w="12700">
            <a:solidFill>
              <a:srgbClr val="E2E8F0"/>
            </a:solidFill>
            <a:prstDash val="solid"/>
          </a:ln>
        </p:spPr>
      </p:sp>
      <p:sp>
        <p:nvSpPr>
          <p:cNvPr id="28" name="Shape 26"/>
          <p:cNvSpPr/>
          <p:nvPr/>
        </p:nvSpPr>
        <p:spPr>
          <a:xfrm>
            <a:off x="6720840" y="1417320"/>
            <a:ext cx="411480" cy="411480"/>
          </a:xfrm>
          <a:prstGeom prst="ellipse">
            <a:avLst/>
          </a:prstGeom>
          <a:solidFill>
            <a:srgbClr val="F1F5F9"/>
          </a:solidFill>
          <a:ln w="12700">
            <a:solidFill>
              <a:srgbClr val="E2E8F0"/>
            </a:solidFill>
            <a:prstDash val="solid"/>
          </a:ln>
        </p:spPr>
      </p:sp>
      <p:sp>
        <p:nvSpPr>
          <p:cNvPr id="29" name="Text 27"/>
          <p:cNvSpPr/>
          <p:nvPr/>
        </p:nvSpPr>
        <p:spPr>
          <a:xfrm>
            <a:off x="6720840" y="141732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V</a:t>
            </a:r>
            <a:endParaRPr lang="en-US" sz="1200" dirty="0"/>
          </a:p>
        </p:txBody>
      </p:sp>
      <p:sp>
        <p:nvSpPr>
          <p:cNvPr id="30" name="Text 28"/>
          <p:cNvSpPr/>
          <p:nvPr/>
        </p:nvSpPr>
        <p:spPr>
          <a:xfrm>
            <a:off x="7223760" y="141732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Vũ Sale E</a:t>
            </a:r>
            <a:endParaRPr lang="en-US" sz="1000" dirty="0"/>
          </a:p>
        </p:txBody>
      </p:sp>
      <p:sp>
        <p:nvSpPr>
          <p:cNvPr id="31" name="Shape 29"/>
          <p:cNvSpPr/>
          <p:nvPr/>
        </p:nvSpPr>
        <p:spPr>
          <a:xfrm>
            <a:off x="7223760" y="1645920"/>
            <a:ext cx="822960" cy="182880"/>
          </a:xfrm>
          <a:prstGeom prst="roundRect">
            <a:avLst>
              <a:gd name="adj" fmla="val 250000"/>
            </a:avLst>
          </a:prstGeom>
          <a:solidFill>
            <a:srgbClr val="FEE2E2"/>
          </a:solidFill>
          <a:ln/>
        </p:spPr>
      </p:sp>
      <p:sp>
        <p:nvSpPr>
          <p:cNvPr id="32" name="Text 30"/>
          <p:cNvSpPr/>
          <p:nvPr/>
        </p:nvSpPr>
        <p:spPr>
          <a:xfrm>
            <a:off x="7223760" y="1645920"/>
            <a:ext cx="822960" cy="182880"/>
          </a:xfrm>
          <a:prstGeom prst="rect">
            <a:avLst/>
          </a:prstGeom>
          <a:noFill/>
          <a:ln/>
        </p:spPr>
        <p:txBody>
          <a:bodyPr wrap="square" rtlCol="0" anchor="ctr"/>
          <a:lstStyle/>
          <a:p>
            <a:pPr algn="ctr" indent="0" marL="0">
              <a:buNone/>
            </a:pPr>
            <a:r>
              <a:rPr lang="en-US" sz="720" b="1" dirty="0">
                <a:solidFill>
                  <a:srgbClr val="BD1D2D"/>
                </a:solidFill>
                <a:latin typeface="Segoe UI" pitchFamily="34" charset="0"/>
                <a:ea typeface="Segoe UI" pitchFamily="34" charset="-122"/>
                <a:cs typeface="Segoe UI" pitchFamily="34" charset="-120"/>
              </a:rPr>
              <a:t>LEAVE</a:t>
            </a:r>
            <a:endParaRPr lang="en-US" sz="720" dirty="0"/>
          </a:p>
        </p:txBody>
      </p:sp>
      <p:sp>
        <p:nvSpPr>
          <p:cNvPr id="33" name="Text 31"/>
          <p:cNvSpPr/>
          <p:nvPr/>
        </p:nvSpPr>
        <p:spPr>
          <a:xfrm>
            <a:off x="6720840" y="193852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0/20 Leads</a:t>
            </a:r>
            <a:endParaRPr lang="en-US" sz="750" dirty="0"/>
          </a:p>
        </p:txBody>
      </p:sp>
      <p:sp>
        <p:nvSpPr>
          <p:cNvPr id="34" name="Shape 32"/>
          <p:cNvSpPr/>
          <p:nvPr/>
        </p:nvSpPr>
        <p:spPr>
          <a:xfrm>
            <a:off x="6720840" y="2121408"/>
            <a:ext cx="1554480" cy="73152"/>
          </a:xfrm>
          <a:prstGeom prst="roundRect">
            <a:avLst>
              <a:gd name="adj" fmla="val 625000"/>
            </a:avLst>
          </a:prstGeom>
          <a:solidFill>
            <a:srgbClr val="F1F5F9"/>
          </a:solidFill>
          <a:ln/>
        </p:spPr>
      </p:sp>
      <p:sp>
        <p:nvSpPr>
          <p:cNvPr id="35" name="Shape 33"/>
          <p:cNvSpPr/>
          <p:nvPr/>
        </p:nvSpPr>
        <p:spPr>
          <a:xfrm>
            <a:off x="4572000" y="3017520"/>
            <a:ext cx="1828800" cy="1554480"/>
          </a:xfrm>
          <a:prstGeom prst="roundRect">
            <a:avLst>
              <a:gd name="adj" fmla="val 4706"/>
            </a:avLst>
          </a:prstGeom>
          <a:solidFill>
            <a:srgbClr val="FFFFFF"/>
          </a:solidFill>
          <a:ln w="12700">
            <a:solidFill>
              <a:srgbClr val="E2E8F0"/>
            </a:solidFill>
            <a:prstDash val="solid"/>
          </a:ln>
        </p:spPr>
      </p:sp>
      <p:sp>
        <p:nvSpPr>
          <p:cNvPr id="36" name="Shape 34"/>
          <p:cNvSpPr/>
          <p:nvPr/>
        </p:nvSpPr>
        <p:spPr>
          <a:xfrm>
            <a:off x="4709160" y="3154680"/>
            <a:ext cx="411480" cy="411480"/>
          </a:xfrm>
          <a:prstGeom prst="ellipse">
            <a:avLst/>
          </a:prstGeom>
          <a:solidFill>
            <a:srgbClr val="F1F5F9"/>
          </a:solidFill>
          <a:ln w="12700">
            <a:solidFill>
              <a:srgbClr val="E2E8F0"/>
            </a:solidFill>
            <a:prstDash val="solid"/>
          </a:ln>
        </p:spPr>
      </p:sp>
      <p:sp>
        <p:nvSpPr>
          <p:cNvPr id="37" name="Text 35"/>
          <p:cNvSpPr/>
          <p:nvPr/>
        </p:nvSpPr>
        <p:spPr>
          <a:xfrm>
            <a:off x="4709160" y="315468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Đ</a:t>
            </a:r>
            <a:endParaRPr lang="en-US" sz="1200" dirty="0"/>
          </a:p>
        </p:txBody>
      </p:sp>
      <p:sp>
        <p:nvSpPr>
          <p:cNvPr id="38" name="Text 36"/>
          <p:cNvSpPr/>
          <p:nvPr/>
        </p:nvSpPr>
        <p:spPr>
          <a:xfrm>
            <a:off x="5212080" y="315468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Đỗ Sale F</a:t>
            </a:r>
            <a:endParaRPr lang="en-US" sz="1000" dirty="0"/>
          </a:p>
        </p:txBody>
      </p:sp>
      <p:sp>
        <p:nvSpPr>
          <p:cNvPr id="39" name="Shape 37"/>
          <p:cNvSpPr/>
          <p:nvPr/>
        </p:nvSpPr>
        <p:spPr>
          <a:xfrm>
            <a:off x="5212080" y="3383280"/>
            <a:ext cx="822960" cy="182880"/>
          </a:xfrm>
          <a:prstGeom prst="roundRect">
            <a:avLst>
              <a:gd name="adj" fmla="val 250000"/>
            </a:avLst>
          </a:prstGeom>
          <a:solidFill>
            <a:srgbClr val="D1FAE5"/>
          </a:solidFill>
          <a:ln/>
        </p:spPr>
      </p:sp>
      <p:sp>
        <p:nvSpPr>
          <p:cNvPr id="40" name="Text 38"/>
          <p:cNvSpPr/>
          <p:nvPr/>
        </p:nvSpPr>
        <p:spPr>
          <a:xfrm>
            <a:off x="5212080" y="3383280"/>
            <a:ext cx="822960" cy="182880"/>
          </a:xfrm>
          <a:prstGeom prst="rect">
            <a:avLst/>
          </a:prstGeom>
          <a:noFill/>
          <a:ln/>
        </p:spPr>
        <p:txBody>
          <a:bodyPr wrap="square" rtlCol="0" anchor="ctr"/>
          <a:lstStyle/>
          <a:p>
            <a:pPr algn="ctr" indent="0" marL="0">
              <a:buNone/>
            </a:pPr>
            <a:r>
              <a:rPr lang="en-US" sz="720" b="1" dirty="0">
                <a:solidFill>
                  <a:srgbClr val="065F46"/>
                </a:solidFill>
                <a:latin typeface="Segoe UI" pitchFamily="34" charset="0"/>
                <a:ea typeface="Segoe UI" pitchFamily="34" charset="-122"/>
                <a:cs typeface="Segoe UI" pitchFamily="34" charset="-120"/>
              </a:rPr>
              <a:t>ACTIVE</a:t>
            </a:r>
            <a:endParaRPr lang="en-US" sz="720" dirty="0"/>
          </a:p>
        </p:txBody>
      </p:sp>
      <p:sp>
        <p:nvSpPr>
          <p:cNvPr id="41" name="Text 39"/>
          <p:cNvSpPr/>
          <p:nvPr/>
        </p:nvSpPr>
        <p:spPr>
          <a:xfrm>
            <a:off x="4709160" y="367588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4/20 Leads</a:t>
            </a:r>
            <a:endParaRPr lang="en-US" sz="750" dirty="0"/>
          </a:p>
        </p:txBody>
      </p:sp>
      <p:sp>
        <p:nvSpPr>
          <p:cNvPr id="42" name="Shape 40"/>
          <p:cNvSpPr/>
          <p:nvPr/>
        </p:nvSpPr>
        <p:spPr>
          <a:xfrm>
            <a:off x="4709160" y="3858768"/>
            <a:ext cx="1554480" cy="73152"/>
          </a:xfrm>
          <a:prstGeom prst="roundRect">
            <a:avLst>
              <a:gd name="adj" fmla="val 625000"/>
            </a:avLst>
          </a:prstGeom>
          <a:solidFill>
            <a:srgbClr val="F1F5F9"/>
          </a:solidFill>
          <a:ln/>
        </p:spPr>
      </p:sp>
      <p:sp>
        <p:nvSpPr>
          <p:cNvPr id="43" name="Shape 41"/>
          <p:cNvSpPr/>
          <p:nvPr/>
        </p:nvSpPr>
        <p:spPr>
          <a:xfrm>
            <a:off x="4709160" y="3858768"/>
            <a:ext cx="310896" cy="73152"/>
          </a:xfrm>
          <a:prstGeom prst="roundRect">
            <a:avLst>
              <a:gd name="adj" fmla="val 625000"/>
            </a:avLst>
          </a:prstGeom>
          <a:solidFill>
            <a:srgbClr val="3B82F6"/>
          </a:solidFill>
          <a:ln/>
        </p:spPr>
      </p:sp>
      <p:sp>
        <p:nvSpPr>
          <p:cNvPr id="44" name="Shape 42"/>
          <p:cNvSpPr/>
          <p:nvPr/>
        </p:nvSpPr>
        <p:spPr>
          <a:xfrm>
            <a:off x="6583680" y="3017520"/>
            <a:ext cx="1828800" cy="1554480"/>
          </a:xfrm>
          <a:prstGeom prst="roundRect">
            <a:avLst>
              <a:gd name="adj" fmla="val 4706"/>
            </a:avLst>
          </a:prstGeom>
          <a:solidFill>
            <a:srgbClr val="FFFFFF"/>
          </a:solidFill>
          <a:ln w="12700">
            <a:solidFill>
              <a:srgbClr val="E2E8F0"/>
            </a:solidFill>
            <a:prstDash val="solid"/>
          </a:ln>
        </p:spPr>
      </p:sp>
      <p:sp>
        <p:nvSpPr>
          <p:cNvPr id="45" name="Shape 43"/>
          <p:cNvSpPr/>
          <p:nvPr/>
        </p:nvSpPr>
        <p:spPr>
          <a:xfrm>
            <a:off x="6720840" y="3154680"/>
            <a:ext cx="411480" cy="411480"/>
          </a:xfrm>
          <a:prstGeom prst="ellipse">
            <a:avLst/>
          </a:prstGeom>
          <a:solidFill>
            <a:srgbClr val="F1F5F9"/>
          </a:solidFill>
          <a:ln w="12700">
            <a:solidFill>
              <a:srgbClr val="E2E8F0"/>
            </a:solidFill>
            <a:prstDash val="solid"/>
          </a:ln>
        </p:spPr>
      </p:sp>
      <p:sp>
        <p:nvSpPr>
          <p:cNvPr id="46" name="Text 44"/>
          <p:cNvSpPr/>
          <p:nvPr/>
        </p:nvSpPr>
        <p:spPr>
          <a:xfrm>
            <a:off x="6720840" y="315468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M</a:t>
            </a:r>
            <a:endParaRPr lang="en-US" sz="1200" dirty="0"/>
          </a:p>
        </p:txBody>
      </p:sp>
      <p:sp>
        <p:nvSpPr>
          <p:cNvPr id="47" name="Text 45"/>
          <p:cNvSpPr/>
          <p:nvPr/>
        </p:nvSpPr>
        <p:spPr>
          <a:xfrm>
            <a:off x="7223760" y="315468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Mai Sale G</a:t>
            </a:r>
            <a:endParaRPr lang="en-US" sz="1000" dirty="0"/>
          </a:p>
        </p:txBody>
      </p:sp>
      <p:sp>
        <p:nvSpPr>
          <p:cNvPr id="48" name="Shape 46"/>
          <p:cNvSpPr/>
          <p:nvPr/>
        </p:nvSpPr>
        <p:spPr>
          <a:xfrm>
            <a:off x="7223760" y="3383280"/>
            <a:ext cx="822960" cy="182880"/>
          </a:xfrm>
          <a:prstGeom prst="roundRect">
            <a:avLst>
              <a:gd name="adj" fmla="val 250000"/>
            </a:avLst>
          </a:prstGeom>
          <a:solidFill>
            <a:srgbClr val="D1FAE5"/>
          </a:solidFill>
          <a:ln/>
        </p:spPr>
      </p:sp>
      <p:sp>
        <p:nvSpPr>
          <p:cNvPr id="49" name="Text 47"/>
          <p:cNvSpPr/>
          <p:nvPr/>
        </p:nvSpPr>
        <p:spPr>
          <a:xfrm>
            <a:off x="7223760" y="3383280"/>
            <a:ext cx="822960" cy="182880"/>
          </a:xfrm>
          <a:prstGeom prst="rect">
            <a:avLst/>
          </a:prstGeom>
          <a:noFill/>
          <a:ln/>
        </p:spPr>
        <p:txBody>
          <a:bodyPr wrap="square" rtlCol="0" anchor="ctr"/>
          <a:lstStyle/>
          <a:p>
            <a:pPr algn="ctr" indent="0" marL="0">
              <a:buNone/>
            </a:pPr>
            <a:r>
              <a:rPr lang="en-US" sz="720" b="1" dirty="0">
                <a:solidFill>
                  <a:srgbClr val="065F46"/>
                </a:solidFill>
                <a:latin typeface="Segoe UI" pitchFamily="34" charset="0"/>
                <a:ea typeface="Segoe UI" pitchFamily="34" charset="-122"/>
                <a:cs typeface="Segoe UI" pitchFamily="34" charset="-120"/>
              </a:rPr>
              <a:t>ACTIVE</a:t>
            </a:r>
            <a:endParaRPr lang="en-US" sz="720" dirty="0"/>
          </a:p>
        </p:txBody>
      </p:sp>
      <p:sp>
        <p:nvSpPr>
          <p:cNvPr id="50" name="Text 48"/>
          <p:cNvSpPr/>
          <p:nvPr/>
        </p:nvSpPr>
        <p:spPr>
          <a:xfrm>
            <a:off x="6720840" y="367588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15/20 Leads</a:t>
            </a:r>
            <a:endParaRPr lang="en-US" sz="750" dirty="0"/>
          </a:p>
        </p:txBody>
      </p:sp>
      <p:sp>
        <p:nvSpPr>
          <p:cNvPr id="51" name="Shape 49"/>
          <p:cNvSpPr/>
          <p:nvPr/>
        </p:nvSpPr>
        <p:spPr>
          <a:xfrm>
            <a:off x="6720840" y="3858768"/>
            <a:ext cx="1554480" cy="73152"/>
          </a:xfrm>
          <a:prstGeom prst="roundRect">
            <a:avLst>
              <a:gd name="adj" fmla="val 625000"/>
            </a:avLst>
          </a:prstGeom>
          <a:solidFill>
            <a:srgbClr val="F1F5F9"/>
          </a:solidFill>
          <a:ln/>
        </p:spPr>
      </p:sp>
      <p:sp>
        <p:nvSpPr>
          <p:cNvPr id="52" name="Shape 50"/>
          <p:cNvSpPr/>
          <p:nvPr/>
        </p:nvSpPr>
        <p:spPr>
          <a:xfrm>
            <a:off x="6720840" y="3858768"/>
            <a:ext cx="1165860" cy="73152"/>
          </a:xfrm>
          <a:prstGeom prst="roundRect">
            <a:avLst>
              <a:gd name="adj" fmla="val 625000"/>
            </a:avLst>
          </a:prstGeom>
          <a:solidFill>
            <a:srgbClr val="3B82F6"/>
          </a:solidFill>
          <a:ln/>
        </p:spPr>
      </p:sp>
      <p:sp>
        <p:nvSpPr>
          <p:cNvPr id="53" name="Text 51"/>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15 / 60</a:t>
            </a:r>
            <a:endParaRPr lang="en-US" sz="850" dirty="0"/>
          </a:p>
        </p:txBody>
      </p:sp>
      <p:sp>
        <p:nvSpPr>
          <p:cNvPr id="54" name="Text 52"/>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5 GATES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Gate 4: Van Chống Ôm Lead (Backpressure)</a:t>
            </a:r>
            <a:endParaRPr lang="en-US" sz="1900" dirty="0"/>
          </a:p>
        </p:txBody>
      </p:sp>
      <p:sp>
        <p:nvSpPr>
          <p:cNvPr id="15" name="Shape 13"/>
          <p:cNvSpPr/>
          <p:nvPr/>
        </p:nvSpPr>
        <p:spPr>
          <a:xfrm>
            <a:off x="731520" y="1280160"/>
            <a:ext cx="365760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2918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NGƯỠNG GĂM GIỮ LEAD</a:t>
            </a:r>
            <a:endParaRPr lang="en-US" sz="950" dirty="0"/>
          </a:p>
        </p:txBody>
      </p:sp>
      <p:sp>
        <p:nvSpPr>
          <p:cNvPr id="17" name="Text 15"/>
          <p:cNvSpPr/>
          <p:nvPr/>
        </p:nvSpPr>
        <p:spPr>
          <a:xfrm>
            <a:off x="914400" y="1709928"/>
            <a:ext cx="329184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Chặn chia lead nếu Sale giữ quá 5 lead chưa xử lý.</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Thúc đẩy tốc độ tương tác lead dưới 15 phút đầu tiên.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Phản hồi nhanh giúp tăng 400% tỷ lệ chuyển đổi.</a:t>
            </a:r>
            <a:endParaRPr lang="en-US" sz="920" dirty="0"/>
          </a:p>
        </p:txBody>
      </p:sp>
      <p:sp>
        <p:nvSpPr>
          <p:cNvPr id="18" name="Shape 16"/>
          <p:cNvSpPr/>
          <p:nvPr/>
        </p:nvSpPr>
        <p:spPr>
          <a:xfrm>
            <a:off x="4572000" y="1280160"/>
            <a:ext cx="1828800" cy="1554480"/>
          </a:xfrm>
          <a:prstGeom prst="roundRect">
            <a:avLst>
              <a:gd name="adj" fmla="val 4706"/>
            </a:avLst>
          </a:prstGeom>
          <a:solidFill>
            <a:srgbClr val="FFFFFF"/>
          </a:solidFill>
          <a:ln w="12700">
            <a:solidFill>
              <a:srgbClr val="E2E8F0"/>
            </a:solidFill>
            <a:prstDash val="solid"/>
          </a:ln>
        </p:spPr>
      </p:sp>
      <p:sp>
        <p:nvSpPr>
          <p:cNvPr id="19" name="Shape 17"/>
          <p:cNvSpPr/>
          <p:nvPr/>
        </p:nvSpPr>
        <p:spPr>
          <a:xfrm>
            <a:off x="4709160" y="1417320"/>
            <a:ext cx="411480" cy="411480"/>
          </a:xfrm>
          <a:prstGeom prst="ellipse">
            <a:avLst/>
          </a:prstGeom>
          <a:solidFill>
            <a:srgbClr val="F1F5F9"/>
          </a:solidFill>
          <a:ln w="12700">
            <a:solidFill>
              <a:srgbClr val="E2E8F0"/>
            </a:solidFill>
            <a:prstDash val="solid"/>
          </a:ln>
        </p:spPr>
      </p:sp>
      <p:sp>
        <p:nvSpPr>
          <p:cNvPr id="20" name="Text 18"/>
          <p:cNvSpPr/>
          <p:nvPr/>
        </p:nvSpPr>
        <p:spPr>
          <a:xfrm>
            <a:off x="4709160" y="141732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B</a:t>
            </a:r>
            <a:endParaRPr lang="en-US" sz="1200" dirty="0"/>
          </a:p>
        </p:txBody>
      </p:sp>
      <p:sp>
        <p:nvSpPr>
          <p:cNvPr id="21" name="Text 19"/>
          <p:cNvSpPr/>
          <p:nvPr/>
        </p:nvSpPr>
        <p:spPr>
          <a:xfrm>
            <a:off x="5212080" y="141732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Bùi Sale H</a:t>
            </a:r>
            <a:endParaRPr lang="en-US" sz="1000" dirty="0"/>
          </a:p>
        </p:txBody>
      </p:sp>
      <p:sp>
        <p:nvSpPr>
          <p:cNvPr id="22" name="Shape 20"/>
          <p:cNvSpPr/>
          <p:nvPr/>
        </p:nvSpPr>
        <p:spPr>
          <a:xfrm>
            <a:off x="5212080" y="1645920"/>
            <a:ext cx="822960" cy="182880"/>
          </a:xfrm>
          <a:prstGeom prst="roundRect">
            <a:avLst>
              <a:gd name="adj" fmla="val 250000"/>
            </a:avLst>
          </a:prstGeom>
          <a:solidFill>
            <a:srgbClr val="FEE2E2"/>
          </a:solidFill>
          <a:ln/>
        </p:spPr>
      </p:sp>
      <p:sp>
        <p:nvSpPr>
          <p:cNvPr id="23" name="Text 21"/>
          <p:cNvSpPr/>
          <p:nvPr/>
        </p:nvSpPr>
        <p:spPr>
          <a:xfrm>
            <a:off x="5212080" y="1645920"/>
            <a:ext cx="822960" cy="182880"/>
          </a:xfrm>
          <a:prstGeom prst="rect">
            <a:avLst/>
          </a:prstGeom>
          <a:noFill/>
          <a:ln/>
        </p:spPr>
        <p:txBody>
          <a:bodyPr wrap="square" rtlCol="0" anchor="ctr"/>
          <a:lstStyle/>
          <a:p>
            <a:pPr algn="ctr" indent="0" marL="0">
              <a:buNone/>
            </a:pPr>
            <a:r>
              <a:rPr lang="en-US" sz="720" b="1" dirty="0">
                <a:solidFill>
                  <a:srgbClr val="BD1D2D"/>
                </a:solidFill>
                <a:latin typeface="Segoe UI" pitchFamily="34" charset="0"/>
                <a:ea typeface="Segoe UI" pitchFamily="34" charset="-122"/>
                <a:cs typeface="Segoe UI" pitchFamily="34" charset="-120"/>
              </a:rPr>
              <a:t>BLOCKED</a:t>
            </a:r>
            <a:endParaRPr lang="en-US" sz="720" dirty="0"/>
          </a:p>
        </p:txBody>
      </p:sp>
      <p:sp>
        <p:nvSpPr>
          <p:cNvPr id="24" name="Text 22"/>
          <p:cNvSpPr/>
          <p:nvPr/>
        </p:nvSpPr>
        <p:spPr>
          <a:xfrm>
            <a:off x="4709160" y="193852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5/5 Leads</a:t>
            </a:r>
            <a:endParaRPr lang="en-US" sz="750" dirty="0"/>
          </a:p>
        </p:txBody>
      </p:sp>
      <p:sp>
        <p:nvSpPr>
          <p:cNvPr id="25" name="Shape 23"/>
          <p:cNvSpPr/>
          <p:nvPr/>
        </p:nvSpPr>
        <p:spPr>
          <a:xfrm>
            <a:off x="4709160" y="2121408"/>
            <a:ext cx="1554480" cy="73152"/>
          </a:xfrm>
          <a:prstGeom prst="roundRect">
            <a:avLst>
              <a:gd name="adj" fmla="val 625000"/>
            </a:avLst>
          </a:prstGeom>
          <a:solidFill>
            <a:srgbClr val="F1F5F9"/>
          </a:solidFill>
          <a:ln/>
        </p:spPr>
      </p:sp>
      <p:sp>
        <p:nvSpPr>
          <p:cNvPr id="26" name="Shape 24"/>
          <p:cNvSpPr/>
          <p:nvPr/>
        </p:nvSpPr>
        <p:spPr>
          <a:xfrm>
            <a:off x="4709160" y="2121408"/>
            <a:ext cx="1554480" cy="73152"/>
          </a:xfrm>
          <a:prstGeom prst="roundRect">
            <a:avLst>
              <a:gd name="adj" fmla="val 625000"/>
            </a:avLst>
          </a:prstGeom>
          <a:solidFill>
            <a:srgbClr val="BD1D2D"/>
          </a:solidFill>
          <a:ln/>
        </p:spPr>
      </p:sp>
      <p:sp>
        <p:nvSpPr>
          <p:cNvPr id="27" name="Shape 25"/>
          <p:cNvSpPr/>
          <p:nvPr/>
        </p:nvSpPr>
        <p:spPr>
          <a:xfrm>
            <a:off x="6583680" y="1280160"/>
            <a:ext cx="1828800" cy="1554480"/>
          </a:xfrm>
          <a:prstGeom prst="roundRect">
            <a:avLst>
              <a:gd name="adj" fmla="val 4706"/>
            </a:avLst>
          </a:prstGeom>
          <a:solidFill>
            <a:srgbClr val="FFFFFF"/>
          </a:solidFill>
          <a:ln w="12700">
            <a:solidFill>
              <a:srgbClr val="E2E8F0"/>
            </a:solidFill>
            <a:prstDash val="solid"/>
          </a:ln>
        </p:spPr>
      </p:sp>
      <p:sp>
        <p:nvSpPr>
          <p:cNvPr id="28" name="Shape 26"/>
          <p:cNvSpPr/>
          <p:nvPr/>
        </p:nvSpPr>
        <p:spPr>
          <a:xfrm>
            <a:off x="6720840" y="1417320"/>
            <a:ext cx="411480" cy="411480"/>
          </a:xfrm>
          <a:prstGeom prst="ellipse">
            <a:avLst/>
          </a:prstGeom>
          <a:solidFill>
            <a:srgbClr val="F1F5F9"/>
          </a:solidFill>
          <a:ln w="12700">
            <a:solidFill>
              <a:srgbClr val="E2E8F0"/>
            </a:solidFill>
            <a:prstDash val="solid"/>
          </a:ln>
        </p:spPr>
      </p:sp>
      <p:sp>
        <p:nvSpPr>
          <p:cNvPr id="29" name="Text 27"/>
          <p:cNvSpPr/>
          <p:nvPr/>
        </p:nvSpPr>
        <p:spPr>
          <a:xfrm>
            <a:off x="6720840" y="1417320"/>
            <a:ext cx="411480" cy="411480"/>
          </a:xfrm>
          <a:prstGeom prst="rect">
            <a:avLst/>
          </a:prstGeom>
          <a:noFill/>
          <a:ln/>
        </p:spPr>
        <p:txBody>
          <a:bodyPr wrap="square" rtlCol="0" anchor="ctr"/>
          <a:lstStyle/>
          <a:p>
            <a:pPr algn="ctr" indent="0" marL="0">
              <a:buNone/>
            </a:pPr>
            <a:r>
              <a:rPr lang="en-US" sz="1200" b="1" dirty="0">
                <a:solidFill>
                  <a:srgbClr val="BD1D2D"/>
                </a:solidFill>
                <a:latin typeface="Segoe UI" pitchFamily="34" charset="0"/>
                <a:ea typeface="Segoe UI" pitchFamily="34" charset="-122"/>
                <a:cs typeface="Segoe UI" pitchFamily="34" charset="-120"/>
              </a:rPr>
              <a:t>N</a:t>
            </a:r>
            <a:endParaRPr lang="en-US" sz="1200" dirty="0"/>
          </a:p>
        </p:txBody>
      </p:sp>
      <p:sp>
        <p:nvSpPr>
          <p:cNvPr id="30" name="Text 28"/>
          <p:cNvSpPr/>
          <p:nvPr/>
        </p:nvSpPr>
        <p:spPr>
          <a:xfrm>
            <a:off x="7223760" y="1417320"/>
            <a:ext cx="109728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Ngô Sale I</a:t>
            </a:r>
            <a:endParaRPr lang="en-US" sz="1000" dirty="0"/>
          </a:p>
        </p:txBody>
      </p:sp>
      <p:sp>
        <p:nvSpPr>
          <p:cNvPr id="31" name="Shape 29"/>
          <p:cNvSpPr/>
          <p:nvPr/>
        </p:nvSpPr>
        <p:spPr>
          <a:xfrm>
            <a:off x="7223760" y="1645920"/>
            <a:ext cx="822960" cy="182880"/>
          </a:xfrm>
          <a:prstGeom prst="roundRect">
            <a:avLst>
              <a:gd name="adj" fmla="val 250000"/>
            </a:avLst>
          </a:prstGeom>
          <a:solidFill>
            <a:srgbClr val="D1FAE5"/>
          </a:solidFill>
          <a:ln/>
        </p:spPr>
      </p:sp>
      <p:sp>
        <p:nvSpPr>
          <p:cNvPr id="32" name="Text 30"/>
          <p:cNvSpPr/>
          <p:nvPr/>
        </p:nvSpPr>
        <p:spPr>
          <a:xfrm>
            <a:off x="7223760" y="1645920"/>
            <a:ext cx="822960" cy="182880"/>
          </a:xfrm>
          <a:prstGeom prst="rect">
            <a:avLst/>
          </a:prstGeom>
          <a:noFill/>
          <a:ln/>
        </p:spPr>
        <p:txBody>
          <a:bodyPr wrap="square" rtlCol="0" anchor="ctr"/>
          <a:lstStyle/>
          <a:p>
            <a:pPr algn="ctr" indent="0" marL="0">
              <a:buNone/>
            </a:pPr>
            <a:r>
              <a:rPr lang="en-US" sz="720" b="1" dirty="0">
                <a:solidFill>
                  <a:srgbClr val="065F46"/>
                </a:solidFill>
                <a:latin typeface="Segoe UI" pitchFamily="34" charset="0"/>
                <a:ea typeface="Segoe UI" pitchFamily="34" charset="-122"/>
                <a:cs typeface="Segoe UI" pitchFamily="34" charset="-120"/>
              </a:rPr>
              <a:t>ACTIVE</a:t>
            </a:r>
            <a:endParaRPr lang="en-US" sz="720" dirty="0"/>
          </a:p>
        </p:txBody>
      </p:sp>
      <p:sp>
        <p:nvSpPr>
          <p:cNvPr id="33" name="Text 31"/>
          <p:cNvSpPr/>
          <p:nvPr/>
        </p:nvSpPr>
        <p:spPr>
          <a:xfrm>
            <a:off x="6720840" y="1938528"/>
            <a:ext cx="1554480" cy="182880"/>
          </a:xfrm>
          <a:prstGeom prst="rect">
            <a:avLst/>
          </a:prstGeom>
          <a:noFill/>
          <a:ln/>
        </p:spPr>
        <p:txBody>
          <a:bodyPr wrap="square" rtlCol="0" anchor="ctr"/>
          <a:lstStyle/>
          <a:p>
            <a:pPr indent="0" marL="0">
              <a:buNone/>
            </a:pPr>
            <a:r>
              <a:rPr lang="en-US" sz="750" dirty="0">
                <a:solidFill>
                  <a:srgbClr val="475569"/>
                </a:solidFill>
                <a:latin typeface="Segoe UI" pitchFamily="34" charset="0"/>
                <a:ea typeface="Segoe UI" pitchFamily="34" charset="-122"/>
                <a:cs typeface="Segoe UI" pitchFamily="34" charset="-120"/>
              </a:rPr>
              <a:t>Quota: 2/5 Leads</a:t>
            </a:r>
            <a:endParaRPr lang="en-US" sz="750" dirty="0"/>
          </a:p>
        </p:txBody>
      </p:sp>
      <p:sp>
        <p:nvSpPr>
          <p:cNvPr id="34" name="Shape 32"/>
          <p:cNvSpPr/>
          <p:nvPr/>
        </p:nvSpPr>
        <p:spPr>
          <a:xfrm>
            <a:off x="6720840" y="2121408"/>
            <a:ext cx="1554480" cy="73152"/>
          </a:xfrm>
          <a:prstGeom prst="roundRect">
            <a:avLst>
              <a:gd name="adj" fmla="val 625000"/>
            </a:avLst>
          </a:prstGeom>
          <a:solidFill>
            <a:srgbClr val="F1F5F9"/>
          </a:solidFill>
          <a:ln/>
        </p:spPr>
      </p:sp>
      <p:sp>
        <p:nvSpPr>
          <p:cNvPr id="35" name="Shape 33"/>
          <p:cNvSpPr/>
          <p:nvPr/>
        </p:nvSpPr>
        <p:spPr>
          <a:xfrm>
            <a:off x="6720840" y="2121408"/>
            <a:ext cx="621792" cy="73152"/>
          </a:xfrm>
          <a:prstGeom prst="roundRect">
            <a:avLst>
              <a:gd name="adj" fmla="val 625000"/>
            </a:avLst>
          </a:prstGeom>
          <a:solidFill>
            <a:srgbClr val="3B82F6"/>
          </a:solidFill>
          <a:ln/>
        </p:spPr>
      </p:sp>
      <p:sp>
        <p:nvSpPr>
          <p:cNvPr id="36" name="Shape 34"/>
          <p:cNvSpPr/>
          <p:nvPr/>
        </p:nvSpPr>
        <p:spPr>
          <a:xfrm>
            <a:off x="4572000" y="3017520"/>
            <a:ext cx="3840480" cy="1554480"/>
          </a:xfrm>
          <a:prstGeom prst="roundRect">
            <a:avLst>
              <a:gd name="adj" fmla="val 4706"/>
            </a:avLst>
          </a:prstGeom>
          <a:solidFill>
            <a:srgbClr val="FFFFFF"/>
          </a:solidFill>
          <a:ln w="12700">
            <a:solidFill>
              <a:srgbClr val="E2E8F0"/>
            </a:solidFill>
            <a:prstDash val="solid"/>
          </a:ln>
        </p:spPr>
      </p:sp>
      <p:sp>
        <p:nvSpPr>
          <p:cNvPr id="37" name="Shape 35"/>
          <p:cNvSpPr/>
          <p:nvPr/>
        </p:nvSpPr>
        <p:spPr>
          <a:xfrm>
            <a:off x="4572000" y="3017520"/>
            <a:ext cx="3840480" cy="274320"/>
          </a:xfrm>
          <a:prstGeom prst="rect">
            <a:avLst/>
          </a:prstGeom>
          <a:solidFill>
            <a:srgbClr val="F8FAFC"/>
          </a:solidFill>
          <a:ln/>
        </p:spPr>
      </p:sp>
      <p:sp>
        <p:nvSpPr>
          <p:cNvPr id="38" name="Shape 36"/>
          <p:cNvSpPr/>
          <p:nvPr/>
        </p:nvSpPr>
        <p:spPr>
          <a:xfrm>
            <a:off x="4709160" y="3108960"/>
            <a:ext cx="91440" cy="91440"/>
          </a:xfrm>
          <a:prstGeom prst="ellipse">
            <a:avLst/>
          </a:prstGeom>
          <a:solidFill>
            <a:srgbClr val="3B82F6"/>
          </a:solidFill>
          <a:ln/>
        </p:spPr>
      </p:sp>
      <p:sp>
        <p:nvSpPr>
          <p:cNvPr id="39" name="Text 37"/>
          <p:cNvSpPr/>
          <p:nvPr/>
        </p:nvSpPr>
        <p:spPr>
          <a:xfrm>
            <a:off x="4846320" y="3017520"/>
            <a:ext cx="3474720" cy="274320"/>
          </a:xfrm>
          <a:prstGeom prst="rect">
            <a:avLst/>
          </a:prstGeom>
          <a:noFill/>
          <a:ln/>
        </p:spPr>
        <p:txBody>
          <a:bodyPr wrap="square" rtlCol="0" anchor="ctr"/>
          <a:lstStyle/>
          <a:p>
            <a:pPr indent="0" marL="0">
              <a:buNone/>
            </a:pPr>
            <a:r>
              <a:rPr lang="en-US" sz="800" b="1" dirty="0">
                <a:solidFill>
                  <a:srgbClr val="475569"/>
                </a:solidFill>
                <a:latin typeface="Segoe UI" pitchFamily="34" charset="0"/>
                <a:ea typeface="Segoe UI" pitchFamily="34" charset="-122"/>
                <a:cs typeface="Segoe UI" pitchFamily="34" charset="-120"/>
              </a:rPr>
              <a:t>TICKET: UNASSIGNED</a:t>
            </a:r>
            <a:endParaRPr lang="en-US" sz="800" dirty="0"/>
          </a:p>
        </p:txBody>
      </p:sp>
      <p:sp>
        <p:nvSpPr>
          <p:cNvPr id="40" name="Text 38"/>
          <p:cNvSpPr/>
          <p:nvPr/>
        </p:nvSpPr>
        <p:spPr>
          <a:xfrm>
            <a:off x="4709160" y="3383280"/>
            <a:ext cx="35661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Lê Hoàng Long</a:t>
            </a:r>
            <a:endParaRPr lang="en-US" sz="1050" dirty="0"/>
          </a:p>
        </p:txBody>
      </p:sp>
      <p:sp>
        <p:nvSpPr>
          <p:cNvPr id="41" name="Text 39"/>
          <p:cNvSpPr/>
          <p:nvPr/>
        </p:nvSpPr>
        <p:spPr>
          <a:xfrm>
            <a:off x="4709160" y="3611880"/>
            <a:ext cx="3566160" cy="18288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0909090909</a:t>
            </a:r>
            <a:endParaRPr lang="en-US" sz="900" dirty="0"/>
          </a:p>
        </p:txBody>
      </p:sp>
      <p:sp>
        <p:nvSpPr>
          <p:cNvPr id="42" name="Shape 40"/>
          <p:cNvSpPr/>
          <p:nvPr/>
        </p:nvSpPr>
        <p:spPr>
          <a:xfrm>
            <a:off x="4709160" y="3886200"/>
            <a:ext cx="822960" cy="201168"/>
          </a:xfrm>
          <a:prstGeom prst="roundRect">
            <a:avLst>
              <a:gd name="adj" fmla="val 227273"/>
            </a:avLst>
          </a:prstGeom>
          <a:solidFill>
            <a:srgbClr val="E0F2FE"/>
          </a:solidFill>
          <a:ln/>
        </p:spPr>
      </p:sp>
      <p:sp>
        <p:nvSpPr>
          <p:cNvPr id="43" name="Text 41"/>
          <p:cNvSpPr/>
          <p:nvPr/>
        </p:nvSpPr>
        <p:spPr>
          <a:xfrm>
            <a:off x="4709160" y="3886200"/>
            <a:ext cx="822960" cy="201168"/>
          </a:xfrm>
          <a:prstGeom prst="rect">
            <a:avLst/>
          </a:prstGeom>
          <a:noFill/>
          <a:ln/>
        </p:spPr>
        <p:txBody>
          <a:bodyPr wrap="square" rtlCol="0" anchor="ctr"/>
          <a:lstStyle/>
          <a:p>
            <a:pPr algn="ctr" indent="0" marL="0">
              <a:buNone/>
            </a:pPr>
            <a:r>
              <a:rPr lang="en-US" sz="750" b="1" dirty="0">
                <a:solidFill>
                  <a:srgbClr val="0369A1"/>
                </a:solidFill>
                <a:latin typeface="Segoe UI" pitchFamily="34" charset="0"/>
                <a:ea typeface="Segoe UI" pitchFamily="34" charset="-122"/>
                <a:cs typeface="Segoe UI" pitchFamily="34" charset="-120"/>
              </a:rPr>
              <a:t>Campaign A</a:t>
            </a:r>
            <a:endParaRPr lang="en-US" sz="750" dirty="0"/>
          </a:p>
        </p:txBody>
      </p:sp>
      <p:sp>
        <p:nvSpPr>
          <p:cNvPr id="44" name="Shape 42"/>
          <p:cNvSpPr/>
          <p:nvPr/>
        </p:nvSpPr>
        <p:spPr>
          <a:xfrm>
            <a:off x="5623560" y="3886200"/>
            <a:ext cx="731520" cy="201168"/>
          </a:xfrm>
          <a:prstGeom prst="roundRect">
            <a:avLst>
              <a:gd name="adj" fmla="val 227273"/>
            </a:avLst>
          </a:prstGeom>
          <a:solidFill>
            <a:srgbClr val="FEE2E2"/>
          </a:solidFill>
          <a:ln/>
        </p:spPr>
      </p:sp>
      <p:sp>
        <p:nvSpPr>
          <p:cNvPr id="45" name="Text 43"/>
          <p:cNvSpPr/>
          <p:nvPr/>
        </p:nvSpPr>
        <p:spPr>
          <a:xfrm>
            <a:off x="5623560" y="3886200"/>
            <a:ext cx="731520" cy="201168"/>
          </a:xfrm>
          <a:prstGeom prst="rect">
            <a:avLst/>
          </a:prstGeom>
          <a:noFill/>
          <a:ln/>
        </p:spPr>
        <p:txBody>
          <a:bodyPr wrap="square" rtlCol="0" anchor="ctr"/>
          <a:lstStyle/>
          <a:p>
            <a:pPr algn="ctr" indent="0" marL="0">
              <a:buNone/>
            </a:pPr>
            <a:r>
              <a:rPr lang="en-US" sz="750" b="1" dirty="0">
                <a:solidFill>
                  <a:srgbClr val="BD1D2D"/>
                </a:solidFill>
                <a:latin typeface="Segoe UI" pitchFamily="34" charset="0"/>
                <a:ea typeface="Segoe UI" pitchFamily="34" charset="-122"/>
                <a:cs typeface="Segoe UI" pitchFamily="34" charset="-120"/>
              </a:rPr>
              <a:t>HOT</a:t>
            </a:r>
            <a:endParaRPr lang="en-US" sz="750" dirty="0"/>
          </a:p>
        </p:txBody>
      </p:sp>
      <p:sp>
        <p:nvSpPr>
          <p:cNvPr id="46" name="Text 44"/>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16 / 60</a:t>
            </a:r>
            <a:endParaRPr lang="en-US" sz="850" dirty="0"/>
          </a:p>
        </p:txBody>
      </p:sp>
      <p:sp>
        <p:nvSpPr>
          <p:cNvPr id="47" name="Text 45"/>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5 GATES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Gate 5: Hạn Mức Lead Theo Cấu Hình</a:t>
            </a:r>
            <a:endParaRPr lang="en-US" sz="1900" dirty="0"/>
          </a:p>
        </p:txBody>
      </p:sp>
      <p:sp>
        <p:nvSpPr>
          <p:cNvPr id="15" name="Shape 13"/>
          <p:cNvSpPr/>
          <p:nvPr/>
        </p:nvSpPr>
        <p:spPr>
          <a:xfrm>
            <a:off x="731520" y="1280160"/>
            <a:ext cx="365760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2918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CÀI ĐẶT HẠN MỨC (QUOTA)</a:t>
            </a:r>
            <a:endParaRPr lang="en-US" sz="950" dirty="0"/>
          </a:p>
        </p:txBody>
      </p:sp>
      <p:sp>
        <p:nvSpPr>
          <p:cNvPr id="17" name="Text 15"/>
          <p:cNvSpPr/>
          <p:nvPr/>
        </p:nvSpPr>
        <p:spPr>
          <a:xfrm>
            <a:off x="914400" y="1709928"/>
            <a:ext cx="329184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Hệ thống chặn chia lead nếu vượt giới hạn nhận trong ngày/tháng.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Hạn mức giờ: tối đa 3 lead nhận mỗi giờ.</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Hạn mức ngày: cấu hình động tùy chiến dịch (mặc định 20 lead).</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Hạn mức tháng: mặc định tối đa 300 lead nhận.</a:t>
            </a:r>
            <a:endParaRPr lang="en-US" sz="920" dirty="0"/>
          </a:p>
        </p:txBody>
      </p:sp>
      <p:graphicFrame>
        <p:nvGraphicFramePr>
          <p:cNvPr id="18" name="Chart 0" descr=""/>
          <p:cNvGraphicFramePr/>
          <p:nvPr/>
        </p:nvGraphicFramePr>
        <p:xfrm>
          <a:off x="4754880" y="1280160"/>
          <a:ext cx="3931920" cy="3291840"/>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17 / 60</a:t>
            </a:r>
            <a:endParaRPr lang="en-US" sz="850" dirty="0"/>
          </a:p>
        </p:txBody>
      </p:sp>
      <p:sp>
        <p:nvSpPr>
          <p:cNvPr id="20" name="Text 17"/>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CHIA LEAD</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Định Tuyến Dự Phòng Khi Bị Chặn Toàn Bộ (Fallback)</a:t>
            </a:r>
            <a:endParaRPr lang="en-US" sz="1900" dirty="0"/>
          </a:p>
        </p:txBody>
      </p:sp>
      <p:sp>
        <p:nvSpPr>
          <p:cNvPr id="15" name="Shape 13"/>
          <p:cNvSpPr/>
          <p:nvPr/>
        </p:nvSpPr>
        <p:spPr>
          <a:xfrm>
            <a:off x="731520" y="1280160"/>
            <a:ext cx="2499360" cy="3291840"/>
          </a:xfrm>
          <a:prstGeom prst="roundRect">
            <a:avLst>
              <a:gd name="adj" fmla="val 1829"/>
            </a:avLst>
          </a:prstGeom>
          <a:solidFill>
            <a:srgbClr val="FFFFFF"/>
          </a:solidFill>
          <a:ln w="12700">
            <a:solidFill>
              <a:srgbClr val="E2E8F0"/>
            </a:solidFill>
            <a:prstDash val="solid"/>
          </a:ln>
        </p:spPr>
      </p:sp>
      <p:sp>
        <p:nvSpPr>
          <p:cNvPr id="16" name="Text 14"/>
          <p:cNvSpPr/>
          <p:nvPr/>
        </p:nvSpPr>
        <p:spPr>
          <a:xfrm>
            <a:off x="91440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TÌNH HUỐNG GÃY LUỒNG</a:t>
            </a:r>
            <a:endParaRPr lang="en-US" sz="950" dirty="0"/>
          </a:p>
        </p:txBody>
      </p:sp>
      <p:sp>
        <p:nvSpPr>
          <p:cNvPr id="17" name="Text 15"/>
          <p:cNvSpPr/>
          <p:nvPr/>
        </p:nvSpPr>
        <p:spPr>
          <a:xfrm>
            <a:off x="91440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Toàn bộ các Sale trong danh sách phân bổ đều bị chặn bởi 5 Protection Gates.</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Hoặc hệ thống không phát hiện bất kỳ ca trực online nào hoạt động.</a:t>
            </a:r>
            <a:endParaRPr lang="en-US" sz="920" dirty="0"/>
          </a:p>
        </p:txBody>
      </p:sp>
      <p:sp>
        <p:nvSpPr>
          <p:cNvPr id="18" name="Shape 16"/>
          <p:cNvSpPr/>
          <p:nvPr/>
        </p:nvSpPr>
        <p:spPr>
          <a:xfrm>
            <a:off x="3505200" y="1280160"/>
            <a:ext cx="2499360" cy="3291840"/>
          </a:xfrm>
          <a:prstGeom prst="roundRect">
            <a:avLst>
              <a:gd name="adj" fmla="val 1829"/>
            </a:avLst>
          </a:prstGeom>
          <a:solidFill>
            <a:srgbClr val="FFFFFF"/>
          </a:solidFill>
          <a:ln w="12700">
            <a:solidFill>
              <a:srgbClr val="E2E8F0"/>
            </a:solidFill>
            <a:prstDash val="solid"/>
          </a:ln>
        </p:spPr>
      </p:sp>
      <p:sp>
        <p:nvSpPr>
          <p:cNvPr id="19" name="Text 17"/>
          <p:cNvSpPr/>
          <p:nvPr/>
        </p:nvSpPr>
        <p:spPr>
          <a:xfrm>
            <a:off x="368808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GỬI EMAIL KHẨN CẤP</a:t>
            </a:r>
            <a:endParaRPr lang="en-US" sz="950" dirty="0"/>
          </a:p>
        </p:txBody>
      </p:sp>
      <p:sp>
        <p:nvSpPr>
          <p:cNvPr id="20" name="Text 18"/>
          <p:cNvSpPr/>
          <p:nvPr/>
        </p:nvSpPr>
        <p:spPr>
          <a:xfrm>
            <a:off x="368808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Kích hoạt cơ chế gửi thông tin lead thô qua Mailer dự phòng.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Gửi trực tiếp đến địa chỉ email khẩn cấp được cấu hình trên Campaign.</a:t>
            </a:r>
            <a:endParaRPr lang="en-US" sz="920" dirty="0"/>
          </a:p>
        </p:txBody>
      </p:sp>
      <p:sp>
        <p:nvSpPr>
          <p:cNvPr id="21" name="Shape 19"/>
          <p:cNvSpPr/>
          <p:nvPr/>
        </p:nvSpPr>
        <p:spPr>
          <a:xfrm>
            <a:off x="6278880" y="1280160"/>
            <a:ext cx="2499360" cy="3291840"/>
          </a:xfrm>
          <a:prstGeom prst="roundRect">
            <a:avLst>
              <a:gd name="adj" fmla="val 1829"/>
            </a:avLst>
          </a:prstGeom>
          <a:solidFill>
            <a:srgbClr val="FFFFFF"/>
          </a:solidFill>
          <a:ln w="12700">
            <a:solidFill>
              <a:srgbClr val="E2E8F0"/>
            </a:solidFill>
            <a:prstDash val="solid"/>
          </a:ln>
        </p:spPr>
      </p:sp>
      <p:sp>
        <p:nvSpPr>
          <p:cNvPr id="22" name="Text 20"/>
          <p:cNvSpPr/>
          <p:nvPr/>
        </p:nvSpPr>
        <p:spPr>
          <a:xfrm>
            <a:off x="646176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CHUYỂN TIẾP ADMIN DUYỆT</a:t>
            </a:r>
            <a:endParaRPr lang="en-US" sz="950" dirty="0"/>
          </a:p>
        </p:txBody>
      </p:sp>
      <p:sp>
        <p:nvSpPr>
          <p:cNvPr id="23" name="Text 21"/>
          <p:cNvSpPr/>
          <p:nvPr/>
        </p:nvSpPr>
        <p:spPr>
          <a:xfrm>
            <a:off x="646176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Lead được chuyển trạng thái sang pending_manual.</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Đưa vào hàng đợi Admin để phê duyệt thủ công và phân phối tay.</a:t>
            </a:r>
            <a:endParaRPr lang="en-US" sz="920" dirty="0"/>
          </a:p>
        </p:txBody>
      </p:sp>
      <p:sp>
        <p:nvSpPr>
          <p:cNvPr id="24" name="Text 2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18 / 60</a:t>
            </a:r>
            <a:endParaRPr lang="en-US" sz="850" dirty="0"/>
          </a:p>
        </p:txBody>
      </p:sp>
      <p:sp>
        <p:nvSpPr>
          <p:cNvPr id="25" name="Text 2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CHIA LEAD</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Cơ Chế Chống Đói Lead Cho Sale Vắng Mặt</a:t>
            </a:r>
            <a:endParaRPr lang="en-US" sz="1900" dirty="0"/>
          </a:p>
        </p:txBody>
      </p:sp>
      <p:sp>
        <p:nvSpPr>
          <p:cNvPr id="15" name="Shape 13"/>
          <p:cNvSpPr/>
          <p:nvPr/>
        </p:nvSpPr>
        <p:spPr>
          <a:xfrm>
            <a:off x="731520" y="1280160"/>
            <a:ext cx="2499360" cy="3291840"/>
          </a:xfrm>
          <a:prstGeom prst="roundRect">
            <a:avLst>
              <a:gd name="adj" fmla="val 1829"/>
            </a:avLst>
          </a:prstGeom>
          <a:solidFill>
            <a:srgbClr val="FFFFFF"/>
          </a:solidFill>
          <a:ln w="12700">
            <a:solidFill>
              <a:srgbClr val="E2E8F0"/>
            </a:solidFill>
            <a:prstDash val="solid"/>
          </a:ln>
        </p:spPr>
      </p:sp>
      <p:sp>
        <p:nvSpPr>
          <p:cNvPr id="16" name="Text 14"/>
          <p:cNvSpPr/>
          <p:nvPr/>
        </p:nvSpPr>
        <p:spPr>
          <a:xfrm>
            <a:off x="91440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TÍCH LŨY SKIPPED_CREDIT</a:t>
            </a:r>
            <a:endParaRPr lang="en-US" sz="950" dirty="0"/>
          </a:p>
        </p:txBody>
      </p:sp>
      <p:sp>
        <p:nvSpPr>
          <p:cNvPr id="17" name="Text 15"/>
          <p:cNvSpPr/>
          <p:nvPr/>
        </p:nvSpPr>
        <p:spPr>
          <a:xfrm>
            <a:off x="91440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Khi Sale vắng mặt (vacation_mode=1) hoặc nghỉ phép.</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Hệ thống đếm số lượt phân bổ bị bỏ lỡ và cộng dồn vào skipped_credit.</a:t>
            </a:r>
            <a:endParaRPr lang="en-US" sz="920" dirty="0"/>
          </a:p>
        </p:txBody>
      </p:sp>
      <p:sp>
        <p:nvSpPr>
          <p:cNvPr id="18" name="Shape 16"/>
          <p:cNvSpPr/>
          <p:nvPr/>
        </p:nvSpPr>
        <p:spPr>
          <a:xfrm>
            <a:off x="3505200" y="1280160"/>
            <a:ext cx="2499360" cy="3291840"/>
          </a:xfrm>
          <a:prstGeom prst="roundRect">
            <a:avLst>
              <a:gd name="adj" fmla="val 1829"/>
            </a:avLst>
          </a:prstGeom>
          <a:solidFill>
            <a:srgbClr val="FFFFFF"/>
          </a:solidFill>
          <a:ln w="12700">
            <a:solidFill>
              <a:srgbClr val="E2E8F0"/>
            </a:solidFill>
            <a:prstDash val="solid"/>
          </a:ln>
        </p:spPr>
      </p:sp>
      <p:sp>
        <p:nvSpPr>
          <p:cNvPr id="19" name="Text 17"/>
          <p:cNvSpPr/>
          <p:nvPr/>
        </p:nvSpPr>
        <p:spPr>
          <a:xfrm>
            <a:off x="368808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KÍCH HOẠT ƯU TIÊN BÙ</a:t>
            </a:r>
            <a:endParaRPr lang="en-US" sz="950" dirty="0"/>
          </a:p>
        </p:txBody>
      </p:sp>
      <p:sp>
        <p:nvSpPr>
          <p:cNvPr id="20" name="Text 18"/>
          <p:cNvSpPr/>
          <p:nvPr/>
        </p:nvSpPr>
        <p:spPr>
          <a:xfrm>
            <a:off x="368808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Khi Sale quay lại hoạt động và điểm danh check-in thành công.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Hệ thống ưu tiên chia lead cho người có skipped_credit cao nhất trước.</a:t>
            </a:r>
            <a:endParaRPr lang="en-US" sz="920" dirty="0"/>
          </a:p>
        </p:txBody>
      </p:sp>
      <p:sp>
        <p:nvSpPr>
          <p:cNvPr id="21" name="Shape 19"/>
          <p:cNvSpPr/>
          <p:nvPr/>
        </p:nvSpPr>
        <p:spPr>
          <a:xfrm>
            <a:off x="6278880" y="1280160"/>
            <a:ext cx="2499360" cy="3291840"/>
          </a:xfrm>
          <a:prstGeom prst="roundRect">
            <a:avLst>
              <a:gd name="adj" fmla="val 1829"/>
            </a:avLst>
          </a:prstGeom>
          <a:solidFill>
            <a:srgbClr val="FFFFFF"/>
          </a:solidFill>
          <a:ln w="12700">
            <a:solidFill>
              <a:srgbClr val="E2E8F0"/>
            </a:solidFill>
            <a:prstDash val="solid"/>
          </a:ln>
        </p:spPr>
      </p:sp>
      <p:sp>
        <p:nvSpPr>
          <p:cNvPr id="22" name="Text 20"/>
          <p:cNvSpPr/>
          <p:nvPr/>
        </p:nvSpPr>
        <p:spPr>
          <a:xfrm>
            <a:off x="646176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ĐẢM BẢO CÔNG BẰNG</a:t>
            </a:r>
            <a:endParaRPr lang="en-US" sz="950" dirty="0"/>
          </a:p>
        </p:txBody>
      </p:sp>
      <p:sp>
        <p:nvSpPr>
          <p:cNvPr id="23" name="Text 21"/>
          <p:cNvSpPr/>
          <p:nvPr/>
        </p:nvSpPr>
        <p:spPr>
          <a:xfrm>
            <a:off x="646176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Triệt tiêu tình trạng dồn dập lead cho Sale online liên tục.</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Cân bằng cơ hội tiếp cận khách hàng tiềm năng cho cả đội ngũ.</a:t>
            </a:r>
            <a:endParaRPr lang="en-US" sz="920" dirty="0"/>
          </a:p>
        </p:txBody>
      </p:sp>
      <p:sp>
        <p:nvSpPr>
          <p:cNvPr id="24" name="Text 2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19 / 60</a:t>
            </a:r>
            <a:endParaRPr lang="en-US" sz="850" dirty="0"/>
          </a:p>
        </p:txBody>
      </p:sp>
      <p:sp>
        <p:nvSpPr>
          <p:cNvPr id="25" name="Text 2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BD1D2D"/>
        </a:solidFill>
      </p:bgPr>
    </p:bg>
    <p:spTree>
      <p:nvGrpSpPr>
        <p:cNvPr id="1" name=""/>
        <p:cNvGrpSpPr/>
        <p:nvPr/>
      </p:nvGrpSpPr>
      <p:grpSpPr>
        <a:xfrm>
          <a:off x="0" y="0"/>
          <a:ext cx="0" cy="0"/>
          <a:chOff x="0" y="0"/>
          <a:chExt cx="0" cy="0"/>
        </a:xfrm>
      </p:grpSpPr>
      <p:sp>
        <p:nvSpPr>
          <p:cNvPr id="2" name="Text 0"/>
          <p:cNvSpPr/>
          <p:nvPr/>
        </p:nvSpPr>
        <p:spPr>
          <a:xfrm>
            <a:off x="914400" y="914400"/>
            <a:ext cx="7315200" cy="274320"/>
          </a:xfrm>
          <a:prstGeom prst="rect">
            <a:avLst/>
          </a:prstGeom>
          <a:noFill/>
          <a:ln/>
        </p:spPr>
        <p:txBody>
          <a:bodyPr wrap="square" rtlCol="0" anchor="ctr"/>
          <a:lstStyle/>
          <a:p>
            <a:pPr indent="0" marL="0">
              <a:buNone/>
            </a:pPr>
            <a:r>
              <a:rPr lang="en-US" sz="1300" b="1" dirty="0">
                <a:solidFill>
                  <a:srgbClr val="FFC1C1"/>
                </a:solidFill>
                <a:latin typeface="Segoe UI" pitchFamily="34" charset="0"/>
                <a:ea typeface="Segoe UI" pitchFamily="34" charset="-122"/>
                <a:cs typeface="Segoe UI" pitchFamily="34" charset="-120"/>
              </a:rPr>
              <a:t>PHÂN PHỐI THÔNG MINH</a:t>
            </a:r>
            <a:endParaRPr lang="en-US" sz="1300" dirty="0"/>
          </a:p>
        </p:txBody>
      </p:sp>
      <p:sp>
        <p:nvSpPr>
          <p:cNvPr id="3" name="Text 1"/>
          <p:cNvSpPr/>
          <p:nvPr/>
        </p:nvSpPr>
        <p:spPr>
          <a:xfrm>
            <a:off x="914400" y="1280160"/>
            <a:ext cx="7315200" cy="91440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KẾT LUẬN CHƯƠNG 2: 5 CỔNG KIỂM DUYỆT LEAD</a:t>
            </a:r>
            <a:endParaRPr lang="en-US" sz="3000" dirty="0"/>
          </a:p>
        </p:txBody>
      </p:sp>
      <p:sp>
        <p:nvSpPr>
          <p:cNvPr id="4" name="Text 2"/>
          <p:cNvSpPr/>
          <p:nvPr/>
        </p:nvSpPr>
        <p:spPr>
          <a:xfrm>
            <a:off x="914400" y="2377440"/>
            <a:ext cx="7315200" cy="548640"/>
          </a:xfrm>
          <a:prstGeom prst="rect">
            <a:avLst/>
          </a:prstGeom>
          <a:noFill/>
          <a:ln/>
        </p:spPr>
        <p:txBody>
          <a:bodyPr wrap="square" rtlCol="0" anchor="t"/>
          <a:lstStyle/>
          <a:p>
            <a:pPr indent="0" marL="0">
              <a:lnSpc>
                <a:spcPts val="1600"/>
              </a:lnSpc>
              <a:buNone/>
            </a:pPr>
            <a:r>
              <a:rPr lang="en-US" sz="1150" dirty="0">
                <a:solidFill>
                  <a:srgbClr val="F1F5F9"/>
                </a:solidFill>
                <a:latin typeface="Segoe UI" pitchFamily="34" charset="0"/>
                <a:ea typeface="Segoe UI" pitchFamily="34" charset="-122"/>
                <a:cs typeface="Segoe UI" pitchFamily="34" charset="-120"/>
              </a:rPr>
              <a:t>Thiết lập màng lọc thông minh, giám sát tự động độ sẵn sàng và hiệu năng tương tác của Sale để tối ưu hóa tỷ lệ chuyển đổi lead đầu vào.</a:t>
            </a:r>
            <a:endParaRPr lang="en-US" sz="1150" dirty="0"/>
          </a:p>
        </p:txBody>
      </p:sp>
      <p:sp>
        <p:nvSpPr>
          <p:cNvPr id="5" name="Shape 3"/>
          <p:cNvSpPr/>
          <p:nvPr/>
        </p:nvSpPr>
        <p:spPr>
          <a:xfrm>
            <a:off x="914400" y="3017520"/>
            <a:ext cx="2194560" cy="1554480"/>
          </a:xfrm>
          <a:prstGeom prst="roundRect">
            <a:avLst>
              <a:gd name="adj" fmla="val 4706"/>
            </a:avLst>
          </a:prstGeom>
          <a:solidFill>
            <a:srgbClr val="9C1523"/>
          </a:solidFill>
          <a:ln w="12700">
            <a:solidFill>
              <a:srgbClr val="C92A3A"/>
            </a:solidFill>
            <a:prstDash val="solid"/>
          </a:ln>
        </p:spPr>
      </p:sp>
      <p:sp>
        <p:nvSpPr>
          <p:cNvPr id="6" name="Text 4"/>
          <p:cNvSpPr/>
          <p:nvPr/>
        </p:nvSpPr>
        <p:spPr>
          <a:xfrm>
            <a:off x="105156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SELFIE CHECK-IN</a:t>
            </a:r>
            <a:endParaRPr lang="en-US" sz="950" dirty="0"/>
          </a:p>
        </p:txBody>
      </p:sp>
      <p:sp>
        <p:nvSpPr>
          <p:cNvPr id="7" name="Text 5"/>
          <p:cNvSpPr/>
          <p:nvPr/>
        </p:nvSpPr>
        <p:spPr>
          <a:xfrm>
            <a:off x="105156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Ca ngày bắt buộc điểm danh selfie approved đầu ca để nhận lead; ca đêm/lễ duyệt đặc quyền.</a:t>
            </a:r>
            <a:endParaRPr lang="en-US" sz="850" dirty="0"/>
          </a:p>
        </p:txBody>
      </p:sp>
      <p:sp>
        <p:nvSpPr>
          <p:cNvPr id="8" name="Shape 6"/>
          <p:cNvSpPr/>
          <p:nvPr/>
        </p:nvSpPr>
        <p:spPr>
          <a:xfrm>
            <a:off x="3474720" y="3017520"/>
            <a:ext cx="2194560" cy="1554480"/>
          </a:xfrm>
          <a:prstGeom prst="roundRect">
            <a:avLst>
              <a:gd name="adj" fmla="val 4706"/>
            </a:avLst>
          </a:prstGeom>
          <a:solidFill>
            <a:srgbClr val="9C1523"/>
          </a:solidFill>
          <a:ln w="12700">
            <a:solidFill>
              <a:srgbClr val="C92A3A"/>
            </a:solidFill>
            <a:prstDash val="solid"/>
          </a:ln>
        </p:spPr>
      </p:sp>
      <p:sp>
        <p:nvSpPr>
          <p:cNvPr id="9" name="Text 7"/>
          <p:cNvSpPr/>
          <p:nvPr/>
        </p:nvSpPr>
        <p:spPr>
          <a:xfrm>
            <a:off x="361188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BACKPRESSURE</a:t>
            </a:r>
            <a:endParaRPr lang="en-US" sz="950" dirty="0"/>
          </a:p>
        </p:txBody>
      </p:sp>
      <p:sp>
        <p:nvSpPr>
          <p:cNvPr id="10" name="Text 8"/>
          <p:cNvSpPr/>
          <p:nvPr/>
        </p:nvSpPr>
        <p:spPr>
          <a:xfrm>
            <a:off x="361188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Chốt chặn găm giữ quá 5 lead chưa xử lý, thúc đẩy tương tác phản hồi đầu tiên &lt;15 phút.</a:t>
            </a:r>
            <a:endParaRPr lang="en-US" sz="850" dirty="0"/>
          </a:p>
        </p:txBody>
      </p:sp>
      <p:sp>
        <p:nvSpPr>
          <p:cNvPr id="11" name="Shape 9"/>
          <p:cNvSpPr/>
          <p:nvPr/>
        </p:nvSpPr>
        <p:spPr>
          <a:xfrm>
            <a:off x="6035040" y="3017520"/>
            <a:ext cx="2194560" cy="1554480"/>
          </a:xfrm>
          <a:prstGeom prst="roundRect">
            <a:avLst>
              <a:gd name="adj" fmla="val 4706"/>
            </a:avLst>
          </a:prstGeom>
          <a:solidFill>
            <a:srgbClr val="9C1523"/>
          </a:solidFill>
          <a:ln w="12700">
            <a:solidFill>
              <a:srgbClr val="C92A3A"/>
            </a:solidFill>
            <a:prstDash val="solid"/>
          </a:ln>
        </p:spPr>
      </p:sp>
      <p:sp>
        <p:nvSpPr>
          <p:cNvPr id="12" name="Text 10"/>
          <p:cNvSpPr/>
          <p:nvPr/>
        </p:nvSpPr>
        <p:spPr>
          <a:xfrm>
            <a:off x="617220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ĐIỂM BÙ CREDIT</a:t>
            </a:r>
            <a:endParaRPr lang="en-US" sz="950" dirty="0"/>
          </a:p>
        </p:txBody>
      </p:sp>
      <p:sp>
        <p:nvSpPr>
          <p:cNvPr id="13" name="Text 11"/>
          <p:cNvSpPr/>
          <p:nvPr/>
        </p:nvSpPr>
        <p:spPr>
          <a:xfrm>
            <a:off x="617220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Tích lũy skipped_credit khi Sale đi gặp khách để bù lại lượng lead công bằng khi quay lại.</a:t>
            </a:r>
            <a:endParaRPr lang="en-US" sz="850" dirty="0"/>
          </a:p>
        </p:txBody>
      </p:sp>
      <p:sp>
        <p:nvSpPr>
          <p:cNvPr id="14" name="Text 1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20 / 60</a:t>
            </a:r>
            <a:endParaRPr lang="en-US" sz="850" dirty="0"/>
          </a:p>
        </p:txBody>
      </p:sp>
      <p:sp>
        <p:nvSpPr>
          <p:cNvPr id="15" name="Text 1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ĐẶT CỌC</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Quy Trình Đặt Cọc &amp; Phê Duyệt Doanh Thu</a:t>
            </a:r>
            <a:endParaRPr lang="en-US" sz="1900" dirty="0"/>
          </a:p>
        </p:txBody>
      </p:sp>
      <p:sp>
        <p:nvSpPr>
          <p:cNvPr id="15" name="Shape 13"/>
          <p:cNvSpPr/>
          <p:nvPr/>
        </p:nvSpPr>
        <p:spPr>
          <a:xfrm>
            <a:off x="731520" y="1280160"/>
            <a:ext cx="1499616" cy="365760"/>
          </a:xfrm>
          <a:prstGeom prst="roundRect">
            <a:avLst>
              <a:gd name="adj" fmla="val 12500"/>
            </a:avLst>
          </a:prstGeom>
          <a:solidFill>
            <a:srgbClr val="E2E8F0"/>
          </a:solidFill>
          <a:ln w="12700">
            <a:solidFill>
              <a:srgbClr val="E2E8F0"/>
            </a:solidFill>
            <a:prstDash val="solid"/>
          </a:ln>
        </p:spPr>
      </p:sp>
      <p:sp>
        <p:nvSpPr>
          <p:cNvPr id="16" name="Text 14"/>
          <p:cNvSpPr/>
          <p:nvPr/>
        </p:nvSpPr>
        <p:spPr>
          <a:xfrm>
            <a:off x="777240" y="1280160"/>
            <a:ext cx="1408176" cy="365760"/>
          </a:xfrm>
          <a:prstGeom prst="rect">
            <a:avLst/>
          </a:prstGeom>
          <a:noFill/>
          <a:ln/>
        </p:spPr>
        <p:txBody>
          <a:bodyPr wrap="square" rtlCol="0" anchor="ctr"/>
          <a:lstStyle/>
          <a:p>
            <a:pPr algn="ctr" indent="0" marL="0">
              <a:buNone/>
            </a:pPr>
            <a:r>
              <a:rPr lang="en-US" sz="750" dirty="0">
                <a:solidFill>
                  <a:srgbClr val="94A3B8"/>
                </a:solidFill>
                <a:latin typeface="Segoe UI" pitchFamily="34" charset="0"/>
                <a:ea typeface="Segoe UI" pitchFamily="34" charset="-122"/>
                <a:cs typeface="Segoe UI" pitchFamily="34" charset="-120"/>
              </a:rPr>
              <a:t>NHẬN LEAD THÔ</a:t>
            </a:r>
            <a:endParaRPr lang="en-US" sz="750" dirty="0"/>
          </a:p>
        </p:txBody>
      </p:sp>
      <p:sp>
        <p:nvSpPr>
          <p:cNvPr id="17" name="Shape 15"/>
          <p:cNvSpPr/>
          <p:nvPr/>
        </p:nvSpPr>
        <p:spPr>
          <a:xfrm>
            <a:off x="2368296" y="1280160"/>
            <a:ext cx="1499616" cy="365760"/>
          </a:xfrm>
          <a:prstGeom prst="roundRect">
            <a:avLst>
              <a:gd name="adj" fmla="val 12500"/>
            </a:avLst>
          </a:prstGeom>
          <a:solidFill>
            <a:srgbClr val="E2E8F0"/>
          </a:solidFill>
          <a:ln w="12700">
            <a:solidFill>
              <a:srgbClr val="E2E8F0"/>
            </a:solidFill>
            <a:prstDash val="solid"/>
          </a:ln>
        </p:spPr>
      </p:sp>
      <p:sp>
        <p:nvSpPr>
          <p:cNvPr id="18" name="Text 16"/>
          <p:cNvSpPr/>
          <p:nvPr/>
        </p:nvSpPr>
        <p:spPr>
          <a:xfrm>
            <a:off x="2414016" y="1280160"/>
            <a:ext cx="1408176" cy="365760"/>
          </a:xfrm>
          <a:prstGeom prst="rect">
            <a:avLst/>
          </a:prstGeom>
          <a:noFill/>
          <a:ln/>
        </p:spPr>
        <p:txBody>
          <a:bodyPr wrap="square" rtlCol="0" anchor="ctr"/>
          <a:lstStyle/>
          <a:p>
            <a:pPr algn="ctr" indent="0" marL="0">
              <a:buNone/>
            </a:pPr>
            <a:r>
              <a:rPr lang="en-US" sz="750" dirty="0">
                <a:solidFill>
                  <a:srgbClr val="94A3B8"/>
                </a:solidFill>
                <a:latin typeface="Segoe UI" pitchFamily="34" charset="0"/>
                <a:ea typeface="Segoe UI" pitchFamily="34" charset="-122"/>
                <a:cs typeface="Segoe UI" pitchFamily="34" charset="-120"/>
              </a:rPr>
              <a:t>QUAN TÂM</a:t>
            </a:r>
            <a:endParaRPr lang="en-US" sz="750" dirty="0"/>
          </a:p>
        </p:txBody>
      </p:sp>
      <p:sp>
        <p:nvSpPr>
          <p:cNvPr id="19" name="Shape 17"/>
          <p:cNvSpPr/>
          <p:nvPr/>
        </p:nvSpPr>
        <p:spPr>
          <a:xfrm>
            <a:off x="4005072" y="1280160"/>
            <a:ext cx="1499616" cy="365760"/>
          </a:xfrm>
          <a:prstGeom prst="roundRect">
            <a:avLst>
              <a:gd name="adj" fmla="val 12500"/>
            </a:avLst>
          </a:prstGeom>
          <a:solidFill>
            <a:srgbClr val="E2E8F0"/>
          </a:solidFill>
          <a:ln w="12700">
            <a:solidFill>
              <a:srgbClr val="E2E8F0"/>
            </a:solidFill>
            <a:prstDash val="solid"/>
          </a:ln>
        </p:spPr>
      </p:sp>
      <p:sp>
        <p:nvSpPr>
          <p:cNvPr id="20" name="Text 18"/>
          <p:cNvSpPr/>
          <p:nvPr/>
        </p:nvSpPr>
        <p:spPr>
          <a:xfrm>
            <a:off x="4050792" y="1280160"/>
            <a:ext cx="1408176" cy="365760"/>
          </a:xfrm>
          <a:prstGeom prst="rect">
            <a:avLst/>
          </a:prstGeom>
          <a:noFill/>
          <a:ln/>
        </p:spPr>
        <p:txBody>
          <a:bodyPr wrap="square" rtlCol="0" anchor="ctr"/>
          <a:lstStyle/>
          <a:p>
            <a:pPr algn="ctr" indent="0" marL="0">
              <a:buNone/>
            </a:pPr>
            <a:r>
              <a:rPr lang="en-US" sz="750" dirty="0">
                <a:solidFill>
                  <a:srgbClr val="94A3B8"/>
                </a:solidFill>
                <a:latin typeface="Segoe UI" pitchFamily="34" charset="0"/>
                <a:ea typeface="Segoe UI" pitchFamily="34" charset="-122"/>
                <a:cs typeface="Segoe UI" pitchFamily="34" charset="-120"/>
              </a:rPr>
              <a:t>ĐÃ GẶP</a:t>
            </a:r>
            <a:endParaRPr lang="en-US" sz="750" dirty="0"/>
          </a:p>
        </p:txBody>
      </p:sp>
      <p:sp>
        <p:nvSpPr>
          <p:cNvPr id="21" name="Shape 19"/>
          <p:cNvSpPr/>
          <p:nvPr/>
        </p:nvSpPr>
        <p:spPr>
          <a:xfrm>
            <a:off x="5641848" y="1280160"/>
            <a:ext cx="1499616" cy="365760"/>
          </a:xfrm>
          <a:prstGeom prst="roundRect">
            <a:avLst>
              <a:gd name="adj" fmla="val 12500"/>
            </a:avLst>
          </a:prstGeom>
          <a:solidFill>
            <a:srgbClr val="BD1D2D"/>
          </a:solidFill>
          <a:ln w="12700">
            <a:solidFill>
              <a:srgbClr val="BD1D2D"/>
            </a:solidFill>
            <a:prstDash val="solid"/>
          </a:ln>
        </p:spPr>
      </p:sp>
      <p:sp>
        <p:nvSpPr>
          <p:cNvPr id="22" name="Text 20"/>
          <p:cNvSpPr/>
          <p:nvPr/>
        </p:nvSpPr>
        <p:spPr>
          <a:xfrm>
            <a:off x="5687568" y="1280160"/>
            <a:ext cx="1408176" cy="365760"/>
          </a:xfrm>
          <a:prstGeom prst="rect">
            <a:avLst/>
          </a:prstGeom>
          <a:noFill/>
          <a:ln/>
        </p:spPr>
        <p:txBody>
          <a:bodyPr wrap="square" rtlCol="0" anchor="ctr"/>
          <a:lstStyle/>
          <a:p>
            <a:pPr algn="ctr" indent="0" marL="0">
              <a:buNone/>
            </a:pPr>
            <a:r>
              <a:rPr lang="en-US" sz="750" b="1" dirty="0">
                <a:solidFill>
                  <a:srgbClr val="FFFFFF"/>
                </a:solidFill>
                <a:latin typeface="Segoe UI" pitchFamily="34" charset="0"/>
                <a:ea typeface="Segoe UI" pitchFamily="34" charset="-122"/>
                <a:cs typeface="Segoe UI" pitchFamily="34" charset="-120"/>
              </a:rPr>
              <a:t>ĐẶT CỌC</a:t>
            </a:r>
            <a:endParaRPr lang="en-US" sz="750" dirty="0"/>
          </a:p>
        </p:txBody>
      </p:sp>
      <p:sp>
        <p:nvSpPr>
          <p:cNvPr id="23" name="Shape 21"/>
          <p:cNvSpPr/>
          <p:nvPr/>
        </p:nvSpPr>
        <p:spPr>
          <a:xfrm>
            <a:off x="7278624" y="1280160"/>
            <a:ext cx="1499616" cy="365760"/>
          </a:xfrm>
          <a:prstGeom prst="roundRect">
            <a:avLst>
              <a:gd name="adj" fmla="val 12500"/>
            </a:avLst>
          </a:prstGeom>
          <a:solidFill>
            <a:srgbClr val="FFFFFF"/>
          </a:solidFill>
          <a:ln w="12700">
            <a:solidFill>
              <a:srgbClr val="E2E8F0"/>
            </a:solidFill>
            <a:prstDash val="solid"/>
          </a:ln>
        </p:spPr>
      </p:sp>
      <p:sp>
        <p:nvSpPr>
          <p:cNvPr id="24" name="Text 22"/>
          <p:cNvSpPr/>
          <p:nvPr/>
        </p:nvSpPr>
        <p:spPr>
          <a:xfrm>
            <a:off x="7324344" y="1280160"/>
            <a:ext cx="1408176" cy="365760"/>
          </a:xfrm>
          <a:prstGeom prst="rect">
            <a:avLst/>
          </a:prstGeom>
          <a:noFill/>
          <a:ln/>
        </p:spPr>
        <p:txBody>
          <a:bodyPr wrap="square" rtlCol="0" anchor="ctr"/>
          <a:lstStyle/>
          <a:p>
            <a:pPr algn="ctr" indent="0" marL="0">
              <a:buNone/>
            </a:pPr>
            <a:r>
              <a:rPr lang="en-US" sz="750" dirty="0">
                <a:solidFill>
                  <a:srgbClr val="0F172A"/>
                </a:solidFill>
                <a:latin typeface="Segoe UI" pitchFamily="34" charset="0"/>
                <a:ea typeface="Segoe UI" pitchFamily="34" charset="-122"/>
                <a:cs typeface="Segoe UI" pitchFamily="34" charset="-120"/>
              </a:rPr>
              <a:t>THÀNH CÔNG</a:t>
            </a:r>
            <a:endParaRPr lang="en-US" sz="750" dirty="0"/>
          </a:p>
        </p:txBody>
      </p:sp>
      <p:sp>
        <p:nvSpPr>
          <p:cNvPr id="25" name="Shape 23"/>
          <p:cNvSpPr/>
          <p:nvPr/>
        </p:nvSpPr>
        <p:spPr>
          <a:xfrm>
            <a:off x="731520" y="1828800"/>
            <a:ext cx="3657600" cy="2743200"/>
          </a:xfrm>
          <a:prstGeom prst="roundRect">
            <a:avLst>
              <a:gd name="adj" fmla="val 1667"/>
            </a:avLst>
          </a:prstGeom>
          <a:solidFill>
            <a:srgbClr val="FFFFFF"/>
          </a:solidFill>
          <a:ln w="12700">
            <a:solidFill>
              <a:srgbClr val="E2E8F0"/>
            </a:solidFill>
            <a:prstDash val="solid"/>
          </a:ln>
        </p:spPr>
      </p:sp>
      <p:sp>
        <p:nvSpPr>
          <p:cNvPr id="26" name="Text 24"/>
          <p:cNvSpPr/>
          <p:nvPr/>
        </p:nvSpPr>
        <p:spPr>
          <a:xfrm>
            <a:off x="914400" y="1965960"/>
            <a:ext cx="32918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THỦ TỤC ĐẶT CỌC</a:t>
            </a:r>
            <a:endParaRPr lang="en-US" sz="950" dirty="0"/>
          </a:p>
        </p:txBody>
      </p:sp>
      <p:sp>
        <p:nvSpPr>
          <p:cNvPr id="27" name="Text 25"/>
          <p:cNvSpPr/>
          <p:nvPr/>
        </p:nvSpPr>
        <p:spPr>
          <a:xfrm>
            <a:off x="914400" y="2258568"/>
            <a:ext cx="3291840" cy="217627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Sale tạo phiếu cọc trên App (Mã căn, dự án, giá trị, commission).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Khách hàng chuyển khoản, upload minh chứng UNC lên hệ thống.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Kế toán kiểm tra tiền nổi trong tài khoản ngân hàng và duyệt approved.</a:t>
            </a:r>
            <a:endParaRPr lang="en-US" sz="920" dirty="0"/>
          </a:p>
        </p:txBody>
      </p:sp>
      <p:graphicFrame>
        <p:nvGraphicFramePr>
          <p:cNvPr id="28" name="Chart 0" descr=""/>
          <p:cNvGraphicFramePr/>
          <p:nvPr/>
        </p:nvGraphicFramePr>
        <p:xfrm>
          <a:off x="4754880" y="1828800"/>
          <a:ext cx="3931920" cy="274320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21 / 60</a:t>
            </a:r>
            <a:endParaRPr lang="en-US" sz="850" dirty="0"/>
          </a:p>
        </p:txBody>
      </p:sp>
      <p:sp>
        <p:nvSpPr>
          <p:cNvPr id="30" name="Text 27"/>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ĐẶT CỌC</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Lược Đồ Cấu Trúc deposit_milestones</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8046720" cy="3017520"/>
        </p:xfrm>
        <a:graphic>
          <a:graphicData uri="http://schemas.openxmlformats.org/drawingml/2006/table">
            <a:tbl>
              <a:tblPr/>
              <a:tblGrid>
                <a:gridCol w="2011680"/>
                <a:gridCol w="2011680"/>
                <a:gridCol w="2011680"/>
                <a:gridCol w="2011680"/>
              </a:tblGrid>
              <a:tr h="502920">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TRƯỜNG CSDL</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KIỂU DỮ LIỆU</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KHÓA / RÀNG BUỘC</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MÔ TẢ VAI TRÒ</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INT (11) AUTO_INCREMENT</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PRIMARY KEY</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Mã định danh đợt đóng tiền độc nhất</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deposit_id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INT (11)</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FOREIGN KEY -&gt; deposits(id)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Liên kết phiếu đặt cọc tương ứng</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amount</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DECIMAL (15,2)</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NOT NULL</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Số tiền phải đóng hoặc thực thu đợt này</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status</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ENUM('pending','approved','failed')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DEFAULT 'pending'</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Trạng thái phê duyệt chứng từ đóng tiền</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invoice_id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INT (11)</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FOREIGN KEY -&gt; invoices(id)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Hóa đơn tài chính được sinh tự động</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16" name="Text 13"/>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22 / 60</a:t>
            </a:r>
            <a:endParaRPr lang="en-US" sz="850" dirty="0"/>
          </a:p>
        </p:txBody>
      </p:sp>
      <p:sp>
        <p:nvSpPr>
          <p:cNvPr id="17" name="Text 14"/>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BỂ CỌC</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Luồng Nghiệp Vụ Xử Lý Hủy Đặt Cọc (Bể Cọc)</a:t>
            </a:r>
            <a:endParaRPr lang="en-US" sz="1900" dirty="0"/>
          </a:p>
        </p:txBody>
      </p:sp>
      <p:sp>
        <p:nvSpPr>
          <p:cNvPr id="15" name="Shape 13"/>
          <p:cNvSpPr/>
          <p:nvPr/>
        </p:nvSpPr>
        <p:spPr>
          <a:xfrm>
            <a:off x="731520" y="1645920"/>
            <a:ext cx="2286000" cy="2286000"/>
          </a:xfrm>
          <a:prstGeom prst="roundRect">
            <a:avLst>
              <a:gd name="adj" fmla="val 2000"/>
            </a:avLst>
          </a:prstGeom>
          <a:solidFill>
            <a:srgbClr val="FFFFFF"/>
          </a:solidFill>
          <a:ln w="12700">
            <a:solidFill>
              <a:srgbClr val="E2E8F0"/>
            </a:solidFill>
            <a:prstDash val="solid"/>
          </a:ln>
        </p:spPr>
      </p:sp>
      <p:sp>
        <p:nvSpPr>
          <p:cNvPr id="16" name="Shape 14"/>
          <p:cNvSpPr/>
          <p:nvPr/>
        </p:nvSpPr>
        <p:spPr>
          <a:xfrm>
            <a:off x="868680" y="1783080"/>
            <a:ext cx="320040" cy="228600"/>
          </a:xfrm>
          <a:prstGeom prst="roundRect">
            <a:avLst>
              <a:gd name="adj" fmla="val 200000"/>
            </a:avLst>
          </a:prstGeom>
          <a:solidFill>
            <a:srgbClr val="FEE2E2"/>
          </a:solidFill>
          <a:ln/>
        </p:spPr>
      </p:sp>
      <p:sp>
        <p:nvSpPr>
          <p:cNvPr id="17" name="Text 15"/>
          <p:cNvSpPr/>
          <p:nvPr/>
        </p:nvSpPr>
        <p:spPr>
          <a:xfrm>
            <a:off x="86868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1</a:t>
            </a:r>
            <a:endParaRPr lang="en-US" sz="900" dirty="0"/>
          </a:p>
        </p:txBody>
      </p:sp>
      <p:sp>
        <p:nvSpPr>
          <p:cNvPr id="18" name="Text 16"/>
          <p:cNvSpPr/>
          <p:nvPr/>
        </p:nvSpPr>
        <p:spPr>
          <a:xfrm>
            <a:off x="128016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Yêu cầu hủy cọc</a:t>
            </a:r>
            <a:endParaRPr lang="en-US" sz="1000" dirty="0"/>
          </a:p>
        </p:txBody>
      </p:sp>
      <p:sp>
        <p:nvSpPr>
          <p:cNvPr id="19" name="Text 17"/>
          <p:cNvSpPr/>
          <p:nvPr/>
        </p:nvSpPr>
        <p:spPr>
          <a:xfrm>
            <a:off x="86868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Nhận yêu cầu hủy cọc từ khách hàng, kiểm tra lịch sử milestones đóng tiền.</a:t>
            </a:r>
            <a:endParaRPr lang="en-US" sz="820" dirty="0"/>
          </a:p>
        </p:txBody>
      </p:sp>
      <p:sp>
        <p:nvSpPr>
          <p:cNvPr id="20" name="Shape 18"/>
          <p:cNvSpPr/>
          <p:nvPr/>
        </p:nvSpPr>
        <p:spPr>
          <a:xfrm>
            <a:off x="3054096" y="2697480"/>
            <a:ext cx="109728" cy="182880"/>
          </a:xfrm>
          <a:prstGeom prst="rightArrow">
            <a:avLst/>
          </a:prstGeom>
          <a:solidFill>
            <a:srgbClr val="94A3B8"/>
          </a:solidFill>
          <a:ln w="6350">
            <a:solidFill>
              <a:srgbClr val="E2E8F0"/>
            </a:solidFill>
            <a:prstDash val="solid"/>
          </a:ln>
        </p:spPr>
      </p:sp>
      <p:sp>
        <p:nvSpPr>
          <p:cNvPr id="21" name="Shape 19"/>
          <p:cNvSpPr/>
          <p:nvPr/>
        </p:nvSpPr>
        <p:spPr>
          <a:xfrm>
            <a:off x="3337560" y="1645920"/>
            <a:ext cx="2286000" cy="2286000"/>
          </a:xfrm>
          <a:prstGeom prst="roundRect">
            <a:avLst>
              <a:gd name="adj" fmla="val 2000"/>
            </a:avLst>
          </a:prstGeom>
          <a:solidFill>
            <a:srgbClr val="FFFFFF"/>
          </a:solidFill>
          <a:ln w="12700">
            <a:solidFill>
              <a:srgbClr val="E2E8F0"/>
            </a:solidFill>
            <a:prstDash val="solid"/>
          </a:ln>
        </p:spPr>
      </p:sp>
      <p:sp>
        <p:nvSpPr>
          <p:cNvPr id="22" name="Shape 20"/>
          <p:cNvSpPr/>
          <p:nvPr/>
        </p:nvSpPr>
        <p:spPr>
          <a:xfrm>
            <a:off x="3474720" y="1783080"/>
            <a:ext cx="320040" cy="228600"/>
          </a:xfrm>
          <a:prstGeom prst="roundRect">
            <a:avLst>
              <a:gd name="adj" fmla="val 200000"/>
            </a:avLst>
          </a:prstGeom>
          <a:solidFill>
            <a:srgbClr val="FEE2E2"/>
          </a:solidFill>
          <a:ln/>
        </p:spPr>
      </p:sp>
      <p:sp>
        <p:nvSpPr>
          <p:cNvPr id="23" name="Text 21"/>
          <p:cNvSpPr/>
          <p:nvPr/>
        </p:nvSpPr>
        <p:spPr>
          <a:xfrm>
            <a:off x="347472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2</a:t>
            </a:r>
            <a:endParaRPr lang="en-US" sz="900" dirty="0"/>
          </a:p>
        </p:txBody>
      </p:sp>
      <p:sp>
        <p:nvSpPr>
          <p:cNvPr id="24" name="Text 22"/>
          <p:cNvSpPr/>
          <p:nvPr/>
        </p:nvSpPr>
        <p:spPr>
          <a:xfrm>
            <a:off x="388620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Kiểm tra doanh thu</a:t>
            </a:r>
            <a:endParaRPr lang="en-US" sz="1000" dirty="0"/>
          </a:p>
        </p:txBody>
      </p:sp>
      <p:sp>
        <p:nvSpPr>
          <p:cNvPr id="25" name="Text 23"/>
          <p:cNvSpPr/>
          <p:nvPr/>
        </p:nvSpPr>
        <p:spPr>
          <a:xfrm>
            <a:off x="347472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Đối soát số đợt đóng tiền approved. Nếu = 0 -&gt; Hạ cấp; Nếu &gt; 0 -&gt; Giữ nguyên.</a:t>
            </a:r>
            <a:endParaRPr lang="en-US" sz="820" dirty="0"/>
          </a:p>
        </p:txBody>
      </p:sp>
      <p:sp>
        <p:nvSpPr>
          <p:cNvPr id="26" name="Shape 24"/>
          <p:cNvSpPr/>
          <p:nvPr/>
        </p:nvSpPr>
        <p:spPr>
          <a:xfrm>
            <a:off x="5660136" y="2697480"/>
            <a:ext cx="109728" cy="182880"/>
          </a:xfrm>
          <a:prstGeom prst="rightArrow">
            <a:avLst/>
          </a:prstGeom>
          <a:solidFill>
            <a:srgbClr val="94A3B8"/>
          </a:solidFill>
          <a:ln w="6350">
            <a:solidFill>
              <a:srgbClr val="E2E8F0"/>
            </a:solidFill>
            <a:prstDash val="solid"/>
          </a:ln>
        </p:spPr>
      </p:sp>
      <p:sp>
        <p:nvSpPr>
          <p:cNvPr id="27" name="Shape 25"/>
          <p:cNvSpPr/>
          <p:nvPr/>
        </p:nvSpPr>
        <p:spPr>
          <a:xfrm>
            <a:off x="5943600" y="1645920"/>
            <a:ext cx="2286000" cy="2286000"/>
          </a:xfrm>
          <a:prstGeom prst="roundRect">
            <a:avLst>
              <a:gd name="adj" fmla="val 2000"/>
            </a:avLst>
          </a:prstGeom>
          <a:solidFill>
            <a:srgbClr val="FFFFFF"/>
          </a:solidFill>
          <a:ln w="12700">
            <a:solidFill>
              <a:srgbClr val="E2E8F0"/>
            </a:solidFill>
            <a:prstDash val="solid"/>
          </a:ln>
        </p:spPr>
      </p:sp>
      <p:sp>
        <p:nvSpPr>
          <p:cNvPr id="28" name="Shape 26"/>
          <p:cNvSpPr/>
          <p:nvPr/>
        </p:nvSpPr>
        <p:spPr>
          <a:xfrm>
            <a:off x="6080760" y="1783080"/>
            <a:ext cx="320040" cy="228600"/>
          </a:xfrm>
          <a:prstGeom prst="roundRect">
            <a:avLst>
              <a:gd name="adj" fmla="val 200000"/>
            </a:avLst>
          </a:prstGeom>
          <a:solidFill>
            <a:srgbClr val="FEE2E2"/>
          </a:solidFill>
          <a:ln/>
        </p:spPr>
      </p:sp>
      <p:sp>
        <p:nvSpPr>
          <p:cNvPr id="29" name="Text 27"/>
          <p:cNvSpPr/>
          <p:nvPr/>
        </p:nvSpPr>
        <p:spPr>
          <a:xfrm>
            <a:off x="608076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3</a:t>
            </a:r>
            <a:endParaRPr lang="en-US" sz="900" dirty="0"/>
          </a:p>
        </p:txBody>
      </p:sp>
      <p:sp>
        <p:nvSpPr>
          <p:cNvPr id="30" name="Text 28"/>
          <p:cNvSpPr/>
          <p:nvPr/>
        </p:nvSpPr>
        <p:spPr>
          <a:xfrm>
            <a:off x="649224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Khóa &amp; Ghi log</a:t>
            </a:r>
            <a:endParaRPr lang="en-US" sz="1000" dirty="0"/>
          </a:p>
        </p:txBody>
      </p:sp>
      <p:sp>
        <p:nvSpPr>
          <p:cNvPr id="31" name="Text 29"/>
          <p:cNvSpPr/>
          <p:nvPr/>
        </p:nvSpPr>
        <p:spPr>
          <a:xfrm>
            <a:off x="608076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Cập nhật trạng thái phiếu cọc, giải phóng căn hộ và ghi nhật ký.</a:t>
            </a:r>
            <a:endParaRPr lang="en-US" sz="82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23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BỂ CỌC</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Hủy Cọc Khi Chưa Phát Sinh Doanh Thu</a:t>
            </a:r>
            <a:endParaRPr lang="en-US" sz="1900" dirty="0"/>
          </a:p>
        </p:txBody>
      </p:sp>
      <p:sp>
        <p:nvSpPr>
          <p:cNvPr id="15" name="Shape 13"/>
          <p:cNvSpPr/>
          <p:nvPr/>
        </p:nvSpPr>
        <p:spPr>
          <a:xfrm>
            <a:off x="731520" y="1280160"/>
            <a:ext cx="1499616" cy="365760"/>
          </a:xfrm>
          <a:prstGeom prst="roundRect">
            <a:avLst>
              <a:gd name="adj" fmla="val 12500"/>
            </a:avLst>
          </a:prstGeom>
          <a:solidFill>
            <a:srgbClr val="E2E8F0"/>
          </a:solidFill>
          <a:ln w="12700">
            <a:solidFill>
              <a:srgbClr val="E2E8F0"/>
            </a:solidFill>
            <a:prstDash val="solid"/>
          </a:ln>
        </p:spPr>
      </p:sp>
      <p:sp>
        <p:nvSpPr>
          <p:cNvPr id="16" name="Text 14"/>
          <p:cNvSpPr/>
          <p:nvPr/>
        </p:nvSpPr>
        <p:spPr>
          <a:xfrm>
            <a:off x="777240" y="1280160"/>
            <a:ext cx="1408176" cy="365760"/>
          </a:xfrm>
          <a:prstGeom prst="rect">
            <a:avLst/>
          </a:prstGeom>
          <a:noFill/>
          <a:ln/>
        </p:spPr>
        <p:txBody>
          <a:bodyPr wrap="square" rtlCol="0" anchor="ctr"/>
          <a:lstStyle/>
          <a:p>
            <a:pPr algn="ctr" indent="0" marL="0">
              <a:buNone/>
            </a:pPr>
            <a:r>
              <a:rPr lang="en-US" sz="750" dirty="0">
                <a:solidFill>
                  <a:srgbClr val="94A3B8"/>
                </a:solidFill>
                <a:latin typeface="Segoe UI" pitchFamily="34" charset="0"/>
                <a:ea typeface="Segoe UI" pitchFamily="34" charset="-122"/>
                <a:cs typeface="Segoe UI" pitchFamily="34" charset="-120"/>
              </a:rPr>
              <a:t>NHẬN LEAD THÔ</a:t>
            </a:r>
            <a:endParaRPr lang="en-US" sz="750" dirty="0"/>
          </a:p>
        </p:txBody>
      </p:sp>
      <p:sp>
        <p:nvSpPr>
          <p:cNvPr id="17" name="Shape 15"/>
          <p:cNvSpPr/>
          <p:nvPr/>
        </p:nvSpPr>
        <p:spPr>
          <a:xfrm>
            <a:off x="2368296" y="1280160"/>
            <a:ext cx="1499616" cy="365760"/>
          </a:xfrm>
          <a:prstGeom prst="roundRect">
            <a:avLst>
              <a:gd name="adj" fmla="val 12500"/>
            </a:avLst>
          </a:prstGeom>
          <a:solidFill>
            <a:srgbClr val="E2E8F0"/>
          </a:solidFill>
          <a:ln w="12700">
            <a:solidFill>
              <a:srgbClr val="E2E8F0"/>
            </a:solidFill>
            <a:prstDash val="solid"/>
          </a:ln>
        </p:spPr>
      </p:sp>
      <p:sp>
        <p:nvSpPr>
          <p:cNvPr id="18" name="Text 16"/>
          <p:cNvSpPr/>
          <p:nvPr/>
        </p:nvSpPr>
        <p:spPr>
          <a:xfrm>
            <a:off x="2414016" y="1280160"/>
            <a:ext cx="1408176" cy="365760"/>
          </a:xfrm>
          <a:prstGeom prst="rect">
            <a:avLst/>
          </a:prstGeom>
          <a:noFill/>
          <a:ln/>
        </p:spPr>
        <p:txBody>
          <a:bodyPr wrap="square" rtlCol="0" anchor="ctr"/>
          <a:lstStyle/>
          <a:p>
            <a:pPr algn="ctr" indent="0" marL="0">
              <a:buNone/>
            </a:pPr>
            <a:r>
              <a:rPr lang="en-US" sz="750" dirty="0">
                <a:solidFill>
                  <a:srgbClr val="94A3B8"/>
                </a:solidFill>
                <a:latin typeface="Segoe UI" pitchFamily="34" charset="0"/>
                <a:ea typeface="Segoe UI" pitchFamily="34" charset="-122"/>
                <a:cs typeface="Segoe UI" pitchFamily="34" charset="-120"/>
              </a:rPr>
              <a:t>QUAN TÂM</a:t>
            </a:r>
            <a:endParaRPr lang="en-US" sz="750" dirty="0"/>
          </a:p>
        </p:txBody>
      </p:sp>
      <p:sp>
        <p:nvSpPr>
          <p:cNvPr id="19" name="Shape 17"/>
          <p:cNvSpPr/>
          <p:nvPr/>
        </p:nvSpPr>
        <p:spPr>
          <a:xfrm>
            <a:off x="4005072" y="1280160"/>
            <a:ext cx="1499616" cy="365760"/>
          </a:xfrm>
          <a:prstGeom prst="roundRect">
            <a:avLst>
              <a:gd name="adj" fmla="val 12500"/>
            </a:avLst>
          </a:prstGeom>
          <a:solidFill>
            <a:srgbClr val="BD1D2D"/>
          </a:solidFill>
          <a:ln w="12700">
            <a:solidFill>
              <a:srgbClr val="BD1D2D"/>
            </a:solidFill>
            <a:prstDash val="solid"/>
          </a:ln>
        </p:spPr>
      </p:sp>
      <p:sp>
        <p:nvSpPr>
          <p:cNvPr id="20" name="Text 18"/>
          <p:cNvSpPr/>
          <p:nvPr/>
        </p:nvSpPr>
        <p:spPr>
          <a:xfrm>
            <a:off x="4050792" y="1280160"/>
            <a:ext cx="1408176" cy="365760"/>
          </a:xfrm>
          <a:prstGeom prst="rect">
            <a:avLst/>
          </a:prstGeom>
          <a:noFill/>
          <a:ln/>
        </p:spPr>
        <p:txBody>
          <a:bodyPr wrap="square" rtlCol="0" anchor="ctr"/>
          <a:lstStyle/>
          <a:p>
            <a:pPr algn="ctr" indent="0" marL="0">
              <a:buNone/>
            </a:pPr>
            <a:r>
              <a:rPr lang="en-US" sz="750" b="1" dirty="0">
                <a:solidFill>
                  <a:srgbClr val="FFFFFF"/>
                </a:solidFill>
                <a:latin typeface="Segoe UI" pitchFamily="34" charset="0"/>
                <a:ea typeface="Segoe UI" pitchFamily="34" charset="-122"/>
                <a:cs typeface="Segoe UI" pitchFamily="34" charset="-120"/>
              </a:rPr>
              <a:t>ĐÃ GẶP</a:t>
            </a:r>
            <a:endParaRPr lang="en-US" sz="750" dirty="0"/>
          </a:p>
        </p:txBody>
      </p:sp>
      <p:sp>
        <p:nvSpPr>
          <p:cNvPr id="21" name="Shape 19"/>
          <p:cNvSpPr/>
          <p:nvPr/>
        </p:nvSpPr>
        <p:spPr>
          <a:xfrm>
            <a:off x="5641848" y="1280160"/>
            <a:ext cx="1499616" cy="365760"/>
          </a:xfrm>
          <a:prstGeom prst="roundRect">
            <a:avLst>
              <a:gd name="adj" fmla="val 12500"/>
            </a:avLst>
          </a:prstGeom>
          <a:solidFill>
            <a:srgbClr val="FFFFFF"/>
          </a:solidFill>
          <a:ln w="12700">
            <a:solidFill>
              <a:srgbClr val="E2E8F0"/>
            </a:solidFill>
            <a:prstDash val="solid"/>
          </a:ln>
        </p:spPr>
      </p:sp>
      <p:sp>
        <p:nvSpPr>
          <p:cNvPr id="22" name="Text 20"/>
          <p:cNvSpPr/>
          <p:nvPr/>
        </p:nvSpPr>
        <p:spPr>
          <a:xfrm>
            <a:off x="5687568" y="1280160"/>
            <a:ext cx="1408176" cy="365760"/>
          </a:xfrm>
          <a:prstGeom prst="rect">
            <a:avLst/>
          </a:prstGeom>
          <a:noFill/>
          <a:ln/>
        </p:spPr>
        <p:txBody>
          <a:bodyPr wrap="square" rtlCol="0" anchor="ctr"/>
          <a:lstStyle/>
          <a:p>
            <a:pPr algn="ctr" indent="0" marL="0">
              <a:buNone/>
            </a:pPr>
            <a:r>
              <a:rPr lang="en-US" sz="750" dirty="0">
                <a:solidFill>
                  <a:srgbClr val="0F172A"/>
                </a:solidFill>
                <a:latin typeface="Segoe UI" pitchFamily="34" charset="0"/>
                <a:ea typeface="Segoe UI" pitchFamily="34" charset="-122"/>
                <a:cs typeface="Segoe UI" pitchFamily="34" charset="-120"/>
              </a:rPr>
              <a:t>ĐẶT CỌC</a:t>
            </a:r>
            <a:endParaRPr lang="en-US" sz="750" dirty="0"/>
          </a:p>
        </p:txBody>
      </p:sp>
      <p:sp>
        <p:nvSpPr>
          <p:cNvPr id="23" name="Shape 21"/>
          <p:cNvSpPr/>
          <p:nvPr/>
        </p:nvSpPr>
        <p:spPr>
          <a:xfrm>
            <a:off x="7278624" y="1280160"/>
            <a:ext cx="1499616" cy="365760"/>
          </a:xfrm>
          <a:prstGeom prst="roundRect">
            <a:avLst>
              <a:gd name="adj" fmla="val 12500"/>
            </a:avLst>
          </a:prstGeom>
          <a:solidFill>
            <a:srgbClr val="FFFFFF"/>
          </a:solidFill>
          <a:ln w="12700">
            <a:solidFill>
              <a:srgbClr val="E2E8F0"/>
            </a:solidFill>
            <a:prstDash val="solid"/>
          </a:ln>
        </p:spPr>
      </p:sp>
      <p:sp>
        <p:nvSpPr>
          <p:cNvPr id="24" name="Text 22"/>
          <p:cNvSpPr/>
          <p:nvPr/>
        </p:nvSpPr>
        <p:spPr>
          <a:xfrm>
            <a:off x="7324344" y="1280160"/>
            <a:ext cx="1408176" cy="365760"/>
          </a:xfrm>
          <a:prstGeom prst="rect">
            <a:avLst/>
          </a:prstGeom>
          <a:noFill/>
          <a:ln/>
        </p:spPr>
        <p:txBody>
          <a:bodyPr wrap="square" rtlCol="0" anchor="ctr"/>
          <a:lstStyle/>
          <a:p>
            <a:pPr algn="ctr" indent="0" marL="0">
              <a:buNone/>
            </a:pPr>
            <a:r>
              <a:rPr lang="en-US" sz="750" dirty="0">
                <a:solidFill>
                  <a:srgbClr val="0F172A"/>
                </a:solidFill>
                <a:latin typeface="Segoe UI" pitchFamily="34" charset="0"/>
                <a:ea typeface="Segoe UI" pitchFamily="34" charset="-122"/>
                <a:cs typeface="Segoe UI" pitchFamily="34" charset="-120"/>
              </a:rPr>
              <a:t>THÀNH CÔNG</a:t>
            </a:r>
            <a:endParaRPr lang="en-US" sz="750" dirty="0"/>
          </a:p>
        </p:txBody>
      </p:sp>
      <p:sp>
        <p:nvSpPr>
          <p:cNvPr id="25" name="Shape 23"/>
          <p:cNvSpPr/>
          <p:nvPr/>
        </p:nvSpPr>
        <p:spPr>
          <a:xfrm>
            <a:off x="731520" y="1828800"/>
            <a:ext cx="3057754" cy="2651760"/>
          </a:xfrm>
          <a:prstGeom prst="roundRect">
            <a:avLst>
              <a:gd name="adj" fmla="val 2069"/>
            </a:avLst>
          </a:prstGeom>
          <a:solidFill>
            <a:srgbClr val="FFFFFF"/>
          </a:solidFill>
          <a:ln w="25400">
            <a:solidFill>
              <a:srgbClr val="BD1D2D"/>
            </a:solidFill>
            <a:prstDash val="solid"/>
          </a:ln>
        </p:spPr>
      </p:sp>
      <p:sp>
        <p:nvSpPr>
          <p:cNvPr id="26" name="Text 24"/>
          <p:cNvSpPr/>
          <p:nvPr/>
        </p:nvSpPr>
        <p:spPr>
          <a:xfrm>
            <a:off x="868680" y="2103120"/>
            <a:ext cx="2783434" cy="731520"/>
          </a:xfrm>
          <a:prstGeom prst="rect">
            <a:avLst/>
          </a:prstGeom>
          <a:noFill/>
          <a:ln/>
        </p:spPr>
        <p:txBody>
          <a:bodyPr wrap="square" rtlCol="0" anchor="ctr"/>
          <a:lstStyle/>
          <a:p>
            <a:pPr algn="ctr" indent="0" marL="0">
              <a:buNone/>
            </a:pPr>
            <a:r>
              <a:rPr lang="en-US" sz="3400" b="1" dirty="0">
                <a:solidFill>
                  <a:srgbClr val="BD1D2D"/>
                </a:solidFill>
                <a:latin typeface="Segoe UI" pitchFamily="34" charset="0"/>
                <a:ea typeface="Segoe UI" pitchFamily="34" charset="-122"/>
                <a:cs typeface="Segoe UI" pitchFamily="34" charset="-120"/>
              </a:rPr>
              <a:t>Rớt 1 Cấp</a:t>
            </a:r>
            <a:endParaRPr lang="en-US" sz="3400" dirty="0"/>
          </a:p>
        </p:txBody>
      </p:sp>
      <p:sp>
        <p:nvSpPr>
          <p:cNvPr id="27" name="Text 25"/>
          <p:cNvSpPr/>
          <p:nvPr/>
        </p:nvSpPr>
        <p:spPr>
          <a:xfrm>
            <a:off x="868680" y="2926080"/>
            <a:ext cx="2783434"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HẠ TRẠNG THÁI &amp; RỚT NHIỆT</a:t>
            </a:r>
            <a:endParaRPr lang="en-US" sz="950" dirty="0"/>
          </a:p>
        </p:txBody>
      </p:sp>
      <p:sp>
        <p:nvSpPr>
          <p:cNvPr id="28" name="Text 26"/>
          <p:cNvSpPr/>
          <p:nvPr/>
        </p:nvSpPr>
        <p:spPr>
          <a:xfrm>
            <a:off x="868680" y="3291840"/>
            <a:ext cx="2783434" cy="1005840"/>
          </a:xfrm>
          <a:prstGeom prst="rect">
            <a:avLst/>
          </a:prstGeom>
          <a:noFill/>
          <a:ln/>
        </p:spPr>
        <p:txBody>
          <a:bodyPr wrap="square" rtlCol="0" anchor="t"/>
          <a:lstStyle/>
          <a:p>
            <a:pPr algn="ctr" indent="0" marL="0">
              <a:lnSpc>
                <a:spcPts val="1200"/>
              </a:lnSpc>
              <a:buNone/>
            </a:pPr>
            <a:r>
              <a:rPr lang="en-US" sz="850" dirty="0">
                <a:solidFill>
                  <a:srgbClr val="475569"/>
                </a:solidFill>
                <a:latin typeface="Segoe UI" pitchFamily="34" charset="0"/>
                <a:ea typeface="Segoe UI" pitchFamily="34" charset="-122"/>
                <a:cs typeface="Segoe UI" pitchFamily="34" charset="-120"/>
              </a:rPr>
              <a:t>Trạng thái khách hàng bị hạ về Booking hoặc Đã Gặp. Bắt đầu chạy lại đồng hồ bảo mật 3 tháng.</a:t>
            </a:r>
            <a:endParaRPr lang="en-US" sz="850" dirty="0"/>
          </a:p>
        </p:txBody>
      </p:sp>
      <p:sp>
        <p:nvSpPr>
          <p:cNvPr id="29" name="Shape 27"/>
          <p:cNvSpPr/>
          <p:nvPr/>
        </p:nvSpPr>
        <p:spPr>
          <a:xfrm>
            <a:off x="4111142" y="1828800"/>
            <a:ext cx="4667098" cy="2651760"/>
          </a:xfrm>
          <a:prstGeom prst="roundRect">
            <a:avLst>
              <a:gd name="adj" fmla="val 1724"/>
            </a:avLst>
          </a:prstGeom>
          <a:solidFill>
            <a:srgbClr val="FFFFFF"/>
          </a:solidFill>
          <a:ln w="12700">
            <a:solidFill>
              <a:srgbClr val="E2E8F0"/>
            </a:solidFill>
            <a:prstDash val="solid"/>
          </a:ln>
        </p:spPr>
      </p:sp>
      <p:sp>
        <p:nvSpPr>
          <p:cNvPr id="30" name="Text 28"/>
          <p:cNvSpPr/>
          <p:nvPr/>
        </p:nvSpPr>
        <p:spPr>
          <a:xfrm>
            <a:off x="4294022" y="1965960"/>
            <a:ext cx="4301338"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LÝ DO XỬ LÝ HẠ TRẠNG THÁI</a:t>
            </a:r>
            <a:endParaRPr lang="en-US" sz="950" dirty="0"/>
          </a:p>
        </p:txBody>
      </p:sp>
      <p:sp>
        <p:nvSpPr>
          <p:cNvPr id="31" name="Text 29"/>
          <p:cNvSpPr/>
          <p:nvPr/>
        </p:nvSpPr>
        <p:spPr>
          <a:xfrm>
            <a:off x="4294022" y="2258568"/>
            <a:ext cx="4301338" cy="2084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Công ty chưa thực nhận được bất kỳ dòng tiền thực tế nào từ giao dịch.</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Đảm bảo lead có cơ hội tự động trả về kho dữ liệu chung (Databank) nếu hết hạn, giúp tối ưu nguồn lực Sale khác.</a:t>
            </a:r>
            <a:endParaRPr lang="en-US" sz="92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24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BỂ CỌC</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Hủy Cọc Khi Đã Có Doanh Thu Thực Tế</a:t>
            </a:r>
            <a:endParaRPr lang="en-US" sz="1900" dirty="0"/>
          </a:p>
        </p:txBody>
      </p:sp>
      <p:sp>
        <p:nvSpPr>
          <p:cNvPr id="15" name="Shape 13"/>
          <p:cNvSpPr/>
          <p:nvPr/>
        </p:nvSpPr>
        <p:spPr>
          <a:xfrm>
            <a:off x="731520" y="1280160"/>
            <a:ext cx="1499616" cy="365760"/>
          </a:xfrm>
          <a:prstGeom prst="roundRect">
            <a:avLst>
              <a:gd name="adj" fmla="val 12500"/>
            </a:avLst>
          </a:prstGeom>
          <a:solidFill>
            <a:srgbClr val="E2E8F0"/>
          </a:solidFill>
          <a:ln w="12700">
            <a:solidFill>
              <a:srgbClr val="E2E8F0"/>
            </a:solidFill>
            <a:prstDash val="solid"/>
          </a:ln>
        </p:spPr>
      </p:sp>
      <p:sp>
        <p:nvSpPr>
          <p:cNvPr id="16" name="Text 14"/>
          <p:cNvSpPr/>
          <p:nvPr/>
        </p:nvSpPr>
        <p:spPr>
          <a:xfrm>
            <a:off x="777240" y="1280160"/>
            <a:ext cx="1408176" cy="365760"/>
          </a:xfrm>
          <a:prstGeom prst="rect">
            <a:avLst/>
          </a:prstGeom>
          <a:noFill/>
          <a:ln/>
        </p:spPr>
        <p:txBody>
          <a:bodyPr wrap="square" rtlCol="0" anchor="ctr"/>
          <a:lstStyle/>
          <a:p>
            <a:pPr algn="ctr" indent="0" marL="0">
              <a:buNone/>
            </a:pPr>
            <a:r>
              <a:rPr lang="en-US" sz="750" dirty="0">
                <a:solidFill>
                  <a:srgbClr val="94A3B8"/>
                </a:solidFill>
                <a:latin typeface="Segoe UI" pitchFamily="34" charset="0"/>
                <a:ea typeface="Segoe UI" pitchFamily="34" charset="-122"/>
                <a:cs typeface="Segoe UI" pitchFamily="34" charset="-120"/>
              </a:rPr>
              <a:t>NHẬN LEAD THÔ</a:t>
            </a:r>
            <a:endParaRPr lang="en-US" sz="750" dirty="0"/>
          </a:p>
        </p:txBody>
      </p:sp>
      <p:sp>
        <p:nvSpPr>
          <p:cNvPr id="17" name="Shape 15"/>
          <p:cNvSpPr/>
          <p:nvPr/>
        </p:nvSpPr>
        <p:spPr>
          <a:xfrm>
            <a:off x="2368296" y="1280160"/>
            <a:ext cx="1499616" cy="365760"/>
          </a:xfrm>
          <a:prstGeom prst="roundRect">
            <a:avLst>
              <a:gd name="adj" fmla="val 12500"/>
            </a:avLst>
          </a:prstGeom>
          <a:solidFill>
            <a:srgbClr val="E2E8F0"/>
          </a:solidFill>
          <a:ln w="12700">
            <a:solidFill>
              <a:srgbClr val="E2E8F0"/>
            </a:solidFill>
            <a:prstDash val="solid"/>
          </a:ln>
        </p:spPr>
      </p:sp>
      <p:sp>
        <p:nvSpPr>
          <p:cNvPr id="18" name="Text 16"/>
          <p:cNvSpPr/>
          <p:nvPr/>
        </p:nvSpPr>
        <p:spPr>
          <a:xfrm>
            <a:off x="2414016" y="1280160"/>
            <a:ext cx="1408176" cy="365760"/>
          </a:xfrm>
          <a:prstGeom prst="rect">
            <a:avLst/>
          </a:prstGeom>
          <a:noFill/>
          <a:ln/>
        </p:spPr>
        <p:txBody>
          <a:bodyPr wrap="square" rtlCol="0" anchor="ctr"/>
          <a:lstStyle/>
          <a:p>
            <a:pPr algn="ctr" indent="0" marL="0">
              <a:buNone/>
            </a:pPr>
            <a:r>
              <a:rPr lang="en-US" sz="750" dirty="0">
                <a:solidFill>
                  <a:srgbClr val="94A3B8"/>
                </a:solidFill>
                <a:latin typeface="Segoe UI" pitchFamily="34" charset="0"/>
                <a:ea typeface="Segoe UI" pitchFamily="34" charset="-122"/>
                <a:cs typeface="Segoe UI" pitchFamily="34" charset="-120"/>
              </a:rPr>
              <a:t>QUAN TÂM</a:t>
            </a:r>
            <a:endParaRPr lang="en-US" sz="750" dirty="0"/>
          </a:p>
        </p:txBody>
      </p:sp>
      <p:sp>
        <p:nvSpPr>
          <p:cNvPr id="19" name="Shape 17"/>
          <p:cNvSpPr/>
          <p:nvPr/>
        </p:nvSpPr>
        <p:spPr>
          <a:xfrm>
            <a:off x="4005072" y="1280160"/>
            <a:ext cx="1499616" cy="365760"/>
          </a:xfrm>
          <a:prstGeom prst="roundRect">
            <a:avLst>
              <a:gd name="adj" fmla="val 12500"/>
            </a:avLst>
          </a:prstGeom>
          <a:solidFill>
            <a:srgbClr val="E2E8F0"/>
          </a:solidFill>
          <a:ln w="12700">
            <a:solidFill>
              <a:srgbClr val="E2E8F0"/>
            </a:solidFill>
            <a:prstDash val="solid"/>
          </a:ln>
        </p:spPr>
      </p:sp>
      <p:sp>
        <p:nvSpPr>
          <p:cNvPr id="20" name="Text 18"/>
          <p:cNvSpPr/>
          <p:nvPr/>
        </p:nvSpPr>
        <p:spPr>
          <a:xfrm>
            <a:off x="4050792" y="1280160"/>
            <a:ext cx="1408176" cy="365760"/>
          </a:xfrm>
          <a:prstGeom prst="rect">
            <a:avLst/>
          </a:prstGeom>
          <a:noFill/>
          <a:ln/>
        </p:spPr>
        <p:txBody>
          <a:bodyPr wrap="square" rtlCol="0" anchor="ctr"/>
          <a:lstStyle/>
          <a:p>
            <a:pPr algn="ctr" indent="0" marL="0">
              <a:buNone/>
            </a:pPr>
            <a:r>
              <a:rPr lang="en-US" sz="750" dirty="0">
                <a:solidFill>
                  <a:srgbClr val="94A3B8"/>
                </a:solidFill>
                <a:latin typeface="Segoe UI" pitchFamily="34" charset="0"/>
                <a:ea typeface="Segoe UI" pitchFamily="34" charset="-122"/>
                <a:cs typeface="Segoe UI" pitchFamily="34" charset="-120"/>
              </a:rPr>
              <a:t>ĐÃ GẶP</a:t>
            </a:r>
            <a:endParaRPr lang="en-US" sz="750" dirty="0"/>
          </a:p>
        </p:txBody>
      </p:sp>
      <p:sp>
        <p:nvSpPr>
          <p:cNvPr id="21" name="Shape 19"/>
          <p:cNvSpPr/>
          <p:nvPr/>
        </p:nvSpPr>
        <p:spPr>
          <a:xfrm>
            <a:off x="5641848" y="1280160"/>
            <a:ext cx="1499616" cy="365760"/>
          </a:xfrm>
          <a:prstGeom prst="roundRect">
            <a:avLst>
              <a:gd name="adj" fmla="val 12500"/>
            </a:avLst>
          </a:prstGeom>
          <a:solidFill>
            <a:srgbClr val="BD1D2D"/>
          </a:solidFill>
          <a:ln w="12700">
            <a:solidFill>
              <a:srgbClr val="BD1D2D"/>
            </a:solidFill>
            <a:prstDash val="solid"/>
          </a:ln>
        </p:spPr>
      </p:sp>
      <p:sp>
        <p:nvSpPr>
          <p:cNvPr id="22" name="Text 20"/>
          <p:cNvSpPr/>
          <p:nvPr/>
        </p:nvSpPr>
        <p:spPr>
          <a:xfrm>
            <a:off x="5687568" y="1280160"/>
            <a:ext cx="1408176" cy="365760"/>
          </a:xfrm>
          <a:prstGeom prst="rect">
            <a:avLst/>
          </a:prstGeom>
          <a:noFill/>
          <a:ln/>
        </p:spPr>
        <p:txBody>
          <a:bodyPr wrap="square" rtlCol="0" anchor="ctr"/>
          <a:lstStyle/>
          <a:p>
            <a:pPr algn="ctr" indent="0" marL="0">
              <a:buNone/>
            </a:pPr>
            <a:r>
              <a:rPr lang="en-US" sz="750" b="1" dirty="0">
                <a:solidFill>
                  <a:srgbClr val="FFFFFF"/>
                </a:solidFill>
                <a:latin typeface="Segoe UI" pitchFamily="34" charset="0"/>
                <a:ea typeface="Segoe UI" pitchFamily="34" charset="-122"/>
                <a:cs typeface="Segoe UI" pitchFamily="34" charset="-120"/>
              </a:rPr>
              <a:t>ĐẶT CỌC</a:t>
            </a:r>
            <a:endParaRPr lang="en-US" sz="750" dirty="0"/>
          </a:p>
        </p:txBody>
      </p:sp>
      <p:sp>
        <p:nvSpPr>
          <p:cNvPr id="23" name="Shape 21"/>
          <p:cNvSpPr/>
          <p:nvPr/>
        </p:nvSpPr>
        <p:spPr>
          <a:xfrm>
            <a:off x="7278624" y="1280160"/>
            <a:ext cx="1499616" cy="365760"/>
          </a:xfrm>
          <a:prstGeom prst="roundRect">
            <a:avLst>
              <a:gd name="adj" fmla="val 12500"/>
            </a:avLst>
          </a:prstGeom>
          <a:solidFill>
            <a:srgbClr val="FFFFFF"/>
          </a:solidFill>
          <a:ln w="12700">
            <a:solidFill>
              <a:srgbClr val="E2E8F0"/>
            </a:solidFill>
            <a:prstDash val="solid"/>
          </a:ln>
        </p:spPr>
      </p:sp>
      <p:sp>
        <p:nvSpPr>
          <p:cNvPr id="24" name="Text 22"/>
          <p:cNvSpPr/>
          <p:nvPr/>
        </p:nvSpPr>
        <p:spPr>
          <a:xfrm>
            <a:off x="7324344" y="1280160"/>
            <a:ext cx="1408176" cy="365760"/>
          </a:xfrm>
          <a:prstGeom prst="rect">
            <a:avLst/>
          </a:prstGeom>
          <a:noFill/>
          <a:ln/>
        </p:spPr>
        <p:txBody>
          <a:bodyPr wrap="square" rtlCol="0" anchor="ctr"/>
          <a:lstStyle/>
          <a:p>
            <a:pPr algn="ctr" indent="0" marL="0">
              <a:buNone/>
            </a:pPr>
            <a:r>
              <a:rPr lang="en-US" sz="750" dirty="0">
                <a:solidFill>
                  <a:srgbClr val="0F172A"/>
                </a:solidFill>
                <a:latin typeface="Segoe UI" pitchFamily="34" charset="0"/>
                <a:ea typeface="Segoe UI" pitchFamily="34" charset="-122"/>
                <a:cs typeface="Segoe UI" pitchFamily="34" charset="-120"/>
              </a:rPr>
              <a:t>THÀNH CÔNG</a:t>
            </a:r>
            <a:endParaRPr lang="en-US" sz="750" dirty="0"/>
          </a:p>
        </p:txBody>
      </p:sp>
      <p:sp>
        <p:nvSpPr>
          <p:cNvPr id="25" name="Shape 23"/>
          <p:cNvSpPr/>
          <p:nvPr/>
        </p:nvSpPr>
        <p:spPr>
          <a:xfrm>
            <a:off x="731520" y="1828800"/>
            <a:ext cx="3057754" cy="2651760"/>
          </a:xfrm>
          <a:prstGeom prst="roundRect">
            <a:avLst>
              <a:gd name="adj" fmla="val 2069"/>
            </a:avLst>
          </a:prstGeom>
          <a:solidFill>
            <a:srgbClr val="FFFFFF"/>
          </a:solidFill>
          <a:ln w="25400">
            <a:solidFill>
              <a:srgbClr val="BD1D2D"/>
            </a:solidFill>
            <a:prstDash val="solid"/>
          </a:ln>
        </p:spPr>
      </p:sp>
      <p:sp>
        <p:nvSpPr>
          <p:cNvPr id="26" name="Text 24"/>
          <p:cNvSpPr/>
          <p:nvPr/>
        </p:nvSpPr>
        <p:spPr>
          <a:xfrm>
            <a:off x="868680" y="2103120"/>
            <a:ext cx="2783434" cy="731520"/>
          </a:xfrm>
          <a:prstGeom prst="rect">
            <a:avLst/>
          </a:prstGeom>
          <a:noFill/>
          <a:ln/>
        </p:spPr>
        <p:txBody>
          <a:bodyPr wrap="square" rtlCol="0" anchor="ctr"/>
          <a:lstStyle/>
          <a:p>
            <a:pPr algn="ctr" indent="0" marL="0">
              <a:buNone/>
            </a:pPr>
            <a:r>
              <a:rPr lang="en-US" sz="3400" b="1" dirty="0">
                <a:solidFill>
                  <a:srgbClr val="BD1D2D"/>
                </a:solidFill>
                <a:latin typeface="Segoe UI" pitchFamily="34" charset="0"/>
                <a:ea typeface="Segoe UI" pitchFamily="34" charset="-122"/>
                <a:cs typeface="Segoe UI" pitchFamily="34" charset="-120"/>
              </a:rPr>
              <a:t>Giữ Nguyên</a:t>
            </a:r>
            <a:endParaRPr lang="en-US" sz="3400" dirty="0"/>
          </a:p>
        </p:txBody>
      </p:sp>
      <p:sp>
        <p:nvSpPr>
          <p:cNvPr id="27" name="Text 25"/>
          <p:cNvSpPr/>
          <p:nvPr/>
        </p:nvSpPr>
        <p:spPr>
          <a:xfrm>
            <a:off x="868680" y="2926080"/>
            <a:ext cx="2783434"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TRẠNG THÁI ĐẶT CỌC ĐƯỢC GIỮ</a:t>
            </a:r>
            <a:endParaRPr lang="en-US" sz="950" dirty="0"/>
          </a:p>
        </p:txBody>
      </p:sp>
      <p:sp>
        <p:nvSpPr>
          <p:cNvPr id="28" name="Text 26"/>
          <p:cNvSpPr/>
          <p:nvPr/>
        </p:nvSpPr>
        <p:spPr>
          <a:xfrm>
            <a:off x="868680" y="3291840"/>
            <a:ext cx="2783434" cy="1005840"/>
          </a:xfrm>
          <a:prstGeom prst="rect">
            <a:avLst/>
          </a:prstGeom>
          <a:noFill/>
          <a:ln/>
        </p:spPr>
        <p:txBody>
          <a:bodyPr wrap="square" rtlCol="0" anchor="t"/>
          <a:lstStyle/>
          <a:p>
            <a:pPr algn="ctr" indent="0" marL="0">
              <a:lnSpc>
                <a:spcPts val="1200"/>
              </a:lnSpc>
              <a:buNone/>
            </a:pPr>
            <a:r>
              <a:rPr lang="en-US" sz="850" dirty="0">
                <a:solidFill>
                  <a:srgbClr val="475569"/>
                </a:solidFill>
                <a:latin typeface="Segoe UI" pitchFamily="34" charset="0"/>
                <a:ea typeface="Segoe UI" pitchFamily="34" charset="-122"/>
                <a:cs typeface="Segoe UI" pitchFamily="34" charset="-120"/>
              </a:rPr>
              <a:t>Person bắt buộc giữ nguyên trạng thái Đặt Cọc/Khách Hàng. Đồng hồ bảo mật bị khóa, lead không bao giờ trả về kho chung.</a:t>
            </a:r>
            <a:endParaRPr lang="en-US" sz="850" dirty="0"/>
          </a:p>
        </p:txBody>
      </p:sp>
      <p:sp>
        <p:nvSpPr>
          <p:cNvPr id="29" name="Shape 27"/>
          <p:cNvSpPr/>
          <p:nvPr/>
        </p:nvSpPr>
        <p:spPr>
          <a:xfrm>
            <a:off x="4111142" y="1828800"/>
            <a:ext cx="4667098" cy="2651760"/>
          </a:xfrm>
          <a:prstGeom prst="roundRect">
            <a:avLst>
              <a:gd name="adj" fmla="val 1724"/>
            </a:avLst>
          </a:prstGeom>
          <a:solidFill>
            <a:srgbClr val="FFFFFF"/>
          </a:solidFill>
          <a:ln w="12700">
            <a:solidFill>
              <a:srgbClr val="E2E8F0"/>
            </a:solidFill>
            <a:prstDash val="solid"/>
          </a:ln>
        </p:spPr>
      </p:sp>
      <p:sp>
        <p:nvSpPr>
          <p:cNvPr id="30" name="Text 28"/>
          <p:cNvSpPr/>
          <p:nvPr/>
        </p:nvSpPr>
        <p:spPr>
          <a:xfrm>
            <a:off x="4294022" y="1965960"/>
            <a:ext cx="4301338"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LÝ DO XỬ LÝ GIỮ NGUYÊN</a:t>
            </a:r>
            <a:endParaRPr lang="en-US" sz="950" dirty="0"/>
          </a:p>
        </p:txBody>
      </p:sp>
      <p:sp>
        <p:nvSpPr>
          <p:cNvPr id="31" name="Text 29"/>
          <p:cNvSpPr/>
          <p:nvPr/>
        </p:nvSpPr>
        <p:spPr>
          <a:xfrm>
            <a:off x="4294022" y="2258568"/>
            <a:ext cx="4301338" cy="2084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Công ty đã thu được ít nhất một phần phí môi giới (milestone đợt 1 approved).</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Xác nhận đây là một khách hàng thực sự. Giữ nguyên chủ sở hữu để tiếp tục chăm sóc bán căn khác hoặc giữ mối quan hệ.</a:t>
            </a:r>
            <a:endParaRPr lang="en-US" sz="92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25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ĐỔI CĂN</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Luồng Nghiệp Vụ Đổi Căn Hộ Giao Dịch</a:t>
            </a:r>
            <a:endParaRPr lang="en-US" sz="1900" dirty="0"/>
          </a:p>
        </p:txBody>
      </p:sp>
      <p:sp>
        <p:nvSpPr>
          <p:cNvPr id="15" name="Shape 13"/>
          <p:cNvSpPr/>
          <p:nvPr/>
        </p:nvSpPr>
        <p:spPr>
          <a:xfrm>
            <a:off x="731520" y="1371600"/>
            <a:ext cx="2499360" cy="3017520"/>
          </a:xfrm>
          <a:prstGeom prst="roundRect">
            <a:avLst>
              <a:gd name="adj" fmla="val 2195"/>
            </a:avLst>
          </a:prstGeom>
          <a:solidFill>
            <a:srgbClr val="FFFFFF"/>
          </a:solidFill>
          <a:ln w="12700">
            <a:solidFill>
              <a:srgbClr val="E2E8F0"/>
            </a:solidFill>
            <a:prstDash val="solid"/>
          </a:ln>
        </p:spPr>
      </p:sp>
      <p:sp>
        <p:nvSpPr>
          <p:cNvPr id="16" name="Shape 14"/>
          <p:cNvSpPr/>
          <p:nvPr/>
        </p:nvSpPr>
        <p:spPr>
          <a:xfrm>
            <a:off x="3230880" y="1737360"/>
            <a:ext cx="274320" cy="0"/>
          </a:xfrm>
          <a:prstGeom prst="line">
            <a:avLst/>
          </a:prstGeom>
          <a:noFill/>
          <a:ln w="19050">
            <a:solidFill>
              <a:srgbClr val="BD1D2D"/>
            </a:solidFill>
            <a:prstDash val="dash"/>
          </a:ln>
        </p:spPr>
      </p:sp>
      <p:sp>
        <p:nvSpPr>
          <p:cNvPr id="17" name="Shape 15"/>
          <p:cNvSpPr/>
          <p:nvPr/>
        </p:nvSpPr>
        <p:spPr>
          <a:xfrm>
            <a:off x="1798320" y="1554480"/>
            <a:ext cx="365760" cy="365760"/>
          </a:xfrm>
          <a:prstGeom prst="ellipse">
            <a:avLst/>
          </a:prstGeom>
          <a:solidFill>
            <a:srgbClr val="BD1D2D"/>
          </a:solidFill>
          <a:ln w="19050">
            <a:solidFill>
              <a:srgbClr val="FFFFFF"/>
            </a:solidFill>
            <a:prstDash val="solid"/>
          </a:ln>
        </p:spPr>
      </p:sp>
      <p:sp>
        <p:nvSpPr>
          <p:cNvPr id="18" name="Text 16"/>
          <p:cNvSpPr/>
          <p:nvPr/>
        </p:nvSpPr>
        <p:spPr>
          <a:xfrm>
            <a:off x="179832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1</a:t>
            </a:r>
            <a:endParaRPr lang="en-US" sz="950" dirty="0"/>
          </a:p>
        </p:txBody>
      </p:sp>
      <p:sp>
        <p:nvSpPr>
          <p:cNvPr id="19" name="Text 17"/>
          <p:cNvSpPr/>
          <p:nvPr/>
        </p:nvSpPr>
        <p:spPr>
          <a:xfrm>
            <a:off x="82296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Đóng phiếu cọc cũ</a:t>
            </a:r>
            <a:endParaRPr lang="en-US" sz="950" dirty="0"/>
          </a:p>
        </p:txBody>
      </p:sp>
      <p:sp>
        <p:nvSpPr>
          <p:cNvPr id="20" name="Text 18"/>
          <p:cNvSpPr/>
          <p:nvPr/>
        </p:nvSpPr>
        <p:spPr>
          <a:xfrm>
            <a:off x="82296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Hủy phiếu đặt cọc cũ của căn A, ghi nhận lý do đổi căn và khóa hóa đơn.</a:t>
            </a:r>
            <a:endParaRPr lang="en-US" sz="800" dirty="0"/>
          </a:p>
        </p:txBody>
      </p:sp>
      <p:sp>
        <p:nvSpPr>
          <p:cNvPr id="21" name="Shape 19"/>
          <p:cNvSpPr/>
          <p:nvPr/>
        </p:nvSpPr>
        <p:spPr>
          <a:xfrm>
            <a:off x="3505200" y="1371600"/>
            <a:ext cx="2499360" cy="3017520"/>
          </a:xfrm>
          <a:prstGeom prst="roundRect">
            <a:avLst>
              <a:gd name="adj" fmla="val 2195"/>
            </a:avLst>
          </a:prstGeom>
          <a:solidFill>
            <a:srgbClr val="FFFFFF"/>
          </a:solidFill>
          <a:ln w="12700">
            <a:solidFill>
              <a:srgbClr val="E2E8F0"/>
            </a:solidFill>
            <a:prstDash val="solid"/>
          </a:ln>
        </p:spPr>
      </p:sp>
      <p:sp>
        <p:nvSpPr>
          <p:cNvPr id="22" name="Shape 20"/>
          <p:cNvSpPr/>
          <p:nvPr/>
        </p:nvSpPr>
        <p:spPr>
          <a:xfrm>
            <a:off x="6004560" y="1737360"/>
            <a:ext cx="274320" cy="0"/>
          </a:xfrm>
          <a:prstGeom prst="line">
            <a:avLst/>
          </a:prstGeom>
          <a:noFill/>
          <a:ln w="19050">
            <a:solidFill>
              <a:srgbClr val="BD1D2D"/>
            </a:solidFill>
            <a:prstDash val="dash"/>
          </a:ln>
        </p:spPr>
      </p:sp>
      <p:sp>
        <p:nvSpPr>
          <p:cNvPr id="23" name="Shape 21"/>
          <p:cNvSpPr/>
          <p:nvPr/>
        </p:nvSpPr>
        <p:spPr>
          <a:xfrm>
            <a:off x="4572000" y="1554480"/>
            <a:ext cx="365760" cy="365760"/>
          </a:xfrm>
          <a:prstGeom prst="ellipse">
            <a:avLst/>
          </a:prstGeom>
          <a:solidFill>
            <a:srgbClr val="BD1D2D"/>
          </a:solidFill>
          <a:ln w="19050">
            <a:solidFill>
              <a:srgbClr val="FFFFFF"/>
            </a:solidFill>
            <a:prstDash val="solid"/>
          </a:ln>
        </p:spPr>
      </p:sp>
      <p:sp>
        <p:nvSpPr>
          <p:cNvPr id="24" name="Text 22"/>
          <p:cNvSpPr/>
          <p:nvPr/>
        </p:nvSpPr>
        <p:spPr>
          <a:xfrm>
            <a:off x="457200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2</a:t>
            </a:r>
            <a:endParaRPr lang="en-US" sz="950" dirty="0"/>
          </a:p>
        </p:txBody>
      </p:sp>
      <p:sp>
        <p:nvSpPr>
          <p:cNvPr id="25" name="Text 23"/>
          <p:cNvSpPr/>
          <p:nvPr/>
        </p:nvSpPr>
        <p:spPr>
          <a:xfrm>
            <a:off x="359664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Tạo phiếu cọc mới</a:t>
            </a:r>
            <a:endParaRPr lang="en-US" sz="950" dirty="0"/>
          </a:p>
        </p:txBody>
      </p:sp>
      <p:sp>
        <p:nvSpPr>
          <p:cNvPr id="26" name="Text 24"/>
          <p:cNvSpPr/>
          <p:nvPr/>
        </p:nvSpPr>
        <p:spPr>
          <a:xfrm>
            <a:off x="359664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Khởi tạo phiếu đặt cọc mới hoàn toàn cho căn B với các milestone mới.</a:t>
            </a:r>
            <a:endParaRPr lang="en-US" sz="800" dirty="0"/>
          </a:p>
        </p:txBody>
      </p:sp>
      <p:sp>
        <p:nvSpPr>
          <p:cNvPr id="27" name="Shape 25"/>
          <p:cNvSpPr/>
          <p:nvPr/>
        </p:nvSpPr>
        <p:spPr>
          <a:xfrm>
            <a:off x="6278880" y="1371600"/>
            <a:ext cx="2499360" cy="3017520"/>
          </a:xfrm>
          <a:prstGeom prst="roundRect">
            <a:avLst>
              <a:gd name="adj" fmla="val 2195"/>
            </a:avLst>
          </a:prstGeom>
          <a:solidFill>
            <a:srgbClr val="FFFFFF"/>
          </a:solidFill>
          <a:ln w="12700">
            <a:solidFill>
              <a:srgbClr val="E2E8F0"/>
            </a:solidFill>
            <a:prstDash val="solid"/>
          </a:ln>
        </p:spPr>
      </p:sp>
      <p:sp>
        <p:nvSpPr>
          <p:cNvPr id="28" name="Shape 26"/>
          <p:cNvSpPr/>
          <p:nvPr/>
        </p:nvSpPr>
        <p:spPr>
          <a:xfrm>
            <a:off x="7345680" y="1554480"/>
            <a:ext cx="365760" cy="365760"/>
          </a:xfrm>
          <a:prstGeom prst="ellipse">
            <a:avLst/>
          </a:prstGeom>
          <a:solidFill>
            <a:srgbClr val="BD1D2D"/>
          </a:solidFill>
          <a:ln w="19050">
            <a:solidFill>
              <a:srgbClr val="FFFFFF"/>
            </a:solidFill>
            <a:prstDash val="solid"/>
          </a:ln>
        </p:spPr>
      </p:sp>
      <p:sp>
        <p:nvSpPr>
          <p:cNvPr id="29" name="Text 27"/>
          <p:cNvSpPr/>
          <p:nvPr/>
        </p:nvSpPr>
        <p:spPr>
          <a:xfrm>
            <a:off x="734568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3</a:t>
            </a:r>
            <a:endParaRPr lang="en-US" sz="950" dirty="0"/>
          </a:p>
        </p:txBody>
      </p:sp>
      <p:sp>
        <p:nvSpPr>
          <p:cNvPr id="30" name="Text 28"/>
          <p:cNvSpPr/>
          <p:nvPr/>
        </p:nvSpPr>
        <p:spPr>
          <a:xfrm>
            <a:off x="637032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Liên kết audit trail</a:t>
            </a:r>
            <a:endParaRPr lang="en-US" sz="950" dirty="0"/>
          </a:p>
        </p:txBody>
      </p:sp>
      <p:sp>
        <p:nvSpPr>
          <p:cNvPr id="31" name="Text 29"/>
          <p:cNvSpPr/>
          <p:nvPr/>
        </p:nvSpPr>
        <p:spPr>
          <a:xfrm>
            <a:off x="637032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Gắn ghi chú 'Đổi từ căn A' ở phiếu mới phục vụ thanh tra tài chính đối soát chéo.</a:t>
            </a:r>
            <a:endParaRPr lang="en-US" sz="80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26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AUDIT TRAIL</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Hệ Thống Ghi Nhật Ký Kiểm Toán Tài Chính (Audit)</a:t>
            </a:r>
            <a:endParaRPr lang="en-US" sz="1900" dirty="0"/>
          </a:p>
        </p:txBody>
      </p:sp>
      <p:sp>
        <p:nvSpPr>
          <p:cNvPr id="15" name="Shape 13"/>
          <p:cNvSpPr/>
          <p:nvPr/>
        </p:nvSpPr>
        <p:spPr>
          <a:xfrm>
            <a:off x="731520" y="1280160"/>
            <a:ext cx="2499360" cy="3291840"/>
          </a:xfrm>
          <a:prstGeom prst="roundRect">
            <a:avLst>
              <a:gd name="adj" fmla="val 1829"/>
            </a:avLst>
          </a:prstGeom>
          <a:solidFill>
            <a:srgbClr val="FFFFFF"/>
          </a:solidFill>
          <a:ln w="12700">
            <a:solidFill>
              <a:srgbClr val="E2E8F0"/>
            </a:solidFill>
            <a:prstDash val="solid"/>
          </a:ln>
        </p:spPr>
      </p:sp>
      <p:sp>
        <p:nvSpPr>
          <p:cNvPr id="16" name="Text 14"/>
          <p:cNvSpPr/>
          <p:nvPr/>
        </p:nvSpPr>
        <p:spPr>
          <a:xfrm>
            <a:off x="91440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NHẬT KÝ CHỈNH SỬA</a:t>
            </a:r>
            <a:endParaRPr lang="en-US" sz="950" dirty="0"/>
          </a:p>
        </p:txBody>
      </p:sp>
      <p:sp>
        <p:nvSpPr>
          <p:cNvPr id="17" name="Text 15"/>
          <p:cNvSpPr/>
          <p:nvPr/>
        </p:nvSpPr>
        <p:spPr>
          <a:xfrm>
            <a:off x="91440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Toàn bộ các thao tác chỉnh sửa giá bán, chiết khấu đều được ghi log.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Lưu lại định danh Sale/Admin và timestamp thực thi chuẩn xác.</a:t>
            </a:r>
            <a:endParaRPr lang="en-US" sz="920" dirty="0"/>
          </a:p>
        </p:txBody>
      </p:sp>
      <p:sp>
        <p:nvSpPr>
          <p:cNvPr id="18" name="Shape 16"/>
          <p:cNvSpPr/>
          <p:nvPr/>
        </p:nvSpPr>
        <p:spPr>
          <a:xfrm>
            <a:off x="3505200" y="1280160"/>
            <a:ext cx="2499360" cy="3291840"/>
          </a:xfrm>
          <a:prstGeom prst="roundRect">
            <a:avLst>
              <a:gd name="adj" fmla="val 1829"/>
            </a:avLst>
          </a:prstGeom>
          <a:solidFill>
            <a:srgbClr val="FFFFFF"/>
          </a:solidFill>
          <a:ln w="12700">
            <a:solidFill>
              <a:srgbClr val="E2E8F0"/>
            </a:solidFill>
            <a:prstDash val="solid"/>
          </a:ln>
        </p:spPr>
      </p:sp>
      <p:sp>
        <p:nvSpPr>
          <p:cNvPr id="19" name="Text 17"/>
          <p:cNvSpPr/>
          <p:nvPr/>
        </p:nvSpPr>
        <p:spPr>
          <a:xfrm>
            <a:off x="368808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ĐỐI SOÁT HÓA ĐƠN</a:t>
            </a:r>
            <a:endParaRPr lang="en-US" sz="950" dirty="0"/>
          </a:p>
        </p:txBody>
      </p:sp>
      <p:sp>
        <p:nvSpPr>
          <p:cNvPr id="20" name="Text 18"/>
          <p:cNvSpPr/>
          <p:nvPr/>
        </p:nvSpPr>
        <p:spPr>
          <a:xfrm>
            <a:off x="368808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Tự động đồng bộ các đợt tiền approved sang bảng kế toán.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Phát hiện và cảnh báo sai lệch giữa báo cáo Sale và dòng tiền nổi.</a:t>
            </a:r>
            <a:endParaRPr lang="en-US" sz="920" dirty="0"/>
          </a:p>
        </p:txBody>
      </p:sp>
      <p:sp>
        <p:nvSpPr>
          <p:cNvPr id="21" name="Shape 19"/>
          <p:cNvSpPr/>
          <p:nvPr/>
        </p:nvSpPr>
        <p:spPr>
          <a:xfrm>
            <a:off x="6278880" y="1280160"/>
            <a:ext cx="2499360" cy="3291840"/>
          </a:xfrm>
          <a:prstGeom prst="roundRect">
            <a:avLst>
              <a:gd name="adj" fmla="val 1829"/>
            </a:avLst>
          </a:prstGeom>
          <a:solidFill>
            <a:srgbClr val="FFFFFF"/>
          </a:solidFill>
          <a:ln w="12700">
            <a:solidFill>
              <a:srgbClr val="E2E8F0"/>
            </a:solidFill>
            <a:prstDash val="solid"/>
          </a:ln>
        </p:spPr>
      </p:sp>
      <p:sp>
        <p:nvSpPr>
          <p:cNvPr id="22" name="Text 20"/>
          <p:cNvSpPr/>
          <p:nvPr/>
        </p:nvSpPr>
        <p:spPr>
          <a:xfrm>
            <a:off x="646176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KHÓA SỔ DỮ LIỆU</a:t>
            </a:r>
            <a:endParaRPr lang="en-US" sz="950" dirty="0"/>
          </a:p>
        </p:txBody>
      </p:sp>
      <p:sp>
        <p:nvSpPr>
          <p:cNvPr id="23" name="Text 21"/>
          <p:cNvSpPr/>
          <p:nvPr/>
        </p:nvSpPr>
        <p:spPr>
          <a:xfrm>
            <a:off x="646176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Chặn đứng hoàn toàn quyền sửa đổi của Sale với phiếu đã duyệt.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Chỉ có tài khoản Kế toán trưởng được mở khóa điều chỉnh.</a:t>
            </a:r>
            <a:endParaRPr lang="en-US" sz="920" dirty="0"/>
          </a:p>
        </p:txBody>
      </p:sp>
      <p:sp>
        <p:nvSpPr>
          <p:cNvPr id="24" name="Text 2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27 / 60</a:t>
            </a:r>
            <a:endParaRPr lang="en-US" sz="850" dirty="0"/>
          </a:p>
        </p:txBody>
      </p:sp>
      <p:sp>
        <p:nvSpPr>
          <p:cNvPr id="25" name="Text 2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META CAPI</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Luồng Tín Hiệu Meta Conversion API (CAPI)</a:t>
            </a:r>
            <a:endParaRPr lang="en-US" sz="1900" dirty="0"/>
          </a:p>
        </p:txBody>
      </p:sp>
      <p:sp>
        <p:nvSpPr>
          <p:cNvPr id="15" name="Shape 13"/>
          <p:cNvSpPr/>
          <p:nvPr/>
        </p:nvSpPr>
        <p:spPr>
          <a:xfrm>
            <a:off x="731520" y="1645920"/>
            <a:ext cx="2286000" cy="2286000"/>
          </a:xfrm>
          <a:prstGeom prst="roundRect">
            <a:avLst>
              <a:gd name="adj" fmla="val 2000"/>
            </a:avLst>
          </a:prstGeom>
          <a:solidFill>
            <a:srgbClr val="FFFFFF"/>
          </a:solidFill>
          <a:ln w="12700">
            <a:solidFill>
              <a:srgbClr val="E2E8F0"/>
            </a:solidFill>
            <a:prstDash val="solid"/>
          </a:ln>
        </p:spPr>
      </p:sp>
      <p:sp>
        <p:nvSpPr>
          <p:cNvPr id="16" name="Shape 14"/>
          <p:cNvSpPr/>
          <p:nvPr/>
        </p:nvSpPr>
        <p:spPr>
          <a:xfrm>
            <a:off x="868680" y="1783080"/>
            <a:ext cx="320040" cy="228600"/>
          </a:xfrm>
          <a:prstGeom prst="roundRect">
            <a:avLst>
              <a:gd name="adj" fmla="val 200000"/>
            </a:avLst>
          </a:prstGeom>
          <a:solidFill>
            <a:srgbClr val="FEE2E2"/>
          </a:solidFill>
          <a:ln/>
        </p:spPr>
      </p:sp>
      <p:sp>
        <p:nvSpPr>
          <p:cNvPr id="17" name="Text 15"/>
          <p:cNvSpPr/>
          <p:nvPr/>
        </p:nvSpPr>
        <p:spPr>
          <a:xfrm>
            <a:off x="86868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1</a:t>
            </a:r>
            <a:endParaRPr lang="en-US" sz="900" dirty="0"/>
          </a:p>
        </p:txBody>
      </p:sp>
      <p:sp>
        <p:nvSpPr>
          <p:cNvPr id="18" name="Text 16"/>
          <p:cNvSpPr/>
          <p:nvPr/>
        </p:nvSpPr>
        <p:spPr>
          <a:xfrm>
            <a:off x="128016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Nghiệp vụ CRM</a:t>
            </a:r>
            <a:endParaRPr lang="en-US" sz="1000" dirty="0"/>
          </a:p>
        </p:txBody>
      </p:sp>
      <p:sp>
        <p:nvSpPr>
          <p:cNvPr id="19" name="Text 17"/>
          <p:cNvSpPr/>
          <p:nvPr/>
        </p:nvSpPr>
        <p:spPr>
          <a:xfrm>
            <a:off x="86868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Sale cập nhật trạng thái lead hoặc kế toán duyệt đặt cọc approved.</a:t>
            </a:r>
            <a:endParaRPr lang="en-US" sz="820" dirty="0"/>
          </a:p>
        </p:txBody>
      </p:sp>
      <p:sp>
        <p:nvSpPr>
          <p:cNvPr id="20" name="Shape 18"/>
          <p:cNvSpPr/>
          <p:nvPr/>
        </p:nvSpPr>
        <p:spPr>
          <a:xfrm>
            <a:off x="3054096" y="2697480"/>
            <a:ext cx="109728" cy="182880"/>
          </a:xfrm>
          <a:prstGeom prst="rightArrow">
            <a:avLst/>
          </a:prstGeom>
          <a:solidFill>
            <a:srgbClr val="94A3B8"/>
          </a:solidFill>
          <a:ln w="6350">
            <a:solidFill>
              <a:srgbClr val="E2E8F0"/>
            </a:solidFill>
            <a:prstDash val="solid"/>
          </a:ln>
        </p:spPr>
      </p:sp>
      <p:sp>
        <p:nvSpPr>
          <p:cNvPr id="21" name="Shape 19"/>
          <p:cNvSpPr/>
          <p:nvPr/>
        </p:nvSpPr>
        <p:spPr>
          <a:xfrm>
            <a:off x="3337560" y="1645920"/>
            <a:ext cx="2286000" cy="2286000"/>
          </a:xfrm>
          <a:prstGeom prst="roundRect">
            <a:avLst>
              <a:gd name="adj" fmla="val 2000"/>
            </a:avLst>
          </a:prstGeom>
          <a:solidFill>
            <a:srgbClr val="FFFFFF"/>
          </a:solidFill>
          <a:ln w="12700">
            <a:solidFill>
              <a:srgbClr val="E2E8F0"/>
            </a:solidFill>
            <a:prstDash val="solid"/>
          </a:ln>
        </p:spPr>
      </p:sp>
      <p:sp>
        <p:nvSpPr>
          <p:cNvPr id="22" name="Shape 20"/>
          <p:cNvSpPr/>
          <p:nvPr/>
        </p:nvSpPr>
        <p:spPr>
          <a:xfrm>
            <a:off x="3474720" y="1783080"/>
            <a:ext cx="320040" cy="228600"/>
          </a:xfrm>
          <a:prstGeom prst="roundRect">
            <a:avLst>
              <a:gd name="adj" fmla="val 200000"/>
            </a:avLst>
          </a:prstGeom>
          <a:solidFill>
            <a:srgbClr val="FEE2E2"/>
          </a:solidFill>
          <a:ln/>
        </p:spPr>
      </p:sp>
      <p:sp>
        <p:nvSpPr>
          <p:cNvPr id="23" name="Text 21"/>
          <p:cNvSpPr/>
          <p:nvPr/>
        </p:nvSpPr>
        <p:spPr>
          <a:xfrm>
            <a:off x="347472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2</a:t>
            </a:r>
            <a:endParaRPr lang="en-US" sz="900" dirty="0"/>
          </a:p>
        </p:txBody>
      </p:sp>
      <p:sp>
        <p:nvSpPr>
          <p:cNvPr id="24" name="Text 22"/>
          <p:cNvSpPr/>
          <p:nvPr/>
        </p:nvSpPr>
        <p:spPr>
          <a:xfrm>
            <a:off x="388620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Bắn thẳng Meta API</a:t>
            </a:r>
            <a:endParaRPr lang="en-US" sz="1000" dirty="0"/>
          </a:p>
        </p:txBody>
      </p:sp>
      <p:sp>
        <p:nvSpPr>
          <p:cNvPr id="25" name="Text 23"/>
          <p:cNvSpPr/>
          <p:nvPr/>
        </p:nvSpPr>
        <p:spPr>
          <a:xfrm>
            <a:off x="347472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Hệ thống băm SHA256 SĐT/email, gửi sự kiện trực tiếp không qua trung gian.</a:t>
            </a:r>
            <a:endParaRPr lang="en-US" sz="820" dirty="0"/>
          </a:p>
        </p:txBody>
      </p:sp>
      <p:sp>
        <p:nvSpPr>
          <p:cNvPr id="26" name="Shape 24"/>
          <p:cNvSpPr/>
          <p:nvPr/>
        </p:nvSpPr>
        <p:spPr>
          <a:xfrm>
            <a:off x="5660136" y="2697480"/>
            <a:ext cx="109728" cy="182880"/>
          </a:xfrm>
          <a:prstGeom prst="rightArrow">
            <a:avLst/>
          </a:prstGeom>
          <a:solidFill>
            <a:srgbClr val="94A3B8"/>
          </a:solidFill>
          <a:ln w="6350">
            <a:solidFill>
              <a:srgbClr val="E2E8F0"/>
            </a:solidFill>
            <a:prstDash val="solid"/>
          </a:ln>
        </p:spPr>
      </p:sp>
      <p:sp>
        <p:nvSpPr>
          <p:cNvPr id="27" name="Shape 25"/>
          <p:cNvSpPr/>
          <p:nvPr/>
        </p:nvSpPr>
        <p:spPr>
          <a:xfrm>
            <a:off x="5943600" y="1645920"/>
            <a:ext cx="2286000" cy="2286000"/>
          </a:xfrm>
          <a:prstGeom prst="roundRect">
            <a:avLst>
              <a:gd name="adj" fmla="val 2000"/>
            </a:avLst>
          </a:prstGeom>
          <a:solidFill>
            <a:srgbClr val="FFFFFF"/>
          </a:solidFill>
          <a:ln w="12700">
            <a:solidFill>
              <a:srgbClr val="E2E8F0"/>
            </a:solidFill>
            <a:prstDash val="solid"/>
          </a:ln>
        </p:spPr>
      </p:sp>
      <p:sp>
        <p:nvSpPr>
          <p:cNvPr id="28" name="Shape 26"/>
          <p:cNvSpPr/>
          <p:nvPr/>
        </p:nvSpPr>
        <p:spPr>
          <a:xfrm>
            <a:off x="6080760" y="1783080"/>
            <a:ext cx="320040" cy="228600"/>
          </a:xfrm>
          <a:prstGeom prst="roundRect">
            <a:avLst>
              <a:gd name="adj" fmla="val 200000"/>
            </a:avLst>
          </a:prstGeom>
          <a:solidFill>
            <a:srgbClr val="FEE2E2"/>
          </a:solidFill>
          <a:ln/>
        </p:spPr>
      </p:sp>
      <p:sp>
        <p:nvSpPr>
          <p:cNvPr id="29" name="Text 27"/>
          <p:cNvSpPr/>
          <p:nvPr/>
        </p:nvSpPr>
        <p:spPr>
          <a:xfrm>
            <a:off x="608076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3</a:t>
            </a:r>
            <a:endParaRPr lang="en-US" sz="900" dirty="0"/>
          </a:p>
        </p:txBody>
      </p:sp>
      <p:sp>
        <p:nvSpPr>
          <p:cNvPr id="30" name="Text 28"/>
          <p:cNvSpPr/>
          <p:nvPr/>
        </p:nvSpPr>
        <p:spPr>
          <a:xfrm>
            <a:off x="649224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Meta Pixel match</a:t>
            </a:r>
            <a:endParaRPr lang="en-US" sz="1000" dirty="0"/>
          </a:p>
        </p:txBody>
      </p:sp>
      <p:sp>
        <p:nvSpPr>
          <p:cNvPr id="31" name="Text 29"/>
          <p:cNvSpPr/>
          <p:nvPr/>
        </p:nvSpPr>
        <p:spPr>
          <a:xfrm>
            <a:off x="608076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Meta đối soát mã lead_id để tối ưu hóa thuật toán phân phối ads.</a:t>
            </a:r>
            <a:endParaRPr lang="en-US" sz="82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28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META CAPI</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Quy Tắc Tín Hiệu CAPI Một Chiều (Forward-Only)</a:t>
            </a:r>
            <a:endParaRPr lang="en-US" sz="1900" dirty="0"/>
          </a:p>
        </p:txBody>
      </p:sp>
      <p:sp>
        <p:nvSpPr>
          <p:cNvPr id="15" name="Shape 13"/>
          <p:cNvSpPr/>
          <p:nvPr/>
        </p:nvSpPr>
        <p:spPr>
          <a:xfrm>
            <a:off x="731520" y="1280160"/>
            <a:ext cx="384048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QUY TẮC MỘT CHIỀU</a:t>
            </a:r>
            <a:endParaRPr lang="en-US" sz="950" dirty="0"/>
          </a:p>
        </p:txBody>
      </p:sp>
      <p:sp>
        <p:nvSpPr>
          <p:cNvPr id="17" name="Text 15"/>
          <p:cNvSpPr/>
          <p:nvPr/>
        </p:nvSpPr>
        <p:spPr>
          <a:xfrm>
            <a:off x="9144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Tuyệt đối không gửi sự kiện hoàn trả, hạ cấp trạng thái lead về Meta.</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Một khi tín hiệu Purchase đã được gửi đi là kết thúc luồng cho lead đó.</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Bảo vệ dữ liệu tối ưu hóa chiến dịch quảng cáo không bị nhiễu loạn.</a:t>
            </a:r>
            <a:endParaRPr lang="en-US" sz="920" dirty="0"/>
          </a:p>
        </p:txBody>
      </p:sp>
      <p:sp>
        <p:nvSpPr>
          <p:cNvPr id="18" name="Shape 16"/>
          <p:cNvSpPr/>
          <p:nvPr/>
        </p:nvSpPr>
        <p:spPr>
          <a:xfrm>
            <a:off x="4846320" y="1280160"/>
            <a:ext cx="3840480" cy="3291840"/>
          </a:xfrm>
          <a:prstGeom prst="roundRect">
            <a:avLst>
              <a:gd name="adj" fmla="val 1389"/>
            </a:avLst>
          </a:prstGeom>
          <a:solidFill>
            <a:srgbClr val="FFFFFF"/>
          </a:solidFill>
          <a:ln w="12700">
            <a:solidFill>
              <a:srgbClr val="E2E8F0"/>
            </a:solidFill>
            <a:prstDash val="solid"/>
          </a:ln>
        </p:spPr>
      </p:sp>
      <p:sp>
        <p:nvSpPr>
          <p:cNvPr id="19" name="Text 17"/>
          <p:cNvSpPr/>
          <p:nvPr/>
        </p:nvSpPr>
        <p:spPr>
          <a:xfrm>
            <a:off x="50292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LỢI ÍCH THUẬT TOÁN HỌC</a:t>
            </a:r>
            <a:endParaRPr lang="en-US" sz="950" dirty="0"/>
          </a:p>
        </p:txBody>
      </p:sp>
      <p:sp>
        <p:nvSpPr>
          <p:cNvPr id="20" name="Text 18"/>
          <p:cNvSpPr/>
          <p:nvPr/>
        </p:nvSpPr>
        <p:spPr>
          <a:xfrm>
            <a:off x="50292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Giúp thuật toán tìm kiếm khách hàng của Meta tập trung vào tệp chuyển đổi thật.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Né tránh nhầm lẫn do các thay đổi trạng thái hậu trường của CRM.</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Giảm chi phí quảng cáo (CPA) đáng kể cho các chiến dịch sau.</a:t>
            </a:r>
            <a:endParaRPr lang="en-US" sz="92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29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BD1D2D"/>
        </a:solidFill>
      </p:bgPr>
    </p:bg>
    <p:spTree>
      <p:nvGrpSpPr>
        <p:cNvPr id="1" name=""/>
        <p:cNvGrpSpPr/>
        <p:nvPr/>
      </p:nvGrpSpPr>
      <p:grpSpPr>
        <a:xfrm>
          <a:off x="0" y="0"/>
          <a:ext cx="0" cy="0"/>
          <a:chOff x="0" y="0"/>
          <a:chExt cx="0" cy="0"/>
        </a:xfrm>
      </p:grpSpPr>
      <p:sp>
        <p:nvSpPr>
          <p:cNvPr id="2" name="Text 0"/>
          <p:cNvSpPr/>
          <p:nvPr/>
        </p:nvSpPr>
        <p:spPr>
          <a:xfrm>
            <a:off x="914400" y="914400"/>
            <a:ext cx="7315200" cy="274320"/>
          </a:xfrm>
          <a:prstGeom prst="rect">
            <a:avLst/>
          </a:prstGeom>
          <a:noFill/>
          <a:ln/>
        </p:spPr>
        <p:txBody>
          <a:bodyPr wrap="square" rtlCol="0" anchor="ctr"/>
          <a:lstStyle/>
          <a:p>
            <a:pPr indent="0" marL="0">
              <a:buNone/>
            </a:pPr>
            <a:r>
              <a:rPr lang="en-US" sz="1300" b="1" dirty="0">
                <a:solidFill>
                  <a:srgbClr val="FFC1C1"/>
                </a:solidFill>
                <a:latin typeface="Segoe UI" pitchFamily="34" charset="0"/>
                <a:ea typeface="Segoe UI" pitchFamily="34" charset="-122"/>
                <a:cs typeface="Segoe UI" pitchFamily="34" charset="-120"/>
              </a:rPr>
              <a:t>TÀI CHÍNH &amp; CAPI</a:t>
            </a:r>
            <a:endParaRPr lang="en-US" sz="1300" dirty="0"/>
          </a:p>
        </p:txBody>
      </p:sp>
      <p:sp>
        <p:nvSpPr>
          <p:cNvPr id="3" name="Text 1"/>
          <p:cNvSpPr/>
          <p:nvPr/>
        </p:nvSpPr>
        <p:spPr>
          <a:xfrm>
            <a:off x="914400" y="1280160"/>
            <a:ext cx="7315200" cy="91440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KẾT LUẬN CHƯƠNG 3: TÀI CHÍNH &amp; CAPI</a:t>
            </a:r>
            <a:endParaRPr lang="en-US" sz="3000" dirty="0"/>
          </a:p>
        </p:txBody>
      </p:sp>
      <p:sp>
        <p:nvSpPr>
          <p:cNvPr id="4" name="Text 2"/>
          <p:cNvSpPr/>
          <p:nvPr/>
        </p:nvSpPr>
        <p:spPr>
          <a:xfrm>
            <a:off x="914400" y="2377440"/>
            <a:ext cx="7315200" cy="548640"/>
          </a:xfrm>
          <a:prstGeom prst="rect">
            <a:avLst/>
          </a:prstGeom>
          <a:noFill/>
          <a:ln/>
        </p:spPr>
        <p:txBody>
          <a:bodyPr wrap="square" rtlCol="0" anchor="t"/>
          <a:lstStyle/>
          <a:p>
            <a:pPr indent="0" marL="0">
              <a:lnSpc>
                <a:spcPts val="1600"/>
              </a:lnSpc>
              <a:buNone/>
            </a:pPr>
            <a:r>
              <a:rPr lang="en-US" sz="1150" dirty="0">
                <a:solidFill>
                  <a:srgbClr val="F1F5F9"/>
                </a:solidFill>
                <a:latin typeface="Segoe UI" pitchFamily="34" charset="0"/>
                <a:ea typeface="Segoe UI" pitchFamily="34" charset="-122"/>
                <a:cs typeface="Segoe UI" pitchFamily="34" charset="-120"/>
              </a:rPr>
              <a:t>Bảo vệ dòng tiền thực thu thông qua kế toán đối soát, vết kiểm toán audit trail và connector trực tiếp Meta Conversion API.</a:t>
            </a:r>
            <a:endParaRPr lang="en-US" sz="1150" dirty="0"/>
          </a:p>
        </p:txBody>
      </p:sp>
      <p:sp>
        <p:nvSpPr>
          <p:cNvPr id="5" name="Shape 3"/>
          <p:cNvSpPr/>
          <p:nvPr/>
        </p:nvSpPr>
        <p:spPr>
          <a:xfrm>
            <a:off x="914400" y="3017520"/>
            <a:ext cx="2194560" cy="1554480"/>
          </a:xfrm>
          <a:prstGeom prst="roundRect">
            <a:avLst>
              <a:gd name="adj" fmla="val 4706"/>
            </a:avLst>
          </a:prstGeom>
          <a:solidFill>
            <a:srgbClr val="9C1523"/>
          </a:solidFill>
          <a:ln w="12700">
            <a:solidFill>
              <a:srgbClr val="C92A3A"/>
            </a:solidFill>
            <a:prstDash val="solid"/>
          </a:ln>
        </p:spPr>
      </p:sp>
      <p:sp>
        <p:nvSpPr>
          <p:cNvPr id="6" name="Text 4"/>
          <p:cNvSpPr/>
          <p:nvPr/>
        </p:nvSpPr>
        <p:spPr>
          <a:xfrm>
            <a:off x="105156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BỂ CỌC PHÂN NHÁNH</a:t>
            </a:r>
            <a:endParaRPr lang="en-US" sz="950" dirty="0"/>
          </a:p>
        </p:txBody>
      </p:sp>
      <p:sp>
        <p:nvSpPr>
          <p:cNvPr id="7" name="Text 5"/>
          <p:cNvSpPr/>
          <p:nvPr/>
        </p:nvSpPr>
        <p:spPr>
          <a:xfrm>
            <a:off x="105156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Hủy cọc trước doanh thu hạ cấp trả kho; hủy cọc sau doanh thu giữ nguyên cọc bảo vệ thực thu.</a:t>
            </a:r>
            <a:endParaRPr lang="en-US" sz="850" dirty="0"/>
          </a:p>
        </p:txBody>
      </p:sp>
      <p:sp>
        <p:nvSpPr>
          <p:cNvPr id="8" name="Shape 6"/>
          <p:cNvSpPr/>
          <p:nvPr/>
        </p:nvSpPr>
        <p:spPr>
          <a:xfrm>
            <a:off x="3474720" y="3017520"/>
            <a:ext cx="2194560" cy="1554480"/>
          </a:xfrm>
          <a:prstGeom prst="roundRect">
            <a:avLst>
              <a:gd name="adj" fmla="val 4706"/>
            </a:avLst>
          </a:prstGeom>
          <a:solidFill>
            <a:srgbClr val="9C1523"/>
          </a:solidFill>
          <a:ln w="12700">
            <a:solidFill>
              <a:srgbClr val="C92A3A"/>
            </a:solidFill>
            <a:prstDash val="solid"/>
          </a:ln>
        </p:spPr>
      </p:sp>
      <p:sp>
        <p:nvSpPr>
          <p:cNvPr id="9" name="Text 7"/>
          <p:cNvSpPr/>
          <p:nvPr/>
        </p:nvSpPr>
        <p:spPr>
          <a:xfrm>
            <a:off x="361188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UNIT SWITCHING</a:t>
            </a:r>
            <a:endParaRPr lang="en-US" sz="950" dirty="0"/>
          </a:p>
        </p:txBody>
      </p:sp>
      <p:sp>
        <p:nvSpPr>
          <p:cNvPr id="10" name="Text 8"/>
          <p:cNvSpPr/>
          <p:nvPr/>
        </p:nvSpPr>
        <p:spPr>
          <a:xfrm>
            <a:off x="361188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Hủy cọc cũ và mở cọc mới, gắn định danh link nguồn giữ trọn vẹn vết kiểm toán tài chính.</a:t>
            </a:r>
            <a:endParaRPr lang="en-US" sz="850" dirty="0"/>
          </a:p>
        </p:txBody>
      </p:sp>
      <p:sp>
        <p:nvSpPr>
          <p:cNvPr id="11" name="Shape 9"/>
          <p:cNvSpPr/>
          <p:nvPr/>
        </p:nvSpPr>
        <p:spPr>
          <a:xfrm>
            <a:off x="6035040" y="3017520"/>
            <a:ext cx="2194560" cy="1554480"/>
          </a:xfrm>
          <a:prstGeom prst="roundRect">
            <a:avLst>
              <a:gd name="adj" fmla="val 4706"/>
            </a:avLst>
          </a:prstGeom>
          <a:solidFill>
            <a:srgbClr val="9C1523"/>
          </a:solidFill>
          <a:ln w="12700">
            <a:solidFill>
              <a:srgbClr val="C92A3A"/>
            </a:solidFill>
            <a:prstDash val="solid"/>
          </a:ln>
        </p:spPr>
      </p:sp>
      <p:sp>
        <p:nvSpPr>
          <p:cNvPr id="12" name="Text 10"/>
          <p:cNvSpPr/>
          <p:nvPr/>
        </p:nvSpPr>
        <p:spPr>
          <a:xfrm>
            <a:off x="617220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CAPI FORWARD-ONLY</a:t>
            </a:r>
            <a:endParaRPr lang="en-US" sz="950" dirty="0"/>
          </a:p>
        </p:txBody>
      </p:sp>
      <p:sp>
        <p:nvSpPr>
          <p:cNvPr id="13" name="Text 11"/>
          <p:cNvSpPr/>
          <p:nvPr/>
        </p:nvSpPr>
        <p:spPr>
          <a:xfrm>
            <a:off x="617220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Bắn tín hiệu 1 chiều từ CSDL, chặn gửi sự kiện hoàn trả giúp bảo vệ thuật toán học Meta.</a:t>
            </a:r>
            <a:endParaRPr lang="en-US" sz="850" dirty="0"/>
          </a:p>
        </p:txBody>
      </p:sp>
      <p:sp>
        <p:nvSpPr>
          <p:cNvPr id="14" name="Text 1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30 / 60</a:t>
            </a:r>
            <a:endParaRPr lang="en-US" sz="850" dirty="0"/>
          </a:p>
        </p:txBody>
      </p:sp>
      <p:sp>
        <p:nvSpPr>
          <p:cNvPr id="15" name="Text 1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AI RAG</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Mô Hiện Tri Thức AI RAG Truy Xuất</a:t>
            </a:r>
            <a:endParaRPr lang="en-US" sz="1900" dirty="0"/>
          </a:p>
        </p:txBody>
      </p:sp>
      <p:sp>
        <p:nvSpPr>
          <p:cNvPr id="15" name="Shape 13"/>
          <p:cNvSpPr/>
          <p:nvPr/>
        </p:nvSpPr>
        <p:spPr>
          <a:xfrm>
            <a:off x="731520" y="1371600"/>
            <a:ext cx="2499360" cy="3017520"/>
          </a:xfrm>
          <a:prstGeom prst="roundRect">
            <a:avLst>
              <a:gd name="adj" fmla="val 2195"/>
            </a:avLst>
          </a:prstGeom>
          <a:solidFill>
            <a:srgbClr val="FFFFFF"/>
          </a:solidFill>
          <a:ln w="12700">
            <a:solidFill>
              <a:srgbClr val="E2E8F0"/>
            </a:solidFill>
            <a:prstDash val="solid"/>
          </a:ln>
        </p:spPr>
      </p:sp>
      <p:sp>
        <p:nvSpPr>
          <p:cNvPr id="16" name="Shape 14"/>
          <p:cNvSpPr/>
          <p:nvPr/>
        </p:nvSpPr>
        <p:spPr>
          <a:xfrm>
            <a:off x="3230880" y="1737360"/>
            <a:ext cx="274320" cy="0"/>
          </a:xfrm>
          <a:prstGeom prst="line">
            <a:avLst/>
          </a:prstGeom>
          <a:noFill/>
          <a:ln w="19050">
            <a:solidFill>
              <a:srgbClr val="BD1D2D"/>
            </a:solidFill>
            <a:prstDash val="dash"/>
          </a:ln>
        </p:spPr>
      </p:sp>
      <p:sp>
        <p:nvSpPr>
          <p:cNvPr id="17" name="Shape 15"/>
          <p:cNvSpPr/>
          <p:nvPr/>
        </p:nvSpPr>
        <p:spPr>
          <a:xfrm>
            <a:off x="1798320" y="1554480"/>
            <a:ext cx="365760" cy="365760"/>
          </a:xfrm>
          <a:prstGeom prst="ellipse">
            <a:avLst/>
          </a:prstGeom>
          <a:solidFill>
            <a:srgbClr val="BD1D2D"/>
          </a:solidFill>
          <a:ln w="19050">
            <a:solidFill>
              <a:srgbClr val="FFFFFF"/>
            </a:solidFill>
            <a:prstDash val="solid"/>
          </a:ln>
        </p:spPr>
      </p:sp>
      <p:sp>
        <p:nvSpPr>
          <p:cNvPr id="18" name="Text 16"/>
          <p:cNvSpPr/>
          <p:nvPr/>
        </p:nvSpPr>
        <p:spPr>
          <a:xfrm>
            <a:off x="179832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1</a:t>
            </a:r>
            <a:endParaRPr lang="en-US" sz="950" dirty="0"/>
          </a:p>
        </p:txBody>
      </p:sp>
      <p:sp>
        <p:nvSpPr>
          <p:cNvPr id="19" name="Text 17"/>
          <p:cNvSpPr/>
          <p:nvPr/>
        </p:nvSpPr>
        <p:spPr>
          <a:xfrm>
            <a:off x="82296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Nạp tài liệu</a:t>
            </a:r>
            <a:endParaRPr lang="en-US" sz="950" dirty="0"/>
          </a:p>
        </p:txBody>
      </p:sp>
      <p:sp>
        <p:nvSpPr>
          <p:cNvPr id="20" name="Text 18"/>
          <p:cNvSpPr/>
          <p:nvPr/>
        </p:nvSpPr>
        <p:spPr>
          <a:xfrm>
            <a:off x="82296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Quản trị viên đưa tài liệu PDF/Web dự án vào CRM qua AITrainingPanel.</a:t>
            </a:r>
            <a:endParaRPr lang="en-US" sz="800" dirty="0"/>
          </a:p>
        </p:txBody>
      </p:sp>
      <p:sp>
        <p:nvSpPr>
          <p:cNvPr id="21" name="Shape 19"/>
          <p:cNvSpPr/>
          <p:nvPr/>
        </p:nvSpPr>
        <p:spPr>
          <a:xfrm>
            <a:off x="3505200" y="1371600"/>
            <a:ext cx="2499360" cy="3017520"/>
          </a:xfrm>
          <a:prstGeom prst="roundRect">
            <a:avLst>
              <a:gd name="adj" fmla="val 2195"/>
            </a:avLst>
          </a:prstGeom>
          <a:solidFill>
            <a:srgbClr val="FFFFFF"/>
          </a:solidFill>
          <a:ln w="12700">
            <a:solidFill>
              <a:srgbClr val="E2E8F0"/>
            </a:solidFill>
            <a:prstDash val="solid"/>
          </a:ln>
        </p:spPr>
      </p:sp>
      <p:sp>
        <p:nvSpPr>
          <p:cNvPr id="22" name="Shape 20"/>
          <p:cNvSpPr/>
          <p:nvPr/>
        </p:nvSpPr>
        <p:spPr>
          <a:xfrm>
            <a:off x="6004560" y="1737360"/>
            <a:ext cx="274320" cy="0"/>
          </a:xfrm>
          <a:prstGeom prst="line">
            <a:avLst/>
          </a:prstGeom>
          <a:noFill/>
          <a:ln w="19050">
            <a:solidFill>
              <a:srgbClr val="BD1D2D"/>
            </a:solidFill>
            <a:prstDash val="dash"/>
          </a:ln>
        </p:spPr>
      </p:sp>
      <p:sp>
        <p:nvSpPr>
          <p:cNvPr id="23" name="Shape 21"/>
          <p:cNvSpPr/>
          <p:nvPr/>
        </p:nvSpPr>
        <p:spPr>
          <a:xfrm>
            <a:off x="4572000" y="1554480"/>
            <a:ext cx="365760" cy="365760"/>
          </a:xfrm>
          <a:prstGeom prst="ellipse">
            <a:avLst/>
          </a:prstGeom>
          <a:solidFill>
            <a:srgbClr val="BD1D2D"/>
          </a:solidFill>
          <a:ln w="19050">
            <a:solidFill>
              <a:srgbClr val="FFFFFF"/>
            </a:solidFill>
            <a:prstDash val="solid"/>
          </a:ln>
        </p:spPr>
      </p:sp>
      <p:sp>
        <p:nvSpPr>
          <p:cNvPr id="24" name="Text 22"/>
          <p:cNvSpPr/>
          <p:nvPr/>
        </p:nvSpPr>
        <p:spPr>
          <a:xfrm>
            <a:off x="457200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2</a:t>
            </a:r>
            <a:endParaRPr lang="en-US" sz="950" dirty="0"/>
          </a:p>
        </p:txBody>
      </p:sp>
      <p:sp>
        <p:nvSpPr>
          <p:cNvPr id="25" name="Text 23"/>
          <p:cNvSpPr/>
          <p:nvPr/>
        </p:nvSpPr>
        <p:spPr>
          <a:xfrm>
            <a:off x="359664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Chunking &amp; Vector</a:t>
            </a:r>
            <a:endParaRPr lang="en-US" sz="950" dirty="0"/>
          </a:p>
        </p:txBody>
      </p:sp>
      <p:sp>
        <p:nvSpPr>
          <p:cNvPr id="26" name="Text 24"/>
          <p:cNvSpPr/>
          <p:nvPr/>
        </p:nvSpPr>
        <p:spPr>
          <a:xfrm>
            <a:off x="359664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Tách câu theo dấu chấm câu, dùng gemini-embedding-001 sinh vector 768 chiều.</a:t>
            </a:r>
            <a:endParaRPr lang="en-US" sz="800" dirty="0"/>
          </a:p>
        </p:txBody>
      </p:sp>
      <p:sp>
        <p:nvSpPr>
          <p:cNvPr id="27" name="Shape 25"/>
          <p:cNvSpPr/>
          <p:nvPr/>
        </p:nvSpPr>
        <p:spPr>
          <a:xfrm>
            <a:off x="6278880" y="1371600"/>
            <a:ext cx="2499360" cy="3017520"/>
          </a:xfrm>
          <a:prstGeom prst="roundRect">
            <a:avLst>
              <a:gd name="adj" fmla="val 2195"/>
            </a:avLst>
          </a:prstGeom>
          <a:solidFill>
            <a:srgbClr val="FFFFFF"/>
          </a:solidFill>
          <a:ln w="12700">
            <a:solidFill>
              <a:srgbClr val="E2E8F0"/>
            </a:solidFill>
            <a:prstDash val="solid"/>
          </a:ln>
        </p:spPr>
      </p:sp>
      <p:sp>
        <p:nvSpPr>
          <p:cNvPr id="28" name="Shape 26"/>
          <p:cNvSpPr/>
          <p:nvPr/>
        </p:nvSpPr>
        <p:spPr>
          <a:xfrm>
            <a:off x="7345680" y="1554480"/>
            <a:ext cx="365760" cy="365760"/>
          </a:xfrm>
          <a:prstGeom prst="ellipse">
            <a:avLst/>
          </a:prstGeom>
          <a:solidFill>
            <a:srgbClr val="BD1D2D"/>
          </a:solidFill>
          <a:ln w="19050">
            <a:solidFill>
              <a:srgbClr val="FFFFFF"/>
            </a:solidFill>
            <a:prstDash val="solid"/>
          </a:ln>
        </p:spPr>
      </p:sp>
      <p:sp>
        <p:nvSpPr>
          <p:cNvPr id="29" name="Text 27"/>
          <p:cNvSpPr/>
          <p:nvPr/>
        </p:nvSpPr>
        <p:spPr>
          <a:xfrm>
            <a:off x="734568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3</a:t>
            </a:r>
            <a:endParaRPr lang="en-US" sz="950" dirty="0"/>
          </a:p>
        </p:txBody>
      </p:sp>
      <p:sp>
        <p:nvSpPr>
          <p:cNvPr id="30" name="Text 28"/>
          <p:cNvSpPr/>
          <p:nvPr/>
        </p:nvSpPr>
        <p:spPr>
          <a:xfrm>
            <a:off x="637032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Bộ đệm Cache CSDL</a:t>
            </a:r>
            <a:endParaRPr lang="en-US" sz="950" dirty="0"/>
          </a:p>
        </p:txBody>
      </p:sp>
      <p:sp>
        <p:nvSpPr>
          <p:cNvPr id="31" name="Text 29"/>
          <p:cNvSpPr/>
          <p:nvPr/>
        </p:nvSpPr>
        <p:spPr>
          <a:xfrm>
            <a:off x="637032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Lưu trữ vector và text tương ứng vào ai_vector_cache để truy xuất chớp mắt.</a:t>
            </a:r>
            <a:endParaRPr lang="en-US" sz="80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31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AI RAG</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Chỉ Số Bộ Đệm Vector Embeddings Cache</a:t>
            </a:r>
            <a:endParaRPr lang="en-US" sz="1900" dirty="0"/>
          </a:p>
        </p:txBody>
      </p:sp>
      <p:sp>
        <p:nvSpPr>
          <p:cNvPr id="15" name="Shape 13"/>
          <p:cNvSpPr/>
          <p:nvPr/>
        </p:nvSpPr>
        <p:spPr>
          <a:xfrm>
            <a:off x="731520" y="1280160"/>
            <a:ext cx="3057754" cy="3200400"/>
          </a:xfrm>
          <a:prstGeom prst="roundRect">
            <a:avLst>
              <a:gd name="adj" fmla="val 1794"/>
            </a:avLst>
          </a:prstGeom>
          <a:solidFill>
            <a:srgbClr val="FFFFFF"/>
          </a:solidFill>
          <a:ln w="25400">
            <a:solidFill>
              <a:srgbClr val="BD1D2D"/>
            </a:solidFill>
            <a:prstDash val="solid"/>
          </a:ln>
        </p:spPr>
      </p:sp>
      <p:sp>
        <p:nvSpPr>
          <p:cNvPr id="16" name="Text 14"/>
          <p:cNvSpPr/>
          <p:nvPr/>
        </p:nvSpPr>
        <p:spPr>
          <a:xfrm>
            <a:off x="868680" y="1554480"/>
            <a:ext cx="2783434" cy="731520"/>
          </a:xfrm>
          <a:prstGeom prst="rect">
            <a:avLst/>
          </a:prstGeom>
          <a:noFill/>
          <a:ln/>
        </p:spPr>
        <p:txBody>
          <a:bodyPr wrap="square" rtlCol="0" anchor="ctr"/>
          <a:lstStyle/>
          <a:p>
            <a:pPr algn="ctr" indent="0" marL="0">
              <a:buNone/>
            </a:pPr>
            <a:r>
              <a:rPr lang="en-US" sz="3400" b="1" dirty="0">
                <a:solidFill>
                  <a:srgbClr val="BD1D2D"/>
                </a:solidFill>
                <a:latin typeface="Segoe UI" pitchFamily="34" charset="0"/>
                <a:ea typeface="Segoe UI" pitchFamily="34" charset="-122"/>
                <a:cs typeface="Segoe UI" pitchFamily="34" charset="-120"/>
              </a:rPr>
              <a:t>90 %</a:t>
            </a:r>
            <a:endParaRPr lang="en-US" sz="3400" dirty="0"/>
          </a:p>
        </p:txBody>
      </p:sp>
      <p:sp>
        <p:nvSpPr>
          <p:cNvPr id="17" name="Text 15"/>
          <p:cNvSpPr/>
          <p:nvPr/>
        </p:nvSpPr>
        <p:spPr>
          <a:xfrm>
            <a:off x="868680" y="2377440"/>
            <a:ext cx="2783434"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TỶ LỆ HIT CACHE CSDL</a:t>
            </a:r>
            <a:endParaRPr lang="en-US" sz="950" dirty="0"/>
          </a:p>
        </p:txBody>
      </p:sp>
      <p:sp>
        <p:nvSpPr>
          <p:cNvPr id="18" name="Text 16"/>
          <p:cNvSpPr/>
          <p:nvPr/>
        </p:nvSpPr>
        <p:spPr>
          <a:xfrm>
            <a:off x="868680" y="2743200"/>
            <a:ext cx="2783434" cy="1554480"/>
          </a:xfrm>
          <a:prstGeom prst="rect">
            <a:avLst/>
          </a:prstGeom>
          <a:noFill/>
          <a:ln/>
        </p:spPr>
        <p:txBody>
          <a:bodyPr wrap="square" rtlCol="0" anchor="t"/>
          <a:lstStyle/>
          <a:p>
            <a:pPr algn="ctr" indent="0" marL="0">
              <a:lnSpc>
                <a:spcPts val="1200"/>
              </a:lnSpc>
              <a:buNone/>
            </a:pPr>
            <a:r>
              <a:rPr lang="en-US" sz="850" dirty="0">
                <a:solidFill>
                  <a:srgbClr val="475569"/>
                </a:solidFill>
                <a:latin typeface="Segoe UI" pitchFamily="34" charset="0"/>
                <a:ea typeface="Segoe UI" pitchFamily="34" charset="-122"/>
                <a:cs typeface="Segoe UI" pitchFamily="34" charset="-120"/>
              </a:rPr>
              <a:t>Tính mã băm MD5 cho chuỗi văn bản và đối soát trước trong bảng ai_vector_cache. Giảm 90% chi phí gọi API ngoài.</a:t>
            </a:r>
            <a:endParaRPr lang="en-US" sz="850" dirty="0"/>
          </a:p>
        </p:txBody>
      </p:sp>
      <p:sp>
        <p:nvSpPr>
          <p:cNvPr id="19" name="Shape 17"/>
          <p:cNvSpPr/>
          <p:nvPr/>
        </p:nvSpPr>
        <p:spPr>
          <a:xfrm>
            <a:off x="4111142" y="1280160"/>
            <a:ext cx="4667098" cy="3200400"/>
          </a:xfrm>
          <a:prstGeom prst="roundRect">
            <a:avLst>
              <a:gd name="adj" fmla="val 1429"/>
            </a:avLst>
          </a:prstGeom>
          <a:solidFill>
            <a:srgbClr val="FFFFFF"/>
          </a:solidFill>
          <a:ln w="12700">
            <a:solidFill>
              <a:srgbClr val="E2E8F0"/>
            </a:solidFill>
            <a:prstDash val="solid"/>
          </a:ln>
        </p:spPr>
      </p:sp>
      <p:sp>
        <p:nvSpPr>
          <p:cNvPr id="20" name="Text 18"/>
          <p:cNvSpPr/>
          <p:nvPr/>
        </p:nvSpPr>
        <p:spPr>
          <a:xfrm>
            <a:off x="4294022" y="1417320"/>
            <a:ext cx="4301338"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ĐẶC TÍNH CẤU TRÚC VECTOR</a:t>
            </a:r>
            <a:endParaRPr lang="en-US" sz="950" dirty="0"/>
          </a:p>
        </p:txBody>
      </p:sp>
      <p:sp>
        <p:nvSpPr>
          <p:cNvPr id="21" name="Text 19"/>
          <p:cNvSpPr/>
          <p:nvPr/>
        </p:nvSpPr>
        <p:spPr>
          <a:xfrm>
            <a:off x="4294022" y="1709928"/>
            <a:ext cx="4301338" cy="263347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Sử dụng vector 768 chiều phản ánh ngữ nghĩa chính xác.</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Thực hiện đối khớp Cosine Similarity trực tiếp bằng hàm PHP với độ trễ &lt;5ms.</a:t>
            </a:r>
            <a:endParaRPr lang="en-US" sz="920" dirty="0"/>
          </a:p>
        </p:txBody>
      </p:sp>
      <p:sp>
        <p:nvSpPr>
          <p:cNvPr id="22" name="Text 2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32 / 60</a:t>
            </a:r>
            <a:endParaRPr lang="en-US" sz="850" dirty="0"/>
          </a:p>
        </p:txBody>
      </p:sp>
      <p:sp>
        <p:nvSpPr>
          <p:cNvPr id="23" name="Text 2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AI RAG</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Luồng Truy Xuất Ngữ Cảnh Tri Thức AI RAG</a:t>
            </a:r>
            <a:endParaRPr lang="en-US" sz="1900" dirty="0"/>
          </a:p>
        </p:txBody>
      </p:sp>
      <p:sp>
        <p:nvSpPr>
          <p:cNvPr id="15" name="Shape 13"/>
          <p:cNvSpPr/>
          <p:nvPr/>
        </p:nvSpPr>
        <p:spPr>
          <a:xfrm>
            <a:off x="731520" y="1645920"/>
            <a:ext cx="2286000" cy="2286000"/>
          </a:xfrm>
          <a:prstGeom prst="roundRect">
            <a:avLst>
              <a:gd name="adj" fmla="val 2000"/>
            </a:avLst>
          </a:prstGeom>
          <a:solidFill>
            <a:srgbClr val="FFFFFF"/>
          </a:solidFill>
          <a:ln w="12700">
            <a:solidFill>
              <a:srgbClr val="E2E8F0"/>
            </a:solidFill>
            <a:prstDash val="solid"/>
          </a:ln>
        </p:spPr>
      </p:sp>
      <p:sp>
        <p:nvSpPr>
          <p:cNvPr id="16" name="Shape 14"/>
          <p:cNvSpPr/>
          <p:nvPr/>
        </p:nvSpPr>
        <p:spPr>
          <a:xfrm>
            <a:off x="868680" y="1783080"/>
            <a:ext cx="320040" cy="228600"/>
          </a:xfrm>
          <a:prstGeom prst="roundRect">
            <a:avLst>
              <a:gd name="adj" fmla="val 200000"/>
            </a:avLst>
          </a:prstGeom>
          <a:solidFill>
            <a:srgbClr val="FEE2E2"/>
          </a:solidFill>
          <a:ln/>
        </p:spPr>
      </p:sp>
      <p:sp>
        <p:nvSpPr>
          <p:cNvPr id="17" name="Text 15"/>
          <p:cNvSpPr/>
          <p:nvPr/>
        </p:nvSpPr>
        <p:spPr>
          <a:xfrm>
            <a:off x="86868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1</a:t>
            </a:r>
            <a:endParaRPr lang="en-US" sz="900" dirty="0"/>
          </a:p>
        </p:txBody>
      </p:sp>
      <p:sp>
        <p:nvSpPr>
          <p:cNvPr id="18" name="Text 16"/>
          <p:cNvSpPr/>
          <p:nvPr/>
        </p:nvSpPr>
        <p:spPr>
          <a:xfrm>
            <a:off x="128016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Câu hỏi mới</a:t>
            </a:r>
            <a:endParaRPr lang="en-US" sz="1000" dirty="0"/>
          </a:p>
        </p:txBody>
      </p:sp>
      <p:sp>
        <p:nvSpPr>
          <p:cNvPr id="19" name="Text 17"/>
          <p:cNvSpPr/>
          <p:nvPr/>
        </p:nvSpPr>
        <p:spPr>
          <a:xfrm>
            <a:off x="86868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Người dùng nhập câu hỏi hoặc ghi chú lead mới đổ về hệ thống.</a:t>
            </a:r>
            <a:endParaRPr lang="en-US" sz="820" dirty="0"/>
          </a:p>
        </p:txBody>
      </p:sp>
      <p:sp>
        <p:nvSpPr>
          <p:cNvPr id="20" name="Shape 18"/>
          <p:cNvSpPr/>
          <p:nvPr/>
        </p:nvSpPr>
        <p:spPr>
          <a:xfrm>
            <a:off x="3054096" y="2697480"/>
            <a:ext cx="109728" cy="182880"/>
          </a:xfrm>
          <a:prstGeom prst="rightArrow">
            <a:avLst/>
          </a:prstGeom>
          <a:solidFill>
            <a:srgbClr val="94A3B8"/>
          </a:solidFill>
          <a:ln w="6350">
            <a:solidFill>
              <a:srgbClr val="E2E8F0"/>
            </a:solidFill>
            <a:prstDash val="solid"/>
          </a:ln>
        </p:spPr>
      </p:sp>
      <p:sp>
        <p:nvSpPr>
          <p:cNvPr id="21" name="Shape 19"/>
          <p:cNvSpPr/>
          <p:nvPr/>
        </p:nvSpPr>
        <p:spPr>
          <a:xfrm>
            <a:off x="3337560" y="1645920"/>
            <a:ext cx="2286000" cy="2286000"/>
          </a:xfrm>
          <a:prstGeom prst="roundRect">
            <a:avLst>
              <a:gd name="adj" fmla="val 2000"/>
            </a:avLst>
          </a:prstGeom>
          <a:solidFill>
            <a:srgbClr val="FFFFFF"/>
          </a:solidFill>
          <a:ln w="12700">
            <a:solidFill>
              <a:srgbClr val="E2E8F0"/>
            </a:solidFill>
            <a:prstDash val="solid"/>
          </a:ln>
        </p:spPr>
      </p:sp>
      <p:sp>
        <p:nvSpPr>
          <p:cNvPr id="22" name="Shape 20"/>
          <p:cNvSpPr/>
          <p:nvPr/>
        </p:nvSpPr>
        <p:spPr>
          <a:xfrm>
            <a:off x="3474720" y="1783080"/>
            <a:ext cx="320040" cy="228600"/>
          </a:xfrm>
          <a:prstGeom prst="roundRect">
            <a:avLst>
              <a:gd name="adj" fmla="val 200000"/>
            </a:avLst>
          </a:prstGeom>
          <a:solidFill>
            <a:srgbClr val="FEE2E2"/>
          </a:solidFill>
          <a:ln/>
        </p:spPr>
      </p:sp>
      <p:sp>
        <p:nvSpPr>
          <p:cNvPr id="23" name="Text 21"/>
          <p:cNvSpPr/>
          <p:nvPr/>
        </p:nvSpPr>
        <p:spPr>
          <a:xfrm>
            <a:off x="347472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2</a:t>
            </a:r>
            <a:endParaRPr lang="en-US" sz="900" dirty="0"/>
          </a:p>
        </p:txBody>
      </p:sp>
      <p:sp>
        <p:nvSpPr>
          <p:cNvPr id="24" name="Text 22"/>
          <p:cNvSpPr/>
          <p:nvPr/>
        </p:nvSpPr>
        <p:spPr>
          <a:xfrm>
            <a:off x="388620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Cosine Match</a:t>
            </a:r>
            <a:endParaRPr lang="en-US" sz="1000" dirty="0"/>
          </a:p>
        </p:txBody>
      </p:sp>
      <p:sp>
        <p:nvSpPr>
          <p:cNvPr id="25" name="Text 23"/>
          <p:cNvSpPr/>
          <p:nvPr/>
        </p:nvSpPr>
        <p:spPr>
          <a:xfrm>
            <a:off x="347472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Đối soát tương đồng ngữ nghĩa trong PHP để tìm 3 đoạn tri thức phù hợp nhất.</a:t>
            </a:r>
            <a:endParaRPr lang="en-US" sz="820" dirty="0"/>
          </a:p>
        </p:txBody>
      </p:sp>
      <p:sp>
        <p:nvSpPr>
          <p:cNvPr id="26" name="Shape 24"/>
          <p:cNvSpPr/>
          <p:nvPr/>
        </p:nvSpPr>
        <p:spPr>
          <a:xfrm>
            <a:off x="5660136" y="2697480"/>
            <a:ext cx="109728" cy="182880"/>
          </a:xfrm>
          <a:prstGeom prst="rightArrow">
            <a:avLst/>
          </a:prstGeom>
          <a:solidFill>
            <a:srgbClr val="94A3B8"/>
          </a:solidFill>
          <a:ln w="6350">
            <a:solidFill>
              <a:srgbClr val="E2E8F0"/>
            </a:solidFill>
            <a:prstDash val="solid"/>
          </a:ln>
        </p:spPr>
      </p:sp>
      <p:sp>
        <p:nvSpPr>
          <p:cNvPr id="27" name="Shape 25"/>
          <p:cNvSpPr/>
          <p:nvPr/>
        </p:nvSpPr>
        <p:spPr>
          <a:xfrm>
            <a:off x="5943600" y="1645920"/>
            <a:ext cx="2286000" cy="2286000"/>
          </a:xfrm>
          <a:prstGeom prst="roundRect">
            <a:avLst>
              <a:gd name="adj" fmla="val 2000"/>
            </a:avLst>
          </a:prstGeom>
          <a:solidFill>
            <a:srgbClr val="FFFFFF"/>
          </a:solidFill>
          <a:ln w="12700">
            <a:solidFill>
              <a:srgbClr val="E2E8F0"/>
            </a:solidFill>
            <a:prstDash val="solid"/>
          </a:ln>
        </p:spPr>
      </p:sp>
      <p:sp>
        <p:nvSpPr>
          <p:cNvPr id="28" name="Shape 26"/>
          <p:cNvSpPr/>
          <p:nvPr/>
        </p:nvSpPr>
        <p:spPr>
          <a:xfrm>
            <a:off x="6080760" y="1783080"/>
            <a:ext cx="320040" cy="228600"/>
          </a:xfrm>
          <a:prstGeom prst="roundRect">
            <a:avLst>
              <a:gd name="adj" fmla="val 200000"/>
            </a:avLst>
          </a:prstGeom>
          <a:solidFill>
            <a:srgbClr val="FEE2E2"/>
          </a:solidFill>
          <a:ln/>
        </p:spPr>
      </p:sp>
      <p:sp>
        <p:nvSpPr>
          <p:cNvPr id="29" name="Text 27"/>
          <p:cNvSpPr/>
          <p:nvPr/>
        </p:nvSpPr>
        <p:spPr>
          <a:xfrm>
            <a:off x="608076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3</a:t>
            </a:r>
            <a:endParaRPr lang="en-US" sz="900" dirty="0"/>
          </a:p>
        </p:txBody>
      </p:sp>
      <p:sp>
        <p:nvSpPr>
          <p:cNvPr id="30" name="Text 28"/>
          <p:cNvSpPr/>
          <p:nvPr/>
        </p:nvSpPr>
        <p:spPr>
          <a:xfrm>
            <a:off x="649224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LLM Answer</a:t>
            </a:r>
            <a:endParaRPr lang="en-US" sz="1000" dirty="0"/>
          </a:p>
        </p:txBody>
      </p:sp>
      <p:sp>
        <p:nvSpPr>
          <p:cNvPr id="31" name="Text 29"/>
          <p:cNvSpPr/>
          <p:nvPr/>
        </p:nvSpPr>
        <p:spPr>
          <a:xfrm>
            <a:off x="608076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Nhúng tri thức làm ngữ cảnh và gửi Gemini tạo câu trả lời chuẩn xác.</a:t>
            </a:r>
            <a:endParaRPr lang="en-US" sz="82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33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AI RAG</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Tìm Kiếm Ngữ Nghĩa vs Từ Khóa Truyền Thống</a:t>
            </a:r>
            <a:endParaRPr lang="en-US" sz="1900" dirty="0"/>
          </a:p>
        </p:txBody>
      </p:sp>
      <p:sp>
        <p:nvSpPr>
          <p:cNvPr id="15" name="Shape 13"/>
          <p:cNvSpPr/>
          <p:nvPr/>
        </p:nvSpPr>
        <p:spPr>
          <a:xfrm>
            <a:off x="731520" y="1280160"/>
            <a:ext cx="3840480" cy="3200400"/>
          </a:xfrm>
          <a:prstGeom prst="roundRect">
            <a:avLst>
              <a:gd name="adj" fmla="val 1714"/>
            </a:avLst>
          </a:prstGeom>
          <a:solidFill>
            <a:srgbClr val="FFFFFF"/>
          </a:solidFill>
          <a:ln w="22860">
            <a:solidFill>
              <a:srgbClr val="BD1D2D"/>
            </a:solidFill>
            <a:prstDash val="solid"/>
          </a:ln>
        </p:spPr>
      </p:sp>
      <p:sp>
        <p:nvSpPr>
          <p:cNvPr id="16" name="Text 14"/>
          <p:cNvSpPr/>
          <p:nvPr/>
        </p:nvSpPr>
        <p:spPr>
          <a:xfrm>
            <a:off x="914400" y="1417320"/>
            <a:ext cx="3474720" cy="274320"/>
          </a:xfrm>
          <a:prstGeom prst="rect">
            <a:avLst/>
          </a:prstGeom>
          <a:noFill/>
          <a:ln/>
        </p:spPr>
        <p:txBody>
          <a:bodyPr wrap="square" rtlCol="0" anchor="ctr"/>
          <a:lstStyle/>
          <a:p>
            <a:pPr indent="0" marL="0">
              <a:buNone/>
            </a:pPr>
            <a:r>
              <a:rPr lang="en-US" sz="950" b="1" dirty="0">
                <a:solidFill>
                  <a:srgbClr val="BD1D2D"/>
                </a:solidFill>
                <a:latin typeface="Segoe UI" pitchFamily="34" charset="0"/>
                <a:ea typeface="Segoe UI" pitchFamily="34" charset="-122"/>
                <a:cs typeface="Segoe UI" pitchFamily="34" charset="-120"/>
              </a:rPr>
              <a:t>TÌM KIẾM TỪ KHÓA TRUYỀN THỐNG</a:t>
            </a:r>
            <a:endParaRPr lang="en-US" sz="950" dirty="0"/>
          </a:p>
        </p:txBody>
      </p:sp>
      <p:sp>
        <p:nvSpPr>
          <p:cNvPr id="17" name="Text 15"/>
          <p:cNvSpPr/>
          <p:nvPr/>
        </p:nvSpPr>
        <p:spPr>
          <a:xfrm>
            <a:off x="914400" y="1737360"/>
            <a:ext cx="3474720" cy="2560320"/>
          </a:xfrm>
          <a:prstGeom prst="rect">
            <a:avLst/>
          </a:prstGeom>
          <a:noFill/>
          <a:ln/>
        </p:spPr>
        <p:txBody>
          <a:bodyPr wrap="square" rtlCol="0" anchor="t"/>
          <a:lstStyle/>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Khớp ký tự chính xác. Bỏ sót từ đồng nghĩa (ví dụ: chung cư vs căn hộ).</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Sai lệch khi người dùng gõ sai chính tả nhẹ.</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Trả về kết quả trống rỗng khi không trùng từ khóa.</a:t>
            </a:r>
            <a:endParaRPr lang="en-US" sz="900" dirty="0"/>
          </a:p>
        </p:txBody>
      </p:sp>
      <p:sp>
        <p:nvSpPr>
          <p:cNvPr id="18" name="Shape 16"/>
          <p:cNvSpPr/>
          <p:nvPr/>
        </p:nvSpPr>
        <p:spPr>
          <a:xfrm>
            <a:off x="4937760" y="1280160"/>
            <a:ext cx="3840480" cy="3200400"/>
          </a:xfrm>
          <a:prstGeom prst="roundRect">
            <a:avLst>
              <a:gd name="adj" fmla="val 1714"/>
            </a:avLst>
          </a:prstGeom>
          <a:solidFill>
            <a:srgbClr val="FFFFFF"/>
          </a:solidFill>
          <a:ln w="22860">
            <a:solidFill>
              <a:srgbClr val="059669"/>
            </a:solidFill>
            <a:prstDash val="solid"/>
          </a:ln>
        </p:spPr>
      </p:sp>
      <p:sp>
        <p:nvSpPr>
          <p:cNvPr id="19" name="Text 17"/>
          <p:cNvSpPr/>
          <p:nvPr/>
        </p:nvSpPr>
        <p:spPr>
          <a:xfrm>
            <a:off x="5120640" y="1417320"/>
            <a:ext cx="3474720" cy="274320"/>
          </a:xfrm>
          <a:prstGeom prst="rect">
            <a:avLst/>
          </a:prstGeom>
          <a:noFill/>
          <a:ln/>
        </p:spPr>
        <p:txBody>
          <a:bodyPr wrap="square" rtlCol="0" anchor="ctr"/>
          <a:lstStyle/>
          <a:p>
            <a:pPr indent="0" marL="0">
              <a:buNone/>
            </a:pPr>
            <a:r>
              <a:rPr lang="en-US" sz="950" b="1" dirty="0">
                <a:solidFill>
                  <a:srgbClr val="059669"/>
                </a:solidFill>
                <a:latin typeface="Segoe UI" pitchFamily="34" charset="0"/>
                <a:ea typeface="Segoe UI" pitchFamily="34" charset="-122"/>
                <a:cs typeface="Segoe UI" pitchFamily="34" charset="-120"/>
              </a:rPr>
              <a:t>TÌM KIẾM NGỮ NGHĨA (VECTOR SEARCH)</a:t>
            </a:r>
            <a:endParaRPr lang="en-US" sz="950" dirty="0"/>
          </a:p>
        </p:txBody>
      </p:sp>
      <p:sp>
        <p:nvSpPr>
          <p:cNvPr id="20" name="Text 18"/>
          <p:cNvSpPr/>
          <p:nvPr/>
        </p:nvSpPr>
        <p:spPr>
          <a:xfrm>
            <a:off x="5120640" y="1737360"/>
            <a:ext cx="3474720" cy="2560320"/>
          </a:xfrm>
          <a:prstGeom prst="rect">
            <a:avLst/>
          </a:prstGeom>
          <a:noFill/>
          <a:ln/>
        </p:spPr>
        <p:txBody>
          <a:bodyPr wrap="square" rtlCol="0" anchor="t"/>
          <a:lstStyle/>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Đối soát khoảng cách vector, hiểu ý nghĩa ẩn sau câu chữ.</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Khắc phục hoàn toàn lỗi viết tắt hoặc viết sai chính tả nhẹ.</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Trích xuất chính xác ngữ cảnh phục vụ LLM sinh câu trả lời.</a:t>
            </a:r>
            <a:endParaRPr lang="en-US" sz="90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34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AI RAG</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Giao Diện Admin Huấn Luyện AI (Training Panel)</a:t>
            </a:r>
            <a:endParaRPr lang="en-US" sz="1900" dirty="0"/>
          </a:p>
        </p:txBody>
      </p:sp>
      <p:sp>
        <p:nvSpPr>
          <p:cNvPr id="15" name="Shape 13"/>
          <p:cNvSpPr/>
          <p:nvPr/>
        </p:nvSpPr>
        <p:spPr>
          <a:xfrm>
            <a:off x="731520" y="1280160"/>
            <a:ext cx="2499360" cy="3291840"/>
          </a:xfrm>
          <a:prstGeom prst="roundRect">
            <a:avLst>
              <a:gd name="adj" fmla="val 1829"/>
            </a:avLst>
          </a:prstGeom>
          <a:solidFill>
            <a:srgbClr val="FFFFFF"/>
          </a:solidFill>
          <a:ln w="12700">
            <a:solidFill>
              <a:srgbClr val="E2E8F0"/>
            </a:solidFill>
            <a:prstDash val="solid"/>
          </a:ln>
        </p:spPr>
      </p:sp>
      <p:sp>
        <p:nvSpPr>
          <p:cNvPr id="16" name="Text 14"/>
          <p:cNvSpPr/>
          <p:nvPr/>
        </p:nvSpPr>
        <p:spPr>
          <a:xfrm>
            <a:off x="91440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TÀI LIỆU ĐẦU VÀO</a:t>
            </a:r>
            <a:endParaRPr lang="en-US" sz="950" dirty="0"/>
          </a:p>
        </p:txBody>
      </p:sp>
      <p:sp>
        <p:nvSpPr>
          <p:cNvPr id="17" name="Text 15"/>
          <p:cNvSpPr/>
          <p:nvPr/>
        </p:nvSpPr>
        <p:spPr>
          <a:xfrm>
            <a:off x="91440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Hỗ trợ upload tệp tri thức PDF, Docx và liên kết website dự án.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Quản lý phân loại tri thức theo dự án và khu vực địa lý.</a:t>
            </a:r>
            <a:endParaRPr lang="en-US" sz="920" dirty="0"/>
          </a:p>
        </p:txBody>
      </p:sp>
      <p:sp>
        <p:nvSpPr>
          <p:cNvPr id="18" name="Shape 16"/>
          <p:cNvSpPr/>
          <p:nvPr/>
        </p:nvSpPr>
        <p:spPr>
          <a:xfrm>
            <a:off x="3505200" y="1280160"/>
            <a:ext cx="2499360" cy="3291840"/>
          </a:xfrm>
          <a:prstGeom prst="roundRect">
            <a:avLst>
              <a:gd name="adj" fmla="val 1829"/>
            </a:avLst>
          </a:prstGeom>
          <a:solidFill>
            <a:srgbClr val="FFFFFF"/>
          </a:solidFill>
          <a:ln w="12700">
            <a:solidFill>
              <a:srgbClr val="E2E8F0"/>
            </a:solidFill>
            <a:prstDash val="solid"/>
          </a:ln>
        </p:spPr>
      </p:sp>
      <p:sp>
        <p:nvSpPr>
          <p:cNvPr id="19" name="Text 17"/>
          <p:cNvSpPr/>
          <p:nvPr/>
        </p:nvSpPr>
        <p:spPr>
          <a:xfrm>
            <a:off x="368808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GIÁM SÁT CHUNKING</a:t>
            </a:r>
            <a:endParaRPr lang="en-US" sz="950" dirty="0"/>
          </a:p>
        </p:txBody>
      </p:sp>
      <p:sp>
        <p:nvSpPr>
          <p:cNvPr id="20" name="Text 18"/>
          <p:cNvSpPr/>
          <p:nvPr/>
        </p:nvSpPr>
        <p:spPr>
          <a:xfrm>
            <a:off x="368808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Chia nhỏ văn bản theo ranh giới câu thông minh để giữ ngữ cảnh.</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In danh sách các đoạn text kèm mã băm MD5.</a:t>
            </a:r>
            <a:endParaRPr lang="en-US" sz="920" dirty="0"/>
          </a:p>
        </p:txBody>
      </p:sp>
      <p:sp>
        <p:nvSpPr>
          <p:cNvPr id="21" name="Shape 19"/>
          <p:cNvSpPr/>
          <p:nvPr/>
        </p:nvSpPr>
        <p:spPr>
          <a:xfrm>
            <a:off x="6278880" y="1280160"/>
            <a:ext cx="2499360" cy="3291840"/>
          </a:xfrm>
          <a:prstGeom prst="roundRect">
            <a:avLst>
              <a:gd name="adj" fmla="val 1829"/>
            </a:avLst>
          </a:prstGeom>
          <a:solidFill>
            <a:srgbClr val="FFFFFF"/>
          </a:solidFill>
          <a:ln w="12700">
            <a:solidFill>
              <a:srgbClr val="E2E8F0"/>
            </a:solidFill>
            <a:prstDash val="solid"/>
          </a:ln>
        </p:spPr>
      </p:sp>
      <p:sp>
        <p:nvSpPr>
          <p:cNvPr id="22" name="Text 20"/>
          <p:cNvSpPr/>
          <p:nvPr/>
        </p:nvSpPr>
        <p:spPr>
          <a:xfrm>
            <a:off x="646176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SANDBOX KIỂM THỬ</a:t>
            </a:r>
            <a:endParaRPr lang="en-US" sz="950" dirty="0"/>
          </a:p>
        </p:txBody>
      </p:sp>
      <p:sp>
        <p:nvSpPr>
          <p:cNvPr id="23" name="Text 21"/>
          <p:cNvSpPr/>
          <p:nvPr/>
        </p:nvSpPr>
        <p:spPr>
          <a:xfrm>
            <a:off x="646176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Cung cấp bảng test trực tuyến, nhập câu hỏi chẩn đoán chớp mắt.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Hiển thị điểm số tương đồng Cosine của các đoạn tri thức.</a:t>
            </a:r>
            <a:endParaRPr lang="en-US" sz="920" dirty="0"/>
          </a:p>
        </p:txBody>
      </p:sp>
      <p:sp>
        <p:nvSpPr>
          <p:cNvPr id="24" name="Text 2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35 / 60</a:t>
            </a:r>
            <a:endParaRPr lang="en-US" sz="850" dirty="0"/>
          </a:p>
        </p:txBody>
      </p:sp>
      <p:sp>
        <p:nvSpPr>
          <p:cNvPr id="25" name="Text 2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AI RAG</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Logic Sàng Lọc Lead Tự Động Bằng AI</a:t>
            </a:r>
            <a:endParaRPr lang="en-US" sz="1900" dirty="0"/>
          </a:p>
        </p:txBody>
      </p:sp>
      <p:sp>
        <p:nvSpPr>
          <p:cNvPr id="15" name="Shape 13"/>
          <p:cNvSpPr/>
          <p:nvPr/>
        </p:nvSpPr>
        <p:spPr>
          <a:xfrm>
            <a:off x="731520" y="1280160"/>
            <a:ext cx="365760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2918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QUYẾT ĐỊNH CỦA AI</a:t>
            </a:r>
            <a:endParaRPr lang="en-US" sz="950" dirty="0"/>
          </a:p>
        </p:txBody>
      </p:sp>
      <p:sp>
        <p:nvSpPr>
          <p:cNvPr id="17" name="Text 15"/>
          <p:cNvSpPr/>
          <p:nvPr/>
        </p:nvSpPr>
        <p:spPr>
          <a:xfrm>
            <a:off x="914400" y="1709928"/>
            <a:ext cx="329184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AI đọc ghi chú tương tác ban đầu của lead.</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Chấm điểm độ tự tin (Confidence Score) từ 0 đến 100%.</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Tự động dán nhãn SPAM hoặc VALID dựa trên tri thức dự án.</a:t>
            </a:r>
            <a:endParaRPr lang="en-US" sz="920" dirty="0"/>
          </a:p>
        </p:txBody>
      </p:sp>
      <p:sp>
        <p:nvSpPr>
          <p:cNvPr id="18" name="Shape 16"/>
          <p:cNvSpPr/>
          <p:nvPr/>
        </p:nvSpPr>
        <p:spPr>
          <a:xfrm>
            <a:off x="4572000" y="1280160"/>
            <a:ext cx="3840480" cy="1554480"/>
          </a:xfrm>
          <a:prstGeom prst="roundRect">
            <a:avLst>
              <a:gd name="adj" fmla="val 4706"/>
            </a:avLst>
          </a:prstGeom>
          <a:solidFill>
            <a:srgbClr val="FFFFFF"/>
          </a:solidFill>
          <a:ln w="12700">
            <a:solidFill>
              <a:srgbClr val="E2E8F0"/>
            </a:solidFill>
            <a:prstDash val="solid"/>
          </a:ln>
        </p:spPr>
      </p:sp>
      <p:sp>
        <p:nvSpPr>
          <p:cNvPr id="19" name="Shape 17"/>
          <p:cNvSpPr/>
          <p:nvPr/>
        </p:nvSpPr>
        <p:spPr>
          <a:xfrm>
            <a:off x="4572000" y="1280160"/>
            <a:ext cx="3840480" cy="274320"/>
          </a:xfrm>
          <a:prstGeom prst="rect">
            <a:avLst/>
          </a:prstGeom>
          <a:solidFill>
            <a:srgbClr val="F8FAFC"/>
          </a:solidFill>
          <a:ln/>
        </p:spPr>
      </p:sp>
      <p:sp>
        <p:nvSpPr>
          <p:cNvPr id="20" name="Shape 18"/>
          <p:cNvSpPr/>
          <p:nvPr/>
        </p:nvSpPr>
        <p:spPr>
          <a:xfrm>
            <a:off x="4709160" y="1371600"/>
            <a:ext cx="91440" cy="91440"/>
          </a:xfrm>
          <a:prstGeom prst="ellipse">
            <a:avLst/>
          </a:prstGeom>
          <a:solidFill>
            <a:srgbClr val="3B82F6"/>
          </a:solidFill>
          <a:ln/>
        </p:spPr>
      </p:sp>
      <p:sp>
        <p:nvSpPr>
          <p:cNvPr id="21" name="Text 19"/>
          <p:cNvSpPr/>
          <p:nvPr/>
        </p:nvSpPr>
        <p:spPr>
          <a:xfrm>
            <a:off x="4846320" y="1280160"/>
            <a:ext cx="3474720" cy="274320"/>
          </a:xfrm>
          <a:prstGeom prst="rect">
            <a:avLst/>
          </a:prstGeom>
          <a:noFill/>
          <a:ln/>
        </p:spPr>
        <p:txBody>
          <a:bodyPr wrap="square" rtlCol="0" anchor="ctr"/>
          <a:lstStyle/>
          <a:p>
            <a:pPr indent="0" marL="0">
              <a:buNone/>
            </a:pPr>
            <a:r>
              <a:rPr lang="en-US" sz="800" b="1" dirty="0">
                <a:solidFill>
                  <a:srgbClr val="475569"/>
                </a:solidFill>
                <a:latin typeface="Segoe UI" pitchFamily="34" charset="0"/>
                <a:ea typeface="Segoe UI" pitchFamily="34" charset="-122"/>
                <a:cs typeface="Segoe UI" pitchFamily="34" charset="-120"/>
              </a:rPr>
              <a:t>TICKET: FLAGGED BY AI</a:t>
            </a:r>
            <a:endParaRPr lang="en-US" sz="800" dirty="0"/>
          </a:p>
        </p:txBody>
      </p:sp>
      <p:sp>
        <p:nvSpPr>
          <p:cNvPr id="22" name="Text 20"/>
          <p:cNvSpPr/>
          <p:nvPr/>
        </p:nvSpPr>
        <p:spPr>
          <a:xfrm>
            <a:off x="4709160" y="1645920"/>
            <a:ext cx="35661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Spam User A</a:t>
            </a:r>
            <a:endParaRPr lang="en-US" sz="1050" dirty="0"/>
          </a:p>
        </p:txBody>
      </p:sp>
      <p:sp>
        <p:nvSpPr>
          <p:cNvPr id="23" name="Text 21"/>
          <p:cNvSpPr/>
          <p:nvPr/>
        </p:nvSpPr>
        <p:spPr>
          <a:xfrm>
            <a:off x="4709160" y="1874520"/>
            <a:ext cx="3566160" cy="18288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0900000000</a:t>
            </a:r>
            <a:endParaRPr lang="en-US" sz="900" dirty="0"/>
          </a:p>
        </p:txBody>
      </p:sp>
      <p:sp>
        <p:nvSpPr>
          <p:cNvPr id="24" name="Shape 22"/>
          <p:cNvSpPr/>
          <p:nvPr/>
        </p:nvSpPr>
        <p:spPr>
          <a:xfrm>
            <a:off x="4709160" y="2148840"/>
            <a:ext cx="822960" cy="201168"/>
          </a:xfrm>
          <a:prstGeom prst="roundRect">
            <a:avLst>
              <a:gd name="adj" fmla="val 227273"/>
            </a:avLst>
          </a:prstGeom>
          <a:solidFill>
            <a:srgbClr val="E0F2FE"/>
          </a:solidFill>
          <a:ln/>
        </p:spPr>
      </p:sp>
      <p:sp>
        <p:nvSpPr>
          <p:cNvPr id="25" name="Text 23"/>
          <p:cNvSpPr/>
          <p:nvPr/>
        </p:nvSpPr>
        <p:spPr>
          <a:xfrm>
            <a:off x="4709160" y="2148840"/>
            <a:ext cx="822960" cy="201168"/>
          </a:xfrm>
          <a:prstGeom prst="rect">
            <a:avLst/>
          </a:prstGeom>
          <a:noFill/>
          <a:ln/>
        </p:spPr>
        <p:txBody>
          <a:bodyPr wrap="square" rtlCol="0" anchor="ctr"/>
          <a:lstStyle/>
          <a:p>
            <a:pPr algn="ctr" indent="0" marL="0">
              <a:buNone/>
            </a:pPr>
            <a:r>
              <a:rPr lang="en-US" sz="750" b="1" dirty="0">
                <a:solidFill>
                  <a:srgbClr val="0369A1"/>
                </a:solidFill>
                <a:latin typeface="Segoe UI" pitchFamily="34" charset="0"/>
                <a:ea typeface="Segoe UI" pitchFamily="34" charset="-122"/>
                <a:cs typeface="Segoe UI" pitchFamily="34" charset="-120"/>
              </a:rPr>
              <a:t>Meta Ads</a:t>
            </a:r>
            <a:endParaRPr lang="en-US" sz="750" dirty="0"/>
          </a:p>
        </p:txBody>
      </p:sp>
      <p:sp>
        <p:nvSpPr>
          <p:cNvPr id="26" name="Shape 24"/>
          <p:cNvSpPr/>
          <p:nvPr/>
        </p:nvSpPr>
        <p:spPr>
          <a:xfrm>
            <a:off x="5623560" y="2148840"/>
            <a:ext cx="731520" cy="201168"/>
          </a:xfrm>
          <a:prstGeom prst="roundRect">
            <a:avLst>
              <a:gd name="adj" fmla="val 227273"/>
            </a:avLst>
          </a:prstGeom>
          <a:solidFill>
            <a:srgbClr val="FEF3C7"/>
          </a:solidFill>
          <a:ln/>
        </p:spPr>
      </p:sp>
      <p:sp>
        <p:nvSpPr>
          <p:cNvPr id="27" name="Text 25"/>
          <p:cNvSpPr/>
          <p:nvPr/>
        </p:nvSpPr>
        <p:spPr>
          <a:xfrm>
            <a:off x="5623560" y="2148840"/>
            <a:ext cx="731520" cy="201168"/>
          </a:xfrm>
          <a:prstGeom prst="rect">
            <a:avLst/>
          </a:prstGeom>
          <a:noFill/>
          <a:ln/>
        </p:spPr>
        <p:txBody>
          <a:bodyPr wrap="square" rtlCol="0" anchor="ctr"/>
          <a:lstStyle/>
          <a:p>
            <a:pPr algn="ctr" indent="0" marL="0">
              <a:buNone/>
            </a:pPr>
            <a:r>
              <a:rPr lang="en-US" sz="750" b="1" dirty="0">
                <a:solidFill>
                  <a:srgbClr val="D97706"/>
                </a:solidFill>
                <a:latin typeface="Segoe UI" pitchFamily="34" charset="0"/>
                <a:ea typeface="Segoe UI" pitchFamily="34" charset="-122"/>
                <a:cs typeface="Segoe UI" pitchFamily="34" charset="-120"/>
              </a:rPr>
              <a:t>SPAM</a:t>
            </a:r>
            <a:endParaRPr lang="en-US" sz="750" dirty="0"/>
          </a:p>
        </p:txBody>
      </p:sp>
      <p:sp>
        <p:nvSpPr>
          <p:cNvPr id="28" name="Shape 26"/>
          <p:cNvSpPr/>
          <p:nvPr/>
        </p:nvSpPr>
        <p:spPr>
          <a:xfrm>
            <a:off x="4572000" y="3017520"/>
            <a:ext cx="3840480" cy="1554480"/>
          </a:xfrm>
          <a:prstGeom prst="roundRect">
            <a:avLst>
              <a:gd name="adj" fmla="val 4706"/>
            </a:avLst>
          </a:prstGeom>
          <a:solidFill>
            <a:srgbClr val="FFFFFF"/>
          </a:solidFill>
          <a:ln w="12700">
            <a:solidFill>
              <a:srgbClr val="E2E8F0"/>
            </a:solidFill>
            <a:prstDash val="solid"/>
          </a:ln>
        </p:spPr>
      </p:sp>
      <p:sp>
        <p:nvSpPr>
          <p:cNvPr id="29" name="Shape 27"/>
          <p:cNvSpPr/>
          <p:nvPr/>
        </p:nvSpPr>
        <p:spPr>
          <a:xfrm>
            <a:off x="4572000" y="3017520"/>
            <a:ext cx="3840480" cy="274320"/>
          </a:xfrm>
          <a:prstGeom prst="rect">
            <a:avLst/>
          </a:prstGeom>
          <a:solidFill>
            <a:srgbClr val="F8FAFC"/>
          </a:solidFill>
          <a:ln/>
        </p:spPr>
      </p:sp>
      <p:sp>
        <p:nvSpPr>
          <p:cNvPr id="30" name="Shape 28"/>
          <p:cNvSpPr/>
          <p:nvPr/>
        </p:nvSpPr>
        <p:spPr>
          <a:xfrm>
            <a:off x="4709160" y="3108960"/>
            <a:ext cx="91440" cy="91440"/>
          </a:xfrm>
          <a:prstGeom prst="ellipse">
            <a:avLst/>
          </a:prstGeom>
          <a:solidFill>
            <a:srgbClr val="3B82F6"/>
          </a:solidFill>
          <a:ln/>
        </p:spPr>
      </p:sp>
      <p:sp>
        <p:nvSpPr>
          <p:cNvPr id="31" name="Text 29"/>
          <p:cNvSpPr/>
          <p:nvPr/>
        </p:nvSpPr>
        <p:spPr>
          <a:xfrm>
            <a:off x="4846320" y="3017520"/>
            <a:ext cx="3474720" cy="274320"/>
          </a:xfrm>
          <a:prstGeom prst="rect">
            <a:avLst/>
          </a:prstGeom>
          <a:noFill/>
          <a:ln/>
        </p:spPr>
        <p:txBody>
          <a:bodyPr wrap="square" rtlCol="0" anchor="ctr"/>
          <a:lstStyle/>
          <a:p>
            <a:pPr indent="0" marL="0">
              <a:buNone/>
            </a:pPr>
            <a:r>
              <a:rPr lang="en-US" sz="800" b="1" dirty="0">
                <a:solidFill>
                  <a:srgbClr val="475569"/>
                </a:solidFill>
                <a:latin typeface="Segoe UI" pitchFamily="34" charset="0"/>
                <a:ea typeface="Segoe UI" pitchFamily="34" charset="-122"/>
                <a:cs typeface="Segoe UI" pitchFamily="34" charset="-120"/>
              </a:rPr>
              <a:t>TICKET: VALID LEAD</a:t>
            </a:r>
            <a:endParaRPr lang="en-US" sz="800" dirty="0"/>
          </a:p>
        </p:txBody>
      </p:sp>
      <p:sp>
        <p:nvSpPr>
          <p:cNvPr id="32" name="Text 30"/>
          <p:cNvSpPr/>
          <p:nvPr/>
        </p:nvSpPr>
        <p:spPr>
          <a:xfrm>
            <a:off x="4709160" y="3383280"/>
            <a:ext cx="3566160" cy="228600"/>
          </a:xfrm>
          <a:prstGeom prst="rect">
            <a:avLst/>
          </a:prstGeom>
          <a:noFill/>
          <a:ln/>
        </p:spPr>
        <p:txBody>
          <a:bodyPr wrap="square" rtlCol="0" anchor="ctr"/>
          <a:lstStyle/>
          <a:p>
            <a:pPr indent="0" marL="0">
              <a:buNone/>
            </a:pPr>
            <a:r>
              <a:rPr lang="en-US" sz="1050" b="1" dirty="0">
                <a:solidFill>
                  <a:srgbClr val="0F172A"/>
                </a:solidFill>
                <a:latin typeface="Segoe UI" pitchFamily="34" charset="0"/>
                <a:ea typeface="Segoe UI" pitchFamily="34" charset="-122"/>
                <a:cs typeface="Segoe UI" pitchFamily="34" charset="-120"/>
              </a:rPr>
              <a:t>Lê Minh Triết</a:t>
            </a:r>
            <a:endParaRPr lang="en-US" sz="1050" dirty="0"/>
          </a:p>
        </p:txBody>
      </p:sp>
      <p:sp>
        <p:nvSpPr>
          <p:cNvPr id="33" name="Text 31"/>
          <p:cNvSpPr/>
          <p:nvPr/>
        </p:nvSpPr>
        <p:spPr>
          <a:xfrm>
            <a:off x="4709160" y="3611880"/>
            <a:ext cx="3566160" cy="182880"/>
          </a:xfrm>
          <a:prstGeom prst="rect">
            <a:avLst/>
          </a:prstGeom>
          <a:noFill/>
          <a:ln/>
        </p:spPr>
        <p:txBody>
          <a:bodyPr wrap="square" rtlCol="0" anchor="ctr"/>
          <a:lstStyle/>
          <a:p>
            <a:pPr indent="0" marL="0">
              <a:buNone/>
            </a:pPr>
            <a:r>
              <a:rPr lang="en-US" sz="900" dirty="0">
                <a:solidFill>
                  <a:srgbClr val="475569"/>
                </a:solidFill>
                <a:latin typeface="Segoe UI" pitchFamily="34" charset="0"/>
                <a:ea typeface="Segoe UI" pitchFamily="34" charset="-122"/>
                <a:cs typeface="Segoe UI" pitchFamily="34" charset="-120"/>
              </a:rPr>
              <a:t>0911222333</a:t>
            </a:r>
            <a:endParaRPr lang="en-US" sz="900" dirty="0"/>
          </a:p>
        </p:txBody>
      </p:sp>
      <p:sp>
        <p:nvSpPr>
          <p:cNvPr id="34" name="Shape 32"/>
          <p:cNvSpPr/>
          <p:nvPr/>
        </p:nvSpPr>
        <p:spPr>
          <a:xfrm>
            <a:off x="4709160" y="3886200"/>
            <a:ext cx="822960" cy="201168"/>
          </a:xfrm>
          <a:prstGeom prst="roundRect">
            <a:avLst>
              <a:gd name="adj" fmla="val 227273"/>
            </a:avLst>
          </a:prstGeom>
          <a:solidFill>
            <a:srgbClr val="E0F2FE"/>
          </a:solidFill>
          <a:ln/>
        </p:spPr>
      </p:sp>
      <p:sp>
        <p:nvSpPr>
          <p:cNvPr id="35" name="Text 33"/>
          <p:cNvSpPr/>
          <p:nvPr/>
        </p:nvSpPr>
        <p:spPr>
          <a:xfrm>
            <a:off x="4709160" y="3886200"/>
            <a:ext cx="822960" cy="201168"/>
          </a:xfrm>
          <a:prstGeom prst="rect">
            <a:avLst/>
          </a:prstGeom>
          <a:noFill/>
          <a:ln/>
        </p:spPr>
        <p:txBody>
          <a:bodyPr wrap="square" rtlCol="0" anchor="ctr"/>
          <a:lstStyle/>
          <a:p>
            <a:pPr algn="ctr" indent="0" marL="0">
              <a:buNone/>
            </a:pPr>
            <a:r>
              <a:rPr lang="en-US" sz="750" b="1" dirty="0">
                <a:solidFill>
                  <a:srgbClr val="0369A1"/>
                </a:solidFill>
                <a:latin typeface="Segoe UI" pitchFamily="34" charset="0"/>
                <a:ea typeface="Segoe UI" pitchFamily="34" charset="-122"/>
                <a:cs typeface="Segoe UI" pitchFamily="34" charset="-120"/>
              </a:rPr>
              <a:t>Google Forms</a:t>
            </a:r>
            <a:endParaRPr lang="en-US" sz="750" dirty="0"/>
          </a:p>
        </p:txBody>
      </p:sp>
      <p:sp>
        <p:nvSpPr>
          <p:cNvPr id="36" name="Shape 34"/>
          <p:cNvSpPr/>
          <p:nvPr/>
        </p:nvSpPr>
        <p:spPr>
          <a:xfrm>
            <a:off x="5623560" y="3886200"/>
            <a:ext cx="731520" cy="201168"/>
          </a:xfrm>
          <a:prstGeom prst="roundRect">
            <a:avLst>
              <a:gd name="adj" fmla="val 227273"/>
            </a:avLst>
          </a:prstGeom>
          <a:solidFill>
            <a:srgbClr val="FEE2E2"/>
          </a:solidFill>
          <a:ln/>
        </p:spPr>
      </p:sp>
      <p:sp>
        <p:nvSpPr>
          <p:cNvPr id="37" name="Text 35"/>
          <p:cNvSpPr/>
          <p:nvPr/>
        </p:nvSpPr>
        <p:spPr>
          <a:xfrm>
            <a:off x="5623560" y="3886200"/>
            <a:ext cx="731520" cy="201168"/>
          </a:xfrm>
          <a:prstGeom prst="rect">
            <a:avLst/>
          </a:prstGeom>
          <a:noFill/>
          <a:ln/>
        </p:spPr>
        <p:txBody>
          <a:bodyPr wrap="square" rtlCol="0" anchor="ctr"/>
          <a:lstStyle/>
          <a:p>
            <a:pPr algn="ctr" indent="0" marL="0">
              <a:buNone/>
            </a:pPr>
            <a:r>
              <a:rPr lang="en-US" sz="750" b="1" dirty="0">
                <a:solidFill>
                  <a:srgbClr val="BD1D2D"/>
                </a:solidFill>
                <a:latin typeface="Segoe UI" pitchFamily="34" charset="0"/>
                <a:ea typeface="Segoe UI" pitchFamily="34" charset="-122"/>
                <a:cs typeface="Segoe UI" pitchFamily="34" charset="-120"/>
              </a:rPr>
              <a:t>VALID</a:t>
            </a:r>
            <a:endParaRPr lang="en-US" sz="750" dirty="0"/>
          </a:p>
        </p:txBody>
      </p:sp>
      <p:sp>
        <p:nvSpPr>
          <p:cNvPr id="38" name="Text 36"/>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36 / 60</a:t>
            </a:r>
            <a:endParaRPr lang="en-US" sz="850" dirty="0"/>
          </a:p>
        </p:txBody>
      </p:sp>
      <p:sp>
        <p:nvSpPr>
          <p:cNvPr id="39" name="Text 37"/>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AI RAG</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Cơ Chế Dự Phòng Lỗi Khi Gọi AI (Retry)</a:t>
            </a:r>
            <a:endParaRPr lang="en-US" sz="1900" dirty="0"/>
          </a:p>
        </p:txBody>
      </p:sp>
      <p:sp>
        <p:nvSpPr>
          <p:cNvPr id="15" name="Shape 13"/>
          <p:cNvSpPr/>
          <p:nvPr/>
        </p:nvSpPr>
        <p:spPr>
          <a:xfrm>
            <a:off x="731520" y="1280160"/>
            <a:ext cx="3886200" cy="1508760"/>
          </a:xfrm>
          <a:prstGeom prst="roundRect">
            <a:avLst>
              <a:gd name="adj" fmla="val 3030"/>
            </a:avLst>
          </a:prstGeom>
          <a:solidFill>
            <a:srgbClr val="FFFFFF"/>
          </a:solidFill>
          <a:ln w="12700">
            <a:solidFill>
              <a:srgbClr val="E2E8F0"/>
            </a:solidFill>
            <a:prstDash val="solid"/>
          </a:ln>
        </p:spPr>
      </p:sp>
      <p:sp>
        <p:nvSpPr>
          <p:cNvPr id="16" name="Text 14"/>
          <p:cNvSpPr/>
          <p:nvPr/>
        </p:nvSpPr>
        <p:spPr>
          <a:xfrm>
            <a:off x="914400" y="1417320"/>
            <a:ext cx="35204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LỖI RATE LIMIT</a:t>
            </a:r>
            <a:endParaRPr lang="en-US" sz="950" dirty="0"/>
          </a:p>
        </p:txBody>
      </p:sp>
      <p:sp>
        <p:nvSpPr>
          <p:cNvPr id="17" name="Text 15"/>
          <p:cNvSpPr/>
          <p:nvPr/>
        </p:nvSpPr>
        <p:spPr>
          <a:xfrm>
            <a:off x="914400" y="1709928"/>
            <a:ext cx="3520440" cy="941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Gặp lỗi 429 khi gọi API quá tải.</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Hệ thống tự động hoãn (backoff) và thử lại sau 2 giây.</a:t>
            </a:r>
            <a:endParaRPr lang="en-US" sz="920" dirty="0"/>
          </a:p>
        </p:txBody>
      </p:sp>
      <p:sp>
        <p:nvSpPr>
          <p:cNvPr id="18" name="Shape 16"/>
          <p:cNvSpPr/>
          <p:nvPr/>
        </p:nvSpPr>
        <p:spPr>
          <a:xfrm>
            <a:off x="4892040" y="1280160"/>
            <a:ext cx="3886200" cy="1508760"/>
          </a:xfrm>
          <a:prstGeom prst="roundRect">
            <a:avLst>
              <a:gd name="adj" fmla="val 3030"/>
            </a:avLst>
          </a:prstGeom>
          <a:solidFill>
            <a:srgbClr val="FFFFFF"/>
          </a:solidFill>
          <a:ln w="12700">
            <a:solidFill>
              <a:srgbClr val="E2E8F0"/>
            </a:solidFill>
            <a:prstDash val="solid"/>
          </a:ln>
        </p:spPr>
      </p:sp>
      <p:sp>
        <p:nvSpPr>
          <p:cNvPr id="19" name="Text 17"/>
          <p:cNvSpPr/>
          <p:nvPr/>
        </p:nvSpPr>
        <p:spPr>
          <a:xfrm>
            <a:off x="5074920" y="1417320"/>
            <a:ext cx="35204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LỖI CẤU TRÚC JSON</a:t>
            </a:r>
            <a:endParaRPr lang="en-US" sz="950" dirty="0"/>
          </a:p>
        </p:txBody>
      </p:sp>
      <p:sp>
        <p:nvSpPr>
          <p:cNvPr id="20" name="Text 18"/>
          <p:cNvSpPr/>
          <p:nvPr/>
        </p:nvSpPr>
        <p:spPr>
          <a:xfrm>
            <a:off x="5074920" y="1709928"/>
            <a:ext cx="3520440" cy="941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Phản hồi từ LLM bị gãy cấu trúc JSON.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Gọi phân tích lại, ép kiểu đầu ra qua JSON Schema.</a:t>
            </a:r>
            <a:endParaRPr lang="en-US" sz="920" dirty="0"/>
          </a:p>
        </p:txBody>
      </p:sp>
      <p:sp>
        <p:nvSpPr>
          <p:cNvPr id="21" name="Shape 19"/>
          <p:cNvSpPr/>
          <p:nvPr/>
        </p:nvSpPr>
        <p:spPr>
          <a:xfrm>
            <a:off x="731520" y="3063240"/>
            <a:ext cx="3886200" cy="1508760"/>
          </a:xfrm>
          <a:prstGeom prst="roundRect">
            <a:avLst>
              <a:gd name="adj" fmla="val 3030"/>
            </a:avLst>
          </a:prstGeom>
          <a:solidFill>
            <a:srgbClr val="FFFFFF"/>
          </a:solidFill>
          <a:ln w="12700">
            <a:solidFill>
              <a:srgbClr val="E2E8F0"/>
            </a:solidFill>
            <a:prstDash val="solid"/>
          </a:ln>
        </p:spPr>
      </p:sp>
      <p:sp>
        <p:nvSpPr>
          <p:cNvPr id="22" name="Text 20"/>
          <p:cNvSpPr/>
          <p:nvPr/>
        </p:nvSpPr>
        <p:spPr>
          <a:xfrm>
            <a:off x="914400" y="3200400"/>
            <a:ext cx="35204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LỖI MẤT MẠNG</a:t>
            </a:r>
            <a:endParaRPr lang="en-US" sz="950" dirty="0"/>
          </a:p>
        </p:txBody>
      </p:sp>
      <p:sp>
        <p:nvSpPr>
          <p:cNvPr id="23" name="Text 21"/>
          <p:cNvSpPr/>
          <p:nvPr/>
        </p:nvSpPr>
        <p:spPr>
          <a:xfrm>
            <a:off x="914400" y="3493008"/>
            <a:ext cx="3520440" cy="941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Đứt kết nối đến server API Gemini.</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Thử lại tối đa 3 lần trước khi đánh dấu lỗi.</a:t>
            </a:r>
            <a:endParaRPr lang="en-US" sz="920" dirty="0"/>
          </a:p>
        </p:txBody>
      </p:sp>
      <p:sp>
        <p:nvSpPr>
          <p:cNvPr id="24" name="Shape 22"/>
          <p:cNvSpPr/>
          <p:nvPr/>
        </p:nvSpPr>
        <p:spPr>
          <a:xfrm>
            <a:off x="4892040" y="3063240"/>
            <a:ext cx="3886200" cy="1508760"/>
          </a:xfrm>
          <a:prstGeom prst="roundRect">
            <a:avLst>
              <a:gd name="adj" fmla="val 3030"/>
            </a:avLst>
          </a:prstGeom>
          <a:solidFill>
            <a:srgbClr val="FFFFFF"/>
          </a:solidFill>
          <a:ln w="12700">
            <a:solidFill>
              <a:srgbClr val="E2E8F0"/>
            </a:solidFill>
            <a:prstDash val="solid"/>
          </a:ln>
        </p:spPr>
      </p:sp>
      <p:sp>
        <p:nvSpPr>
          <p:cNvPr id="25" name="Text 23"/>
          <p:cNvSpPr/>
          <p:nvPr/>
        </p:nvSpPr>
        <p:spPr>
          <a:xfrm>
            <a:off x="5074920" y="3200400"/>
            <a:ext cx="35204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DUYỆT THỦ CÔNG</a:t>
            </a:r>
            <a:endParaRPr lang="en-US" sz="950" dirty="0"/>
          </a:p>
        </p:txBody>
      </p:sp>
      <p:sp>
        <p:nvSpPr>
          <p:cNvPr id="26" name="Text 24"/>
          <p:cNvSpPr/>
          <p:nvPr/>
        </p:nvSpPr>
        <p:spPr>
          <a:xfrm>
            <a:off x="5074920" y="3493008"/>
            <a:ext cx="3520440" cy="941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Nếu thử lại 3 lần vẫn hỏng.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Đẩy lead vào hàng đợi chờ Admin duyệt tay an toàn.</a:t>
            </a:r>
            <a:endParaRPr lang="en-US" sz="920" dirty="0"/>
          </a:p>
        </p:txBody>
      </p:sp>
      <p:sp>
        <p:nvSpPr>
          <p:cNvPr id="27" name="Text 25"/>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37 / 60</a:t>
            </a:r>
            <a:endParaRPr lang="en-US" sz="850" dirty="0"/>
          </a:p>
        </p:txBody>
      </p:sp>
      <p:sp>
        <p:nvSpPr>
          <p:cNvPr id="28" name="Text 26"/>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BD1D2D"/>
        </a:solidFill>
      </p:bgPr>
    </p:bg>
    <p:spTree>
      <p:nvGrpSpPr>
        <p:cNvPr id="1" name=""/>
        <p:cNvGrpSpPr/>
        <p:nvPr/>
      </p:nvGrpSpPr>
      <p:grpSpPr>
        <a:xfrm>
          <a:off x="0" y="0"/>
          <a:ext cx="0" cy="0"/>
          <a:chOff x="0" y="0"/>
          <a:chExt cx="0" cy="0"/>
        </a:xfrm>
      </p:grpSpPr>
      <p:sp>
        <p:nvSpPr>
          <p:cNvPr id="2" name="Text 0"/>
          <p:cNvSpPr/>
          <p:nvPr/>
        </p:nvSpPr>
        <p:spPr>
          <a:xfrm>
            <a:off x="914400" y="914400"/>
            <a:ext cx="7315200" cy="274320"/>
          </a:xfrm>
          <a:prstGeom prst="rect">
            <a:avLst/>
          </a:prstGeom>
          <a:noFill/>
          <a:ln/>
        </p:spPr>
        <p:txBody>
          <a:bodyPr wrap="square" rtlCol="0" anchor="ctr"/>
          <a:lstStyle/>
          <a:p>
            <a:pPr indent="0" marL="0">
              <a:buNone/>
            </a:pPr>
            <a:r>
              <a:rPr lang="en-US" sz="1300" b="1" dirty="0">
                <a:solidFill>
                  <a:srgbClr val="FFC1C1"/>
                </a:solidFill>
                <a:latin typeface="Segoe UI" pitchFamily="34" charset="0"/>
                <a:ea typeface="Segoe UI" pitchFamily="34" charset="-122"/>
                <a:cs typeface="Segoe UI" pitchFamily="34" charset="-120"/>
              </a:rPr>
              <a:t>TRÍ TUỆ RAG</a:t>
            </a:r>
            <a:endParaRPr lang="en-US" sz="1300" dirty="0"/>
          </a:p>
        </p:txBody>
      </p:sp>
      <p:sp>
        <p:nvSpPr>
          <p:cNvPr id="3" name="Text 1"/>
          <p:cNvSpPr/>
          <p:nvPr/>
        </p:nvSpPr>
        <p:spPr>
          <a:xfrm>
            <a:off x="914400" y="1280160"/>
            <a:ext cx="7315200" cy="91440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KẾT LUẬN CHƯƠNG 4: HỆ THỐNG TRÍ TUỆ RAG</a:t>
            </a:r>
            <a:endParaRPr lang="en-US" sz="3000" dirty="0"/>
          </a:p>
        </p:txBody>
      </p:sp>
      <p:sp>
        <p:nvSpPr>
          <p:cNvPr id="4" name="Text 2"/>
          <p:cNvSpPr/>
          <p:nvPr/>
        </p:nvSpPr>
        <p:spPr>
          <a:xfrm>
            <a:off x="914400" y="2377440"/>
            <a:ext cx="7315200" cy="548640"/>
          </a:xfrm>
          <a:prstGeom prst="rect">
            <a:avLst/>
          </a:prstGeom>
          <a:noFill/>
          <a:ln/>
        </p:spPr>
        <p:txBody>
          <a:bodyPr wrap="square" rtlCol="0" anchor="t"/>
          <a:lstStyle/>
          <a:p>
            <a:pPr indent="0" marL="0">
              <a:lnSpc>
                <a:spcPts val="1600"/>
              </a:lnSpc>
              <a:buNone/>
            </a:pPr>
            <a:r>
              <a:rPr lang="en-US" sz="1150" dirty="0">
                <a:solidFill>
                  <a:srgbClr val="F1F5F9"/>
                </a:solidFill>
                <a:latin typeface="Segoe UI" pitchFamily="34" charset="0"/>
                <a:ea typeface="Segoe UI" pitchFamily="34" charset="-122"/>
                <a:cs typeface="Segoe UI" pitchFamily="34" charset="-120"/>
              </a:rPr>
              <a:t>Nạp tri thức tài liệu dự án, số hóa thông tin căn hộ thông qua Vector Embeddings và thuật toán tìm kiếm tương đồng ngữ nghĩa trong PHP.</a:t>
            </a:r>
            <a:endParaRPr lang="en-US" sz="1150" dirty="0"/>
          </a:p>
        </p:txBody>
      </p:sp>
      <p:sp>
        <p:nvSpPr>
          <p:cNvPr id="5" name="Shape 3"/>
          <p:cNvSpPr/>
          <p:nvPr/>
        </p:nvSpPr>
        <p:spPr>
          <a:xfrm>
            <a:off x="914400" y="3017520"/>
            <a:ext cx="2194560" cy="1554480"/>
          </a:xfrm>
          <a:prstGeom prst="roundRect">
            <a:avLst>
              <a:gd name="adj" fmla="val 4706"/>
            </a:avLst>
          </a:prstGeom>
          <a:solidFill>
            <a:srgbClr val="9C1523"/>
          </a:solidFill>
          <a:ln w="12700">
            <a:solidFill>
              <a:srgbClr val="C92A3A"/>
            </a:solidFill>
            <a:prstDash val="solid"/>
          </a:ln>
        </p:spPr>
      </p:sp>
      <p:sp>
        <p:nvSpPr>
          <p:cNvPr id="6" name="Text 4"/>
          <p:cNvSpPr/>
          <p:nvPr/>
        </p:nvSpPr>
        <p:spPr>
          <a:xfrm>
            <a:off x="105156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768 CHIỀU VECTOR</a:t>
            </a:r>
            <a:endParaRPr lang="en-US" sz="950" dirty="0"/>
          </a:p>
        </p:txBody>
      </p:sp>
      <p:sp>
        <p:nvSpPr>
          <p:cNvPr id="7" name="Text 5"/>
          <p:cNvSpPr/>
          <p:nvPr/>
        </p:nvSpPr>
        <p:spPr>
          <a:xfrm>
            <a:off x="105156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Sử dụng gemini-embedding-001 ánh xạ ngữ nghĩa đoạn văn bản 700 ký tự.</a:t>
            </a:r>
            <a:endParaRPr lang="en-US" sz="850" dirty="0"/>
          </a:p>
        </p:txBody>
      </p:sp>
      <p:sp>
        <p:nvSpPr>
          <p:cNvPr id="8" name="Shape 6"/>
          <p:cNvSpPr/>
          <p:nvPr/>
        </p:nvSpPr>
        <p:spPr>
          <a:xfrm>
            <a:off x="3474720" y="3017520"/>
            <a:ext cx="2194560" cy="1554480"/>
          </a:xfrm>
          <a:prstGeom prst="roundRect">
            <a:avLst>
              <a:gd name="adj" fmla="val 4706"/>
            </a:avLst>
          </a:prstGeom>
          <a:solidFill>
            <a:srgbClr val="9C1523"/>
          </a:solidFill>
          <a:ln w="12700">
            <a:solidFill>
              <a:srgbClr val="C92A3A"/>
            </a:solidFill>
            <a:prstDash val="solid"/>
          </a:ln>
        </p:spPr>
      </p:sp>
      <p:sp>
        <p:nvSpPr>
          <p:cNvPr id="9" name="Text 7"/>
          <p:cNvSpPr/>
          <p:nvPr/>
        </p:nvSpPr>
        <p:spPr>
          <a:xfrm>
            <a:off x="361188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COSINE SIMILARITY</a:t>
            </a:r>
            <a:endParaRPr lang="en-US" sz="950" dirty="0"/>
          </a:p>
        </p:txBody>
      </p:sp>
      <p:sp>
        <p:nvSpPr>
          <p:cNvPr id="10" name="Text 8"/>
          <p:cNvSpPr/>
          <p:nvPr/>
        </p:nvSpPr>
        <p:spPr>
          <a:xfrm>
            <a:off x="361188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So khớp ngữ nghĩa chớp mắt &lt;5ms trong PHP, bỏ qua sự phụ thuộc vào Vector DB ngoài.</a:t>
            </a:r>
            <a:endParaRPr lang="en-US" sz="850" dirty="0"/>
          </a:p>
        </p:txBody>
      </p:sp>
      <p:sp>
        <p:nvSpPr>
          <p:cNvPr id="11" name="Shape 9"/>
          <p:cNvSpPr/>
          <p:nvPr/>
        </p:nvSpPr>
        <p:spPr>
          <a:xfrm>
            <a:off x="6035040" y="3017520"/>
            <a:ext cx="2194560" cy="1554480"/>
          </a:xfrm>
          <a:prstGeom prst="roundRect">
            <a:avLst>
              <a:gd name="adj" fmla="val 4706"/>
            </a:avLst>
          </a:prstGeom>
          <a:solidFill>
            <a:srgbClr val="9C1523"/>
          </a:solidFill>
          <a:ln w="12700">
            <a:solidFill>
              <a:srgbClr val="C92A3A"/>
            </a:solidFill>
            <a:prstDash val="solid"/>
          </a:ln>
        </p:spPr>
      </p:sp>
      <p:sp>
        <p:nvSpPr>
          <p:cNvPr id="12" name="Text 10"/>
          <p:cNvSpPr/>
          <p:nvPr/>
        </p:nvSpPr>
        <p:spPr>
          <a:xfrm>
            <a:off x="617220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BỘ ĐỆM MD5 CACHE</a:t>
            </a:r>
            <a:endParaRPr lang="en-US" sz="950" dirty="0"/>
          </a:p>
        </p:txBody>
      </p:sp>
      <p:sp>
        <p:nvSpPr>
          <p:cNvPr id="13" name="Text 11"/>
          <p:cNvSpPr/>
          <p:nvPr/>
        </p:nvSpPr>
        <p:spPr>
          <a:xfrm>
            <a:off x="617220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Tận dụng bảng CSDL ai_vector_cache lưu vết vector, triệt tiêu 90% chi phí gọi API ngoài.</a:t>
            </a:r>
            <a:endParaRPr lang="en-US" sz="850" dirty="0"/>
          </a:p>
        </p:txBody>
      </p:sp>
      <p:sp>
        <p:nvSpPr>
          <p:cNvPr id="14" name="Text 1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38 / 60</a:t>
            </a:r>
            <a:endParaRPr lang="en-US" sz="850" dirty="0"/>
          </a:p>
        </p:txBody>
      </p:sp>
      <p:sp>
        <p:nvSpPr>
          <p:cNvPr id="15" name="Text 1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LIÊN KẾT</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Cấu Trúc Cột Cấu Hình sheet_connections</a:t>
            </a:r>
            <a:endParaRPr lang="en-US" sz="1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8046720" cy="3017520"/>
        </p:xfrm>
        <a:graphic>
          <a:graphicData uri="http://schemas.openxmlformats.org/drawingml/2006/table">
            <a:tbl>
              <a:tblPr/>
              <a:tblGrid>
                <a:gridCol w="2011680"/>
                <a:gridCol w="2011680"/>
                <a:gridCol w="2011680"/>
                <a:gridCol w="2011680"/>
              </a:tblGrid>
              <a:tr h="603504">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TRƯỜNG CẤU HÌNH</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KIỂU DỮ LIỆU</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GIÁ TRỊ VÍ DỤ</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MỤC ĐÍCH SỬ DỤNG</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r>
              <a:tr h="603504">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spreadsheet_id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VARCHAR(128)</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1g3v...Kx4</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Mã định danh duy nhất của Google Sheets</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03504">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sheet_name</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VARCHAR(50)</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'Lead Form'</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Tên cụ thể của thẻ tab cần đồng bộ</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03504">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sync_interval_minutes</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INT(11)</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5</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Chu kỳ thời gian chạy cron quét cập nhật</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03504">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is_active</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TINYINT(1)</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1</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Cờ cho phép bật/tắt tạm thời kết nối đồng bộ</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16" name="Text 13"/>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39 / 60</a:t>
            </a:r>
            <a:endParaRPr lang="en-US" sz="850" dirty="0"/>
          </a:p>
        </p:txBody>
      </p:sp>
      <p:sp>
        <p:nvSpPr>
          <p:cNvPr id="17" name="Text 14"/>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LIÊN KẾT</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Tiếp Nhận Webhook Tức Thời Đầu Vào</a:t>
            </a:r>
            <a:endParaRPr lang="en-US" sz="1900" dirty="0"/>
          </a:p>
        </p:txBody>
      </p:sp>
      <p:sp>
        <p:nvSpPr>
          <p:cNvPr id="15" name="Shape 13"/>
          <p:cNvSpPr/>
          <p:nvPr/>
        </p:nvSpPr>
        <p:spPr>
          <a:xfrm>
            <a:off x="731520" y="1280160"/>
            <a:ext cx="1908810" cy="685800"/>
          </a:xfrm>
          <a:prstGeom prst="roundRect">
            <a:avLst>
              <a:gd name="adj" fmla="val 10667"/>
            </a:avLst>
          </a:prstGeom>
          <a:solidFill>
            <a:srgbClr val="FFFFFF"/>
          </a:solidFill>
          <a:ln w="12700">
            <a:solidFill>
              <a:srgbClr val="E2E8F0"/>
            </a:solidFill>
            <a:prstDash val="solid"/>
          </a:ln>
        </p:spPr>
      </p:sp>
      <p:sp>
        <p:nvSpPr>
          <p:cNvPr id="16" name="Text 14"/>
          <p:cNvSpPr/>
          <p:nvPr/>
        </p:nvSpPr>
        <p:spPr>
          <a:xfrm>
            <a:off x="77724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POST</a:t>
            </a:r>
            <a:endParaRPr lang="en-US" sz="1500" dirty="0"/>
          </a:p>
        </p:txBody>
      </p:sp>
      <p:sp>
        <p:nvSpPr>
          <p:cNvPr id="17" name="Text 15"/>
          <p:cNvSpPr/>
          <p:nvPr/>
        </p:nvSpPr>
        <p:spPr>
          <a:xfrm>
            <a:off x="77724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HTTP METHOD</a:t>
            </a:r>
            <a:endParaRPr lang="en-US" sz="700" dirty="0"/>
          </a:p>
        </p:txBody>
      </p:sp>
      <p:sp>
        <p:nvSpPr>
          <p:cNvPr id="18" name="Shape 16"/>
          <p:cNvSpPr/>
          <p:nvPr/>
        </p:nvSpPr>
        <p:spPr>
          <a:xfrm>
            <a:off x="2777490" y="1280160"/>
            <a:ext cx="1908810" cy="685800"/>
          </a:xfrm>
          <a:prstGeom prst="roundRect">
            <a:avLst>
              <a:gd name="adj" fmla="val 10667"/>
            </a:avLst>
          </a:prstGeom>
          <a:solidFill>
            <a:srgbClr val="FFFFFF"/>
          </a:solidFill>
          <a:ln w="12700">
            <a:solidFill>
              <a:srgbClr val="E2E8F0"/>
            </a:solidFill>
            <a:prstDash val="solid"/>
          </a:ln>
        </p:spPr>
      </p:sp>
      <p:sp>
        <p:nvSpPr>
          <p:cNvPr id="19" name="Text 17"/>
          <p:cNvSpPr/>
          <p:nvPr/>
        </p:nvSpPr>
        <p:spPr>
          <a:xfrm>
            <a:off x="282321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JSON</a:t>
            </a:r>
            <a:endParaRPr lang="en-US" sz="1500" dirty="0"/>
          </a:p>
        </p:txBody>
      </p:sp>
      <p:sp>
        <p:nvSpPr>
          <p:cNvPr id="20" name="Text 18"/>
          <p:cNvSpPr/>
          <p:nvPr/>
        </p:nvSpPr>
        <p:spPr>
          <a:xfrm>
            <a:off x="282321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PAYLOAD FORMAT</a:t>
            </a:r>
            <a:endParaRPr lang="en-US" sz="700" dirty="0"/>
          </a:p>
        </p:txBody>
      </p:sp>
      <p:sp>
        <p:nvSpPr>
          <p:cNvPr id="21" name="Shape 19"/>
          <p:cNvSpPr/>
          <p:nvPr/>
        </p:nvSpPr>
        <p:spPr>
          <a:xfrm>
            <a:off x="4823460" y="1280160"/>
            <a:ext cx="1908810" cy="685800"/>
          </a:xfrm>
          <a:prstGeom prst="roundRect">
            <a:avLst>
              <a:gd name="adj" fmla="val 10667"/>
            </a:avLst>
          </a:prstGeom>
          <a:solidFill>
            <a:srgbClr val="FFFFFF"/>
          </a:solidFill>
          <a:ln w="12700">
            <a:solidFill>
              <a:srgbClr val="E2E8F0"/>
            </a:solidFill>
            <a:prstDash val="solid"/>
          </a:ln>
        </p:spPr>
      </p:sp>
      <p:sp>
        <p:nvSpPr>
          <p:cNvPr id="22" name="Text 20"/>
          <p:cNvSpPr/>
          <p:nvPr/>
        </p:nvSpPr>
        <p:spPr>
          <a:xfrm>
            <a:off x="486918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200 OK</a:t>
            </a:r>
            <a:endParaRPr lang="en-US" sz="1500" dirty="0"/>
          </a:p>
        </p:txBody>
      </p:sp>
      <p:sp>
        <p:nvSpPr>
          <p:cNvPr id="23" name="Text 21"/>
          <p:cNvSpPr/>
          <p:nvPr/>
        </p:nvSpPr>
        <p:spPr>
          <a:xfrm>
            <a:off x="486918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RESPONSE CODE</a:t>
            </a:r>
            <a:endParaRPr lang="en-US" sz="700" dirty="0"/>
          </a:p>
        </p:txBody>
      </p:sp>
      <p:sp>
        <p:nvSpPr>
          <p:cNvPr id="24" name="Shape 22"/>
          <p:cNvSpPr/>
          <p:nvPr/>
        </p:nvSpPr>
        <p:spPr>
          <a:xfrm>
            <a:off x="6869430" y="1280160"/>
            <a:ext cx="1908810" cy="685800"/>
          </a:xfrm>
          <a:prstGeom prst="roundRect">
            <a:avLst>
              <a:gd name="adj" fmla="val 10667"/>
            </a:avLst>
          </a:prstGeom>
          <a:solidFill>
            <a:srgbClr val="FFFFFF"/>
          </a:solidFill>
          <a:ln w="12700">
            <a:solidFill>
              <a:srgbClr val="E2E8F0"/>
            </a:solidFill>
            <a:prstDash val="solid"/>
          </a:ln>
        </p:spPr>
      </p:sp>
      <p:sp>
        <p:nvSpPr>
          <p:cNvPr id="25" name="Text 23"/>
          <p:cNvSpPr/>
          <p:nvPr/>
        </p:nvSpPr>
        <p:spPr>
          <a:xfrm>
            <a:off x="691515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&lt; 20ms</a:t>
            </a:r>
            <a:endParaRPr lang="en-US" sz="1500" dirty="0"/>
          </a:p>
        </p:txBody>
      </p:sp>
      <p:sp>
        <p:nvSpPr>
          <p:cNvPr id="26" name="Text 24"/>
          <p:cNvSpPr/>
          <p:nvPr/>
        </p:nvSpPr>
        <p:spPr>
          <a:xfrm>
            <a:off x="691515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QUEUE LATENCY</a:t>
            </a:r>
            <a:endParaRPr lang="en-US" sz="700" dirty="0"/>
          </a:p>
        </p:txBody>
      </p:sp>
      <p:sp>
        <p:nvSpPr>
          <p:cNvPr id="27" name="Shape 25"/>
          <p:cNvSpPr/>
          <p:nvPr/>
        </p:nvSpPr>
        <p:spPr>
          <a:xfrm>
            <a:off x="731520" y="2103120"/>
            <a:ext cx="8046720" cy="2468880"/>
          </a:xfrm>
          <a:prstGeom prst="roundRect">
            <a:avLst>
              <a:gd name="adj" fmla="val 1852"/>
            </a:avLst>
          </a:prstGeom>
          <a:solidFill>
            <a:srgbClr val="FFFFFF"/>
          </a:solidFill>
          <a:ln w="12700">
            <a:solidFill>
              <a:srgbClr val="E2E8F0"/>
            </a:solidFill>
            <a:prstDash val="solid"/>
          </a:ln>
        </p:spPr>
      </p:sp>
      <p:sp>
        <p:nvSpPr>
          <p:cNvPr id="28" name="Text 26"/>
          <p:cNvSpPr/>
          <p:nvPr/>
        </p:nvSpPr>
        <p:spPr>
          <a:xfrm>
            <a:off x="914400" y="2240280"/>
            <a:ext cx="768096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CỔNG TIẾP NHẬN WEBHOOK THÔ</a:t>
            </a:r>
            <a:endParaRPr lang="en-US" sz="950" dirty="0"/>
          </a:p>
        </p:txBody>
      </p:sp>
      <p:sp>
        <p:nvSpPr>
          <p:cNvPr id="29" name="Text 27"/>
          <p:cNvSpPr/>
          <p:nvPr/>
        </p:nvSpPr>
        <p:spPr>
          <a:xfrm>
            <a:off x="914400" y="2532888"/>
            <a:ext cx="7680960" cy="190195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Nhận POST payload trực tiếp từ Facebook Ads Webhook hoặc Landing Page.</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Ghi nhận ngay lập tức vào bảng leads thô để đảm bảo an toàn vết giao dịch.</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Phản hồi mã HTTP 200 cực nhanh để tránh nghẽn luồng từ Meta Ads.</a:t>
            </a:r>
            <a:endParaRPr lang="en-US" sz="920" dirty="0"/>
          </a:p>
        </p:txBody>
      </p:sp>
      <p:sp>
        <p:nvSpPr>
          <p:cNvPr id="30" name="Text 28"/>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40 / 60</a:t>
            </a:r>
            <a:endParaRPr lang="en-US" sz="850" dirty="0"/>
          </a:p>
        </p:txBody>
      </p:sp>
      <p:sp>
        <p:nvSpPr>
          <p:cNvPr id="31" name="Text 29"/>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LIÊN KẾT</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Đối Soát Chống Lặp Đồng Bộ Hai Chiều</a:t>
            </a:r>
            <a:endParaRPr lang="en-US" sz="1900" dirty="0"/>
          </a:p>
        </p:txBody>
      </p:sp>
      <p:sp>
        <p:nvSpPr>
          <p:cNvPr id="15" name="Shape 13"/>
          <p:cNvSpPr/>
          <p:nvPr/>
        </p:nvSpPr>
        <p:spPr>
          <a:xfrm>
            <a:off x="731520" y="1645920"/>
            <a:ext cx="2286000" cy="2286000"/>
          </a:xfrm>
          <a:prstGeom prst="roundRect">
            <a:avLst>
              <a:gd name="adj" fmla="val 2000"/>
            </a:avLst>
          </a:prstGeom>
          <a:solidFill>
            <a:srgbClr val="FFFFFF"/>
          </a:solidFill>
          <a:ln w="12700">
            <a:solidFill>
              <a:srgbClr val="E2E8F0"/>
            </a:solidFill>
            <a:prstDash val="solid"/>
          </a:ln>
        </p:spPr>
      </p:sp>
      <p:sp>
        <p:nvSpPr>
          <p:cNvPr id="16" name="Shape 14"/>
          <p:cNvSpPr/>
          <p:nvPr/>
        </p:nvSpPr>
        <p:spPr>
          <a:xfrm>
            <a:off x="868680" y="1783080"/>
            <a:ext cx="320040" cy="228600"/>
          </a:xfrm>
          <a:prstGeom prst="roundRect">
            <a:avLst>
              <a:gd name="adj" fmla="val 200000"/>
            </a:avLst>
          </a:prstGeom>
          <a:solidFill>
            <a:srgbClr val="FEE2E2"/>
          </a:solidFill>
          <a:ln/>
        </p:spPr>
      </p:sp>
      <p:sp>
        <p:nvSpPr>
          <p:cNvPr id="17" name="Text 15"/>
          <p:cNvSpPr/>
          <p:nvPr/>
        </p:nvSpPr>
        <p:spPr>
          <a:xfrm>
            <a:off x="86868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1</a:t>
            </a:r>
            <a:endParaRPr lang="en-US" sz="900" dirty="0"/>
          </a:p>
        </p:txBody>
      </p:sp>
      <p:sp>
        <p:nvSpPr>
          <p:cNvPr id="18" name="Text 16"/>
          <p:cNvSpPr/>
          <p:nvPr/>
        </p:nvSpPr>
        <p:spPr>
          <a:xfrm>
            <a:off x="128016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Tính mã băm SHA256</a:t>
            </a:r>
            <a:endParaRPr lang="en-US" sz="1000" dirty="0"/>
          </a:p>
        </p:txBody>
      </p:sp>
      <p:sp>
        <p:nvSpPr>
          <p:cNvPr id="19" name="Text 17"/>
          <p:cNvSpPr/>
          <p:nvPr/>
        </p:nvSpPr>
        <p:spPr>
          <a:xfrm>
            <a:off x="86868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Tính mã băm cho dữ liệu mỗi dòng trên Google Sheets.</a:t>
            </a:r>
            <a:endParaRPr lang="en-US" sz="820" dirty="0"/>
          </a:p>
        </p:txBody>
      </p:sp>
      <p:sp>
        <p:nvSpPr>
          <p:cNvPr id="20" name="Shape 18"/>
          <p:cNvSpPr/>
          <p:nvPr/>
        </p:nvSpPr>
        <p:spPr>
          <a:xfrm>
            <a:off x="3054096" y="2697480"/>
            <a:ext cx="109728" cy="182880"/>
          </a:xfrm>
          <a:prstGeom prst="rightArrow">
            <a:avLst/>
          </a:prstGeom>
          <a:solidFill>
            <a:srgbClr val="94A3B8"/>
          </a:solidFill>
          <a:ln w="6350">
            <a:solidFill>
              <a:srgbClr val="E2E8F0"/>
            </a:solidFill>
            <a:prstDash val="solid"/>
          </a:ln>
        </p:spPr>
      </p:sp>
      <p:sp>
        <p:nvSpPr>
          <p:cNvPr id="21" name="Shape 19"/>
          <p:cNvSpPr/>
          <p:nvPr/>
        </p:nvSpPr>
        <p:spPr>
          <a:xfrm>
            <a:off x="3337560" y="1645920"/>
            <a:ext cx="2286000" cy="2286000"/>
          </a:xfrm>
          <a:prstGeom prst="roundRect">
            <a:avLst>
              <a:gd name="adj" fmla="val 2000"/>
            </a:avLst>
          </a:prstGeom>
          <a:solidFill>
            <a:srgbClr val="FFFFFF"/>
          </a:solidFill>
          <a:ln w="12700">
            <a:solidFill>
              <a:srgbClr val="E2E8F0"/>
            </a:solidFill>
            <a:prstDash val="solid"/>
          </a:ln>
        </p:spPr>
      </p:sp>
      <p:sp>
        <p:nvSpPr>
          <p:cNvPr id="22" name="Shape 20"/>
          <p:cNvSpPr/>
          <p:nvPr/>
        </p:nvSpPr>
        <p:spPr>
          <a:xfrm>
            <a:off x="3474720" y="1783080"/>
            <a:ext cx="320040" cy="228600"/>
          </a:xfrm>
          <a:prstGeom prst="roundRect">
            <a:avLst>
              <a:gd name="adj" fmla="val 200000"/>
            </a:avLst>
          </a:prstGeom>
          <a:solidFill>
            <a:srgbClr val="FEE2E2"/>
          </a:solidFill>
          <a:ln/>
        </p:spPr>
      </p:sp>
      <p:sp>
        <p:nvSpPr>
          <p:cNvPr id="23" name="Text 21"/>
          <p:cNvSpPr/>
          <p:nvPr/>
        </p:nvSpPr>
        <p:spPr>
          <a:xfrm>
            <a:off x="347472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2</a:t>
            </a:r>
            <a:endParaRPr lang="en-US" sz="900" dirty="0"/>
          </a:p>
        </p:txBody>
      </p:sp>
      <p:sp>
        <p:nvSpPr>
          <p:cNvPr id="24" name="Text 22"/>
          <p:cNvSpPr/>
          <p:nvPr/>
        </p:nvSpPr>
        <p:spPr>
          <a:xfrm>
            <a:off x="388620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So sánh đối soát</a:t>
            </a:r>
            <a:endParaRPr lang="en-US" sz="1000" dirty="0"/>
          </a:p>
        </p:txBody>
      </p:sp>
      <p:sp>
        <p:nvSpPr>
          <p:cNvPr id="25" name="Text 23"/>
          <p:cNvSpPr/>
          <p:nvPr/>
        </p:nvSpPr>
        <p:spPr>
          <a:xfrm>
            <a:off x="347472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Lưu hash vào sheet_sync_records, chỉ đồng bộ nếu hash mới khác hash cũ.</a:t>
            </a:r>
            <a:endParaRPr lang="en-US" sz="820" dirty="0"/>
          </a:p>
        </p:txBody>
      </p:sp>
      <p:sp>
        <p:nvSpPr>
          <p:cNvPr id="26" name="Shape 24"/>
          <p:cNvSpPr/>
          <p:nvPr/>
        </p:nvSpPr>
        <p:spPr>
          <a:xfrm>
            <a:off x="5660136" y="2697480"/>
            <a:ext cx="109728" cy="182880"/>
          </a:xfrm>
          <a:prstGeom prst="rightArrow">
            <a:avLst/>
          </a:prstGeom>
          <a:solidFill>
            <a:srgbClr val="94A3B8"/>
          </a:solidFill>
          <a:ln w="6350">
            <a:solidFill>
              <a:srgbClr val="E2E8F0"/>
            </a:solidFill>
            <a:prstDash val="solid"/>
          </a:ln>
        </p:spPr>
      </p:sp>
      <p:sp>
        <p:nvSpPr>
          <p:cNvPr id="27" name="Shape 25"/>
          <p:cNvSpPr/>
          <p:nvPr/>
        </p:nvSpPr>
        <p:spPr>
          <a:xfrm>
            <a:off x="5943600" y="1645920"/>
            <a:ext cx="2286000" cy="2286000"/>
          </a:xfrm>
          <a:prstGeom prst="roundRect">
            <a:avLst>
              <a:gd name="adj" fmla="val 2000"/>
            </a:avLst>
          </a:prstGeom>
          <a:solidFill>
            <a:srgbClr val="FFFFFF"/>
          </a:solidFill>
          <a:ln w="12700">
            <a:solidFill>
              <a:srgbClr val="E2E8F0"/>
            </a:solidFill>
            <a:prstDash val="solid"/>
          </a:ln>
        </p:spPr>
      </p:sp>
      <p:sp>
        <p:nvSpPr>
          <p:cNvPr id="28" name="Shape 26"/>
          <p:cNvSpPr/>
          <p:nvPr/>
        </p:nvSpPr>
        <p:spPr>
          <a:xfrm>
            <a:off x="6080760" y="1783080"/>
            <a:ext cx="320040" cy="228600"/>
          </a:xfrm>
          <a:prstGeom prst="roundRect">
            <a:avLst>
              <a:gd name="adj" fmla="val 200000"/>
            </a:avLst>
          </a:prstGeom>
          <a:solidFill>
            <a:srgbClr val="FEE2E2"/>
          </a:solidFill>
          <a:ln/>
        </p:spPr>
      </p:sp>
      <p:sp>
        <p:nvSpPr>
          <p:cNvPr id="29" name="Text 27"/>
          <p:cNvSpPr/>
          <p:nvPr/>
        </p:nvSpPr>
        <p:spPr>
          <a:xfrm>
            <a:off x="608076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3</a:t>
            </a:r>
            <a:endParaRPr lang="en-US" sz="900" dirty="0"/>
          </a:p>
        </p:txBody>
      </p:sp>
      <p:sp>
        <p:nvSpPr>
          <p:cNvPr id="30" name="Text 28"/>
          <p:cNvSpPr/>
          <p:nvPr/>
        </p:nvSpPr>
        <p:spPr>
          <a:xfrm>
            <a:off x="649224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Chống lặp vô hạn</a:t>
            </a:r>
            <a:endParaRPr lang="en-US" sz="1000" dirty="0"/>
          </a:p>
        </p:txBody>
      </p:sp>
      <p:sp>
        <p:nvSpPr>
          <p:cNvPr id="31" name="Text 29"/>
          <p:cNvSpPr/>
          <p:nvPr/>
        </p:nvSpPr>
        <p:spPr>
          <a:xfrm>
            <a:off x="608076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Bỏ qua các dòng chỉnh sửa sinh ra từ chính CRM cập nhật lên.</a:t>
            </a:r>
            <a:endParaRPr lang="en-US" sz="82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41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ĐIỀU KHIỂN</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Mô Hình Trung Tâm Điều Khiển Chatbot</a:t>
            </a:r>
            <a:endParaRPr lang="en-US" sz="1900" dirty="0"/>
          </a:p>
        </p:txBody>
      </p:sp>
      <p:sp>
        <p:nvSpPr>
          <p:cNvPr id="15" name="Shape 13"/>
          <p:cNvSpPr/>
          <p:nvPr/>
        </p:nvSpPr>
        <p:spPr>
          <a:xfrm>
            <a:off x="731520" y="1280160"/>
            <a:ext cx="2499360" cy="3291840"/>
          </a:xfrm>
          <a:prstGeom prst="roundRect">
            <a:avLst>
              <a:gd name="adj" fmla="val 1829"/>
            </a:avLst>
          </a:prstGeom>
          <a:solidFill>
            <a:srgbClr val="FFFFFF"/>
          </a:solidFill>
          <a:ln w="12700">
            <a:solidFill>
              <a:srgbClr val="E2E8F0"/>
            </a:solidFill>
            <a:prstDash val="solid"/>
          </a:ln>
        </p:spPr>
      </p:sp>
      <p:sp>
        <p:nvSpPr>
          <p:cNvPr id="16" name="Text 14"/>
          <p:cNvSpPr/>
          <p:nvPr/>
        </p:nvSpPr>
        <p:spPr>
          <a:xfrm>
            <a:off x="91440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TELEGRAM BOT API</a:t>
            </a:r>
            <a:endParaRPr lang="en-US" sz="950" dirty="0"/>
          </a:p>
        </p:txBody>
      </p:sp>
      <p:sp>
        <p:nvSpPr>
          <p:cNvPr id="17" name="Text 15"/>
          <p:cNvSpPr/>
          <p:nvPr/>
        </p:nvSpPr>
        <p:spPr>
          <a:xfrm>
            <a:off x="91440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Kết nối trực tiếp máy chủ Telegram.</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Lắng nghe tin nhắn nhóm quản trị qua Webhook bảo mật.</a:t>
            </a:r>
            <a:endParaRPr lang="en-US" sz="920" dirty="0"/>
          </a:p>
        </p:txBody>
      </p:sp>
      <p:sp>
        <p:nvSpPr>
          <p:cNvPr id="18" name="Shape 16"/>
          <p:cNvSpPr/>
          <p:nvPr/>
        </p:nvSpPr>
        <p:spPr>
          <a:xfrm>
            <a:off x="3505200" y="1280160"/>
            <a:ext cx="2499360" cy="3291840"/>
          </a:xfrm>
          <a:prstGeom prst="roundRect">
            <a:avLst>
              <a:gd name="adj" fmla="val 1829"/>
            </a:avLst>
          </a:prstGeom>
          <a:solidFill>
            <a:srgbClr val="FFFFFF"/>
          </a:solidFill>
          <a:ln w="12700">
            <a:solidFill>
              <a:srgbClr val="E2E8F0"/>
            </a:solidFill>
            <a:prstDash val="solid"/>
          </a:ln>
        </p:spPr>
      </p:sp>
      <p:sp>
        <p:nvSpPr>
          <p:cNvPr id="19" name="Text 17"/>
          <p:cNvSpPr/>
          <p:nvPr/>
        </p:nvSpPr>
        <p:spPr>
          <a:xfrm>
            <a:off x="368808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ZALO OA WEBHOOK</a:t>
            </a:r>
            <a:endParaRPr lang="en-US" sz="950" dirty="0"/>
          </a:p>
        </p:txBody>
      </p:sp>
      <p:sp>
        <p:nvSpPr>
          <p:cNvPr id="20" name="Text 18"/>
          <p:cNvSpPr/>
          <p:nvPr/>
        </p:nvSpPr>
        <p:spPr>
          <a:xfrm>
            <a:off x="368808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Nhận sự kiện trò chuyện từ người dùng Zalo OA.</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Xác minh chữ ký số số hóa từ Zalo OA gửi về.</a:t>
            </a:r>
            <a:endParaRPr lang="en-US" sz="920" dirty="0"/>
          </a:p>
        </p:txBody>
      </p:sp>
      <p:sp>
        <p:nvSpPr>
          <p:cNvPr id="21" name="Shape 19"/>
          <p:cNvSpPr/>
          <p:nvPr/>
        </p:nvSpPr>
        <p:spPr>
          <a:xfrm>
            <a:off x="6278880" y="1280160"/>
            <a:ext cx="2499360" cy="3291840"/>
          </a:xfrm>
          <a:prstGeom prst="roundRect">
            <a:avLst>
              <a:gd name="adj" fmla="val 1829"/>
            </a:avLst>
          </a:prstGeom>
          <a:solidFill>
            <a:srgbClr val="FFFFFF"/>
          </a:solidFill>
          <a:ln w="12700">
            <a:solidFill>
              <a:srgbClr val="E2E8F0"/>
            </a:solidFill>
            <a:prstDash val="solid"/>
          </a:ln>
        </p:spPr>
      </p:sp>
      <p:sp>
        <p:nvSpPr>
          <p:cNvPr id="22" name="Text 20"/>
          <p:cNvSpPr/>
          <p:nvPr/>
        </p:nvSpPr>
        <p:spPr>
          <a:xfrm>
            <a:off x="646176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BẢO MẬT CHAT ID</a:t>
            </a:r>
            <a:endParaRPr lang="en-US" sz="950" dirty="0"/>
          </a:p>
        </p:txBody>
      </p:sp>
      <p:sp>
        <p:nvSpPr>
          <p:cNvPr id="23" name="Text 21"/>
          <p:cNvSpPr/>
          <p:nvPr/>
        </p:nvSpPr>
        <p:spPr>
          <a:xfrm>
            <a:off x="646176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Chỉ nhận và thực thi tin nhắn đến từ các ID chat đã whitelist.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Chặn đứng hoàn toàn hành vi gửi lệnh phá hoại từ bên ngoài.</a:t>
            </a:r>
            <a:endParaRPr lang="en-US" sz="920" dirty="0"/>
          </a:p>
        </p:txBody>
      </p:sp>
      <p:sp>
        <p:nvSpPr>
          <p:cNvPr id="24" name="Text 2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42 / 60</a:t>
            </a:r>
            <a:endParaRPr lang="en-US" sz="850" dirty="0"/>
          </a:p>
        </p:txBody>
      </p:sp>
      <p:sp>
        <p:nvSpPr>
          <p:cNvPr id="25" name="Text 2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ĐIỀU KHIỂN</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Bảng Mô Phỏng Tập Lệnh Tương Tác Qua Chat</a:t>
            </a:r>
            <a:endParaRPr lang="en-US" sz="1900" dirty="0"/>
          </a:p>
        </p:txBody>
      </p:sp>
      <p:sp>
        <p:nvSpPr>
          <p:cNvPr id="15" name="Shape 13"/>
          <p:cNvSpPr/>
          <p:nvPr/>
        </p:nvSpPr>
        <p:spPr>
          <a:xfrm>
            <a:off x="731520" y="1371600"/>
            <a:ext cx="3840480" cy="1463040"/>
          </a:xfrm>
          <a:prstGeom prst="roundRect">
            <a:avLst>
              <a:gd name="adj" fmla="val 5000"/>
            </a:avLst>
          </a:prstGeom>
          <a:solidFill>
            <a:srgbClr val="F1F5F9"/>
          </a:solidFill>
          <a:ln w="12700">
            <a:solidFill>
              <a:srgbClr val="E2E8F0"/>
            </a:solidFill>
            <a:prstDash val="solid"/>
          </a:ln>
        </p:spPr>
      </p:sp>
      <p:sp>
        <p:nvSpPr>
          <p:cNvPr id="16" name="Text 14"/>
          <p:cNvSpPr/>
          <p:nvPr/>
        </p:nvSpPr>
        <p:spPr>
          <a:xfrm>
            <a:off x="868680" y="1444752"/>
            <a:ext cx="3566160" cy="182880"/>
          </a:xfrm>
          <a:prstGeom prst="rect">
            <a:avLst/>
          </a:prstGeom>
          <a:noFill/>
          <a:ln/>
        </p:spPr>
        <p:txBody>
          <a:bodyPr wrap="square" rtlCol="0" anchor="ctr"/>
          <a:lstStyle/>
          <a:p>
            <a:pPr indent="0" marL="0">
              <a:buNone/>
            </a:pPr>
            <a:r>
              <a:rPr lang="en-US" sz="750" b="1" dirty="0">
                <a:solidFill>
                  <a:srgbClr val="BD1D2D"/>
                </a:solidFill>
                <a:latin typeface="Segoe UI" pitchFamily="34" charset="0"/>
                <a:ea typeface="Segoe UI" pitchFamily="34" charset="-122"/>
                <a:cs typeface="Segoe UI" pitchFamily="34" charset="-120"/>
              </a:rPr>
              <a:t>QUẢN LÝ (TELEGRAM GROUP)</a:t>
            </a:r>
            <a:endParaRPr lang="en-US" sz="750" dirty="0"/>
          </a:p>
        </p:txBody>
      </p:sp>
      <p:sp>
        <p:nvSpPr>
          <p:cNvPr id="17" name="Text 15"/>
          <p:cNvSpPr/>
          <p:nvPr/>
        </p:nvSpPr>
        <p:spPr>
          <a:xfrm>
            <a:off x="868680" y="1600200"/>
            <a:ext cx="3566160" cy="1188720"/>
          </a:xfrm>
          <a:prstGeom prst="rect">
            <a:avLst/>
          </a:prstGeom>
          <a:noFill/>
          <a:ln/>
        </p:spPr>
        <p:txBody>
          <a:bodyPr wrap="square" rtlCol="0" anchor="t"/>
          <a:lstStyle/>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/report</a:t>
            </a:r>
            <a:endParaRPr lang="en-US" sz="820" dirty="0"/>
          </a:p>
          <a:p>
            <a:pPr indent="0" marL="0">
              <a:lnSpc>
                <a:spcPts val="1100"/>
              </a:lnSpc>
              <a:buNone/>
            </a:pPr>
            <a:endParaRPr lang="en-US" sz="820" dirty="0"/>
          </a:p>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Yêu cầu xuất báo cáo số liệu lead mới nhận ngày hôm nay.</a:t>
            </a:r>
            <a:endParaRPr lang="en-US" sz="820" dirty="0"/>
          </a:p>
        </p:txBody>
      </p:sp>
      <p:sp>
        <p:nvSpPr>
          <p:cNvPr id="18" name="Shape 16"/>
          <p:cNvSpPr/>
          <p:nvPr/>
        </p:nvSpPr>
        <p:spPr>
          <a:xfrm>
            <a:off x="731520" y="3017520"/>
            <a:ext cx="3840480" cy="1463040"/>
          </a:xfrm>
          <a:prstGeom prst="roundRect">
            <a:avLst>
              <a:gd name="adj" fmla="val 5000"/>
            </a:avLst>
          </a:prstGeom>
          <a:solidFill>
            <a:srgbClr val="F1F5F9"/>
          </a:solidFill>
          <a:ln w="12700">
            <a:solidFill>
              <a:srgbClr val="E2E8F0"/>
            </a:solidFill>
            <a:prstDash val="solid"/>
          </a:ln>
        </p:spPr>
      </p:sp>
      <p:sp>
        <p:nvSpPr>
          <p:cNvPr id="19" name="Text 17"/>
          <p:cNvSpPr/>
          <p:nvPr/>
        </p:nvSpPr>
        <p:spPr>
          <a:xfrm>
            <a:off x="868680" y="3090672"/>
            <a:ext cx="3566160" cy="182880"/>
          </a:xfrm>
          <a:prstGeom prst="rect">
            <a:avLst/>
          </a:prstGeom>
          <a:noFill/>
          <a:ln/>
        </p:spPr>
        <p:txBody>
          <a:bodyPr wrap="square" rtlCol="0" anchor="ctr"/>
          <a:lstStyle/>
          <a:p>
            <a:pPr indent="0" marL="0">
              <a:buNone/>
            </a:pPr>
            <a:r>
              <a:rPr lang="en-US" sz="750" b="1" dirty="0">
                <a:solidFill>
                  <a:srgbClr val="BD1D2D"/>
                </a:solidFill>
                <a:latin typeface="Segoe UI" pitchFamily="34" charset="0"/>
                <a:ea typeface="Segoe UI" pitchFamily="34" charset="-122"/>
                <a:cs typeface="Segoe UI" pitchFamily="34" charset="-120"/>
              </a:rPr>
              <a:t>QUẢN LÝ (TELEGRAM GROUP)</a:t>
            </a:r>
            <a:endParaRPr lang="en-US" sz="750" dirty="0"/>
          </a:p>
        </p:txBody>
      </p:sp>
      <p:sp>
        <p:nvSpPr>
          <p:cNvPr id="20" name="Text 18"/>
          <p:cNvSpPr/>
          <p:nvPr/>
        </p:nvSpPr>
        <p:spPr>
          <a:xfrm>
            <a:off x="868680" y="3246120"/>
            <a:ext cx="3566160" cy="1188720"/>
          </a:xfrm>
          <a:prstGeom prst="rect">
            <a:avLst/>
          </a:prstGeom>
          <a:noFill/>
          <a:ln/>
        </p:spPr>
        <p:txBody>
          <a:bodyPr wrap="square" rtlCol="0" anchor="t"/>
          <a:lstStyle/>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/duyet 105</a:t>
            </a:r>
            <a:endParaRPr lang="en-US" sz="820" dirty="0"/>
          </a:p>
          <a:p>
            <a:pPr indent="0" marL="0">
              <a:lnSpc>
                <a:spcPts val="1100"/>
              </a:lnSpc>
              <a:buNone/>
            </a:pPr>
            <a:endParaRPr lang="en-US" sz="820" dirty="0"/>
          </a:p>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Duyệt nhanh phiếu cọc mã số 105 để kế toán khóa giao dịch.</a:t>
            </a:r>
            <a:endParaRPr lang="en-US" sz="820" dirty="0"/>
          </a:p>
        </p:txBody>
      </p:sp>
      <p:sp>
        <p:nvSpPr>
          <p:cNvPr id="21" name="Shape 19"/>
          <p:cNvSpPr/>
          <p:nvPr/>
        </p:nvSpPr>
        <p:spPr>
          <a:xfrm>
            <a:off x="4846320" y="1371600"/>
            <a:ext cx="3840480" cy="3108960"/>
          </a:xfrm>
          <a:prstGeom prst="roundRect">
            <a:avLst>
              <a:gd name="adj" fmla="val 2353"/>
            </a:avLst>
          </a:prstGeom>
          <a:solidFill>
            <a:srgbClr val="D1FAE5"/>
          </a:solidFill>
          <a:ln w="12700">
            <a:solidFill>
              <a:srgbClr val="E2E8F0"/>
            </a:solidFill>
            <a:prstDash val="solid"/>
          </a:ln>
        </p:spPr>
      </p:sp>
      <p:sp>
        <p:nvSpPr>
          <p:cNvPr id="22" name="Text 20"/>
          <p:cNvSpPr/>
          <p:nvPr/>
        </p:nvSpPr>
        <p:spPr>
          <a:xfrm>
            <a:off x="4983480" y="1444752"/>
            <a:ext cx="3566160" cy="182880"/>
          </a:xfrm>
          <a:prstGeom prst="rect">
            <a:avLst/>
          </a:prstGeom>
          <a:noFill/>
          <a:ln/>
        </p:spPr>
        <p:txBody>
          <a:bodyPr wrap="square" rtlCol="0" anchor="ctr"/>
          <a:lstStyle/>
          <a:p>
            <a:pPr indent="0" marL="0">
              <a:buNone/>
            </a:pPr>
            <a:r>
              <a:rPr lang="en-US" sz="750" b="1" dirty="0">
                <a:solidFill>
                  <a:srgbClr val="065F46"/>
                </a:solidFill>
                <a:latin typeface="Segoe UI" pitchFamily="34" charset="0"/>
                <a:ea typeface="Segoe UI" pitchFamily="34" charset="-122"/>
                <a:cs typeface="Segoe UI" pitchFamily="34" charset="-120"/>
              </a:rPr>
              <a:t>RICH LAND CRM BOT</a:t>
            </a:r>
            <a:endParaRPr lang="en-US" sz="750" dirty="0"/>
          </a:p>
        </p:txBody>
      </p:sp>
      <p:sp>
        <p:nvSpPr>
          <p:cNvPr id="23" name="Text 21"/>
          <p:cNvSpPr/>
          <p:nvPr/>
        </p:nvSpPr>
        <p:spPr>
          <a:xfrm>
            <a:off x="4983480" y="1600200"/>
            <a:ext cx="3566160" cy="2834640"/>
          </a:xfrm>
          <a:prstGeom prst="rect">
            <a:avLst/>
          </a:prstGeom>
          <a:noFill/>
          <a:ln/>
        </p:spPr>
        <p:txBody>
          <a:bodyPr wrap="square" rtlCol="0" anchor="t"/>
          <a:lstStyle/>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BÁO CÁO DOANH THU HÔM NAY:</a:t>
            </a:r>
            <a:endParaRPr lang="en-US" sz="820" dirty="0"/>
          </a:p>
          <a:p>
            <a:pPr indent="0" marL="0">
              <a:lnSpc>
                <a:spcPts val="1100"/>
              </a:lnSpc>
              <a:buNone/>
            </a:pPr>
            <a:endParaRPr lang="en-US" sz="820" dirty="0"/>
          </a:p>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 Lead mới nhận: 45 lead</a:t>
            </a:r>
            <a:endParaRPr lang="en-US" sz="820" dirty="0"/>
          </a:p>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 Phiếu cọc mới: 5 phiếu</a:t>
            </a:r>
            <a:endParaRPr lang="en-US" sz="820" dirty="0"/>
          </a:p>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 Đã duyệt: 3 phiếu (Doanh thu: 150tr)</a:t>
            </a:r>
            <a:endParaRPr lang="en-US" sz="820" dirty="0"/>
          </a:p>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 Đang trực: 12 Sale</a:t>
            </a:r>
            <a:endParaRPr lang="en-US" sz="820" dirty="0"/>
          </a:p>
          <a:p>
            <a:pPr indent="0" marL="0">
              <a:lnSpc>
                <a:spcPts val="1100"/>
              </a:lnSpc>
              <a:buNone/>
            </a:pPr>
            <a:endParaRPr lang="en-US" sz="820" dirty="0"/>
          </a:p>
          <a:p>
            <a:pPr indent="0" marL="0">
              <a:lnSpc>
                <a:spcPts val="1100"/>
              </a:lnSpc>
              <a:buNone/>
            </a:pPr>
            <a:r>
              <a:rPr lang="en-US" sz="820" dirty="0">
                <a:solidFill>
                  <a:srgbClr val="0F172A"/>
                </a:solidFill>
                <a:latin typeface="Segoe UI" pitchFamily="34" charset="0"/>
                <a:ea typeface="Segoe UI" pitchFamily="34" charset="-122"/>
                <a:cs typeface="Segoe UI" pitchFamily="34" charset="-120"/>
              </a:rPr>
              <a:t>[SUCCESS] Hệ thống vận hành bình thường.</a:t>
            </a:r>
            <a:endParaRPr lang="en-US" sz="820" dirty="0"/>
          </a:p>
        </p:txBody>
      </p:sp>
      <p:sp>
        <p:nvSpPr>
          <p:cNvPr id="24" name="Text 2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43 / 60</a:t>
            </a:r>
            <a:endParaRPr lang="en-US" sz="850" dirty="0"/>
          </a:p>
        </p:txBody>
      </p:sp>
      <p:sp>
        <p:nvSpPr>
          <p:cNvPr id="25" name="Text 2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ĐIỀU KHIỂN</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Xử Lý Webhook Phía Zalo Bot</a:t>
            </a:r>
            <a:endParaRPr lang="en-US" sz="1900" dirty="0"/>
          </a:p>
        </p:txBody>
      </p:sp>
      <p:sp>
        <p:nvSpPr>
          <p:cNvPr id="15" name="Shape 13"/>
          <p:cNvSpPr/>
          <p:nvPr/>
        </p:nvSpPr>
        <p:spPr>
          <a:xfrm>
            <a:off x="731520" y="1280160"/>
            <a:ext cx="384048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ZALO_WEBHOOK.PHP</a:t>
            </a:r>
            <a:endParaRPr lang="en-US" sz="950" dirty="0"/>
          </a:p>
        </p:txBody>
      </p:sp>
      <p:sp>
        <p:nvSpPr>
          <p:cNvPr id="17" name="Text 15"/>
          <p:cNvSpPr/>
          <p:nvPr/>
        </p:nvSpPr>
        <p:spPr>
          <a:xfrm>
            <a:off x="9144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Phân tích cấu trúc sự kiện gửi từ Zalo OA API.</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Trích xuất thông tin người gửi, nội dung văn bản lệnh.</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Xác minh chữ ký số của Zalo để đảm bảo tin nhắn an toàn.</a:t>
            </a:r>
            <a:endParaRPr lang="en-US" sz="920" dirty="0"/>
          </a:p>
        </p:txBody>
      </p:sp>
      <p:sp>
        <p:nvSpPr>
          <p:cNvPr id="18" name="Shape 16"/>
          <p:cNvSpPr/>
          <p:nvPr/>
        </p:nvSpPr>
        <p:spPr>
          <a:xfrm>
            <a:off x="4846320" y="1280160"/>
            <a:ext cx="3840480" cy="3291840"/>
          </a:xfrm>
          <a:prstGeom prst="roundRect">
            <a:avLst>
              <a:gd name="adj" fmla="val 1389"/>
            </a:avLst>
          </a:prstGeom>
          <a:solidFill>
            <a:srgbClr val="FFFFFF"/>
          </a:solidFill>
          <a:ln w="12700">
            <a:solidFill>
              <a:srgbClr val="E2E8F0"/>
            </a:solidFill>
            <a:prstDash val="solid"/>
          </a:ln>
        </p:spPr>
      </p:sp>
      <p:sp>
        <p:nvSpPr>
          <p:cNvPr id="19" name="Text 17"/>
          <p:cNvSpPr/>
          <p:nvPr/>
        </p:nvSpPr>
        <p:spPr>
          <a:xfrm>
            <a:off x="50292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LUỒNG PHẢN HỒI ZALO</a:t>
            </a:r>
            <a:endParaRPr lang="en-US" sz="950" dirty="0"/>
          </a:p>
        </p:txBody>
      </p:sp>
      <p:sp>
        <p:nvSpPr>
          <p:cNvPr id="20" name="Text 18"/>
          <p:cNvSpPr/>
          <p:nvPr/>
        </p:nvSpPr>
        <p:spPr>
          <a:xfrm>
            <a:off x="50292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Ánh xạ Zalo User ID với tài khoản hệ thống để kiểm tra vai trò.</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Thực thi truy vấn CSDL tương ứng và định dạng kết quả dạng tin nhắn chat.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Gọi API gửi tin nhắn Zalo OA trả kết quả về cho quản trị viên.</a:t>
            </a:r>
            <a:endParaRPr lang="en-US" sz="92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44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ĐIỀU KHIỂN</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Xử Lý Webhook Phía Telegram Bot</a:t>
            </a:r>
            <a:endParaRPr lang="en-US" sz="1900" dirty="0"/>
          </a:p>
        </p:txBody>
      </p:sp>
      <p:sp>
        <p:nvSpPr>
          <p:cNvPr id="15" name="Shape 13"/>
          <p:cNvSpPr/>
          <p:nvPr/>
        </p:nvSpPr>
        <p:spPr>
          <a:xfrm>
            <a:off x="731520" y="1280160"/>
            <a:ext cx="384048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TELEGRAM_WEBHOOK.PHP</a:t>
            </a:r>
            <a:endParaRPr lang="en-US" sz="950" dirty="0"/>
          </a:p>
        </p:txBody>
      </p:sp>
      <p:sp>
        <p:nvSpPr>
          <p:cNvPr id="17" name="Text 15"/>
          <p:cNvSpPr/>
          <p:nvPr/>
        </p:nvSpPr>
        <p:spPr>
          <a:xfrm>
            <a:off x="9144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Đăng ký URL webhook bảo mật với máy chủ Telegram API.</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Bắt dữ liệu tin nhắn nhóm hoặc tin nhắn trực tiếp với Bot.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Phân tích cú pháp lệnh gạch chéo (slash commands).</a:t>
            </a:r>
            <a:endParaRPr lang="en-US" sz="920" dirty="0"/>
          </a:p>
        </p:txBody>
      </p:sp>
      <p:sp>
        <p:nvSpPr>
          <p:cNvPr id="18" name="Shape 16"/>
          <p:cNvSpPr/>
          <p:nvPr/>
        </p:nvSpPr>
        <p:spPr>
          <a:xfrm>
            <a:off x="4846320" y="1280160"/>
            <a:ext cx="3840480" cy="3291840"/>
          </a:xfrm>
          <a:prstGeom prst="roundRect">
            <a:avLst>
              <a:gd name="adj" fmla="val 1389"/>
            </a:avLst>
          </a:prstGeom>
          <a:solidFill>
            <a:srgbClr val="FFFFFF"/>
          </a:solidFill>
          <a:ln w="12700">
            <a:solidFill>
              <a:srgbClr val="E2E8F0"/>
            </a:solidFill>
            <a:prstDash val="solid"/>
          </a:ln>
        </p:spPr>
      </p:sp>
      <p:sp>
        <p:nvSpPr>
          <p:cNvPr id="19" name="Text 17"/>
          <p:cNvSpPr/>
          <p:nvPr/>
        </p:nvSpPr>
        <p:spPr>
          <a:xfrm>
            <a:off x="50292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LUỒNG PHẢN HỒI TELEGRAM</a:t>
            </a:r>
            <a:endParaRPr lang="en-US" sz="950" dirty="0"/>
          </a:p>
        </p:txBody>
      </p:sp>
      <p:sp>
        <p:nvSpPr>
          <p:cNvPr id="20" name="Text 18"/>
          <p:cNvSpPr/>
          <p:nvPr/>
        </p:nvSpPr>
        <p:spPr>
          <a:xfrm>
            <a:off x="50292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Định dạng kết quả dạng Markdown chất lượng cao để hiển thị đẹp mắt.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Gửi phản hồi kèm các nút bấm tương tác nhanh (Inline Keyboards).</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Hỗ trợ gửi ảnh báo cáo đồ thị trực quan cho Quản lý.</a:t>
            </a:r>
            <a:endParaRPr lang="en-US" sz="92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45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BD1D2D"/>
        </a:solidFill>
      </p:bgPr>
    </p:bg>
    <p:spTree>
      <p:nvGrpSpPr>
        <p:cNvPr id="1" name=""/>
        <p:cNvGrpSpPr/>
        <p:nvPr/>
      </p:nvGrpSpPr>
      <p:grpSpPr>
        <a:xfrm>
          <a:off x="0" y="0"/>
          <a:ext cx="0" cy="0"/>
          <a:chOff x="0" y="0"/>
          <a:chExt cx="0" cy="0"/>
        </a:xfrm>
      </p:grpSpPr>
      <p:sp>
        <p:nvSpPr>
          <p:cNvPr id="2" name="Text 0"/>
          <p:cNvSpPr/>
          <p:nvPr/>
        </p:nvSpPr>
        <p:spPr>
          <a:xfrm>
            <a:off x="914400" y="914400"/>
            <a:ext cx="7315200" cy="274320"/>
          </a:xfrm>
          <a:prstGeom prst="rect">
            <a:avLst/>
          </a:prstGeom>
          <a:noFill/>
          <a:ln/>
        </p:spPr>
        <p:txBody>
          <a:bodyPr wrap="square" rtlCol="0" anchor="ctr"/>
          <a:lstStyle/>
          <a:p>
            <a:pPr indent="0" marL="0">
              <a:buNone/>
            </a:pPr>
            <a:r>
              <a:rPr lang="en-US" sz="1300" b="1" dirty="0">
                <a:solidFill>
                  <a:srgbClr val="FFC1C1"/>
                </a:solidFill>
                <a:latin typeface="Segoe UI" pitchFamily="34" charset="0"/>
                <a:ea typeface="Segoe UI" pitchFamily="34" charset="-122"/>
                <a:cs typeface="Segoe UI" pitchFamily="34" charset="-120"/>
              </a:rPr>
              <a:t>LIÊN KẾT &amp; ĐIỀU KHIỂN</a:t>
            </a:r>
            <a:endParaRPr lang="en-US" sz="1300" dirty="0"/>
          </a:p>
        </p:txBody>
      </p:sp>
      <p:sp>
        <p:nvSpPr>
          <p:cNvPr id="3" name="Text 1"/>
          <p:cNvSpPr/>
          <p:nvPr/>
        </p:nvSpPr>
        <p:spPr>
          <a:xfrm>
            <a:off x="914400" y="1280160"/>
            <a:ext cx="7315200" cy="91440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KẾT LUẬN CHƯƠNG 5: ĐỒNG BỘ &amp; TRUNG TÂM LỆNH CHAT</a:t>
            </a:r>
            <a:endParaRPr lang="en-US" sz="3000" dirty="0"/>
          </a:p>
        </p:txBody>
      </p:sp>
      <p:sp>
        <p:nvSpPr>
          <p:cNvPr id="4" name="Text 2"/>
          <p:cNvSpPr/>
          <p:nvPr/>
        </p:nvSpPr>
        <p:spPr>
          <a:xfrm>
            <a:off x="914400" y="2377440"/>
            <a:ext cx="7315200" cy="548640"/>
          </a:xfrm>
          <a:prstGeom prst="rect">
            <a:avLst/>
          </a:prstGeom>
          <a:noFill/>
          <a:ln/>
        </p:spPr>
        <p:txBody>
          <a:bodyPr wrap="square" rtlCol="0" anchor="t"/>
          <a:lstStyle/>
          <a:p>
            <a:pPr indent="0" marL="0">
              <a:lnSpc>
                <a:spcPts val="1600"/>
              </a:lnSpc>
              <a:buNone/>
            </a:pPr>
            <a:r>
              <a:rPr lang="en-US" sz="1150" dirty="0">
                <a:solidFill>
                  <a:srgbClr val="F1F5F9"/>
                </a:solidFill>
                <a:latin typeface="Segoe UI" pitchFamily="34" charset="0"/>
                <a:ea typeface="Segoe UI" pitchFamily="34" charset="-122"/>
                <a:cs typeface="Segoe UI" pitchFamily="34" charset="-120"/>
              </a:rPr>
              <a:t>Tích hợp đa kênh thời gian thực thông qua đồng bộ bảng tính Google Sheets và bảng lệnh Chatbot Webhooks điều khiển quản trị trên Telegram/Zalo di động.</a:t>
            </a:r>
            <a:endParaRPr lang="en-US" sz="1150" dirty="0"/>
          </a:p>
        </p:txBody>
      </p:sp>
      <p:sp>
        <p:nvSpPr>
          <p:cNvPr id="5" name="Shape 3"/>
          <p:cNvSpPr/>
          <p:nvPr/>
        </p:nvSpPr>
        <p:spPr>
          <a:xfrm>
            <a:off x="914400" y="3017520"/>
            <a:ext cx="2194560" cy="1554480"/>
          </a:xfrm>
          <a:prstGeom prst="roundRect">
            <a:avLst>
              <a:gd name="adj" fmla="val 4706"/>
            </a:avLst>
          </a:prstGeom>
          <a:solidFill>
            <a:srgbClr val="9C1523"/>
          </a:solidFill>
          <a:ln w="12700">
            <a:solidFill>
              <a:srgbClr val="C92A3A"/>
            </a:solidFill>
            <a:prstDash val="solid"/>
          </a:ln>
        </p:spPr>
      </p:sp>
      <p:sp>
        <p:nvSpPr>
          <p:cNvPr id="6" name="Text 4"/>
          <p:cNvSpPr/>
          <p:nvPr/>
        </p:nvSpPr>
        <p:spPr>
          <a:xfrm>
            <a:off x="105156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MUTEX LOCK &amp; HASH</a:t>
            </a:r>
            <a:endParaRPr lang="en-US" sz="950" dirty="0"/>
          </a:p>
        </p:txBody>
      </p:sp>
      <p:sp>
        <p:nvSpPr>
          <p:cNvPr id="7" name="Text 5"/>
          <p:cNvSpPr/>
          <p:nvPr/>
        </p:nvSpPr>
        <p:spPr>
          <a:xfrm>
            <a:off x="105156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Khóa tệp cron_sync.lock và so khớp SHA256 chống lặp ghi đè vô hạn giữa CRM và Sheets.</a:t>
            </a:r>
            <a:endParaRPr lang="en-US" sz="850" dirty="0"/>
          </a:p>
        </p:txBody>
      </p:sp>
      <p:sp>
        <p:nvSpPr>
          <p:cNvPr id="8" name="Shape 6"/>
          <p:cNvSpPr/>
          <p:nvPr/>
        </p:nvSpPr>
        <p:spPr>
          <a:xfrm>
            <a:off x="3474720" y="3017520"/>
            <a:ext cx="2194560" cy="1554480"/>
          </a:xfrm>
          <a:prstGeom prst="roundRect">
            <a:avLst>
              <a:gd name="adj" fmla="val 4706"/>
            </a:avLst>
          </a:prstGeom>
          <a:solidFill>
            <a:srgbClr val="9C1523"/>
          </a:solidFill>
          <a:ln w="12700">
            <a:solidFill>
              <a:srgbClr val="C92A3A"/>
            </a:solidFill>
            <a:prstDash val="solid"/>
          </a:ln>
        </p:spPr>
      </p:sp>
      <p:sp>
        <p:nvSpPr>
          <p:cNvPr id="9" name="Text 7"/>
          <p:cNvSpPr/>
          <p:nvPr/>
        </p:nvSpPr>
        <p:spPr>
          <a:xfrm>
            <a:off x="361188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WEBHOOK INSTANT</a:t>
            </a:r>
            <a:endParaRPr lang="en-US" sz="950" dirty="0"/>
          </a:p>
        </p:txBody>
      </p:sp>
      <p:sp>
        <p:nvSpPr>
          <p:cNvPr id="10" name="Text 8"/>
          <p:cNvSpPr/>
          <p:nvPr/>
        </p:nvSpPr>
        <p:spPr>
          <a:xfrm>
            <a:off x="361188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Tiếp nhận thô và phân loại ngầm lead thô LP/Meta trong &lt;20ms, chặn đứng tỷ lệ trôi thất thoát lead.</a:t>
            </a:r>
            <a:endParaRPr lang="en-US" sz="850" dirty="0"/>
          </a:p>
        </p:txBody>
      </p:sp>
      <p:sp>
        <p:nvSpPr>
          <p:cNvPr id="11" name="Shape 9"/>
          <p:cNvSpPr/>
          <p:nvPr/>
        </p:nvSpPr>
        <p:spPr>
          <a:xfrm>
            <a:off x="6035040" y="3017520"/>
            <a:ext cx="2194560" cy="1554480"/>
          </a:xfrm>
          <a:prstGeom prst="roundRect">
            <a:avLst>
              <a:gd name="adj" fmla="val 4706"/>
            </a:avLst>
          </a:prstGeom>
          <a:solidFill>
            <a:srgbClr val="9C1523"/>
          </a:solidFill>
          <a:ln w="12700">
            <a:solidFill>
              <a:srgbClr val="C92A3A"/>
            </a:solidFill>
            <a:prstDash val="solid"/>
          </a:ln>
        </p:spPr>
      </p:sp>
      <p:sp>
        <p:nvSpPr>
          <p:cNvPr id="12" name="Text 10"/>
          <p:cNvSpPr/>
          <p:nvPr/>
        </p:nvSpPr>
        <p:spPr>
          <a:xfrm>
            <a:off x="617220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CHAT COMMAND CONSOLE</a:t>
            </a:r>
            <a:endParaRPr lang="en-US" sz="950" dirty="0"/>
          </a:p>
        </p:txBody>
      </p:sp>
      <p:sp>
        <p:nvSpPr>
          <p:cNvPr id="13" name="Text 11"/>
          <p:cNvSpPr/>
          <p:nvPr/>
        </p:nvSpPr>
        <p:spPr>
          <a:xfrm>
            <a:off x="617220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Tập lệnh slash commands bảo mật token URL giúp Manager duyệt nhanh cọc/check-in trên di động.</a:t>
            </a:r>
            <a:endParaRPr lang="en-US" sz="850" dirty="0"/>
          </a:p>
        </p:txBody>
      </p:sp>
      <p:sp>
        <p:nvSpPr>
          <p:cNvPr id="14" name="Text 1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46 / 60</a:t>
            </a:r>
            <a:endParaRPr lang="en-US" sz="850" dirty="0"/>
          </a:p>
        </p:txBody>
      </p:sp>
      <p:sp>
        <p:nvSpPr>
          <p:cNvPr id="15" name="Text 1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HÀNG ĐỢI</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Tách nghẽn: Giao Tiếp Đồng Bộ vs Hàng Đợi</a:t>
            </a:r>
            <a:endParaRPr lang="en-US" sz="1900" dirty="0"/>
          </a:p>
        </p:txBody>
      </p:sp>
      <p:sp>
        <p:nvSpPr>
          <p:cNvPr id="15" name="Shape 13"/>
          <p:cNvSpPr/>
          <p:nvPr/>
        </p:nvSpPr>
        <p:spPr>
          <a:xfrm>
            <a:off x="731520" y="1280160"/>
            <a:ext cx="3840480" cy="3200400"/>
          </a:xfrm>
          <a:prstGeom prst="roundRect">
            <a:avLst>
              <a:gd name="adj" fmla="val 1714"/>
            </a:avLst>
          </a:prstGeom>
          <a:solidFill>
            <a:srgbClr val="FFFFFF"/>
          </a:solidFill>
          <a:ln w="22860">
            <a:solidFill>
              <a:srgbClr val="BD1D2D"/>
            </a:solidFill>
            <a:prstDash val="solid"/>
          </a:ln>
        </p:spPr>
      </p:sp>
      <p:sp>
        <p:nvSpPr>
          <p:cNvPr id="16" name="Text 14"/>
          <p:cNvSpPr/>
          <p:nvPr/>
        </p:nvSpPr>
        <p:spPr>
          <a:xfrm>
            <a:off x="914400" y="1417320"/>
            <a:ext cx="3474720" cy="274320"/>
          </a:xfrm>
          <a:prstGeom prst="rect">
            <a:avLst/>
          </a:prstGeom>
          <a:noFill/>
          <a:ln/>
        </p:spPr>
        <p:txBody>
          <a:bodyPr wrap="square" rtlCol="0" anchor="ctr"/>
          <a:lstStyle/>
          <a:p>
            <a:pPr indent="0" marL="0">
              <a:buNone/>
            </a:pPr>
            <a:r>
              <a:rPr lang="en-US" sz="950" b="1" dirty="0">
                <a:solidFill>
                  <a:srgbClr val="BD1D2D"/>
                </a:solidFill>
                <a:latin typeface="Segoe UI" pitchFamily="34" charset="0"/>
                <a:ea typeface="Segoe UI" pitchFamily="34" charset="-122"/>
                <a:cs typeface="Segoe UI" pitchFamily="34" charset="-120"/>
              </a:rPr>
              <a:t>CÁCH GỌI API ĐỒNG BỘ TRUYỀN THỐNG</a:t>
            </a:r>
            <a:endParaRPr lang="en-US" sz="950" dirty="0"/>
          </a:p>
        </p:txBody>
      </p:sp>
      <p:sp>
        <p:nvSpPr>
          <p:cNvPr id="17" name="Text 15"/>
          <p:cNvSpPr/>
          <p:nvPr/>
        </p:nvSpPr>
        <p:spPr>
          <a:xfrm>
            <a:off x="914400" y="1737360"/>
            <a:ext cx="3474720" cy="2560320"/>
          </a:xfrm>
          <a:prstGeom prst="rect">
            <a:avLst/>
          </a:prstGeom>
          <a:noFill/>
          <a:ln/>
        </p:spPr>
        <p:txBody>
          <a:bodyPr wrap="square" rtlCol="0" anchor="t"/>
          <a:lstStyle/>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Bắt tiến trình PHP chờ phản hồi HTTP từ server Zalo/Telegram.</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Thời gian load trang bị kéo dài &gt;5s, dễ timeout mất dữ liệu.</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Cản trở luồng chính, gây thắt nút cổ chai khi lead đổ về nhiều.</a:t>
            </a:r>
            <a:endParaRPr lang="en-US" sz="900" dirty="0"/>
          </a:p>
        </p:txBody>
      </p:sp>
      <p:sp>
        <p:nvSpPr>
          <p:cNvPr id="18" name="Shape 16"/>
          <p:cNvSpPr/>
          <p:nvPr/>
        </p:nvSpPr>
        <p:spPr>
          <a:xfrm>
            <a:off x="4937760" y="1280160"/>
            <a:ext cx="3840480" cy="3200400"/>
          </a:xfrm>
          <a:prstGeom prst="roundRect">
            <a:avLst>
              <a:gd name="adj" fmla="val 1714"/>
            </a:avLst>
          </a:prstGeom>
          <a:solidFill>
            <a:srgbClr val="FFFFFF"/>
          </a:solidFill>
          <a:ln w="22860">
            <a:solidFill>
              <a:srgbClr val="059669"/>
            </a:solidFill>
            <a:prstDash val="solid"/>
          </a:ln>
        </p:spPr>
      </p:sp>
      <p:sp>
        <p:nvSpPr>
          <p:cNvPr id="19" name="Text 17"/>
          <p:cNvSpPr/>
          <p:nvPr/>
        </p:nvSpPr>
        <p:spPr>
          <a:xfrm>
            <a:off x="5120640" y="1417320"/>
            <a:ext cx="3474720" cy="274320"/>
          </a:xfrm>
          <a:prstGeom prst="rect">
            <a:avLst/>
          </a:prstGeom>
          <a:noFill/>
          <a:ln/>
        </p:spPr>
        <p:txBody>
          <a:bodyPr wrap="square" rtlCol="0" anchor="ctr"/>
          <a:lstStyle/>
          <a:p>
            <a:pPr indent="0" marL="0">
              <a:buNone/>
            </a:pPr>
            <a:r>
              <a:rPr lang="en-US" sz="950" b="1" dirty="0">
                <a:solidFill>
                  <a:srgbClr val="059669"/>
                </a:solidFill>
                <a:latin typeface="Segoe UI" pitchFamily="34" charset="0"/>
                <a:ea typeface="Segoe UI" pitchFamily="34" charset="-122"/>
                <a:cs typeface="Segoe UI" pitchFamily="34" charset="-120"/>
              </a:rPr>
              <a:t>GIẢI PHÁP HÀNG ĐỢI BẤT ĐỒNG BỘ</a:t>
            </a:r>
            <a:endParaRPr lang="en-US" sz="950" dirty="0"/>
          </a:p>
        </p:txBody>
      </p:sp>
      <p:sp>
        <p:nvSpPr>
          <p:cNvPr id="20" name="Text 18"/>
          <p:cNvSpPr/>
          <p:nvPr/>
        </p:nvSpPr>
        <p:spPr>
          <a:xfrm>
            <a:off x="5120640" y="1737360"/>
            <a:ext cx="3474720" cy="2560320"/>
          </a:xfrm>
          <a:prstGeom prst="rect">
            <a:avLst/>
          </a:prstGeom>
          <a:noFill/>
          <a:ln/>
        </p:spPr>
        <p:txBody>
          <a:bodyPr wrap="square" rtlCol="0" anchor="t"/>
          <a:lstStyle/>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Lưu payload tin nhắn vào CSDL zalo_queue/telegram_queue.</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Trả kết quả JSON cho đối tác ngay lập tức trong &lt;20ms.</a:t>
            </a:r>
            <a:endParaRPr lang="en-US" sz="900" dirty="0"/>
          </a:p>
          <a:p>
            <a:pPr indent="0" marL="0">
              <a:lnSpc>
                <a:spcPts val="1200"/>
              </a:lnSpc>
              <a:buNone/>
            </a:pPr>
            <a:endParaRPr lang="en-US" sz="900" dirty="0"/>
          </a:p>
          <a:p>
            <a:pPr indent="0" marL="0">
              <a:lnSpc>
                <a:spcPts val="1200"/>
              </a:lnSpc>
              <a:buNone/>
            </a:pPr>
            <a:r>
              <a:rPr lang="en-US" sz="900" dirty="0">
                <a:solidFill>
                  <a:srgbClr val="475569"/>
                </a:solidFill>
                <a:latin typeface="Segoe UI" pitchFamily="34" charset="0"/>
                <a:ea typeface="Segoe UI" pitchFamily="34" charset="-122"/>
                <a:cs typeface="Segoe UI" pitchFamily="34" charset="-120"/>
              </a:rPr>
              <a:t>▪  Worker chạy ngầm độc lập gửi tin và tự động thử lại nếu lỗi.</a:t>
            </a:r>
            <a:endParaRPr lang="en-US" sz="90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47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HÀNG ĐỢI</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Mô Hiện Hàng Đợi Bất Đồng Bộ Hóa</a:t>
            </a:r>
            <a:endParaRPr lang="en-US" sz="1900" dirty="0"/>
          </a:p>
        </p:txBody>
      </p:sp>
      <p:sp>
        <p:nvSpPr>
          <p:cNvPr id="15" name="Shape 13"/>
          <p:cNvSpPr/>
          <p:nvPr/>
        </p:nvSpPr>
        <p:spPr>
          <a:xfrm>
            <a:off x="731520" y="1645920"/>
            <a:ext cx="2286000" cy="2286000"/>
          </a:xfrm>
          <a:prstGeom prst="roundRect">
            <a:avLst>
              <a:gd name="adj" fmla="val 2000"/>
            </a:avLst>
          </a:prstGeom>
          <a:solidFill>
            <a:srgbClr val="FFFFFF"/>
          </a:solidFill>
          <a:ln w="12700">
            <a:solidFill>
              <a:srgbClr val="E2E8F0"/>
            </a:solidFill>
            <a:prstDash val="solid"/>
          </a:ln>
        </p:spPr>
      </p:sp>
      <p:sp>
        <p:nvSpPr>
          <p:cNvPr id="16" name="Shape 14"/>
          <p:cNvSpPr/>
          <p:nvPr/>
        </p:nvSpPr>
        <p:spPr>
          <a:xfrm>
            <a:off x="868680" y="1783080"/>
            <a:ext cx="320040" cy="228600"/>
          </a:xfrm>
          <a:prstGeom prst="roundRect">
            <a:avLst>
              <a:gd name="adj" fmla="val 200000"/>
            </a:avLst>
          </a:prstGeom>
          <a:solidFill>
            <a:srgbClr val="FEE2E2"/>
          </a:solidFill>
          <a:ln/>
        </p:spPr>
      </p:sp>
      <p:sp>
        <p:nvSpPr>
          <p:cNvPr id="17" name="Text 15"/>
          <p:cNvSpPr/>
          <p:nvPr/>
        </p:nvSpPr>
        <p:spPr>
          <a:xfrm>
            <a:off x="86868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1</a:t>
            </a:r>
            <a:endParaRPr lang="en-US" sz="900" dirty="0"/>
          </a:p>
        </p:txBody>
      </p:sp>
      <p:sp>
        <p:nvSpPr>
          <p:cNvPr id="18" name="Text 16"/>
          <p:cNvSpPr/>
          <p:nvPr/>
        </p:nvSpPr>
        <p:spPr>
          <a:xfrm>
            <a:off x="128016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Lưu hàng đợi DB</a:t>
            </a:r>
            <a:endParaRPr lang="en-US" sz="1000" dirty="0"/>
          </a:p>
        </p:txBody>
      </p:sp>
      <p:sp>
        <p:nvSpPr>
          <p:cNvPr id="19" name="Text 17"/>
          <p:cNvSpPr/>
          <p:nvPr/>
        </p:nvSpPr>
        <p:spPr>
          <a:xfrm>
            <a:off x="86868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Hàm Notification gửi tham số sync=false ghi tin nhắn vào zalo/telegram_queue.</a:t>
            </a:r>
            <a:endParaRPr lang="en-US" sz="820" dirty="0"/>
          </a:p>
        </p:txBody>
      </p:sp>
      <p:sp>
        <p:nvSpPr>
          <p:cNvPr id="20" name="Shape 18"/>
          <p:cNvSpPr/>
          <p:nvPr/>
        </p:nvSpPr>
        <p:spPr>
          <a:xfrm>
            <a:off x="3054096" y="2697480"/>
            <a:ext cx="109728" cy="182880"/>
          </a:xfrm>
          <a:prstGeom prst="rightArrow">
            <a:avLst/>
          </a:prstGeom>
          <a:solidFill>
            <a:srgbClr val="94A3B8"/>
          </a:solidFill>
          <a:ln w="6350">
            <a:solidFill>
              <a:srgbClr val="E2E8F0"/>
            </a:solidFill>
            <a:prstDash val="solid"/>
          </a:ln>
        </p:spPr>
      </p:sp>
      <p:sp>
        <p:nvSpPr>
          <p:cNvPr id="21" name="Shape 19"/>
          <p:cNvSpPr/>
          <p:nvPr/>
        </p:nvSpPr>
        <p:spPr>
          <a:xfrm>
            <a:off x="3337560" y="1645920"/>
            <a:ext cx="2286000" cy="2286000"/>
          </a:xfrm>
          <a:prstGeom prst="roundRect">
            <a:avLst>
              <a:gd name="adj" fmla="val 2000"/>
            </a:avLst>
          </a:prstGeom>
          <a:solidFill>
            <a:srgbClr val="FFFFFF"/>
          </a:solidFill>
          <a:ln w="12700">
            <a:solidFill>
              <a:srgbClr val="E2E8F0"/>
            </a:solidFill>
            <a:prstDash val="solid"/>
          </a:ln>
        </p:spPr>
      </p:sp>
      <p:sp>
        <p:nvSpPr>
          <p:cNvPr id="22" name="Shape 20"/>
          <p:cNvSpPr/>
          <p:nvPr/>
        </p:nvSpPr>
        <p:spPr>
          <a:xfrm>
            <a:off x="3474720" y="1783080"/>
            <a:ext cx="320040" cy="228600"/>
          </a:xfrm>
          <a:prstGeom prst="roundRect">
            <a:avLst>
              <a:gd name="adj" fmla="val 200000"/>
            </a:avLst>
          </a:prstGeom>
          <a:solidFill>
            <a:srgbClr val="FEE2E2"/>
          </a:solidFill>
          <a:ln/>
        </p:spPr>
      </p:sp>
      <p:sp>
        <p:nvSpPr>
          <p:cNvPr id="23" name="Text 21"/>
          <p:cNvSpPr/>
          <p:nvPr/>
        </p:nvSpPr>
        <p:spPr>
          <a:xfrm>
            <a:off x="347472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2</a:t>
            </a:r>
            <a:endParaRPr lang="en-US" sz="900" dirty="0"/>
          </a:p>
        </p:txBody>
      </p:sp>
      <p:sp>
        <p:nvSpPr>
          <p:cNvPr id="24" name="Text 22"/>
          <p:cNvSpPr/>
          <p:nvPr/>
        </p:nvSpPr>
        <p:spPr>
          <a:xfrm>
            <a:off x="388620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Quét ngầm Worker</a:t>
            </a:r>
            <a:endParaRPr lang="en-US" sz="1000" dirty="0"/>
          </a:p>
        </p:txBody>
      </p:sp>
      <p:sp>
        <p:nvSpPr>
          <p:cNvPr id="25" name="Text 23"/>
          <p:cNvSpPr/>
          <p:nvPr/>
        </p:nvSpPr>
        <p:spPr>
          <a:xfrm>
            <a:off x="347472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Cron job worker chạy ngầm độc lập mỗi phút quét danh sách tin chờ gửi.</a:t>
            </a:r>
            <a:endParaRPr lang="en-US" sz="820" dirty="0"/>
          </a:p>
        </p:txBody>
      </p:sp>
      <p:sp>
        <p:nvSpPr>
          <p:cNvPr id="26" name="Shape 24"/>
          <p:cNvSpPr/>
          <p:nvPr/>
        </p:nvSpPr>
        <p:spPr>
          <a:xfrm>
            <a:off x="5660136" y="2697480"/>
            <a:ext cx="109728" cy="182880"/>
          </a:xfrm>
          <a:prstGeom prst="rightArrow">
            <a:avLst/>
          </a:prstGeom>
          <a:solidFill>
            <a:srgbClr val="94A3B8"/>
          </a:solidFill>
          <a:ln w="6350">
            <a:solidFill>
              <a:srgbClr val="E2E8F0"/>
            </a:solidFill>
            <a:prstDash val="solid"/>
          </a:ln>
        </p:spPr>
      </p:sp>
      <p:sp>
        <p:nvSpPr>
          <p:cNvPr id="27" name="Shape 25"/>
          <p:cNvSpPr/>
          <p:nvPr/>
        </p:nvSpPr>
        <p:spPr>
          <a:xfrm>
            <a:off x="5943600" y="1645920"/>
            <a:ext cx="2286000" cy="2286000"/>
          </a:xfrm>
          <a:prstGeom prst="roundRect">
            <a:avLst>
              <a:gd name="adj" fmla="val 2000"/>
            </a:avLst>
          </a:prstGeom>
          <a:solidFill>
            <a:srgbClr val="FFFFFF"/>
          </a:solidFill>
          <a:ln w="12700">
            <a:solidFill>
              <a:srgbClr val="E2E8F0"/>
            </a:solidFill>
            <a:prstDash val="solid"/>
          </a:ln>
        </p:spPr>
      </p:sp>
      <p:sp>
        <p:nvSpPr>
          <p:cNvPr id="28" name="Shape 26"/>
          <p:cNvSpPr/>
          <p:nvPr/>
        </p:nvSpPr>
        <p:spPr>
          <a:xfrm>
            <a:off x="6080760" y="1783080"/>
            <a:ext cx="320040" cy="228600"/>
          </a:xfrm>
          <a:prstGeom prst="roundRect">
            <a:avLst>
              <a:gd name="adj" fmla="val 200000"/>
            </a:avLst>
          </a:prstGeom>
          <a:solidFill>
            <a:srgbClr val="FEE2E2"/>
          </a:solidFill>
          <a:ln/>
        </p:spPr>
      </p:sp>
      <p:sp>
        <p:nvSpPr>
          <p:cNvPr id="29" name="Text 27"/>
          <p:cNvSpPr/>
          <p:nvPr/>
        </p:nvSpPr>
        <p:spPr>
          <a:xfrm>
            <a:off x="6080760" y="1783080"/>
            <a:ext cx="320040" cy="228600"/>
          </a:xfrm>
          <a:prstGeom prst="rect">
            <a:avLst/>
          </a:prstGeom>
          <a:noFill/>
          <a:ln/>
        </p:spPr>
        <p:txBody>
          <a:bodyPr wrap="square" rtlCol="0" anchor="ctr"/>
          <a:lstStyle/>
          <a:p>
            <a:pPr algn="ctr" indent="0" marL="0">
              <a:buNone/>
            </a:pPr>
            <a:r>
              <a:rPr lang="en-US" sz="900" b="1" dirty="0">
                <a:solidFill>
                  <a:srgbClr val="BD1D2D"/>
                </a:solidFill>
                <a:latin typeface="Segoe UI" pitchFamily="34" charset="0"/>
                <a:ea typeface="Segoe UI" pitchFamily="34" charset="-122"/>
                <a:cs typeface="Segoe UI" pitchFamily="34" charset="-120"/>
              </a:rPr>
              <a:t>3</a:t>
            </a:r>
            <a:endParaRPr lang="en-US" sz="900" dirty="0"/>
          </a:p>
        </p:txBody>
      </p:sp>
      <p:sp>
        <p:nvSpPr>
          <p:cNvPr id="30" name="Text 28"/>
          <p:cNvSpPr/>
          <p:nvPr/>
        </p:nvSpPr>
        <p:spPr>
          <a:xfrm>
            <a:off x="6492240" y="1783080"/>
            <a:ext cx="1600200" cy="228600"/>
          </a:xfrm>
          <a:prstGeom prst="rect">
            <a:avLst/>
          </a:prstGeom>
          <a:noFill/>
          <a:ln/>
        </p:spPr>
        <p:txBody>
          <a:bodyPr wrap="square" rtlCol="0" anchor="ctr"/>
          <a:lstStyle/>
          <a:p>
            <a:pPr indent="0" marL="0">
              <a:buNone/>
            </a:pPr>
            <a:r>
              <a:rPr lang="en-US" sz="1000" b="1" dirty="0">
                <a:solidFill>
                  <a:srgbClr val="0F172A"/>
                </a:solidFill>
                <a:latin typeface="Segoe UI" pitchFamily="34" charset="0"/>
                <a:ea typeface="Segoe UI" pitchFamily="34" charset="-122"/>
                <a:cs typeface="Segoe UI" pitchFamily="34" charset="-120"/>
              </a:rPr>
              <a:t>Gửi API ngoài</a:t>
            </a:r>
            <a:endParaRPr lang="en-US" sz="1000" dirty="0"/>
          </a:p>
        </p:txBody>
      </p:sp>
      <p:sp>
        <p:nvSpPr>
          <p:cNvPr id="31" name="Text 29"/>
          <p:cNvSpPr/>
          <p:nvPr/>
        </p:nvSpPr>
        <p:spPr>
          <a:xfrm>
            <a:off x="6080760" y="2057400"/>
            <a:ext cx="2011680" cy="1737360"/>
          </a:xfrm>
          <a:prstGeom prst="rect">
            <a:avLst/>
          </a:prstGeom>
          <a:noFill/>
          <a:ln/>
        </p:spPr>
        <p:txBody>
          <a:bodyPr wrap="square" rtlCol="0" anchor="t"/>
          <a:lstStyle/>
          <a:p>
            <a:pPr indent="0" marL="0">
              <a:lnSpc>
                <a:spcPts val="1100"/>
              </a:lnSpc>
              <a:buNone/>
            </a:pPr>
            <a:r>
              <a:rPr lang="en-US" sz="820" dirty="0">
                <a:solidFill>
                  <a:srgbClr val="475569"/>
                </a:solidFill>
                <a:latin typeface="Segoe UI" pitchFamily="34" charset="0"/>
                <a:ea typeface="Segoe UI" pitchFamily="34" charset="-122"/>
                <a:cs typeface="Segoe UI" pitchFamily="34" charset="-120"/>
              </a:rPr>
              <a:t>Gọi cURL ngoài ngầm, tự động thử lại 3 lần nếu mất mạng và dọn logs.</a:t>
            </a:r>
            <a:endParaRPr lang="en-US" sz="82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48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HÀNG ĐỢI</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Lược Đồ Bảng Hàng Đợi zalo_queue</a:t>
            </a:r>
            <a:endParaRPr lang="en-US" sz="19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731520" y="1371600"/>
          <a:ext cx="8046720" cy="3017520"/>
        </p:xfrm>
        <a:graphic>
          <a:graphicData uri="http://schemas.openxmlformats.org/drawingml/2006/table">
            <a:tbl>
              <a:tblPr/>
              <a:tblGrid>
                <a:gridCol w="2011680"/>
                <a:gridCol w="2011680"/>
                <a:gridCol w="2011680"/>
                <a:gridCol w="2011680"/>
              </a:tblGrid>
              <a:tr h="502920">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TRƯỜNG CSDL</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KIỂU DỮ LIỆU</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RÀNG BUỘC / MẶC ĐỊNH</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VAI TRÒ NGHIỆP VỤ</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INT (11) AUTO_INCREMENT</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PRIMARY KEY</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Định danh tin nhắn duy nhất</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payload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TEXT</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NOT NULL</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Dữ liệu JSON chứa số điện thoại, nội dung gửi</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status</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VARCHAR (20)</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'pending'</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Trạng thái hàng đợi: pending, processing, sent, failed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attempts</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INT (11)</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0</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Số lần đã thử gửi tin nhắn khi gặp lỗi mạng</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5029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lead_id</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INT (11)</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NULL</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Liên kết lead để đối soát mốc thời gian nhận</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16" name="Text 13"/>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49 / 60</a:t>
            </a:r>
            <a:endParaRPr lang="en-US" sz="850" dirty="0"/>
          </a:p>
        </p:txBody>
      </p:sp>
      <p:sp>
        <p:nvSpPr>
          <p:cNvPr id="17" name="Text 14"/>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HÀNG ĐỢI</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Luồng Gửi Tin Nhắn Zalo Bất Đồng Bộ</a:t>
            </a:r>
            <a:endParaRPr lang="en-US" sz="1900" dirty="0"/>
          </a:p>
        </p:txBody>
      </p:sp>
      <p:sp>
        <p:nvSpPr>
          <p:cNvPr id="15" name="Shape 13"/>
          <p:cNvSpPr/>
          <p:nvPr/>
        </p:nvSpPr>
        <p:spPr>
          <a:xfrm>
            <a:off x="731520" y="1280160"/>
            <a:ext cx="384048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HÀM SENDZALOMESSAGEWRAPPER</a:t>
            </a:r>
            <a:endParaRPr lang="en-US" sz="950" dirty="0"/>
          </a:p>
        </p:txBody>
      </p:sp>
      <p:sp>
        <p:nvSpPr>
          <p:cNvPr id="17" name="Text 15"/>
          <p:cNvSpPr/>
          <p:nvPr/>
        </p:nvSpPr>
        <p:spPr>
          <a:xfrm>
            <a:off x="9144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Tiếp nhận thông tin người nhận, nội dung mẫu tin nhắn Zalo OA.</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Kiểm tra tham số sync. Nếu false -&gt; Chuyển hướng lưu vào CSDL.</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Trả về kết quả thành công ảo cho luồng chính để tiếp tục chạy.</a:t>
            </a:r>
            <a:endParaRPr lang="en-US" sz="920" dirty="0"/>
          </a:p>
        </p:txBody>
      </p:sp>
      <p:sp>
        <p:nvSpPr>
          <p:cNvPr id="18" name="Shape 16"/>
          <p:cNvSpPr/>
          <p:nvPr/>
        </p:nvSpPr>
        <p:spPr>
          <a:xfrm>
            <a:off x="4846320" y="1280160"/>
            <a:ext cx="3840480" cy="3291840"/>
          </a:xfrm>
          <a:prstGeom prst="roundRect">
            <a:avLst>
              <a:gd name="adj" fmla="val 1389"/>
            </a:avLst>
          </a:prstGeom>
          <a:solidFill>
            <a:srgbClr val="FFFFFF"/>
          </a:solidFill>
          <a:ln w="12700">
            <a:solidFill>
              <a:srgbClr val="E2E8F0"/>
            </a:solidFill>
            <a:prstDash val="solid"/>
          </a:ln>
        </p:spPr>
      </p:sp>
      <p:sp>
        <p:nvSpPr>
          <p:cNvPr id="19" name="Text 17"/>
          <p:cNvSpPr/>
          <p:nvPr/>
        </p:nvSpPr>
        <p:spPr>
          <a:xfrm>
            <a:off x="50292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TIẾN TRÌNH GỬI THỰC TẾ</a:t>
            </a:r>
            <a:endParaRPr lang="en-US" sz="950" dirty="0"/>
          </a:p>
        </p:txBody>
      </p:sp>
      <p:sp>
        <p:nvSpPr>
          <p:cNvPr id="20" name="Text 18"/>
          <p:cNvSpPr/>
          <p:nvPr/>
        </p:nvSpPr>
        <p:spPr>
          <a:xfrm>
            <a:off x="50292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Worker lấy bản ghi từ zalo_queue để thực hiện cuộc gọi Zalo API.</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Xử lý các mã phản hồi lỗi từ Zalo (hết hạn Token, sai ID người dùng).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Thực hiện tự động làm mới Access Token của Zalo OA khi hết hạn.</a:t>
            </a:r>
            <a:endParaRPr lang="en-US" sz="92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50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HÀNG ĐỢI</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Luồng Gửi Tin Nhắn Telegram Bất Đồng Bộ</a:t>
            </a:r>
            <a:endParaRPr lang="en-US" sz="1900" dirty="0"/>
          </a:p>
        </p:txBody>
      </p:sp>
      <p:sp>
        <p:nvSpPr>
          <p:cNvPr id="15" name="Shape 13"/>
          <p:cNvSpPr/>
          <p:nvPr/>
        </p:nvSpPr>
        <p:spPr>
          <a:xfrm>
            <a:off x="731520" y="1280160"/>
            <a:ext cx="384048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HÀM SENDTELEGRAMMESSAGEWRAPPER</a:t>
            </a:r>
            <a:endParaRPr lang="en-US" sz="950" dirty="0"/>
          </a:p>
        </p:txBody>
      </p:sp>
      <p:sp>
        <p:nvSpPr>
          <p:cNvPr id="17" name="Text 15"/>
          <p:cNvSpPr/>
          <p:nvPr/>
        </p:nvSpPr>
        <p:spPr>
          <a:xfrm>
            <a:off x="9144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Tiếp nhận chat_id nhóm nhận và nội dung tin nhắn Markdown.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Ghi nhận vào bảng telegram_queue chỉ trong 1 truy vấn INSERT nhanh.</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Giải phóng tiến trình PHP ngay lập tức.</a:t>
            </a:r>
            <a:endParaRPr lang="en-US" sz="920" dirty="0"/>
          </a:p>
        </p:txBody>
      </p:sp>
      <p:sp>
        <p:nvSpPr>
          <p:cNvPr id="18" name="Shape 16"/>
          <p:cNvSpPr/>
          <p:nvPr/>
        </p:nvSpPr>
        <p:spPr>
          <a:xfrm>
            <a:off x="4846320" y="1280160"/>
            <a:ext cx="3840480" cy="3291840"/>
          </a:xfrm>
          <a:prstGeom prst="roundRect">
            <a:avLst>
              <a:gd name="adj" fmla="val 1389"/>
            </a:avLst>
          </a:prstGeom>
          <a:solidFill>
            <a:srgbClr val="FFFFFF"/>
          </a:solidFill>
          <a:ln w="12700">
            <a:solidFill>
              <a:srgbClr val="E2E8F0"/>
            </a:solidFill>
            <a:prstDash val="solid"/>
          </a:ln>
        </p:spPr>
      </p:sp>
      <p:sp>
        <p:nvSpPr>
          <p:cNvPr id="19" name="Text 17"/>
          <p:cNvSpPr/>
          <p:nvPr/>
        </p:nvSpPr>
        <p:spPr>
          <a:xfrm>
            <a:off x="50292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GỬI VÀ CẬP NHẬT LOG</a:t>
            </a:r>
            <a:endParaRPr lang="en-US" sz="950" dirty="0"/>
          </a:p>
        </p:txBody>
      </p:sp>
      <p:sp>
        <p:nvSpPr>
          <p:cNvPr id="20" name="Text 18"/>
          <p:cNvSpPr/>
          <p:nvPr/>
        </p:nvSpPr>
        <p:spPr>
          <a:xfrm>
            <a:off x="50292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Worker gọi API Telegram SendMessage ngầm.</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Cập nhật trạng thái sent trong hàng đợi sau khi Telegram phản hồi HTTP 200.</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Đảm bảo thông tin nhóm chat quản trị luôn được cập nhật đầy đủ.</a:t>
            </a:r>
            <a:endParaRPr lang="en-US" sz="92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51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HÀNG ĐỢI</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Cơ Chế Vận Hành Hàng Đợi Chạy Ngầm (Worker)</a:t>
            </a:r>
            <a:endParaRPr lang="en-US" sz="1900" dirty="0"/>
          </a:p>
        </p:txBody>
      </p:sp>
      <p:sp>
        <p:nvSpPr>
          <p:cNvPr id="15" name="Shape 13"/>
          <p:cNvSpPr/>
          <p:nvPr/>
        </p:nvSpPr>
        <p:spPr>
          <a:xfrm>
            <a:off x="731520" y="1280160"/>
            <a:ext cx="2499360" cy="3291840"/>
          </a:xfrm>
          <a:prstGeom prst="roundRect">
            <a:avLst>
              <a:gd name="adj" fmla="val 1829"/>
            </a:avLst>
          </a:prstGeom>
          <a:solidFill>
            <a:srgbClr val="FFFFFF"/>
          </a:solidFill>
          <a:ln w="12700">
            <a:solidFill>
              <a:srgbClr val="E2E8F0"/>
            </a:solidFill>
            <a:prstDash val="solid"/>
          </a:ln>
        </p:spPr>
      </p:sp>
      <p:sp>
        <p:nvSpPr>
          <p:cNvPr id="16" name="Text 14"/>
          <p:cNvSpPr/>
          <p:nvPr/>
        </p:nvSpPr>
        <p:spPr>
          <a:xfrm>
            <a:off x="91440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QUÉT CRON ĐỊNH KỲ</a:t>
            </a:r>
            <a:endParaRPr lang="en-US" sz="950" dirty="0"/>
          </a:p>
        </p:txBody>
      </p:sp>
      <p:sp>
        <p:nvSpPr>
          <p:cNvPr id="17" name="Text 15"/>
          <p:cNvSpPr/>
          <p:nvPr/>
        </p:nvSpPr>
        <p:spPr>
          <a:xfrm>
            <a:off x="91440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Được thiết lập chạy ngầm liên tục mỗi phút để xử lý queue.</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Giới hạn batch size mỗi lần quét để bảo vệ tài nguyên CPU.</a:t>
            </a:r>
            <a:endParaRPr lang="en-US" sz="920" dirty="0"/>
          </a:p>
        </p:txBody>
      </p:sp>
      <p:sp>
        <p:nvSpPr>
          <p:cNvPr id="18" name="Shape 16"/>
          <p:cNvSpPr/>
          <p:nvPr/>
        </p:nvSpPr>
        <p:spPr>
          <a:xfrm>
            <a:off x="3505200" y="1280160"/>
            <a:ext cx="2499360" cy="3291840"/>
          </a:xfrm>
          <a:prstGeom prst="roundRect">
            <a:avLst>
              <a:gd name="adj" fmla="val 1829"/>
            </a:avLst>
          </a:prstGeom>
          <a:solidFill>
            <a:srgbClr val="FFFFFF"/>
          </a:solidFill>
          <a:ln w="12700">
            <a:solidFill>
              <a:srgbClr val="E2E8F0"/>
            </a:solidFill>
            <a:prstDash val="solid"/>
          </a:ln>
        </p:spPr>
      </p:sp>
      <p:sp>
        <p:nvSpPr>
          <p:cNvPr id="19" name="Text 17"/>
          <p:cNvSpPr/>
          <p:nvPr/>
        </p:nvSpPr>
        <p:spPr>
          <a:xfrm>
            <a:off x="368808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TỰ ĐỘNG RETRY LỖI</a:t>
            </a:r>
            <a:endParaRPr lang="en-US" sz="950" dirty="0"/>
          </a:p>
        </p:txBody>
      </p:sp>
      <p:sp>
        <p:nvSpPr>
          <p:cNvPr id="20" name="Text 18"/>
          <p:cNvSpPr/>
          <p:nvPr/>
        </p:nvSpPr>
        <p:spPr>
          <a:xfrm>
            <a:off x="368808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Thử lại tối đa 3 lần khi tin nhắn gặp lỗi ngắt mạng.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Tự động giãn cách thời gian giữa các lần thử để tăng tỷ lệ gửi.</a:t>
            </a:r>
            <a:endParaRPr lang="en-US" sz="920" dirty="0"/>
          </a:p>
        </p:txBody>
      </p:sp>
      <p:sp>
        <p:nvSpPr>
          <p:cNvPr id="21" name="Shape 19"/>
          <p:cNvSpPr/>
          <p:nvPr/>
        </p:nvSpPr>
        <p:spPr>
          <a:xfrm>
            <a:off x="6278880" y="1280160"/>
            <a:ext cx="2499360" cy="3291840"/>
          </a:xfrm>
          <a:prstGeom prst="roundRect">
            <a:avLst>
              <a:gd name="adj" fmla="val 1829"/>
            </a:avLst>
          </a:prstGeom>
          <a:solidFill>
            <a:srgbClr val="FFFFFF"/>
          </a:solidFill>
          <a:ln w="12700">
            <a:solidFill>
              <a:srgbClr val="E2E8F0"/>
            </a:solidFill>
            <a:prstDash val="solid"/>
          </a:ln>
        </p:spPr>
      </p:sp>
      <p:sp>
        <p:nvSpPr>
          <p:cNvPr id="22" name="Text 20"/>
          <p:cNvSpPr/>
          <p:nvPr/>
        </p:nvSpPr>
        <p:spPr>
          <a:xfrm>
            <a:off x="6461760" y="1417320"/>
            <a:ext cx="213360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PURGE &amp; DỌN DẸP LOG</a:t>
            </a:r>
            <a:endParaRPr lang="en-US" sz="950" dirty="0"/>
          </a:p>
        </p:txBody>
      </p:sp>
      <p:sp>
        <p:nvSpPr>
          <p:cNvPr id="23" name="Text 21"/>
          <p:cNvSpPr/>
          <p:nvPr/>
        </p:nvSpPr>
        <p:spPr>
          <a:xfrm>
            <a:off x="6461760" y="1709928"/>
            <a:ext cx="213360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Tự động purge dọn dẹp các bản ghi sent/failed đã lưu trên 30 ngày.</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Tối ưu bộ nhớ bảng ghi giúp CSDL Staging không bị phình to.</a:t>
            </a:r>
            <a:endParaRPr lang="en-US" sz="920" dirty="0"/>
          </a:p>
        </p:txBody>
      </p:sp>
      <p:sp>
        <p:nvSpPr>
          <p:cNvPr id="24" name="Text 2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52 / 60</a:t>
            </a:r>
            <a:endParaRPr lang="en-US" sz="850" dirty="0"/>
          </a:p>
        </p:txBody>
      </p:sp>
      <p:sp>
        <p:nvSpPr>
          <p:cNvPr id="25" name="Text 2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HÀNG ĐỢI</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Đồng Hồ Bảo Mật &amp; Phản Hồi Real-Time</a:t>
            </a:r>
            <a:endParaRPr lang="en-US" sz="1900" dirty="0"/>
          </a:p>
        </p:txBody>
      </p:sp>
      <p:sp>
        <p:nvSpPr>
          <p:cNvPr id="15" name="Shape 13"/>
          <p:cNvSpPr/>
          <p:nvPr/>
        </p:nvSpPr>
        <p:spPr>
          <a:xfrm>
            <a:off x="731520" y="1280160"/>
            <a:ext cx="3057754" cy="3200400"/>
          </a:xfrm>
          <a:prstGeom prst="roundRect">
            <a:avLst>
              <a:gd name="adj" fmla="val 1794"/>
            </a:avLst>
          </a:prstGeom>
          <a:solidFill>
            <a:srgbClr val="FFFFFF"/>
          </a:solidFill>
          <a:ln w="25400">
            <a:solidFill>
              <a:srgbClr val="BD1D2D"/>
            </a:solidFill>
            <a:prstDash val="solid"/>
          </a:ln>
        </p:spPr>
      </p:sp>
      <p:sp>
        <p:nvSpPr>
          <p:cNvPr id="16" name="Text 14"/>
          <p:cNvSpPr/>
          <p:nvPr/>
        </p:nvSpPr>
        <p:spPr>
          <a:xfrm>
            <a:off x="868680" y="1554480"/>
            <a:ext cx="2783434" cy="731520"/>
          </a:xfrm>
          <a:prstGeom prst="rect">
            <a:avLst/>
          </a:prstGeom>
          <a:noFill/>
          <a:ln/>
        </p:spPr>
        <p:txBody>
          <a:bodyPr wrap="square" rtlCol="0" anchor="ctr"/>
          <a:lstStyle/>
          <a:p>
            <a:pPr algn="ctr" indent="0" marL="0">
              <a:buNone/>
            </a:pPr>
            <a:r>
              <a:rPr lang="en-US" sz="3400" b="1" dirty="0">
                <a:solidFill>
                  <a:srgbClr val="BD1D2D"/>
                </a:solidFill>
                <a:latin typeface="Segoe UI" pitchFamily="34" charset="0"/>
                <a:ea typeface="Segoe UI" pitchFamily="34" charset="-122"/>
                <a:cs typeface="Segoe UI" pitchFamily="34" charset="-120"/>
              </a:rPr>
              <a:t>120s</a:t>
            </a:r>
            <a:endParaRPr lang="en-US" sz="3400" dirty="0"/>
          </a:p>
        </p:txBody>
      </p:sp>
      <p:sp>
        <p:nvSpPr>
          <p:cNvPr id="17" name="Text 15"/>
          <p:cNvSpPr/>
          <p:nvPr/>
        </p:nvSpPr>
        <p:spPr>
          <a:xfrm>
            <a:off x="868680" y="2377440"/>
            <a:ext cx="2783434"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THỜI GIAN PHẢN HỒI KHẨN CẤP</a:t>
            </a:r>
            <a:endParaRPr lang="en-US" sz="950" dirty="0"/>
          </a:p>
        </p:txBody>
      </p:sp>
      <p:sp>
        <p:nvSpPr>
          <p:cNvPr id="18" name="Text 16"/>
          <p:cNvSpPr/>
          <p:nvPr/>
        </p:nvSpPr>
        <p:spPr>
          <a:xfrm>
            <a:off x="868680" y="2743200"/>
            <a:ext cx="2783434" cy="1554480"/>
          </a:xfrm>
          <a:prstGeom prst="rect">
            <a:avLst/>
          </a:prstGeom>
          <a:noFill/>
          <a:ln/>
        </p:spPr>
        <p:txBody>
          <a:bodyPr wrap="square" rtlCol="0" anchor="t"/>
          <a:lstStyle/>
          <a:p>
            <a:pPr algn="ctr" indent="0" marL="0">
              <a:lnSpc>
                <a:spcPts val="1200"/>
              </a:lnSpc>
              <a:buNone/>
            </a:pPr>
            <a:r>
              <a:rPr lang="en-US" sz="850" dirty="0">
                <a:solidFill>
                  <a:srgbClr val="475569"/>
                </a:solidFill>
                <a:latin typeface="Segoe UI" pitchFamily="34" charset="0"/>
                <a:ea typeface="Segoe UI" pitchFamily="34" charset="-122"/>
                <a:cs typeface="Segoe UI" pitchFamily="34" charset="-120"/>
              </a:rPr>
              <a:t>Đồng hồ đếm ngược kích hoạt ngay khi tin nhắn báo lead gửi thành công ngầm. Bắt buộc Sale phải click nhận trong 2p.</a:t>
            </a:r>
            <a:endParaRPr lang="en-US" sz="850" dirty="0"/>
          </a:p>
        </p:txBody>
      </p:sp>
      <p:sp>
        <p:nvSpPr>
          <p:cNvPr id="19" name="Shape 17"/>
          <p:cNvSpPr/>
          <p:nvPr/>
        </p:nvSpPr>
        <p:spPr>
          <a:xfrm>
            <a:off x="4111142" y="1280160"/>
            <a:ext cx="4667098" cy="3200400"/>
          </a:xfrm>
          <a:prstGeom prst="roundRect">
            <a:avLst>
              <a:gd name="adj" fmla="val 1429"/>
            </a:avLst>
          </a:prstGeom>
          <a:solidFill>
            <a:srgbClr val="FFFFFF"/>
          </a:solidFill>
          <a:ln w="12700">
            <a:solidFill>
              <a:srgbClr val="E2E8F0"/>
            </a:solidFill>
            <a:prstDash val="solid"/>
          </a:ln>
        </p:spPr>
      </p:sp>
      <p:sp>
        <p:nvSpPr>
          <p:cNvPr id="20" name="Text 18"/>
          <p:cNvSpPr/>
          <p:nvPr/>
        </p:nvSpPr>
        <p:spPr>
          <a:xfrm>
            <a:off x="4294022" y="1417320"/>
            <a:ext cx="4301338"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CƠ CHẾ BẢO VỆ THỜI GIAN</a:t>
            </a:r>
            <a:endParaRPr lang="en-US" sz="950" dirty="0"/>
          </a:p>
        </p:txBody>
      </p:sp>
      <p:sp>
        <p:nvSpPr>
          <p:cNvPr id="21" name="Text 19"/>
          <p:cNvSpPr/>
          <p:nvPr/>
        </p:nvSpPr>
        <p:spPr>
          <a:xfrm>
            <a:off x="4294022" y="1709928"/>
            <a:ext cx="4301338" cy="263347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Loại bỏ hoàn toàn sai lệch thời gian do trễ kết nối mạng gọi API ngoài.</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Nếu quá 120s không tương tác, cron tự động thu hồi (Recall) và chuyển lead cho Sale tiếp theo.</a:t>
            </a:r>
            <a:endParaRPr lang="en-US" sz="920" dirty="0"/>
          </a:p>
        </p:txBody>
      </p:sp>
      <p:sp>
        <p:nvSpPr>
          <p:cNvPr id="22" name="Text 2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53 / 60</a:t>
            </a:r>
            <a:endParaRPr lang="en-US" sz="850" dirty="0"/>
          </a:p>
        </p:txBody>
      </p:sp>
      <p:sp>
        <p:nvSpPr>
          <p:cNvPr id="23" name="Text 2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DEVOPS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Bản Đồ Thành Phần Khung Kiểm Thử Tích Hợp</a:t>
            </a:r>
            <a:endParaRPr lang="en-US" sz="1900" dirty="0"/>
          </a:p>
        </p:txBody>
      </p:sp>
      <p:sp>
        <p:nvSpPr>
          <p:cNvPr id="15" name="Shape 13"/>
          <p:cNvSpPr/>
          <p:nvPr/>
        </p:nvSpPr>
        <p:spPr>
          <a:xfrm>
            <a:off x="731520" y="1280160"/>
            <a:ext cx="3886200" cy="1508760"/>
          </a:xfrm>
          <a:prstGeom prst="roundRect">
            <a:avLst>
              <a:gd name="adj" fmla="val 3030"/>
            </a:avLst>
          </a:prstGeom>
          <a:solidFill>
            <a:srgbClr val="FFFFFF"/>
          </a:solidFill>
          <a:ln w="12700">
            <a:solidFill>
              <a:srgbClr val="E2E8F0"/>
            </a:solidFill>
            <a:prstDash val="solid"/>
          </a:ln>
        </p:spPr>
      </p:sp>
      <p:sp>
        <p:nvSpPr>
          <p:cNvPr id="16" name="Text 14"/>
          <p:cNvSpPr/>
          <p:nvPr/>
        </p:nvSpPr>
        <p:spPr>
          <a:xfrm>
            <a:off x="914400" y="1417320"/>
            <a:ext cx="35204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KHỞI TẠO MÔI TRƯỜNG CSDL</a:t>
            </a:r>
            <a:endParaRPr lang="en-US" sz="950" dirty="0"/>
          </a:p>
        </p:txBody>
      </p:sp>
      <p:sp>
        <p:nvSpPr>
          <p:cNvPr id="17" name="Text 15"/>
          <p:cNvSpPr/>
          <p:nvPr/>
        </p:nvSpPr>
        <p:spPr>
          <a:xfrm>
            <a:off x="914400" y="1709928"/>
            <a:ext cx="3520440" cy="941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test_bootstrap.php chuẩn bị sẵn kết nối $conn &amp; $pdo.</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Giúp chạy test tức thì mà không cần khai báo lại database.</a:t>
            </a:r>
            <a:endParaRPr lang="en-US" sz="920" dirty="0"/>
          </a:p>
        </p:txBody>
      </p:sp>
      <p:sp>
        <p:nvSpPr>
          <p:cNvPr id="18" name="Shape 16"/>
          <p:cNvSpPr/>
          <p:nvPr/>
        </p:nvSpPr>
        <p:spPr>
          <a:xfrm>
            <a:off x="4892040" y="1280160"/>
            <a:ext cx="3886200" cy="1508760"/>
          </a:xfrm>
          <a:prstGeom prst="roundRect">
            <a:avLst>
              <a:gd name="adj" fmla="val 3030"/>
            </a:avLst>
          </a:prstGeom>
          <a:solidFill>
            <a:srgbClr val="FFFFFF"/>
          </a:solidFill>
          <a:ln w="12700">
            <a:solidFill>
              <a:srgbClr val="E2E8F0"/>
            </a:solidFill>
            <a:prstDash val="solid"/>
          </a:ln>
        </p:spPr>
      </p:sp>
      <p:sp>
        <p:nvSpPr>
          <p:cNvPr id="19" name="Text 17"/>
          <p:cNvSpPr/>
          <p:nvPr/>
        </p:nvSpPr>
        <p:spPr>
          <a:xfrm>
            <a:off x="5074920" y="1417320"/>
            <a:ext cx="35204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NẠP SẴN HÀM KIỂM THỬ</a:t>
            </a:r>
            <a:endParaRPr lang="en-US" sz="950" dirty="0"/>
          </a:p>
        </p:txBody>
      </p:sp>
      <p:sp>
        <p:nvSpPr>
          <p:cNvPr id="20" name="Text 18"/>
          <p:cNvSpPr/>
          <p:nvPr/>
        </p:nvSpPr>
        <p:spPr>
          <a:xfrm>
            <a:off x="5074920" y="1709928"/>
            <a:ext cx="3520440" cy="941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Tích hợp bộ hàm chẩn đoán: assertTest(), assertDbField().</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Xuất báo cáo tóm tắt tổng số ca pass/fail ở cuối trang.</a:t>
            </a:r>
            <a:endParaRPr lang="en-US" sz="920" dirty="0"/>
          </a:p>
        </p:txBody>
      </p:sp>
      <p:sp>
        <p:nvSpPr>
          <p:cNvPr id="21" name="Shape 19"/>
          <p:cNvSpPr/>
          <p:nvPr/>
        </p:nvSpPr>
        <p:spPr>
          <a:xfrm>
            <a:off x="731520" y="3063240"/>
            <a:ext cx="3886200" cy="1508760"/>
          </a:xfrm>
          <a:prstGeom prst="roundRect">
            <a:avLst>
              <a:gd name="adj" fmla="val 3030"/>
            </a:avLst>
          </a:prstGeom>
          <a:solidFill>
            <a:srgbClr val="FFFFFF"/>
          </a:solidFill>
          <a:ln w="12700">
            <a:solidFill>
              <a:srgbClr val="E2E8F0"/>
            </a:solidFill>
            <a:prstDash val="solid"/>
          </a:ln>
        </p:spPr>
      </p:sp>
      <p:sp>
        <p:nvSpPr>
          <p:cNvPr id="22" name="Text 20"/>
          <p:cNvSpPr/>
          <p:nvPr/>
        </p:nvSpPr>
        <p:spPr>
          <a:xfrm>
            <a:off x="914400" y="3200400"/>
            <a:ext cx="35204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KIỂM THỬ LOGIC CHIA LEAD</a:t>
            </a:r>
            <a:endParaRPr lang="en-US" sz="950" dirty="0"/>
          </a:p>
        </p:txBody>
      </p:sp>
      <p:sp>
        <p:nvSpPr>
          <p:cNvPr id="23" name="Text 21"/>
          <p:cNvSpPr/>
          <p:nvPr/>
        </p:nvSpPr>
        <p:spPr>
          <a:xfrm>
            <a:off x="914400" y="3493008"/>
            <a:ext cx="3520440" cy="941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test_rotation_audit.php mô phỏng roster, check-in, vacation.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Tự động khôi phục lại trạng thái cũ sau khi hoàn tất test.</a:t>
            </a:r>
            <a:endParaRPr lang="en-US" sz="920" dirty="0"/>
          </a:p>
        </p:txBody>
      </p:sp>
      <p:sp>
        <p:nvSpPr>
          <p:cNvPr id="24" name="Shape 22"/>
          <p:cNvSpPr/>
          <p:nvPr/>
        </p:nvSpPr>
        <p:spPr>
          <a:xfrm>
            <a:off x="4892040" y="3063240"/>
            <a:ext cx="3886200" cy="1508760"/>
          </a:xfrm>
          <a:prstGeom prst="roundRect">
            <a:avLst>
              <a:gd name="adj" fmla="val 3030"/>
            </a:avLst>
          </a:prstGeom>
          <a:solidFill>
            <a:srgbClr val="FFFFFF"/>
          </a:solidFill>
          <a:ln w="12700">
            <a:solidFill>
              <a:srgbClr val="E2E8F0"/>
            </a:solidFill>
            <a:prstDash val="solid"/>
          </a:ln>
        </p:spPr>
      </p:sp>
      <p:sp>
        <p:nvSpPr>
          <p:cNvPr id="25" name="Text 23"/>
          <p:cNvSpPr/>
          <p:nvPr/>
        </p:nvSpPr>
        <p:spPr>
          <a:xfrm>
            <a:off x="5074920" y="3200400"/>
            <a:ext cx="35204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QUÉT CÚ PHÁP SQL</a:t>
            </a:r>
            <a:endParaRPr lang="en-US" sz="950" dirty="0"/>
          </a:p>
        </p:txBody>
      </p:sp>
      <p:sp>
        <p:nvSpPr>
          <p:cNvPr id="26" name="Text 24"/>
          <p:cNvSpPr/>
          <p:nvPr/>
        </p:nvSpPr>
        <p:spPr>
          <a:xfrm>
            <a:off x="5074920" y="3493008"/>
            <a:ext cx="3520440" cy="94183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Quét tĩnh các tệp tin backend để tìm câu lệnh không an toàn.</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Chặn đứng lỗi cú pháp truy vấn trước khi deploy lên staging.</a:t>
            </a:r>
            <a:endParaRPr lang="en-US" sz="920" dirty="0"/>
          </a:p>
        </p:txBody>
      </p:sp>
      <p:sp>
        <p:nvSpPr>
          <p:cNvPr id="27" name="Text 25"/>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54 / 60</a:t>
            </a:r>
            <a:endParaRPr lang="en-US" sz="850" dirty="0"/>
          </a:p>
        </p:txBody>
      </p:sp>
      <p:sp>
        <p:nvSpPr>
          <p:cNvPr id="28" name="Text 26"/>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DEVOPS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Môi Trường Kiểm Thử Nhất Quán</a:t>
            </a:r>
            <a:endParaRPr lang="en-US" sz="1900" dirty="0"/>
          </a:p>
        </p:txBody>
      </p:sp>
      <p:sp>
        <p:nvSpPr>
          <p:cNvPr id="15" name="Shape 13"/>
          <p:cNvSpPr/>
          <p:nvPr/>
        </p:nvSpPr>
        <p:spPr>
          <a:xfrm>
            <a:off x="731520" y="1280160"/>
            <a:ext cx="1908810" cy="685800"/>
          </a:xfrm>
          <a:prstGeom prst="roundRect">
            <a:avLst>
              <a:gd name="adj" fmla="val 10667"/>
            </a:avLst>
          </a:prstGeom>
          <a:solidFill>
            <a:srgbClr val="FFFFFF"/>
          </a:solidFill>
          <a:ln w="12700">
            <a:solidFill>
              <a:srgbClr val="E2E8F0"/>
            </a:solidFill>
            <a:prstDash val="solid"/>
          </a:ln>
        </p:spPr>
      </p:sp>
      <p:sp>
        <p:nvSpPr>
          <p:cNvPr id="16" name="Text 14"/>
          <p:cNvSpPr/>
          <p:nvPr/>
        </p:nvSpPr>
        <p:spPr>
          <a:xfrm>
            <a:off x="77724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$conn</a:t>
            </a:r>
            <a:endParaRPr lang="en-US" sz="1500" dirty="0"/>
          </a:p>
        </p:txBody>
      </p:sp>
      <p:sp>
        <p:nvSpPr>
          <p:cNvPr id="17" name="Text 15"/>
          <p:cNvSpPr/>
          <p:nvPr/>
        </p:nvSpPr>
        <p:spPr>
          <a:xfrm>
            <a:off x="77724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MYSQLI GLOBAL</a:t>
            </a:r>
            <a:endParaRPr lang="en-US" sz="700" dirty="0"/>
          </a:p>
        </p:txBody>
      </p:sp>
      <p:sp>
        <p:nvSpPr>
          <p:cNvPr id="18" name="Shape 16"/>
          <p:cNvSpPr/>
          <p:nvPr/>
        </p:nvSpPr>
        <p:spPr>
          <a:xfrm>
            <a:off x="2777490" y="1280160"/>
            <a:ext cx="1908810" cy="685800"/>
          </a:xfrm>
          <a:prstGeom prst="roundRect">
            <a:avLst>
              <a:gd name="adj" fmla="val 10667"/>
            </a:avLst>
          </a:prstGeom>
          <a:solidFill>
            <a:srgbClr val="FFFFFF"/>
          </a:solidFill>
          <a:ln w="12700">
            <a:solidFill>
              <a:srgbClr val="E2E8F0"/>
            </a:solidFill>
            <a:prstDash val="solid"/>
          </a:ln>
        </p:spPr>
      </p:sp>
      <p:sp>
        <p:nvSpPr>
          <p:cNvPr id="19" name="Text 17"/>
          <p:cNvSpPr/>
          <p:nvPr/>
        </p:nvSpPr>
        <p:spPr>
          <a:xfrm>
            <a:off x="282321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$pdo</a:t>
            </a:r>
            <a:endParaRPr lang="en-US" sz="1500" dirty="0"/>
          </a:p>
        </p:txBody>
      </p:sp>
      <p:sp>
        <p:nvSpPr>
          <p:cNvPr id="20" name="Text 18"/>
          <p:cNvSpPr/>
          <p:nvPr/>
        </p:nvSpPr>
        <p:spPr>
          <a:xfrm>
            <a:off x="282321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PDO GLOBAL</a:t>
            </a:r>
            <a:endParaRPr lang="en-US" sz="700" dirty="0"/>
          </a:p>
        </p:txBody>
      </p:sp>
      <p:sp>
        <p:nvSpPr>
          <p:cNvPr id="21" name="Shape 19"/>
          <p:cNvSpPr/>
          <p:nvPr/>
        </p:nvSpPr>
        <p:spPr>
          <a:xfrm>
            <a:off x="4823460" y="1280160"/>
            <a:ext cx="1908810" cy="685800"/>
          </a:xfrm>
          <a:prstGeom prst="roundRect">
            <a:avLst>
              <a:gd name="adj" fmla="val 10667"/>
            </a:avLst>
          </a:prstGeom>
          <a:solidFill>
            <a:srgbClr val="FFFFFF"/>
          </a:solidFill>
          <a:ln w="12700">
            <a:solidFill>
              <a:srgbClr val="E2E8F0"/>
            </a:solidFill>
            <a:prstDash val="solid"/>
          </a:ln>
        </p:spPr>
      </p:sp>
      <p:sp>
        <p:nvSpPr>
          <p:cNvPr id="22" name="Text 20"/>
          <p:cNvSpPr/>
          <p:nvPr/>
        </p:nvSpPr>
        <p:spPr>
          <a:xfrm>
            <a:off x="486918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Mock Sale</a:t>
            </a:r>
            <a:endParaRPr lang="en-US" sz="1500" dirty="0"/>
          </a:p>
        </p:txBody>
      </p:sp>
      <p:sp>
        <p:nvSpPr>
          <p:cNvPr id="23" name="Text 21"/>
          <p:cNvSpPr/>
          <p:nvPr/>
        </p:nvSpPr>
        <p:spPr>
          <a:xfrm>
            <a:off x="486918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CSDL ROW MOCK</a:t>
            </a:r>
            <a:endParaRPr lang="en-US" sz="700" dirty="0"/>
          </a:p>
        </p:txBody>
      </p:sp>
      <p:sp>
        <p:nvSpPr>
          <p:cNvPr id="24" name="Shape 22"/>
          <p:cNvSpPr/>
          <p:nvPr/>
        </p:nvSpPr>
        <p:spPr>
          <a:xfrm>
            <a:off x="6869430" y="1280160"/>
            <a:ext cx="1908810" cy="685800"/>
          </a:xfrm>
          <a:prstGeom prst="roundRect">
            <a:avLst>
              <a:gd name="adj" fmla="val 10667"/>
            </a:avLst>
          </a:prstGeom>
          <a:solidFill>
            <a:srgbClr val="FFFFFF"/>
          </a:solidFill>
          <a:ln w="12700">
            <a:solidFill>
              <a:srgbClr val="E2E8F0"/>
            </a:solidFill>
            <a:prstDash val="solid"/>
          </a:ln>
        </p:spPr>
      </p:sp>
      <p:sp>
        <p:nvSpPr>
          <p:cNvPr id="25" name="Text 23"/>
          <p:cNvSpPr/>
          <p:nvPr/>
        </p:nvSpPr>
        <p:spPr>
          <a:xfrm>
            <a:off x="691515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Auto rollback</a:t>
            </a:r>
            <a:endParaRPr lang="en-US" sz="1500" dirty="0"/>
          </a:p>
        </p:txBody>
      </p:sp>
      <p:sp>
        <p:nvSpPr>
          <p:cNvPr id="26" name="Text 24"/>
          <p:cNvSpPr/>
          <p:nvPr/>
        </p:nvSpPr>
        <p:spPr>
          <a:xfrm>
            <a:off x="691515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DB TRANSACTIONS</a:t>
            </a:r>
            <a:endParaRPr lang="en-US" sz="700" dirty="0"/>
          </a:p>
        </p:txBody>
      </p:sp>
      <p:sp>
        <p:nvSpPr>
          <p:cNvPr id="27" name="Shape 25"/>
          <p:cNvSpPr/>
          <p:nvPr/>
        </p:nvSpPr>
        <p:spPr>
          <a:xfrm>
            <a:off x="731520" y="2103120"/>
            <a:ext cx="8046720" cy="2468880"/>
          </a:xfrm>
          <a:prstGeom prst="roundRect">
            <a:avLst>
              <a:gd name="adj" fmla="val 1852"/>
            </a:avLst>
          </a:prstGeom>
          <a:solidFill>
            <a:srgbClr val="1E293B"/>
          </a:solidFill>
          <a:ln w="19050">
            <a:solidFill>
              <a:srgbClr val="334155"/>
            </a:solidFill>
            <a:prstDash val="solid"/>
          </a:ln>
        </p:spPr>
      </p:sp>
      <p:sp>
        <p:nvSpPr>
          <p:cNvPr id="28" name="Shape 26"/>
          <p:cNvSpPr/>
          <p:nvPr/>
        </p:nvSpPr>
        <p:spPr>
          <a:xfrm>
            <a:off x="731520" y="2103120"/>
            <a:ext cx="8046720" cy="320040"/>
          </a:xfrm>
          <a:prstGeom prst="rect">
            <a:avLst/>
          </a:prstGeom>
          <a:solidFill>
            <a:srgbClr val="0F172A"/>
          </a:solidFill>
          <a:ln/>
        </p:spPr>
      </p:sp>
      <p:sp>
        <p:nvSpPr>
          <p:cNvPr id="29" name="Shape 27"/>
          <p:cNvSpPr/>
          <p:nvPr/>
        </p:nvSpPr>
        <p:spPr>
          <a:xfrm>
            <a:off x="868680" y="2212848"/>
            <a:ext cx="91440" cy="91440"/>
          </a:xfrm>
          <a:prstGeom prst="ellipse">
            <a:avLst/>
          </a:prstGeom>
          <a:solidFill>
            <a:srgbClr val="EF4444"/>
          </a:solidFill>
          <a:ln/>
        </p:spPr>
      </p:sp>
      <p:sp>
        <p:nvSpPr>
          <p:cNvPr id="30" name="Shape 28"/>
          <p:cNvSpPr/>
          <p:nvPr/>
        </p:nvSpPr>
        <p:spPr>
          <a:xfrm>
            <a:off x="1005840" y="2212848"/>
            <a:ext cx="91440" cy="91440"/>
          </a:xfrm>
          <a:prstGeom prst="ellipse">
            <a:avLst/>
          </a:prstGeom>
          <a:solidFill>
            <a:srgbClr val="F59E0B"/>
          </a:solidFill>
          <a:ln/>
        </p:spPr>
      </p:sp>
      <p:sp>
        <p:nvSpPr>
          <p:cNvPr id="31" name="Shape 29"/>
          <p:cNvSpPr/>
          <p:nvPr/>
        </p:nvSpPr>
        <p:spPr>
          <a:xfrm>
            <a:off x="1143000" y="2212848"/>
            <a:ext cx="91440" cy="91440"/>
          </a:xfrm>
          <a:prstGeom prst="ellipse">
            <a:avLst/>
          </a:prstGeom>
          <a:solidFill>
            <a:srgbClr val="10B981"/>
          </a:solidFill>
          <a:ln/>
        </p:spPr>
      </p:sp>
      <p:sp>
        <p:nvSpPr>
          <p:cNvPr id="32" name="Text 30"/>
          <p:cNvSpPr/>
          <p:nvPr/>
        </p:nvSpPr>
        <p:spPr>
          <a:xfrm>
            <a:off x="1371600" y="2103120"/>
            <a:ext cx="7132320" cy="320040"/>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test_rotation_audit.php</a:t>
            </a:r>
            <a:endParaRPr lang="en-US" sz="800" dirty="0"/>
          </a:p>
        </p:txBody>
      </p:sp>
      <p:sp>
        <p:nvSpPr>
          <p:cNvPr id="33" name="Text 31"/>
          <p:cNvSpPr/>
          <p:nvPr/>
        </p:nvSpPr>
        <p:spPr>
          <a:xfrm>
            <a:off x="868680" y="2514600"/>
            <a:ext cx="7772400" cy="1965960"/>
          </a:xfrm>
          <a:prstGeom prst="rect">
            <a:avLst/>
          </a:prstGeom>
          <a:noFill/>
          <a:ln/>
        </p:spPr>
        <p:txBody>
          <a:bodyPr wrap="square" rtlCol="0" anchor="t"/>
          <a:lstStyle/>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1 |  require_once __DIR__ . '/test_bootstrap.php';</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2 |  try {</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3 |    $conn-&gt;begin_transaction();</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4 |    $testLeadId = mockCreateLead($conn);</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5 |    $saleId = getNextConsultantInRound($conn, $testLeadId);</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6 |    assertTest($saleId &gt; 0, 'getNextConsultant returned valid Sale ID');</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7 |    assertDbField($conn, 'leads', 'id', $testLeadId, 'status', 'assigned');</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8 |  } finally {</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9 |    $conn-&gt;rollback(); // Clean data after test</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10 |  }</a:t>
            </a:r>
            <a:endParaRPr lang="en-US" sz="820" dirty="0"/>
          </a:p>
        </p:txBody>
      </p:sp>
      <p:sp>
        <p:nvSpPr>
          <p:cNvPr id="34" name="Text 3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55 / 60</a:t>
            </a:r>
            <a:endParaRPr lang="en-US" sz="850" dirty="0"/>
          </a:p>
        </p:txBody>
      </p:sp>
      <p:sp>
        <p:nvSpPr>
          <p:cNvPr id="35" name="Text 3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DEVOPS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Bộ Công Cụ Chẩn Đoán &amp; Khẳng Định</a:t>
            </a:r>
            <a:endParaRPr lang="en-US" sz="1900" dirty="0"/>
          </a:p>
        </p:txBody>
      </p:sp>
      <p:sp>
        <p:nvSpPr>
          <p:cNvPr id="15" name="Shape 13"/>
          <p:cNvSpPr/>
          <p:nvPr/>
        </p:nvSpPr>
        <p:spPr>
          <a:xfrm>
            <a:off x="731520" y="1280160"/>
            <a:ext cx="384048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HÀM ASSERTTEST CHẨN ĐOÁN</a:t>
            </a:r>
            <a:endParaRPr lang="en-US" sz="950" dirty="0"/>
          </a:p>
        </p:txBody>
      </p:sp>
      <p:sp>
        <p:nvSpPr>
          <p:cNvPr id="17" name="Text 15"/>
          <p:cNvSpPr/>
          <p:nvPr/>
        </p:nvSpPr>
        <p:spPr>
          <a:xfrm>
            <a:off x="9144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In ra kết quả kiểm thử trực quan dạng PASS/FAIL trên trình duyệt.</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Hiển thị chi tiết giá trị thực tế so với giá trị kỳ vọng khi thất bại.</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Thống kê tổng hợp số lượng ca kiểm thử thành công ở cuối trang.</a:t>
            </a:r>
            <a:endParaRPr lang="en-US" sz="920" dirty="0"/>
          </a:p>
        </p:txBody>
      </p:sp>
      <p:sp>
        <p:nvSpPr>
          <p:cNvPr id="18" name="Shape 16"/>
          <p:cNvSpPr/>
          <p:nvPr/>
        </p:nvSpPr>
        <p:spPr>
          <a:xfrm>
            <a:off x="4846320" y="1280160"/>
            <a:ext cx="3840480" cy="3291840"/>
          </a:xfrm>
          <a:prstGeom prst="roundRect">
            <a:avLst>
              <a:gd name="adj" fmla="val 1389"/>
            </a:avLst>
          </a:prstGeom>
          <a:solidFill>
            <a:srgbClr val="FFFFFF"/>
          </a:solidFill>
          <a:ln w="12700">
            <a:solidFill>
              <a:srgbClr val="E2E8F0"/>
            </a:solidFill>
            <a:prstDash val="solid"/>
          </a:ln>
        </p:spPr>
      </p:sp>
      <p:sp>
        <p:nvSpPr>
          <p:cNvPr id="19" name="Text 17"/>
          <p:cNvSpPr/>
          <p:nvPr/>
        </p:nvSpPr>
        <p:spPr>
          <a:xfrm>
            <a:off x="5029200" y="1417320"/>
            <a:ext cx="347472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HÀM ASSERTDBFIELD KIỂM ĐỐI CHÉO</a:t>
            </a:r>
            <a:endParaRPr lang="en-US" sz="950" dirty="0"/>
          </a:p>
        </p:txBody>
      </p:sp>
      <p:sp>
        <p:nvSpPr>
          <p:cNvPr id="20" name="Text 18"/>
          <p:cNvSpPr/>
          <p:nvPr/>
        </p:nvSpPr>
        <p:spPr>
          <a:xfrm>
            <a:off x="5029200" y="1709928"/>
            <a:ext cx="347472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Thực hiện truy vấn nhanh kiểm tra giá trị của một trường cụ thể trong bảng.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Khẳng định dữ liệu đã được cập nhật chính xác vào CSDL sau khi thực thi logic.</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Loại bỏ việc viết thủ công các câu lệnh SELECT kiểm tra dữ liệu.</a:t>
            </a:r>
            <a:endParaRPr lang="en-US" sz="920" dirty="0"/>
          </a:p>
        </p:txBody>
      </p:sp>
      <p:sp>
        <p:nvSpPr>
          <p:cNvPr id="21" name="Text 19"/>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56 / 60</a:t>
            </a:r>
            <a:endParaRPr lang="en-US" sz="850" dirty="0"/>
          </a:p>
        </p:txBody>
      </p:sp>
      <p:sp>
        <p:nvSpPr>
          <p:cNvPr id="22" name="Text 20"/>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DEVOPS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Đối Soát Cấu Trúc Cơ Sở Dữ Liệu Staging</a:t>
            </a:r>
            <a:endParaRPr lang="en-US" sz="1900" dirty="0"/>
          </a:p>
        </p:txBody>
      </p:sp>
      <p:sp>
        <p:nvSpPr>
          <p:cNvPr id="15" name="Shape 13"/>
          <p:cNvSpPr/>
          <p:nvPr/>
        </p:nvSpPr>
        <p:spPr>
          <a:xfrm>
            <a:off x="731520" y="1280160"/>
            <a:ext cx="1908810" cy="685800"/>
          </a:xfrm>
          <a:prstGeom prst="roundRect">
            <a:avLst>
              <a:gd name="adj" fmla="val 10667"/>
            </a:avLst>
          </a:prstGeom>
          <a:solidFill>
            <a:srgbClr val="FFFFFF"/>
          </a:solidFill>
          <a:ln w="12700">
            <a:solidFill>
              <a:srgbClr val="E2E8F0"/>
            </a:solidFill>
            <a:prstDash val="solid"/>
          </a:ln>
        </p:spPr>
      </p:sp>
      <p:sp>
        <p:nvSpPr>
          <p:cNvPr id="16" name="Text 14"/>
          <p:cNvSpPr/>
          <p:nvPr/>
        </p:nvSpPr>
        <p:spPr>
          <a:xfrm>
            <a:off x="77724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exec_db_query</a:t>
            </a:r>
            <a:endParaRPr lang="en-US" sz="1500" dirty="0"/>
          </a:p>
        </p:txBody>
      </p:sp>
      <p:sp>
        <p:nvSpPr>
          <p:cNvPr id="17" name="Text 15"/>
          <p:cNvSpPr/>
          <p:nvPr/>
        </p:nvSpPr>
        <p:spPr>
          <a:xfrm>
            <a:off x="77724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CỔNG TRUY VẤN</a:t>
            </a:r>
            <a:endParaRPr lang="en-US" sz="700" dirty="0"/>
          </a:p>
        </p:txBody>
      </p:sp>
      <p:sp>
        <p:nvSpPr>
          <p:cNvPr id="18" name="Shape 16"/>
          <p:cNvSpPr/>
          <p:nvPr/>
        </p:nvSpPr>
        <p:spPr>
          <a:xfrm>
            <a:off x="2777490" y="1280160"/>
            <a:ext cx="1908810" cy="685800"/>
          </a:xfrm>
          <a:prstGeom prst="roundRect">
            <a:avLst>
              <a:gd name="adj" fmla="val 10667"/>
            </a:avLst>
          </a:prstGeom>
          <a:solidFill>
            <a:srgbClr val="FFFFFF"/>
          </a:solidFill>
          <a:ln w="12700">
            <a:solidFill>
              <a:srgbClr val="E2E8F0"/>
            </a:solidFill>
            <a:prstDash val="solid"/>
          </a:ln>
        </p:spPr>
      </p:sp>
      <p:sp>
        <p:nvSpPr>
          <p:cNvPr id="19" name="Text 17"/>
          <p:cNvSpPr/>
          <p:nvPr/>
        </p:nvSpPr>
        <p:spPr>
          <a:xfrm>
            <a:off x="282321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Rule 8 Check</a:t>
            </a:r>
            <a:endParaRPr lang="en-US" sz="1500" dirty="0"/>
          </a:p>
        </p:txBody>
      </p:sp>
      <p:sp>
        <p:nvSpPr>
          <p:cNvPr id="20" name="Text 18"/>
          <p:cNvSpPr/>
          <p:nvPr/>
        </p:nvSpPr>
        <p:spPr>
          <a:xfrm>
            <a:off x="282321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ĐỐI SOÁT TỪ XA</a:t>
            </a:r>
            <a:endParaRPr lang="en-US" sz="700" dirty="0"/>
          </a:p>
        </p:txBody>
      </p:sp>
      <p:sp>
        <p:nvSpPr>
          <p:cNvPr id="21" name="Shape 19"/>
          <p:cNvSpPr/>
          <p:nvPr/>
        </p:nvSpPr>
        <p:spPr>
          <a:xfrm>
            <a:off x="4823460" y="1280160"/>
            <a:ext cx="1908810" cy="685800"/>
          </a:xfrm>
          <a:prstGeom prst="roundRect">
            <a:avLst>
              <a:gd name="adj" fmla="val 10667"/>
            </a:avLst>
          </a:prstGeom>
          <a:solidFill>
            <a:srgbClr val="FFFFFF"/>
          </a:solidFill>
          <a:ln w="12700">
            <a:solidFill>
              <a:srgbClr val="E2E8F0"/>
            </a:solidFill>
            <a:prstDash val="solid"/>
          </a:ln>
        </p:spPr>
      </p:sp>
      <p:sp>
        <p:nvSpPr>
          <p:cNvPr id="22" name="Text 20"/>
          <p:cNvSpPr/>
          <p:nvPr/>
        </p:nvSpPr>
        <p:spPr>
          <a:xfrm>
            <a:off x="486918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unified_schema</a:t>
            </a:r>
            <a:endParaRPr lang="en-US" sz="1500" dirty="0"/>
          </a:p>
        </p:txBody>
      </p:sp>
      <p:sp>
        <p:nvSpPr>
          <p:cNvPr id="23" name="Text 21"/>
          <p:cNvSpPr/>
          <p:nvPr/>
        </p:nvSpPr>
        <p:spPr>
          <a:xfrm>
            <a:off x="486918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SCHEMA MASTER FILE</a:t>
            </a:r>
            <a:endParaRPr lang="en-US" sz="700" dirty="0"/>
          </a:p>
        </p:txBody>
      </p:sp>
      <p:sp>
        <p:nvSpPr>
          <p:cNvPr id="24" name="Shape 22"/>
          <p:cNvSpPr/>
          <p:nvPr/>
        </p:nvSpPr>
        <p:spPr>
          <a:xfrm>
            <a:off x="6869430" y="1280160"/>
            <a:ext cx="1908810" cy="685800"/>
          </a:xfrm>
          <a:prstGeom prst="roundRect">
            <a:avLst>
              <a:gd name="adj" fmla="val 10667"/>
            </a:avLst>
          </a:prstGeom>
          <a:solidFill>
            <a:srgbClr val="FFFFFF"/>
          </a:solidFill>
          <a:ln w="12700">
            <a:solidFill>
              <a:srgbClr val="E2E8F0"/>
            </a:solidFill>
            <a:prstDash val="solid"/>
          </a:ln>
        </p:spPr>
      </p:sp>
      <p:sp>
        <p:nvSpPr>
          <p:cNvPr id="25" name="Text 23"/>
          <p:cNvSpPr/>
          <p:nvPr/>
        </p:nvSpPr>
        <p:spPr>
          <a:xfrm>
            <a:off x="6915150" y="1353312"/>
            <a:ext cx="1817370" cy="320040"/>
          </a:xfrm>
          <a:prstGeom prst="rect">
            <a:avLst/>
          </a:prstGeom>
          <a:noFill/>
          <a:ln/>
        </p:spPr>
        <p:txBody>
          <a:bodyPr wrap="square" rtlCol="0" anchor="ctr"/>
          <a:lstStyle/>
          <a:p>
            <a:pPr algn="ctr" indent="0" marL="0">
              <a:buNone/>
            </a:pPr>
            <a:r>
              <a:rPr lang="en-US" sz="1500" b="1" dirty="0">
                <a:solidFill>
                  <a:srgbClr val="BD1D2D"/>
                </a:solidFill>
                <a:latin typeface="Segoe UI" pitchFamily="34" charset="0"/>
                <a:ea typeface="Segoe UI" pitchFamily="34" charset="-122"/>
                <a:cs typeface="Segoe UI" pitchFamily="34" charset="-120"/>
              </a:rPr>
              <a:t>0% Schema error</a:t>
            </a:r>
            <a:endParaRPr lang="en-US" sz="1500" dirty="0"/>
          </a:p>
        </p:txBody>
      </p:sp>
      <p:sp>
        <p:nvSpPr>
          <p:cNvPr id="26" name="Text 24"/>
          <p:cNvSpPr/>
          <p:nvPr/>
        </p:nvSpPr>
        <p:spPr>
          <a:xfrm>
            <a:off x="6915150" y="1664208"/>
            <a:ext cx="1817370" cy="228600"/>
          </a:xfrm>
          <a:prstGeom prst="rect">
            <a:avLst/>
          </a:prstGeom>
          <a:noFill/>
          <a:ln/>
        </p:spPr>
        <p:txBody>
          <a:bodyPr wrap="square" rtlCol="0" anchor="ctr"/>
          <a:lstStyle/>
          <a:p>
            <a:pPr algn="ctr" indent="0" marL="0">
              <a:buNone/>
            </a:pPr>
            <a:r>
              <a:rPr lang="en-US" sz="700" b="1" dirty="0">
                <a:solidFill>
                  <a:srgbClr val="0F172A"/>
                </a:solidFill>
                <a:latin typeface="Segoe UI" pitchFamily="34" charset="0"/>
                <a:ea typeface="Segoe UI" pitchFamily="34" charset="-122"/>
                <a:cs typeface="Segoe UI" pitchFamily="34" charset="-120"/>
              </a:rPr>
              <a:t>MỨC SAI SÓT</a:t>
            </a:r>
            <a:endParaRPr lang="en-US" sz="7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731520" y="2103120"/>
          <a:ext cx="8046720" cy="2468880"/>
        </p:xfrm>
        <a:graphic>
          <a:graphicData uri="http://schemas.openxmlformats.org/drawingml/2006/table">
            <a:tbl>
              <a:tblPr/>
              <a:tblGrid>
                <a:gridCol w="2011680"/>
                <a:gridCol w="2011680"/>
                <a:gridCol w="2011680"/>
                <a:gridCol w="2011680"/>
              </a:tblGrid>
              <a:tr h="617220">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NHIỆM VỤ ĐỐI SOÁT</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CÔNG CỤ THỰC THI</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MÔ TẢ HÀNH ĐỘNG</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c>
                  <a:txBody>
                    <a:bodyPr/>
                    <a:lstStyle/>
                    <a:p>
                      <a:pPr algn="ctr" indent="0" marL="0">
                        <a:buNone/>
                      </a:pPr>
                      <a:r>
                        <a:rPr lang="en-US" sz="850" b="1" dirty="0">
                          <a:solidFill>
                            <a:srgbClr val="FFFFFF"/>
                          </a:solidFill>
                          <a:latin typeface="Segoe UI" pitchFamily="34" charset="0"/>
                          <a:ea typeface="Segoe UI" pitchFamily="34" charset="-122"/>
                          <a:cs typeface="Segoe UI" pitchFamily="34" charset="-120"/>
                        </a:rPr>
                        <a:t>RÀNG BUỘC NGHIỆP VỤ</a:t>
                      </a:r>
                      <a:endParaRPr lang="en-US" sz="85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BD1D2D"/>
                    </a:solidFill>
                  </a:tcPr>
                </a:tc>
              </a:tr>
              <a:tr h="6172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Quét schema Staging</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exec_db_query.php</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Quét trực tiếp cấu trúc bảng thực tế từ xa</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Chạy trước khi deploy code</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172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Kiểm tra kiểu dữ liệu</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test_bootstrap.php</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So khớp kiểu dữ liệu và độ dài cột</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Không có sai lệch</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r h="617220">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Khóa ngoại constraints</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MySQL query schema</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Xác thực khóa ngoại bảng cọc và queue</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algn="l" indent="0" marL="0">
                        <a:buNone/>
                      </a:pPr>
                      <a:r>
                        <a:rPr lang="en-US" sz="820" dirty="0">
                          <a:solidFill>
                            <a:srgbClr val="0F172A"/>
                          </a:solidFill>
                          <a:latin typeface="Segoe UI" pitchFamily="34" charset="0"/>
                          <a:ea typeface="Segoe UI" pitchFamily="34" charset="-122"/>
                          <a:cs typeface="Segoe UI" pitchFamily="34" charset="-120"/>
                        </a:rPr>
                        <a:t>Duy trì tính toàn vẹn</a:t>
                      </a:r>
                      <a:endParaRPr lang="en-US" sz="820" dirty="0">
                        <a:latin typeface="Segoe UI" charset="0"/>
                        <a:ea typeface="Segoe UI" charset="0"/>
                        <a:cs typeface="Segoe UI" charset="0"/>
                      </a:endParaRPr>
                    </a:p>
                  </a:txBody>
                  <a:tcPr marL="91440" marR="91440" marT="45720" marB="45720"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r>
            </a:tbl>
          </a:graphicData>
        </a:graphic>
      </p:graphicFrame>
      <p:sp>
        <p:nvSpPr>
          <p:cNvPr id="28" name="Text 25"/>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57 / 60</a:t>
            </a:r>
            <a:endParaRPr lang="en-US" sz="850" dirty="0"/>
          </a:p>
        </p:txBody>
      </p:sp>
      <p:sp>
        <p:nvSpPr>
          <p:cNvPr id="29" name="Text 26"/>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DEVOPS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Quét Lỗi Cú Pháp Truy Vấn Tĩnh</a:t>
            </a:r>
            <a:endParaRPr lang="en-US" sz="1900" dirty="0"/>
          </a:p>
        </p:txBody>
      </p:sp>
      <p:sp>
        <p:nvSpPr>
          <p:cNvPr id="15" name="Shape 13"/>
          <p:cNvSpPr/>
          <p:nvPr/>
        </p:nvSpPr>
        <p:spPr>
          <a:xfrm>
            <a:off x="731520" y="1280160"/>
            <a:ext cx="3657600" cy="3291840"/>
          </a:xfrm>
          <a:prstGeom prst="roundRect">
            <a:avLst>
              <a:gd name="adj" fmla="val 1389"/>
            </a:avLst>
          </a:prstGeom>
          <a:solidFill>
            <a:srgbClr val="FFFFFF"/>
          </a:solidFill>
          <a:ln w="12700">
            <a:solidFill>
              <a:srgbClr val="E2E8F0"/>
            </a:solidFill>
            <a:prstDash val="solid"/>
          </a:ln>
        </p:spPr>
      </p:sp>
      <p:sp>
        <p:nvSpPr>
          <p:cNvPr id="16" name="Text 14"/>
          <p:cNvSpPr/>
          <p:nvPr/>
        </p:nvSpPr>
        <p:spPr>
          <a:xfrm>
            <a:off x="914400" y="1417320"/>
            <a:ext cx="3291840" cy="274320"/>
          </a:xfrm>
          <a:prstGeom prst="rect">
            <a:avLst/>
          </a:prstGeom>
          <a:noFill/>
          <a:ln/>
        </p:spPr>
        <p:txBody>
          <a:bodyPr wrap="square" rtlCol="0" anchor="t"/>
          <a:lstStyle/>
          <a:p>
            <a:pPr indent="0" marL="0">
              <a:buNone/>
            </a:pPr>
            <a:r>
              <a:rPr lang="en-US" sz="950" b="1" dirty="0">
                <a:solidFill>
                  <a:srgbClr val="BD1D2D"/>
                </a:solidFill>
                <a:latin typeface="Segoe UI" pitchFamily="34" charset="0"/>
                <a:ea typeface="Segoe UI" pitchFamily="34" charset="-122"/>
                <a:cs typeface="Segoe UI" pitchFamily="34" charset="-120"/>
              </a:rPr>
              <a:t>CÔNG CỤ QUÉT SQL SCAN</a:t>
            </a:r>
            <a:endParaRPr lang="en-US" sz="950" dirty="0"/>
          </a:p>
        </p:txBody>
      </p:sp>
      <p:sp>
        <p:nvSpPr>
          <p:cNvPr id="17" name="Text 15"/>
          <p:cNvSpPr/>
          <p:nvPr/>
        </p:nvSpPr>
        <p:spPr>
          <a:xfrm>
            <a:off x="914400" y="1709928"/>
            <a:ext cx="3291840" cy="2724912"/>
          </a:xfrm>
          <a:prstGeom prst="rect">
            <a:avLst/>
          </a:prstGeom>
          <a:noFill/>
          <a:ln/>
        </p:spPr>
        <p:txBody>
          <a:bodyPr wrap="square" rtlCol="0" anchor="t"/>
          <a:lstStyle/>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Tự động quét toàn bộ mã nguồn PHP để tìm kiếm các từ khóa SQL không hợp lệ.</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Phát hiện các câu lệnh không tương thích với cấu hình chế độ MariaDB Staging.</a:t>
            </a:r>
            <a:endParaRPr lang="en-US" sz="920" dirty="0"/>
          </a:p>
          <a:p>
            <a:pPr indent="0" marL="0">
              <a:lnSpc>
                <a:spcPts val="1400"/>
              </a:lnSpc>
              <a:buNone/>
            </a:pPr>
            <a:endParaRPr lang="en-US" sz="920" dirty="0"/>
          </a:p>
          <a:p>
            <a:pPr indent="0" marL="0">
              <a:lnSpc>
                <a:spcPts val="1400"/>
              </a:lnSpc>
              <a:buNone/>
            </a:pPr>
            <a:r>
              <a:rPr lang="en-US" sz="920" dirty="0">
                <a:solidFill>
                  <a:srgbClr val="475569"/>
                </a:solidFill>
                <a:latin typeface="Segoe UI" pitchFamily="34" charset="0"/>
                <a:ea typeface="Segoe UI" pitchFamily="34" charset="-122"/>
                <a:cs typeface="Segoe UI" pitchFamily="34" charset="-120"/>
              </a:rPr>
              <a:t>▪  Tìm ra các truy vấn SQL viết sai cú pháp trước khi chạy thực tế.</a:t>
            </a:r>
            <a:endParaRPr lang="en-US" sz="920" dirty="0"/>
          </a:p>
        </p:txBody>
      </p:sp>
      <p:sp>
        <p:nvSpPr>
          <p:cNvPr id="18" name="Shape 16"/>
          <p:cNvSpPr/>
          <p:nvPr/>
        </p:nvSpPr>
        <p:spPr>
          <a:xfrm>
            <a:off x="4572000" y="1280160"/>
            <a:ext cx="3840480" cy="3291840"/>
          </a:xfrm>
          <a:prstGeom prst="roundRect">
            <a:avLst>
              <a:gd name="adj" fmla="val 1389"/>
            </a:avLst>
          </a:prstGeom>
          <a:solidFill>
            <a:srgbClr val="1E293B"/>
          </a:solidFill>
          <a:ln w="19050">
            <a:solidFill>
              <a:srgbClr val="334155"/>
            </a:solidFill>
            <a:prstDash val="solid"/>
          </a:ln>
        </p:spPr>
      </p:sp>
      <p:sp>
        <p:nvSpPr>
          <p:cNvPr id="19" name="Shape 17"/>
          <p:cNvSpPr/>
          <p:nvPr/>
        </p:nvSpPr>
        <p:spPr>
          <a:xfrm>
            <a:off x="4572000" y="1280160"/>
            <a:ext cx="3840480" cy="320040"/>
          </a:xfrm>
          <a:prstGeom prst="rect">
            <a:avLst/>
          </a:prstGeom>
          <a:solidFill>
            <a:srgbClr val="0F172A"/>
          </a:solidFill>
          <a:ln/>
        </p:spPr>
      </p:sp>
      <p:sp>
        <p:nvSpPr>
          <p:cNvPr id="20" name="Shape 18"/>
          <p:cNvSpPr/>
          <p:nvPr/>
        </p:nvSpPr>
        <p:spPr>
          <a:xfrm>
            <a:off x="4709160" y="1389888"/>
            <a:ext cx="91440" cy="91440"/>
          </a:xfrm>
          <a:prstGeom prst="ellipse">
            <a:avLst/>
          </a:prstGeom>
          <a:solidFill>
            <a:srgbClr val="EF4444"/>
          </a:solidFill>
          <a:ln/>
        </p:spPr>
      </p:sp>
      <p:sp>
        <p:nvSpPr>
          <p:cNvPr id="21" name="Shape 19"/>
          <p:cNvSpPr/>
          <p:nvPr/>
        </p:nvSpPr>
        <p:spPr>
          <a:xfrm>
            <a:off x="4846320" y="1389888"/>
            <a:ext cx="91440" cy="91440"/>
          </a:xfrm>
          <a:prstGeom prst="ellipse">
            <a:avLst/>
          </a:prstGeom>
          <a:solidFill>
            <a:srgbClr val="F59E0B"/>
          </a:solidFill>
          <a:ln/>
        </p:spPr>
      </p:sp>
      <p:sp>
        <p:nvSpPr>
          <p:cNvPr id="22" name="Shape 20"/>
          <p:cNvSpPr/>
          <p:nvPr/>
        </p:nvSpPr>
        <p:spPr>
          <a:xfrm>
            <a:off x="4983480" y="1389888"/>
            <a:ext cx="91440" cy="91440"/>
          </a:xfrm>
          <a:prstGeom prst="ellipse">
            <a:avLst/>
          </a:prstGeom>
          <a:solidFill>
            <a:srgbClr val="10B981"/>
          </a:solidFill>
          <a:ln/>
        </p:spPr>
      </p:sp>
      <p:sp>
        <p:nvSpPr>
          <p:cNvPr id="23" name="Text 21"/>
          <p:cNvSpPr/>
          <p:nvPr/>
        </p:nvSpPr>
        <p:spPr>
          <a:xfrm>
            <a:off x="5212080" y="1280160"/>
            <a:ext cx="2926080" cy="320040"/>
          </a:xfrm>
          <a:prstGeom prst="rect">
            <a:avLst/>
          </a:prstGeom>
          <a:noFill/>
          <a:ln/>
        </p:spPr>
        <p:txBody>
          <a:bodyPr wrap="square" rtlCol="0" anchor="ctr"/>
          <a:lstStyle/>
          <a:p>
            <a:pPr indent="0" marL="0">
              <a:buNone/>
            </a:pPr>
            <a:r>
              <a:rPr lang="en-US" sz="800" dirty="0">
                <a:solidFill>
                  <a:srgbClr val="94A3B8"/>
                </a:solidFill>
                <a:latin typeface="Consolas" pitchFamily="34" charset="0"/>
                <a:ea typeface="Consolas" pitchFamily="34" charset="-122"/>
                <a:cs typeface="Consolas" pitchFamily="34" charset="-120"/>
              </a:rPr>
              <a:t>sql_scanner.php</a:t>
            </a:r>
            <a:endParaRPr lang="en-US" sz="800" dirty="0"/>
          </a:p>
        </p:txBody>
      </p:sp>
      <p:sp>
        <p:nvSpPr>
          <p:cNvPr id="24" name="Text 22"/>
          <p:cNvSpPr/>
          <p:nvPr/>
        </p:nvSpPr>
        <p:spPr>
          <a:xfrm>
            <a:off x="4709160" y="1691640"/>
            <a:ext cx="3566160" cy="2788920"/>
          </a:xfrm>
          <a:prstGeom prst="rect">
            <a:avLst/>
          </a:prstGeom>
          <a:noFill/>
          <a:ln/>
        </p:spPr>
        <p:txBody>
          <a:bodyPr wrap="square" rtlCol="0" anchor="t"/>
          <a:lstStyle/>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1 |  $sql = "SELECT * FROM consultants WHERE status = '$status'";</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2 |  // [WARNING] SQL injection hazard detected!</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3 |  // Correct usage:</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4 |  $stmt = $pdo-&gt;prepare('SELECT * FROM consultants WHERE status = ?');</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5 |  $stmt-&gt;execute([$status]);</a:t>
            </a:r>
            <a:endParaRPr lang="en-US" sz="820" dirty="0"/>
          </a:p>
          <a:p>
            <a:pPr indent="0" marL="0">
              <a:lnSpc>
                <a:spcPts val="1100"/>
              </a:lnSpc>
              <a:buNone/>
            </a:pPr>
            <a:r>
              <a:rPr lang="en-US" sz="820" dirty="0">
                <a:solidFill>
                  <a:srgbClr val="E2E8F0"/>
                </a:solidFill>
                <a:latin typeface="Consolas" pitchFamily="34" charset="0"/>
                <a:ea typeface="Consolas" pitchFamily="34" charset="-122"/>
                <a:cs typeface="Consolas" pitchFamily="34" charset="-120"/>
              </a:rPr>
              <a:t> 6 |  $res = $stmt-&gt;fetchAll();</a:t>
            </a:r>
            <a:endParaRPr lang="en-US" sz="820" dirty="0"/>
          </a:p>
        </p:txBody>
      </p:sp>
      <p:sp>
        <p:nvSpPr>
          <p:cNvPr id="25" name="Text 23"/>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58 / 60</a:t>
            </a:r>
            <a:endParaRPr lang="en-US" sz="850" dirty="0"/>
          </a:p>
        </p:txBody>
      </p:sp>
      <p:sp>
        <p:nvSpPr>
          <p:cNvPr id="26" name="Text 24"/>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548640" cy="5143500"/>
          </a:xfrm>
          <a:prstGeom prst="rect">
            <a:avLst/>
          </a:prstGeom>
          <a:solidFill>
            <a:srgbClr val="FFFFFF"/>
          </a:solidFill>
          <a:ln w="12700">
            <a:solidFill>
              <a:srgbClr val="E2E8F0"/>
            </a:solidFill>
            <a:prstDash val="solid"/>
          </a:ln>
        </p:spPr>
      </p:sp>
      <p:sp>
        <p:nvSpPr>
          <p:cNvPr id="3" name="Shape 1"/>
          <p:cNvSpPr/>
          <p:nvPr/>
        </p:nvSpPr>
        <p:spPr>
          <a:xfrm>
            <a:off x="137160" y="182880"/>
            <a:ext cx="274320" cy="274320"/>
          </a:xfrm>
          <a:prstGeom prst="roundRect">
            <a:avLst>
              <a:gd name="adj" fmla="val 66667"/>
            </a:avLst>
          </a:prstGeom>
          <a:solidFill>
            <a:srgbClr val="BD1D2D"/>
          </a:solidFill>
          <a:ln/>
        </p:spPr>
      </p:sp>
      <p:sp>
        <p:nvSpPr>
          <p:cNvPr id="4" name="Shape 2"/>
          <p:cNvSpPr/>
          <p:nvPr/>
        </p:nvSpPr>
        <p:spPr>
          <a:xfrm>
            <a:off x="164592" y="731520"/>
            <a:ext cx="219456" cy="219456"/>
          </a:xfrm>
          <a:prstGeom prst="roundRect">
            <a:avLst>
              <a:gd name="adj" fmla="val 62500"/>
            </a:avLst>
          </a:prstGeom>
          <a:solidFill>
            <a:srgbClr val="FEE2E2"/>
          </a:solidFill>
          <a:ln w="12700">
            <a:solidFill>
              <a:srgbClr val="BD1D2D"/>
            </a:solidFill>
            <a:prstDash val="solid"/>
          </a:ln>
        </p:spPr>
      </p:sp>
      <p:sp>
        <p:nvSpPr>
          <p:cNvPr id="5" name="Shape 3"/>
          <p:cNvSpPr/>
          <p:nvPr/>
        </p:nvSpPr>
        <p:spPr>
          <a:xfrm>
            <a:off x="164592" y="1188720"/>
            <a:ext cx="219456" cy="219456"/>
          </a:xfrm>
          <a:prstGeom prst="roundRect">
            <a:avLst>
              <a:gd name="adj" fmla="val 62500"/>
            </a:avLst>
          </a:prstGeom>
          <a:solidFill>
            <a:srgbClr val="F1F5F9"/>
          </a:solidFill>
          <a:ln w="12700">
            <a:solidFill>
              <a:srgbClr val="E2E8F0"/>
            </a:solidFill>
            <a:prstDash val="solid"/>
          </a:ln>
        </p:spPr>
      </p:sp>
      <p:sp>
        <p:nvSpPr>
          <p:cNvPr id="6" name="Shape 4"/>
          <p:cNvSpPr/>
          <p:nvPr/>
        </p:nvSpPr>
        <p:spPr>
          <a:xfrm>
            <a:off x="164592" y="1645920"/>
            <a:ext cx="219456" cy="219456"/>
          </a:xfrm>
          <a:prstGeom prst="roundRect">
            <a:avLst>
              <a:gd name="adj" fmla="val 62500"/>
            </a:avLst>
          </a:prstGeom>
          <a:solidFill>
            <a:srgbClr val="F1F5F9"/>
          </a:solidFill>
          <a:ln w="12700">
            <a:solidFill>
              <a:srgbClr val="E2E8F0"/>
            </a:solidFill>
            <a:prstDash val="solid"/>
          </a:ln>
        </p:spPr>
      </p:sp>
      <p:sp>
        <p:nvSpPr>
          <p:cNvPr id="7" name="Shape 5"/>
          <p:cNvSpPr/>
          <p:nvPr/>
        </p:nvSpPr>
        <p:spPr>
          <a:xfrm>
            <a:off x="164592" y="2103120"/>
            <a:ext cx="219456" cy="219456"/>
          </a:xfrm>
          <a:prstGeom prst="roundRect">
            <a:avLst>
              <a:gd name="adj" fmla="val 62500"/>
            </a:avLst>
          </a:prstGeom>
          <a:solidFill>
            <a:srgbClr val="F1F5F9"/>
          </a:solidFill>
          <a:ln w="12700">
            <a:solidFill>
              <a:srgbClr val="E2E8F0"/>
            </a:solidFill>
            <a:prstDash val="solid"/>
          </a:ln>
        </p:spPr>
      </p:sp>
      <p:sp>
        <p:nvSpPr>
          <p:cNvPr id="8" name="Shape 6"/>
          <p:cNvSpPr/>
          <p:nvPr/>
        </p:nvSpPr>
        <p:spPr>
          <a:xfrm>
            <a:off x="164592" y="2560320"/>
            <a:ext cx="219456" cy="219456"/>
          </a:xfrm>
          <a:prstGeom prst="roundRect">
            <a:avLst>
              <a:gd name="adj" fmla="val 62500"/>
            </a:avLst>
          </a:prstGeom>
          <a:solidFill>
            <a:srgbClr val="F1F5F9"/>
          </a:solidFill>
          <a:ln w="12700">
            <a:solidFill>
              <a:srgbClr val="E2E8F0"/>
            </a:solidFill>
            <a:prstDash val="solid"/>
          </a:ln>
        </p:spPr>
      </p:sp>
      <p:sp>
        <p:nvSpPr>
          <p:cNvPr id="9" name="Shape 7"/>
          <p:cNvSpPr/>
          <p:nvPr/>
        </p:nvSpPr>
        <p:spPr>
          <a:xfrm>
            <a:off x="164592" y="3017520"/>
            <a:ext cx="219456" cy="219456"/>
          </a:xfrm>
          <a:prstGeom prst="roundRect">
            <a:avLst>
              <a:gd name="adj" fmla="val 62500"/>
            </a:avLst>
          </a:prstGeom>
          <a:solidFill>
            <a:srgbClr val="F1F5F9"/>
          </a:solidFill>
          <a:ln w="12700">
            <a:solidFill>
              <a:srgbClr val="E2E8F0"/>
            </a:solidFill>
            <a:prstDash val="solid"/>
          </a:ln>
        </p:spPr>
      </p:sp>
      <p:sp>
        <p:nvSpPr>
          <p:cNvPr id="10" name="Shape 8"/>
          <p:cNvSpPr/>
          <p:nvPr/>
        </p:nvSpPr>
        <p:spPr>
          <a:xfrm>
            <a:off x="548640" y="0"/>
            <a:ext cx="8595360" cy="548640"/>
          </a:xfrm>
          <a:prstGeom prst="rect">
            <a:avLst/>
          </a:prstGeom>
          <a:solidFill>
            <a:srgbClr val="FFFFFF"/>
          </a:solidFill>
          <a:ln w="12700">
            <a:solidFill>
              <a:srgbClr val="E2E8F0"/>
            </a:solidFill>
            <a:prstDash val="solid"/>
          </a:ln>
        </p:spPr>
      </p:sp>
      <p:sp>
        <p:nvSpPr>
          <p:cNvPr id="11" name="Text 9"/>
          <p:cNvSpPr/>
          <p:nvPr/>
        </p:nvSpPr>
        <p:spPr>
          <a:xfrm>
            <a:off x="731520" y="137160"/>
            <a:ext cx="45720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RICH LAND CRM   /   DEVOPS</a:t>
            </a:r>
            <a:endParaRPr lang="en-US" sz="850" dirty="0"/>
          </a:p>
        </p:txBody>
      </p:sp>
      <p:sp>
        <p:nvSpPr>
          <p:cNvPr id="12" name="Shape 10"/>
          <p:cNvSpPr/>
          <p:nvPr/>
        </p:nvSpPr>
        <p:spPr>
          <a:xfrm>
            <a:off x="6583680" y="137160"/>
            <a:ext cx="2011680" cy="274320"/>
          </a:xfrm>
          <a:prstGeom prst="roundRect">
            <a:avLst>
              <a:gd name="adj" fmla="val 50000"/>
            </a:avLst>
          </a:prstGeom>
          <a:solidFill>
            <a:srgbClr val="F8FAFC"/>
          </a:solidFill>
          <a:ln w="12700">
            <a:solidFill>
              <a:srgbClr val="E2E8F0"/>
            </a:solidFill>
            <a:prstDash val="solid"/>
          </a:ln>
        </p:spPr>
      </p:sp>
      <p:sp>
        <p:nvSpPr>
          <p:cNvPr id="13" name="Text 11"/>
          <p:cNvSpPr/>
          <p:nvPr/>
        </p:nvSpPr>
        <p:spPr>
          <a:xfrm>
            <a:off x="6720840" y="137160"/>
            <a:ext cx="1645920" cy="274320"/>
          </a:xfrm>
          <a:prstGeom prst="rect">
            <a:avLst/>
          </a:prstGeom>
          <a:noFill/>
          <a:ln/>
        </p:spPr>
        <p:txBody>
          <a:bodyPr wrap="square" rtlCol="0" anchor="ctr"/>
          <a:lstStyle/>
          <a:p>
            <a:pPr indent="0" marL="0">
              <a:buNone/>
            </a:pPr>
            <a:r>
              <a:rPr lang="en-US" sz="800" dirty="0">
                <a:solidFill>
                  <a:srgbClr val="94A3B8"/>
                </a:solidFill>
                <a:latin typeface="Segoe UI" pitchFamily="34" charset="0"/>
                <a:ea typeface="Segoe UI" pitchFamily="34" charset="-122"/>
                <a:cs typeface="Segoe UI" pitchFamily="34" charset="-120"/>
              </a:rPr>
              <a:t>Search database...</a:t>
            </a:r>
            <a:endParaRPr lang="en-US" sz="800" dirty="0"/>
          </a:p>
        </p:txBody>
      </p:sp>
      <p:sp>
        <p:nvSpPr>
          <p:cNvPr id="14" name="Text 12"/>
          <p:cNvSpPr/>
          <p:nvPr/>
        </p:nvSpPr>
        <p:spPr>
          <a:xfrm>
            <a:off x="731520" y="731520"/>
            <a:ext cx="8046720" cy="457200"/>
          </a:xfrm>
          <a:prstGeom prst="rect">
            <a:avLst/>
          </a:prstGeom>
          <a:noFill/>
          <a:ln/>
        </p:spPr>
        <p:txBody>
          <a:bodyPr wrap="square" rtlCol="0" anchor="ctr"/>
          <a:lstStyle/>
          <a:p>
            <a:pPr indent="0" marL="0">
              <a:buNone/>
            </a:pPr>
            <a:r>
              <a:rPr lang="en-US" sz="1900" b="1" dirty="0">
                <a:solidFill>
                  <a:srgbClr val="0F172A"/>
                </a:solidFill>
                <a:latin typeface="Segoe UI" pitchFamily="34" charset="0"/>
                <a:ea typeface="Segoe UI" pitchFamily="34" charset="-122"/>
                <a:cs typeface="Segoe UI" pitchFamily="34" charset="-120"/>
              </a:rPr>
              <a:t>Quy Trình Triển Khai Deploy Song Song</a:t>
            </a:r>
            <a:endParaRPr lang="en-US" sz="1900" dirty="0"/>
          </a:p>
        </p:txBody>
      </p:sp>
      <p:sp>
        <p:nvSpPr>
          <p:cNvPr id="15" name="Shape 13"/>
          <p:cNvSpPr/>
          <p:nvPr/>
        </p:nvSpPr>
        <p:spPr>
          <a:xfrm>
            <a:off x="731520" y="1371600"/>
            <a:ext cx="2499360" cy="3017520"/>
          </a:xfrm>
          <a:prstGeom prst="roundRect">
            <a:avLst>
              <a:gd name="adj" fmla="val 2195"/>
            </a:avLst>
          </a:prstGeom>
          <a:solidFill>
            <a:srgbClr val="FFFFFF"/>
          </a:solidFill>
          <a:ln w="12700">
            <a:solidFill>
              <a:srgbClr val="E2E8F0"/>
            </a:solidFill>
            <a:prstDash val="solid"/>
          </a:ln>
        </p:spPr>
      </p:sp>
      <p:sp>
        <p:nvSpPr>
          <p:cNvPr id="16" name="Shape 14"/>
          <p:cNvSpPr/>
          <p:nvPr/>
        </p:nvSpPr>
        <p:spPr>
          <a:xfrm>
            <a:off x="3230880" y="1737360"/>
            <a:ext cx="274320" cy="0"/>
          </a:xfrm>
          <a:prstGeom prst="line">
            <a:avLst/>
          </a:prstGeom>
          <a:noFill/>
          <a:ln w="19050">
            <a:solidFill>
              <a:srgbClr val="BD1D2D"/>
            </a:solidFill>
            <a:prstDash val="dash"/>
          </a:ln>
        </p:spPr>
      </p:sp>
      <p:sp>
        <p:nvSpPr>
          <p:cNvPr id="17" name="Shape 15"/>
          <p:cNvSpPr/>
          <p:nvPr/>
        </p:nvSpPr>
        <p:spPr>
          <a:xfrm>
            <a:off x="1798320" y="1554480"/>
            <a:ext cx="365760" cy="365760"/>
          </a:xfrm>
          <a:prstGeom prst="ellipse">
            <a:avLst/>
          </a:prstGeom>
          <a:solidFill>
            <a:srgbClr val="BD1D2D"/>
          </a:solidFill>
          <a:ln w="19050">
            <a:solidFill>
              <a:srgbClr val="FFFFFF"/>
            </a:solidFill>
            <a:prstDash val="solid"/>
          </a:ln>
        </p:spPr>
      </p:sp>
      <p:sp>
        <p:nvSpPr>
          <p:cNvPr id="18" name="Text 16"/>
          <p:cNvSpPr/>
          <p:nvPr/>
        </p:nvSpPr>
        <p:spPr>
          <a:xfrm>
            <a:off x="179832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1</a:t>
            </a:r>
            <a:endParaRPr lang="en-US" sz="950" dirty="0"/>
          </a:p>
        </p:txBody>
      </p:sp>
      <p:sp>
        <p:nvSpPr>
          <p:cNvPr id="19" name="Text 17"/>
          <p:cNvSpPr/>
          <p:nvPr/>
        </p:nvSpPr>
        <p:spPr>
          <a:xfrm>
            <a:off x="82296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Kích hoạt Deploy</a:t>
            </a:r>
            <a:endParaRPr lang="en-US" sz="950" dirty="0"/>
          </a:p>
        </p:txBody>
      </p:sp>
      <p:sp>
        <p:nvSpPr>
          <p:cNvPr id="20" name="Text 18"/>
          <p:cNvSpPr/>
          <p:nvPr/>
        </p:nvSpPr>
        <p:spPr>
          <a:xfrm>
            <a:off x="82296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Manager gõ lệnh deploy chính thức, khởi chạy script build backend.</a:t>
            </a:r>
            <a:endParaRPr lang="en-US" sz="800" dirty="0"/>
          </a:p>
        </p:txBody>
      </p:sp>
      <p:sp>
        <p:nvSpPr>
          <p:cNvPr id="21" name="Shape 19"/>
          <p:cNvSpPr/>
          <p:nvPr/>
        </p:nvSpPr>
        <p:spPr>
          <a:xfrm>
            <a:off x="3505200" y="1371600"/>
            <a:ext cx="2499360" cy="3017520"/>
          </a:xfrm>
          <a:prstGeom prst="roundRect">
            <a:avLst>
              <a:gd name="adj" fmla="val 2195"/>
            </a:avLst>
          </a:prstGeom>
          <a:solidFill>
            <a:srgbClr val="FFFFFF"/>
          </a:solidFill>
          <a:ln w="12700">
            <a:solidFill>
              <a:srgbClr val="E2E8F0"/>
            </a:solidFill>
            <a:prstDash val="solid"/>
          </a:ln>
        </p:spPr>
      </p:sp>
      <p:sp>
        <p:nvSpPr>
          <p:cNvPr id="22" name="Shape 20"/>
          <p:cNvSpPr/>
          <p:nvPr/>
        </p:nvSpPr>
        <p:spPr>
          <a:xfrm>
            <a:off x="6004560" y="1737360"/>
            <a:ext cx="274320" cy="0"/>
          </a:xfrm>
          <a:prstGeom prst="line">
            <a:avLst/>
          </a:prstGeom>
          <a:noFill/>
          <a:ln w="19050">
            <a:solidFill>
              <a:srgbClr val="BD1D2D"/>
            </a:solidFill>
            <a:prstDash val="dash"/>
          </a:ln>
        </p:spPr>
      </p:sp>
      <p:sp>
        <p:nvSpPr>
          <p:cNvPr id="23" name="Shape 21"/>
          <p:cNvSpPr/>
          <p:nvPr/>
        </p:nvSpPr>
        <p:spPr>
          <a:xfrm>
            <a:off x="4572000" y="1554480"/>
            <a:ext cx="365760" cy="365760"/>
          </a:xfrm>
          <a:prstGeom prst="ellipse">
            <a:avLst/>
          </a:prstGeom>
          <a:solidFill>
            <a:srgbClr val="BD1D2D"/>
          </a:solidFill>
          <a:ln w="19050">
            <a:solidFill>
              <a:srgbClr val="FFFFFF"/>
            </a:solidFill>
            <a:prstDash val="solid"/>
          </a:ln>
        </p:spPr>
      </p:sp>
      <p:sp>
        <p:nvSpPr>
          <p:cNvPr id="24" name="Text 22"/>
          <p:cNvSpPr/>
          <p:nvPr/>
        </p:nvSpPr>
        <p:spPr>
          <a:xfrm>
            <a:off x="457200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2</a:t>
            </a:r>
            <a:endParaRPr lang="en-US" sz="950" dirty="0"/>
          </a:p>
        </p:txBody>
      </p:sp>
      <p:sp>
        <p:nvSpPr>
          <p:cNvPr id="25" name="Text 23"/>
          <p:cNvSpPr/>
          <p:nvPr/>
        </p:nvSpPr>
        <p:spPr>
          <a:xfrm>
            <a:off x="359664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Nâng cấp Staging</a:t>
            </a:r>
            <a:endParaRPr lang="en-US" sz="950" dirty="0"/>
          </a:p>
        </p:txBody>
      </p:sp>
      <p:sp>
        <p:nvSpPr>
          <p:cNvPr id="26" name="Text 24"/>
          <p:cNvSpPr/>
          <p:nvPr/>
        </p:nvSpPr>
        <p:spPr>
          <a:xfrm>
            <a:off x="359664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Build code mới lên server Staging, chạy lệnh di chuyển schema database tự động.</a:t>
            </a:r>
            <a:endParaRPr lang="en-US" sz="800" dirty="0"/>
          </a:p>
        </p:txBody>
      </p:sp>
      <p:sp>
        <p:nvSpPr>
          <p:cNvPr id="27" name="Shape 25"/>
          <p:cNvSpPr/>
          <p:nvPr/>
        </p:nvSpPr>
        <p:spPr>
          <a:xfrm>
            <a:off x="6278880" y="1371600"/>
            <a:ext cx="2499360" cy="3017520"/>
          </a:xfrm>
          <a:prstGeom prst="roundRect">
            <a:avLst>
              <a:gd name="adj" fmla="val 2195"/>
            </a:avLst>
          </a:prstGeom>
          <a:solidFill>
            <a:srgbClr val="FFFFFF"/>
          </a:solidFill>
          <a:ln w="12700">
            <a:solidFill>
              <a:srgbClr val="E2E8F0"/>
            </a:solidFill>
            <a:prstDash val="solid"/>
          </a:ln>
        </p:spPr>
      </p:sp>
      <p:sp>
        <p:nvSpPr>
          <p:cNvPr id="28" name="Shape 26"/>
          <p:cNvSpPr/>
          <p:nvPr/>
        </p:nvSpPr>
        <p:spPr>
          <a:xfrm>
            <a:off x="7345680" y="1554480"/>
            <a:ext cx="365760" cy="365760"/>
          </a:xfrm>
          <a:prstGeom prst="ellipse">
            <a:avLst/>
          </a:prstGeom>
          <a:solidFill>
            <a:srgbClr val="BD1D2D"/>
          </a:solidFill>
          <a:ln w="19050">
            <a:solidFill>
              <a:srgbClr val="FFFFFF"/>
            </a:solidFill>
            <a:prstDash val="solid"/>
          </a:ln>
        </p:spPr>
      </p:sp>
      <p:sp>
        <p:nvSpPr>
          <p:cNvPr id="29" name="Text 27"/>
          <p:cNvSpPr/>
          <p:nvPr/>
        </p:nvSpPr>
        <p:spPr>
          <a:xfrm>
            <a:off x="7345680" y="1554480"/>
            <a:ext cx="365760" cy="365760"/>
          </a:xfrm>
          <a:prstGeom prst="rect">
            <a:avLst/>
          </a:prstGeom>
          <a:noFill/>
          <a:ln/>
        </p:spPr>
        <p:txBody>
          <a:bodyPr wrap="square" rtlCol="0" anchor="ctr"/>
          <a:lstStyle/>
          <a:p>
            <a:pPr algn="ctr" indent="0" marL="0">
              <a:buNone/>
            </a:pPr>
            <a:r>
              <a:rPr lang="en-US" sz="950" b="1" dirty="0">
                <a:solidFill>
                  <a:srgbClr val="FFFFFF"/>
                </a:solidFill>
                <a:latin typeface="Segoe UI" pitchFamily="34" charset="0"/>
                <a:ea typeface="Segoe UI" pitchFamily="34" charset="-122"/>
                <a:cs typeface="Segoe UI" pitchFamily="34" charset="-120"/>
              </a:rPr>
              <a:t>3</a:t>
            </a:r>
            <a:endParaRPr lang="en-US" sz="950" dirty="0"/>
          </a:p>
        </p:txBody>
      </p:sp>
      <p:sp>
        <p:nvSpPr>
          <p:cNvPr id="30" name="Text 28"/>
          <p:cNvSpPr/>
          <p:nvPr/>
        </p:nvSpPr>
        <p:spPr>
          <a:xfrm>
            <a:off x="6370320" y="2057400"/>
            <a:ext cx="2316480" cy="274320"/>
          </a:xfrm>
          <a:prstGeom prst="rect">
            <a:avLst/>
          </a:prstGeom>
          <a:noFill/>
          <a:ln/>
        </p:spPr>
        <p:txBody>
          <a:bodyPr wrap="square" rtlCol="0" anchor="ctr"/>
          <a:lstStyle/>
          <a:p>
            <a:pPr algn="ctr" indent="0" marL="0">
              <a:buNone/>
            </a:pPr>
            <a:r>
              <a:rPr lang="en-US" sz="950" b="1" dirty="0">
                <a:solidFill>
                  <a:srgbClr val="0F172A"/>
                </a:solidFill>
                <a:latin typeface="Segoe UI" pitchFamily="34" charset="0"/>
                <a:ea typeface="Segoe UI" pitchFamily="34" charset="-122"/>
                <a:cs typeface="Segoe UI" pitchFamily="34" charset="-120"/>
              </a:rPr>
              <a:t>Git Commit &amp; Push</a:t>
            </a:r>
            <a:endParaRPr lang="en-US" sz="950" dirty="0"/>
          </a:p>
        </p:txBody>
      </p:sp>
      <p:sp>
        <p:nvSpPr>
          <p:cNvPr id="31" name="Text 29"/>
          <p:cNvSpPr/>
          <p:nvPr/>
        </p:nvSpPr>
        <p:spPr>
          <a:xfrm>
            <a:off x="6370320" y="2377440"/>
            <a:ext cx="2316480" cy="1920240"/>
          </a:xfrm>
          <a:prstGeom prst="rect">
            <a:avLst/>
          </a:prstGeom>
          <a:noFill/>
          <a:ln/>
        </p:spPr>
        <p:txBody>
          <a:bodyPr wrap="square" rtlCol="0" anchor="t"/>
          <a:lstStyle/>
          <a:p>
            <a:pPr algn="ctr" indent="0" marL="0">
              <a:lnSpc>
                <a:spcPts val="1000"/>
              </a:lnSpc>
              <a:buNone/>
            </a:pPr>
            <a:r>
              <a:rPr lang="en-US" sz="800" dirty="0">
                <a:solidFill>
                  <a:srgbClr val="475569"/>
                </a:solidFill>
                <a:latin typeface="Segoe UI" pitchFamily="34" charset="0"/>
                <a:ea typeface="Segoe UI" pitchFamily="34" charset="-122"/>
                <a:cs typeface="Segoe UI" pitchFamily="34" charset="-120"/>
              </a:rPr>
              <a:t>Thực hiện add, commit và push lên main branch đồng bộ mã nguồn gốc.</a:t>
            </a:r>
            <a:endParaRPr lang="en-US" sz="800" dirty="0"/>
          </a:p>
        </p:txBody>
      </p:sp>
      <p:sp>
        <p:nvSpPr>
          <p:cNvPr id="32" name="Text 30"/>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59 / 60</a:t>
            </a:r>
            <a:endParaRPr lang="en-US" sz="850" dirty="0"/>
          </a:p>
        </p:txBody>
      </p:sp>
      <p:sp>
        <p:nvSpPr>
          <p:cNvPr id="33" name="Text 31"/>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BD1D2D"/>
        </a:solidFill>
      </p:bgPr>
    </p:bg>
    <p:spTree>
      <p:nvGrpSpPr>
        <p:cNvPr id="1" name=""/>
        <p:cNvGrpSpPr/>
        <p:nvPr/>
      </p:nvGrpSpPr>
      <p:grpSpPr>
        <a:xfrm>
          <a:off x="0" y="0"/>
          <a:ext cx="0" cy="0"/>
          <a:chOff x="0" y="0"/>
          <a:chExt cx="0" cy="0"/>
        </a:xfrm>
      </p:grpSpPr>
      <p:sp>
        <p:nvSpPr>
          <p:cNvPr id="2" name="Text 0"/>
          <p:cNvSpPr/>
          <p:nvPr/>
        </p:nvSpPr>
        <p:spPr>
          <a:xfrm>
            <a:off x="914400" y="914400"/>
            <a:ext cx="7315200" cy="274320"/>
          </a:xfrm>
          <a:prstGeom prst="rect">
            <a:avLst/>
          </a:prstGeom>
          <a:noFill/>
          <a:ln/>
        </p:spPr>
        <p:txBody>
          <a:bodyPr wrap="square" rtlCol="0" anchor="ctr"/>
          <a:lstStyle/>
          <a:p>
            <a:pPr indent="0" marL="0">
              <a:buNone/>
            </a:pPr>
            <a:r>
              <a:rPr lang="en-US" sz="1300" b="1" dirty="0">
                <a:solidFill>
                  <a:srgbClr val="FFC1C1"/>
                </a:solidFill>
                <a:latin typeface="Segoe UI" pitchFamily="34" charset="0"/>
                <a:ea typeface="Segoe UI" pitchFamily="34" charset="-122"/>
                <a:cs typeface="Segoe UI" pitchFamily="34" charset="-120"/>
              </a:rPr>
              <a:t>ROADMAP</a:t>
            </a:r>
            <a:endParaRPr lang="en-US" sz="1300" dirty="0"/>
          </a:p>
        </p:txBody>
      </p:sp>
      <p:sp>
        <p:nvSpPr>
          <p:cNvPr id="3" name="Text 1"/>
          <p:cNvSpPr/>
          <p:nvPr/>
        </p:nvSpPr>
        <p:spPr>
          <a:xfrm>
            <a:off x="914400" y="1280160"/>
            <a:ext cx="7315200" cy="914400"/>
          </a:xfrm>
          <a:prstGeom prst="rect">
            <a:avLst/>
          </a:prstGeom>
          <a:noFill/>
          <a:ln/>
        </p:spPr>
        <p:txBody>
          <a:bodyPr wrap="square"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LỘ TRÌNH PHÁT TRIỂN &amp; NÂNG CẤP HỆ THỐNG</a:t>
            </a:r>
            <a:endParaRPr lang="en-US" sz="3000" dirty="0"/>
          </a:p>
        </p:txBody>
      </p:sp>
      <p:sp>
        <p:nvSpPr>
          <p:cNvPr id="4" name="Text 2"/>
          <p:cNvSpPr/>
          <p:nvPr/>
        </p:nvSpPr>
        <p:spPr>
          <a:xfrm>
            <a:off x="914400" y="2377440"/>
            <a:ext cx="7315200" cy="548640"/>
          </a:xfrm>
          <a:prstGeom prst="rect">
            <a:avLst/>
          </a:prstGeom>
          <a:noFill/>
          <a:ln/>
        </p:spPr>
        <p:txBody>
          <a:bodyPr wrap="square" rtlCol="0" anchor="t"/>
          <a:lstStyle/>
          <a:p>
            <a:pPr indent="0" marL="0">
              <a:lnSpc>
                <a:spcPts val="1600"/>
              </a:lnSpc>
              <a:buNone/>
            </a:pPr>
            <a:r>
              <a:rPr lang="en-US" sz="1150" dirty="0">
                <a:solidFill>
                  <a:srgbClr val="F1F5F9"/>
                </a:solidFill>
                <a:latin typeface="Segoe UI" pitchFamily="34" charset="0"/>
                <a:ea typeface="Segoe UI" pitchFamily="34" charset="-122"/>
                <a:cs typeface="Segoe UI" pitchFamily="34" charset="-120"/>
              </a:rPr>
              <a:t>Kế hoạch nâng cấp và mở rộng khả năng tối ưu hóa chuyển đổi, tương tác tự động ở quy mô lớn cho Rich Land CRM.</a:t>
            </a:r>
            <a:endParaRPr lang="en-US" sz="1150" dirty="0"/>
          </a:p>
        </p:txBody>
      </p:sp>
      <p:sp>
        <p:nvSpPr>
          <p:cNvPr id="5" name="Shape 3"/>
          <p:cNvSpPr/>
          <p:nvPr/>
        </p:nvSpPr>
        <p:spPr>
          <a:xfrm>
            <a:off x="914400" y="3017520"/>
            <a:ext cx="2194560" cy="1554480"/>
          </a:xfrm>
          <a:prstGeom prst="roundRect">
            <a:avLst>
              <a:gd name="adj" fmla="val 4706"/>
            </a:avLst>
          </a:prstGeom>
          <a:solidFill>
            <a:srgbClr val="9C1523"/>
          </a:solidFill>
          <a:ln w="12700">
            <a:solidFill>
              <a:srgbClr val="C92A3A"/>
            </a:solidFill>
            <a:prstDash val="solid"/>
          </a:ln>
        </p:spPr>
      </p:sp>
      <p:sp>
        <p:nvSpPr>
          <p:cNvPr id="6" name="Text 4"/>
          <p:cNvSpPr/>
          <p:nvPr/>
        </p:nvSpPr>
        <p:spPr>
          <a:xfrm>
            <a:off x="105156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PHASE 1: HẠ TẦNG</a:t>
            </a:r>
            <a:endParaRPr lang="en-US" sz="950" dirty="0"/>
          </a:p>
        </p:txBody>
      </p:sp>
      <p:sp>
        <p:nvSpPr>
          <p:cNvPr id="7" name="Text 5"/>
          <p:cNvSpPr/>
          <p:nvPr/>
        </p:nvSpPr>
        <p:spPr>
          <a:xfrm>
            <a:off x="105156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Ổn định phân chia lead thông qua 5 Gate bảo mật, check-in selfie và hàng đợi tin nhắn ngầm.</a:t>
            </a:r>
            <a:endParaRPr lang="en-US" sz="850" dirty="0"/>
          </a:p>
        </p:txBody>
      </p:sp>
      <p:sp>
        <p:nvSpPr>
          <p:cNvPr id="8" name="Shape 6"/>
          <p:cNvSpPr/>
          <p:nvPr/>
        </p:nvSpPr>
        <p:spPr>
          <a:xfrm>
            <a:off x="3474720" y="3017520"/>
            <a:ext cx="2194560" cy="1554480"/>
          </a:xfrm>
          <a:prstGeom prst="roundRect">
            <a:avLst>
              <a:gd name="adj" fmla="val 4706"/>
            </a:avLst>
          </a:prstGeom>
          <a:solidFill>
            <a:srgbClr val="9C1523"/>
          </a:solidFill>
          <a:ln w="12700">
            <a:solidFill>
              <a:srgbClr val="C92A3A"/>
            </a:solidFill>
            <a:prstDash val="solid"/>
          </a:ln>
        </p:spPr>
      </p:sp>
      <p:sp>
        <p:nvSpPr>
          <p:cNvPr id="9" name="Text 7"/>
          <p:cNvSpPr/>
          <p:nvPr/>
        </p:nvSpPr>
        <p:spPr>
          <a:xfrm>
            <a:off x="361188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PHASE 2: RAG &amp; CHAT</a:t>
            </a:r>
            <a:endParaRPr lang="en-US" sz="950" dirty="0"/>
          </a:p>
        </p:txBody>
      </p:sp>
      <p:sp>
        <p:nvSpPr>
          <p:cNvPr id="10" name="Text 8"/>
          <p:cNvSpPr/>
          <p:nvPr/>
        </p:nvSpPr>
        <p:spPr>
          <a:xfrm>
            <a:off x="361188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Nạp tri thức tự động bằng Vector, chatbot commands quản lý di động và AI screening.</a:t>
            </a:r>
            <a:endParaRPr lang="en-US" sz="850" dirty="0"/>
          </a:p>
        </p:txBody>
      </p:sp>
      <p:sp>
        <p:nvSpPr>
          <p:cNvPr id="11" name="Shape 9"/>
          <p:cNvSpPr/>
          <p:nvPr/>
        </p:nvSpPr>
        <p:spPr>
          <a:xfrm>
            <a:off x="6035040" y="3017520"/>
            <a:ext cx="2194560" cy="1554480"/>
          </a:xfrm>
          <a:prstGeom prst="roundRect">
            <a:avLst>
              <a:gd name="adj" fmla="val 4706"/>
            </a:avLst>
          </a:prstGeom>
          <a:solidFill>
            <a:srgbClr val="9C1523"/>
          </a:solidFill>
          <a:ln w="12700">
            <a:solidFill>
              <a:srgbClr val="C92A3A"/>
            </a:solidFill>
            <a:prstDash val="solid"/>
          </a:ln>
        </p:spPr>
      </p:sp>
      <p:sp>
        <p:nvSpPr>
          <p:cNvPr id="12" name="Text 10"/>
          <p:cNvSpPr/>
          <p:nvPr/>
        </p:nvSpPr>
        <p:spPr>
          <a:xfrm>
            <a:off x="6172200" y="3154680"/>
            <a:ext cx="1920240" cy="274320"/>
          </a:xfrm>
          <a:prstGeom prst="rect">
            <a:avLst/>
          </a:prstGeom>
          <a:noFill/>
          <a:ln/>
        </p:spPr>
        <p:txBody>
          <a:bodyPr wrap="square" rtlCol="0" anchor="ctr"/>
          <a:lstStyle/>
          <a:p>
            <a:pPr indent="0" marL="0">
              <a:buNone/>
            </a:pPr>
            <a:r>
              <a:rPr lang="en-US" sz="950" b="1" dirty="0">
                <a:solidFill>
                  <a:srgbClr val="FFFFFF"/>
                </a:solidFill>
                <a:latin typeface="Segoe UI" pitchFamily="34" charset="0"/>
                <a:ea typeface="Segoe UI" pitchFamily="34" charset="-122"/>
                <a:cs typeface="Segoe UI" pitchFamily="34" charset="-120"/>
              </a:rPr>
              <a:t>PHASE 3: MỞ RỘNG</a:t>
            </a:r>
            <a:endParaRPr lang="en-US" sz="950" dirty="0"/>
          </a:p>
        </p:txBody>
      </p:sp>
      <p:sp>
        <p:nvSpPr>
          <p:cNvPr id="13" name="Text 11"/>
          <p:cNvSpPr/>
          <p:nvPr/>
        </p:nvSpPr>
        <p:spPr>
          <a:xfrm>
            <a:off x="6172200" y="3429000"/>
            <a:ext cx="1920240" cy="1005840"/>
          </a:xfrm>
          <a:prstGeom prst="rect">
            <a:avLst/>
          </a:prstGeom>
          <a:noFill/>
          <a:ln/>
        </p:spPr>
        <p:txBody>
          <a:bodyPr wrap="square" rtlCol="0" anchor="t"/>
          <a:lstStyle/>
          <a:p>
            <a:pPr indent="0" marL="0">
              <a:lnSpc>
                <a:spcPts val="1200"/>
              </a:lnSpc>
              <a:buNone/>
            </a:pPr>
            <a:r>
              <a:rPr lang="en-US" sz="850" dirty="0">
                <a:solidFill>
                  <a:srgbClr val="F1F5F9"/>
                </a:solidFill>
                <a:latin typeface="Segoe UI" pitchFamily="34" charset="0"/>
                <a:ea typeface="Segoe UI" pitchFamily="34" charset="-122"/>
                <a:cs typeface="Segoe UI" pitchFamily="34" charset="-120"/>
              </a:rPr>
              <a:t>Tích hợp IP Phone, ghi âm cuộc gọi, phân tích Cost Ads sâu (ROAS) đến ad creative cụ thể.</a:t>
            </a:r>
            <a:endParaRPr lang="en-US" sz="850" dirty="0"/>
          </a:p>
        </p:txBody>
      </p:sp>
      <p:sp>
        <p:nvSpPr>
          <p:cNvPr id="14" name="Text 12"/>
          <p:cNvSpPr/>
          <p:nvPr/>
        </p:nvSpPr>
        <p:spPr>
          <a:xfrm>
            <a:off x="7772400" y="4709160"/>
            <a:ext cx="914400" cy="274320"/>
          </a:xfrm>
          <a:prstGeom prst="rect">
            <a:avLst/>
          </a:prstGeom>
          <a:noFill/>
          <a:ln/>
        </p:spPr>
        <p:txBody>
          <a:bodyPr wrap="square" rtlCol="0" anchor="ctr"/>
          <a:lstStyle/>
          <a:p>
            <a:pPr algn="r" indent="0" marL="0">
              <a:buNone/>
            </a:pPr>
            <a:r>
              <a:rPr lang="en-US" sz="850" b="1" dirty="0">
                <a:solidFill>
                  <a:srgbClr val="94A3B8"/>
                </a:solidFill>
                <a:latin typeface="Segoe UI" pitchFamily="34" charset="0"/>
                <a:ea typeface="Segoe UI" pitchFamily="34" charset="-122"/>
                <a:cs typeface="Segoe UI" pitchFamily="34" charset="-120"/>
              </a:rPr>
              <a:t>Slide 60 / 60</a:t>
            </a:r>
            <a:endParaRPr lang="en-US" sz="850" dirty="0"/>
          </a:p>
        </p:txBody>
      </p:sp>
      <p:sp>
        <p:nvSpPr>
          <p:cNvPr id="15" name="Text 13"/>
          <p:cNvSpPr/>
          <p:nvPr/>
        </p:nvSpPr>
        <p:spPr>
          <a:xfrm>
            <a:off x="731520" y="4709160"/>
            <a:ext cx="5486400" cy="274320"/>
          </a:xfrm>
          <a:prstGeom prst="rect">
            <a:avLst/>
          </a:prstGeom>
          <a:noFill/>
          <a:ln/>
        </p:spPr>
        <p:txBody>
          <a:bodyPr wrap="square" rtlCol="0" anchor="ctr"/>
          <a:lstStyle/>
          <a:p>
            <a:pPr indent="0" marL="0">
              <a:buNone/>
            </a:pPr>
            <a:r>
              <a:rPr lang="en-US" sz="850" b="1" dirty="0">
                <a:solidFill>
                  <a:srgbClr val="94A3B8"/>
                </a:solidFill>
                <a:latin typeface="Segoe UI" pitchFamily="34" charset="0"/>
                <a:ea typeface="Segoe UI" pitchFamily="34" charset="-122"/>
                <a:cs typeface="Segoe UI" pitchFamily="34" charset="-120"/>
              </a:rPr>
              <a:t>TÀI LIỆU KIẾN TRÚC KỸ THUẬT RICH LAND CRM — BẢO MẬT NỘI BỘ</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2026-07-26T13:53:31Z</dcterms:created>
  <dcterms:modified xsi:type="dcterms:W3CDTF">2026-07-26T13:53:31Z</dcterms:modified>
</cp:coreProperties>
</file>